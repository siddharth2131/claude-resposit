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3A2D"/>
                </a:solidFill>
                <a:latin typeface="Calibri"/>
              </a:defRPr>
            </a:pPr>
            <a:r>
              <a:rPr sz="1400" b="0" i="0" u="none" strike="noStrike">
                <a:solidFill>
                  <a:srgbClr val="1B3A2D"/>
                </a:solidFill>
                <a:latin typeface="Calibri"/>
              </a:rPr>
              <a:t>Capital Structure FY2025</a:t>
            </a:r>
          </a:p>
        </c:rich>
      </c:tx>
      <c:layout/>
      <c:overlay val="0"/>
    </c:title>
    <c:autoTitleDeleted val="0"/>
    <c:plotArea>
      <c:layout/>
      <c:doughnutChart>
        <c:varyColors val="1"/>
        <c:ser>
          <c:idx val="0"/>
          <c:order val="0"/>
          <c:tx>
            <c:strRef>
              <c:f>Sheet1!$B$1</c:f>
              <c:strCache>
                <c:ptCount val="1"/>
                <c:pt idx="0">
                  <c:v>Capital Structure</c:v>
                </c:pt>
              </c:strCache>
            </c:strRef>
          </c:tx>
          <c:spPr>
            <a:solidFill>
              <a:schemeClr val="accent1"/>
            </a:solidFill>
            <a:ln w="9525" cap="flat">
              <a:solidFill>
                <a:srgbClr val="F9F9F9"/>
              </a:solidFill>
              <a:prstDash val="solid"/>
              <a:round/>
            </a:ln>
            <a:effectLst/>
          </c:spPr>
          <c:dPt>
            <c:idx val="0"/>
            <c:bubble3D val="0"/>
            <c:spPr>
              <a:solidFill>
                <a:srgbClr val="125B3F"/>
              </a:solidFill>
              <a:effectLst/>
            </c:spPr>
          </c:dPt>
          <c:dPt>
            <c:idx val="1"/>
            <c:bubble3D val="0"/>
            <c:spPr>
              <a:solidFill>
                <a:srgbClr val="D4A843"/>
              </a:solidFill>
              <a:effectLst/>
            </c:spPr>
          </c:dPt>
          <c:dPt>
            <c:idx val="2"/>
            <c:bubble3D val="0"/>
            <c:spPr>
              <a:solidFill>
                <a:srgbClr val="4A90A4"/>
              </a:solidFill>
              <a:effectLst/>
            </c:spPr>
          </c:dPt>
          <c:dLbls>
            <c:dLbl>
              <c:idx val="0"/>
              <c:numFmt formatCode="0%" sourceLinked="0"/>
              <c:spPr/>
              <c:txPr>
                <a:bodyPr/>
                <a:lstStyle/>
                <a:p>
                  <a:pPr>
                    <a:defRPr sz="11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Equity</c:v>
                </c:pt>
                <c:pt idx="1">
                  <c:v>Int.-Bearing Debt</c:v>
                </c:pt>
                <c:pt idx="2">
                  <c:v>Lease Liabilities</c:v>
                </c:pt>
              </c:strCache>
            </c:strRef>
          </c:cat>
          <c:val>
            <c:numRef>
              <c:f>Sheet1!$B$2:$B$4</c:f>
              <c:numCache>
                <c:ptCount val="3"/>
                <c:pt idx="0">
                  <c:v>4962</c:v>
                </c:pt>
                <c:pt idx="1">
                  <c:v>5511</c:v>
                </c:pt>
                <c:pt idx="2">
                  <c:v>11874</c:v>
                </c:pt>
              </c:numCache>
            </c:numRef>
          </c:val>
        </c:ser>
        <c:firstSliceAng val="0"/>
        <c:holeSize val="52"/>
      </c:doughnutChart>
      <c:spPr>
        <a:noFill/>
        <a:ln>
          <a:noFill/>
        </a:ln>
        <a:effectLst/>
      </c:spPr>
    </c:plotArea>
    <c:legend>
      <c:legendPos val="b"/>
      <c:overlay val="0"/>
      <c:txPr>
        <a:bodyPr/>
        <a:lstStyle/>
        <a:p>
          <a:pPr>
            <a:defRPr sz="1100">
              <a:solidFill>
                <a:srgbClr val="2C2C2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A2D"/>
                </a:solidFill>
                <a:latin typeface="Calibri"/>
              </a:defRPr>
            </a:pPr>
            <a:r>
              <a:rPr sz="1300" b="0" i="0" u="none" strike="noStrike">
                <a:solidFill>
                  <a:srgbClr val="1B3A2D"/>
                </a:solidFill>
                <a:latin typeface="Calibri"/>
              </a:rPr>
              <a:t>Revenue vs EBIT</a:t>
            </a:r>
          </a:p>
        </c:rich>
      </c:tx>
      <c:layout/>
      <c:overlay val="0"/>
    </c:title>
    <c:autoTitleDeleted val="0"/>
    <c:plotArea>
      <c:layout/>
      <c:barChart>
        <c:barDir val="col"/>
        <c:grouping val="clustered"/>
        <c:varyColors val="0"/>
        <c:ser>
          <c:idx val="0"/>
          <c:order val="0"/>
          <c:tx>
            <c:strRef>
              <c:f>Sheet1!$B$1</c:f>
              <c:strCache>
                <c:ptCount val="1"/>
                <c:pt idx="0">
                  <c:v>Revenue (A$B)</c:v>
                </c:pt>
              </c:strCache>
            </c:strRef>
          </c:tx>
          <c:spPr>
            <a:solidFill>
              <a:srgbClr val="125B3F"/>
            </a:solidFill>
            <a:effectLst/>
          </c:spPr>
          <c:invertIfNegative val="0"/>
          <c:dLbls>
            <c:numFmt formatCode="0.0#" sourceLinked="0"/>
            <c:txPr>
              <a:bodyPr/>
              <a:lstStyle/>
              <a:p>
                <a:pPr>
                  <a:defRPr b="0" i="0" strike="noStrike" sz="1000" u="none">
                    <a:solidFill>
                      <a:srgbClr val="2C2C2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FY2024</c:v>
                  </c:pt>
                  <c:pt idx="1">
                    <c:v>FY2025</c:v>
                  </c:pt>
                </c:lvl>
              </c:multiLvlStrCache>
            </c:multiLvlStrRef>
          </c:cat>
          <c:val>
            <c:numRef>
              <c:f>Sheet1!$B$2:$B$3</c:f>
              <c:numCache>
                <c:formatCode>General</c:formatCode>
                <c:ptCount val="2"/>
                <c:pt idx="0">
                  <c:v>67.9</c:v>
                </c:pt>
                <c:pt idx="1">
                  <c:v>69.1</c:v>
                </c:pt>
              </c:numCache>
            </c:numRef>
          </c:val>
        </c:ser>
        <c:ser>
          <c:idx val="1"/>
          <c:order val="1"/>
          <c:tx>
            <c:strRef>
              <c:f>Sheet1!$C$1</c:f>
              <c:strCache>
                <c:ptCount val="1"/>
                <c:pt idx="0">
                  <c:v>EBIT (A$B)</c:v>
                </c:pt>
              </c:strCache>
            </c:strRef>
          </c:tx>
          <c:spPr>
            <a:solidFill>
              <a:srgbClr val="D4A843"/>
            </a:solidFill>
            <a:effectLst/>
          </c:spPr>
          <c:invertIfNegative val="0"/>
          <c:dLbls>
            <c:numFmt formatCode="0.0#" sourceLinked="0"/>
            <c:txPr>
              <a:bodyPr/>
              <a:lstStyle/>
              <a:p>
                <a:pPr>
                  <a:defRPr b="0" i="0" strike="noStrike" sz="1000" u="none">
                    <a:solidFill>
                      <a:srgbClr val="2C2C2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FY2024</c:v>
                  </c:pt>
                  <c:pt idx="1">
                    <c:v>FY2025</c:v>
                  </c:pt>
                </c:lvl>
              </c:multiLvlStrCache>
            </c:multiLvlStrRef>
          </c:cat>
          <c:val>
            <c:numRef>
              <c:f>Sheet1!$C$2:$C$3</c:f>
              <c:numCache>
                <c:formatCode>General</c:formatCode>
                <c:ptCount val="2"/>
                <c:pt idx="0">
                  <c:v>3.22</c:v>
                </c:pt>
                <c:pt idx="1">
                  <c:v>2.75</c:v>
                </c:pt>
              </c:numCache>
            </c:numRef>
          </c:val>
        </c:ser>
        <c:dLbls>
          <c:numFmt formatCode="0.0#" sourceLinked="0"/>
          <c:txPr>
            <a:bodyPr/>
            <a:lstStyle/>
            <a:p>
              <a:pPr>
                <a:defRPr b="0" i="0" strike="noStrike" sz="1000" u="none">
                  <a:solidFill>
                    <a:srgbClr val="2C2C2C"/>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C2C2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2C2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A2D"/>
                </a:solidFill>
                <a:latin typeface="Calibri"/>
              </a:defRPr>
            </a:pPr>
            <a:r>
              <a:rPr sz="1300" b="0" i="0" u="none" strike="noStrike">
                <a:solidFill>
                  <a:srgbClr val="1B3A2D"/>
                </a:solidFill>
                <a:latin typeface="Calibri"/>
              </a:rPr>
              <a:t>Cash Flow Trends (A$B)</a:t>
            </a:r>
          </a:p>
        </c:rich>
      </c:tx>
      <c:layout/>
      <c:overlay val="0"/>
    </c:title>
    <c:autoTitleDeleted val="0"/>
    <c:plotArea>
      <c:layout/>
      <c:barChart>
        <c:barDir val="col"/>
        <c:grouping val="clustered"/>
        <c:varyColors val="0"/>
        <c:ser>
          <c:idx val="0"/>
          <c:order val="0"/>
          <c:tx>
            <c:strRef>
              <c:f>Sheet1!$B$1</c:f>
              <c:strCache>
                <c:ptCount val="1"/>
                <c:pt idx="0">
                  <c:v>Operating CF</c:v>
                </c:pt>
              </c:strCache>
            </c:strRef>
          </c:tx>
          <c:spPr>
            <a:solidFill>
              <a:srgbClr val="3C7A5E"/>
            </a:solidFill>
            <a:effectLst/>
          </c:spPr>
          <c:invertIfNegative val="0"/>
          <c:dLbls>
            <c:numFmt formatCode="0.00" sourceLinked="0"/>
            <c:txPr>
              <a:bodyPr/>
              <a:lstStyle/>
              <a:p>
                <a:pPr>
                  <a:defRPr b="0" i="0" strike="noStrike" sz="1000" u="none">
                    <a:solidFill>
                      <a:srgbClr val="2C2C2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FY2024</c:v>
                  </c:pt>
                  <c:pt idx="1">
                    <c:v>FY2025</c:v>
                  </c:pt>
                </c:lvl>
              </c:multiLvlStrCache>
            </c:multiLvlStrRef>
          </c:cat>
          <c:val>
            <c:numRef>
              <c:f>Sheet1!$B$2:$B$3</c:f>
              <c:numCache>
                <c:formatCode>General</c:formatCode>
                <c:ptCount val="2"/>
                <c:pt idx="0">
                  <c:v>4.36</c:v>
                </c:pt>
                <c:pt idx="1">
                  <c:v>4.55</c:v>
                </c:pt>
              </c:numCache>
            </c:numRef>
          </c:val>
        </c:ser>
        <c:ser>
          <c:idx val="1"/>
          <c:order val="1"/>
          <c:tx>
            <c:strRef>
              <c:f>Sheet1!$C$1</c:f>
              <c:strCache>
                <c:ptCount val="1"/>
                <c:pt idx="0">
                  <c:v>Free CF</c:v>
                </c:pt>
              </c:strCache>
            </c:strRef>
          </c:tx>
          <c:spPr>
            <a:solidFill>
              <a:srgbClr val="4A90A4"/>
            </a:solidFill>
            <a:effectLst/>
          </c:spPr>
          <c:invertIfNegative val="0"/>
          <c:dLbls>
            <c:numFmt formatCode="0.00" sourceLinked="0"/>
            <c:txPr>
              <a:bodyPr/>
              <a:lstStyle/>
              <a:p>
                <a:pPr>
                  <a:defRPr b="0" i="0" strike="noStrike" sz="1000" u="none">
                    <a:solidFill>
                      <a:srgbClr val="2C2C2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FY2024</c:v>
                  </c:pt>
                  <c:pt idx="1">
                    <c:v>FY2025</c:v>
                  </c:pt>
                </c:lvl>
              </c:multiLvlStrCache>
            </c:multiLvlStrRef>
          </c:cat>
          <c:val>
            <c:numRef>
              <c:f>Sheet1!$C$2:$C$3</c:f>
              <c:numCache>
                <c:formatCode>General</c:formatCode>
                <c:ptCount val="2"/>
                <c:pt idx="0">
                  <c:v>1.81</c:v>
                </c:pt>
                <c:pt idx="1">
                  <c:v>2.02</c:v>
                </c:pt>
              </c:numCache>
            </c:numRef>
          </c:val>
        </c:ser>
        <c:dLbls>
          <c:numFmt formatCode="0.00" sourceLinked="0"/>
          <c:txPr>
            <a:bodyPr/>
            <a:lstStyle/>
            <a:p>
              <a:pPr>
                <a:defRPr b="0" i="0" strike="noStrike" sz="1000" u="none">
                  <a:solidFill>
                    <a:srgbClr val="2C2C2C"/>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C2C2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2C2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Slide
This presentation is prepared in the role of a Corporate Finance Adviser advising Woolworths Group Limited's Chief Financial Officer and Board of Directors on a financing decision.
The central question is: Should Woolworths Group finance a future distribution and supply-chain expansion through internal financing (retained earnings and operating cash flow), debt financing, or a combination of both?
Woolworths Group (ASX: WOW) is Australia's largest supermarket retailer, with FY2025 group revenue of A$69.1 billion and approximately 203,000 employees across Australia and New Zealand.
The presentation follows Route 3 of the FIN4951/FIN4001 assessment: Corporate Finance Adviser — Financing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Executive Summary
This slide provides a high-level overview of the financing decision and the key financial indicators that shape the recommendation.
Woolworths Group reported FY2025 group revenue of A$69.1 billion (Woolworths Group Annual Report, 2025). However, underlying NPAT declined 19.1% to A$1.385 billion, reflecting margin compression from rising costs of doing business and increased competition.
Operating cash flow remained robust at A$4.55 billion, demonstrating the Group's strong cash-generative capacity even during a period of profit decline.
The Group's interest-bearing debt (excluding AASB 16 lease liabilities of approximately A$11.9 billion) stood at approximately A$5.5 billion as at 29 June 2025. The Group holds an S&amp;P credit rating of BBB (Stable), which was assigned to its A$5 billion Medium Term Note programme in October 2023 (S&amp;P Global Ratings, 2023).
The Reserve Bank of Australia's cash rate stands at 4.35% as of May 2026, following three consecutive 25bp hikes in February, March and May 2026 (Reserve Bank of Australia, 2026). This elevated rate environment increases the cost of new debt and is a material consideration in the financing decision.
The hypothetical expansion scenario of A$800 million is modelled on Woolworths' actual Moorebank Logistics Precinct investment of A$1.3 billion for two distribution centres. The proposed future expansion would involve new automated distribution centres in Melbourne and Brisbane to extend the operational model established at Moorebank. This is a hypothetical scenario — it is not an officially announced Woolworths project.
The provisional recommendation of a 60/40 internal/debt split is subject to verification through the detailed financial analysis in subsequent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Company Overview and Strategic Context
Woolworths Group Limited (ASX: WOW) is Australia's largest food and everyday needs retailer, operating across Australia and New Zealand. The Group is headquartered in Bella Vista, New South Wales, and employs approximately 203,000 people (Woolworths Group Annual Report, 2025).
The Group operates through five reportable segments:
1. Australian Food (A$51.5 billion revenue) — the core supermarket business
2. Australian B2B (A$5.7 billion) — including PFD Food Services, Australia's largest wholesale food distributor
3. New Zealand Food (NZ$8.3 billion) — the Woolworths New Zealand supermarket chain, rebranded from Countdown
4. WooliesX (A$9.6 billion) — digital, data and loyalty services including Everyday Rewards
5. W Living — Big W, Petstock, MarketPlus, and HealthyLife
Supply chain investment is strategically important because:
- The Group services over 1,000 supermarket stores nationally, each requiring daily restocking across 20,000+ product lines
- The competitive duopoly with Coles means that cost efficiency in logistics directly translates to pricing power
- Automation allows faster product replenishment and reduces reliance on manual labour in a tight employment market
- WooliesX e-commerce sales grew 16% on a normalised basis in FY2025, requiring faster and more flexible fulfilment capabilities
The financing decision matters because the Group is simultaneously investing heavily in supply chain transformation while managing declining profitability, rising costs, and an uncertain macroeconomic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Proposed Expansion and Funding Requirement
The actual precedent for this analysis is the Moorebank Logistics Precinct in Western Sydney. Woolworths Group invested A$1.3 billion in two state-of-the-art distribution centres — a National Distribution Centre (NDC, completed November 2024) and a Regional Distribution Centre (RDC, completed November 2025) (Woolworths Group Media Release, 13 November 2025).
The Moorebank investment was the Group's largest-ever single capital commitment. The two facilities span 75,000 square metres and are capable of processing more than 5 million cartons per week across a 20,000-product range. They use cutting-edge automation from Dematic and Vanderlande to build aisle-ready pallets matched to individual store layouts.
Building on this precedent, this presentation evaluates a hypothetical next-phase expansion of A$800 million for automated distribution centres in Melbourne and Brisbane. This is NOT an officially announced Woolworths project. The A$800 million estimate is derived from the Moorebank cost profile (A$700–780 million for technology and fitout, plus A$440 million in Qube construction), scaled for a smaller geographic footprint and adjusted for construction cost inflation of approximately 5–7%.
The figure is clearly labelled as hypothetical throughout this presentation. Where financial analysis uses the A$800 million figure, it is distinguished from actual reported Woolworths figures.
Key assumptions:
- Technology and fitout costs of approximately A$500–550 million (estimated)
- Construction and property costs of approximately A$250–300 million (estimated)
- Phased capital deployment over 2–3 financial years
- Similar 20-year lease structure with a property partner
- Automation achieving 12–15% reduction in per-carton distribution costs (estimated based on industry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Existing Financing Structure
Woolworths Group's financing structure as at 29 June 2025 consists of:
Equity: Total shareholders' equity (including minority interests) stood at A$4,962 million, down from A$5,570 million in FY2024 — a decline of 10.9%. This decline reflects a combination of dividend payments totalling A$1,025 million in FY2025 and share buyback activity.
Interest-Bearing Debt: Total interest-bearing borrowings (excluding lease liabilities) increased to approximately A$5,511 million, up from A$4,578 million. This increase was driven primarily by the issuance of A$800 million in 5.91% fixed-rate Medium Term Notes maturing November 2034, issued November 2024 (Woolworths Group Debt Investors page, 2025).
Lease Liabilities: Under AASB 16, the Group reports lease liabilities of A$11,874 million. These represent operating leases for stores, distribution centres and equipment. While these are legally binding obligations, they are distinct from interest-bearing financial debt in terms of risk profile and market perception.
Capital Management Framework: The Group's stated objective is to maintain solid investment-grade credit ratings while optimising its weighted average cost of capital (Woolworths Group Debt Investors page, 2025). The S&amp;P credit rating of BBB (Stable) was assigned to the Group's A$5 billion MTN programme in October 2023 (S&amp;P Global Ratings, 2023).
The 29.1% increase in net debt (excluding leases) from A$3.28 billion to A$4.24 billion is a significant development that must be considered in evaluating the Group's capacity for additional borrowing.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Two-Year Financial Performance
This slide compares Woolworths Group's financial performance between FY2025 (52 weeks ended 29 June 2025) and FY2024 (53 weeks ended 30 June 2024).
Revenue: Group revenue grew 1.7% to A$69,077 million, or 3.6% on a normalised 52-week basis. The difference reflects one fewer trading week in FY2025 (Woolworths Group FY2025 Results Announcement, 27 August 2025).
EBIT: Group EBIT before significant items declined 14.6% to A$2,754 million. On a normalised basis, the decline was 12.6%. The primary driver was margin compression in the core Australian Food division, where the cost of doing business ratio increased from 22.7% to 23.3% (Woolworths Group Annual Report, 2025).
Net Profit: Underlying NPAT declined 19.1% to A$1,385 million. However, statutory NPAT rose to A$963 million from A$108 million, as FY2024 was affected by A$1,607 million in significant items related to the Endeavour Group demerger and other adjustments.
Operating Cash Flow: Despite the profit decline, operating cash flow improved 4.4% to A$4,550 million. This demonstrates the Group's strong cash-generative capacity and favourable working capital position.
Free Cash Flow: Free cash flow increased 11.6% to A$2,022 million, reflecting broadly stable capital expenditure of A$2,528 million.
Dividends: Total dividends per share fell from 144 cents to 84 cents, a decline of 41.7%. This was a deliberate decision to conserve cash following the NPAT decline and suggests the Board is preserving financial flexibility — a relevant consideration for the financing decision.
The key takeaway for the financing decision is that while profitability has declined, cash generation remains robust. This supports the feasibility of internal financing, though the declining profit trend introduces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Profitability and Efficiency Analysis
Detailed ratio calculations:
1. Gross Margin:
   FY2025: 18,815 / 69,077 = 27.2%
   FY2024: 18,552 / 67,922 = 27.3%
   Change: -7 basis points
   The slight decline reflects pricing pressure in a competitive grocery market.
2. EBIT Margin (before significant items):
   FY2025: 2,754 / 69,077 = 4.0%
   FY2024: 3,223 / 67,922 = 4.7%
   Change: -76 basis points
   The significant decline reflects the increasing cost of doing business, particularly in wages, energy and supply chain costs.
3. Net Profit Margin (before significant items):
   FY2025: 1,385 / 69,077 = 2.0%
   FY2024: 1,711 / 67,922 = 2.5%
   Change: -52 basis points
4. Return on Assets:
   FY2025: 1,385 / 33,829 = 4.1%
   FY2024: 1,711 / 33,936 = 5.0%
5. Return on Equity:
   FY2025: 1,385 / 4,860 = 28.5% (using common equity)
   FY2024: 1,711 / 5,408 = 31.6%
   Note: ROE remains high but is partly inflated by declining equity.
6. Asset Turnover:
   FY2025: 69,077 / 33,829 = 2.04x
   FY2024: 67,922 / 33,936 = 2.00x
7. CODB Ratio (Australian Food):
   FY2025: 23.3% (reported)
   FY2024: 22.7% (reported)
Limitations: Return ratios may be affected by significant items. The analysis uses before-significant-items NPAT for consistency. The declining equity base means ROE can appear stable or improving even when profitability is falling, which is why multiple profitability measures should be considered together.
Implication for financing: The declining margin trend reduces the margin of safety for internal financing. If margins continue to compress, the Group's ability to fund the A$800M expansion entirely from retained earnings diminishes.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Liquidity and Cash Flow Analysis
Current Ratio:
FY2025: 6,991 / 12,297 = 0.57
FY2024: 6,991 / 12,819 = 0.55
The current ratio below 1.0 is normal for supermarket retailers. Woolworths operates with negative working capital because it receives cash from customers before paying suppliers. This is a feature of the business model, not a sign of financial distress.
Cash flow analysis is more meaningful than the current ratio for assessing Woolworths' investment capacity:
Operating Cash Flow: A$4,550M in FY2025 (up from A$4,359M in FY2024). This strong cash generation reflects the Group's favourable working capital position and depreciation/amortisation of A$2,953M.
Free Cash Flow: A$2,022M in FY2025 (up from A$1,811M), calculated as Operating CF minus CapEx.
Cash Available for New Investment:
Operating CF: A$4,550M
Less maintenance and growth CapEx: (A$2,528M)
Less dividends at FY2025 rate: (A$1,026M)
Less finance costs (interest): (A$838M)
Residual: approximately A$158M
This residual is insufficient for the full A$800M investment without adjustments. However, the Board has already demonstrated willingness to cut dividends (from 144c to 84c per share in FY2025). If dividends were held at FY2025 levels and some CapEx deferred, internal funds of A$250–350M per year could be available for the expansion over a 2–3 year period.
This supports partial but not complete internal financing, which is why the combined approach is preferred.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Gearing and Debt Servicing Capacity
Detailed calculations:
1. Debt-to-Equity (excluding leases):
   FY2025: 5,511 / 4,860 = 1.13x
   FY2024: 4,578 / 5,408 = 0.85x
   The increase reflects the November 2024 MTN issuance and declining equity.
2. Debt-to-Equity (including leases):
   FY2025: 17,385 / 4,860 = 3.57x
   FY2024: 16,722 / 5,408 = 3.09x
   Treatment of leases: AASB 16 lease liabilities dominate total debt. While these are real obligations, rating agencies typically adjust for lease liabilities separately from financial debt. The presentation includes both measures for transparency.
3. Net Debt-to-EBITDA:
   FY2025: 4,236 / 5,707 = 0.74x
   FY2024: 3,280 / 6,001 = 0.55x
   This is well within the range acceptable for BBB-rated issuers.
4. Interest Coverage:
   FY2025: 2,754 / 838 = 3.29x
   FY2024: 3,223 / 772 = 4.18x
   The decline is concerning but 3.29x remains above the minimum typically expected for investment-grade credit (approximately 2.5x).
5. Impact of Additional A$320M Borrowing:
   Additional interest at 5.75%: A$320M x 0.0575 = A$18.4M
   New total interest: A$838M + A$18.4M = A$856.4M
   Revised interest coverage: 2,754 / 856.4 = 3.22x (assuming no EBIT improvement)
   This remains adequate for BBB but leaves limited headroom.
The key risk is that if EBIT continues to decline while debt increases, interest coverage could fall below 3.0x, potentially triggering a negative credit outlook.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Economic and Industry Environment
Interest Rates:
The RBA cash rate reached 4.35% in May 2026 following three consecutive 25bp increases in February, March and May 2026 (Reserve Bank of Australia, 2026). The RBA's May 2026 Statement on Monetary Policy implies the cash rate could peak at approximately 4.7% by late 2026. CBA economists expect rates to hold at 4.35% for the remainder of 2026, while Westpac forecasts a peak of 4.85% (CBA Economic Research, May 2026).
For Woolworths, this elevated rate environment means new corporate debt would carry significantly higher interest costs than its existing low-coupon bonds (e.g., the 2.75% and 2.80% notes issued in 2021). The most recent issuance — A$800M of 5.91% fixed-rate MTNs in November 2024 — reflects the higher rate environment.
Inflation:
Australia's annual CPI stood at 3.8% in June 2026, down from a peak of 4.6% in March 2026 but still above the RBA's 2–3% target (Australian Bureau of Statistics, June 2026). The quarterly CPI for Q2 2026 was 3.9% year-on-year (Trading Economics, 2026).
For the financing decision, inflation affects:
1. Construction costs for new distribution centres (estimated 5–7% above Moorebank costs)
2. Operating costs (wages, energy, transport) which compress EBIT margins
3. The cost of debt, as the RBA maintains restrictive monetary policy to combat inflation
Consumer and Competitive Environment:
Consumer spending remains constrained by cost-of-living pressures. Woolworths faces competitive pressure from Coles, Aldi and private-label products. The ACCC's ongoing scrutiny of grocery pricing limits the ability to pass through cost increases. These factors reduce EBIT and the margin of safety for debt servicing.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Supply-Chain Expansion: Costs, Benefits and Risks
This slide evaluates the financial and operational implications of the hypothetical A$800 million distribution centre expansion.
Expected Benefits:
1. Cost efficiency: Based on the Moorebank experience and industry benchmarks, automated distribution centres typically reduce per-carton handling costs by 12–15% compared to manual facilities (estimated). This would translate to estimated annual savings of A$60–80 million once fully operational.
2. Availability improvement: The Moorebank facilities demonstrated improved on-shelf availability by building aisle-ready pallets matched to individual store layouts, reducing in-store replenishment time.
3. Labour productivity: Automation reduces dependence on manual labour in a tight employment market. Australia's unemployment rate remains low, making labour-intensive distribution models increasingly expensive.
4. E-commerce support: WooliesX e-commerce sales grew 16% normalised in FY2025, requiring faster and more flexible fulfilment capabilities.
Costs and Risks:
1. Capital cost: The A$800 million estimate is based on the Moorebank model (A$700–780M technology fitout plus A$440M construction), adjusted for two smaller facilities and construction cost inflation. This is a hypothetical figure — not based on any Woolworths disclosure.
2. Timeline risk: The Moorebank NDC was first announced in June 2020 and completed in November 2024 — a four-year build. The RDC was completed in November 2025. Similar or longer timelines should be expected.
3. Demand risk: If consumer spending contracts materially, the new distribution capacity could be underutilised, turning a fixed cost into a financial drag.
The key distinction between verified company information and analytical assumptions is maintained throughout. All cost figures on this slide are hypothetical estimates for assessment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Financing Option 1: Internal Financing
Internal financing involves using the company's retained earnings and operating cash flow to fund the expansion without raising external debt or equity.
Feasibility analysis:
- FY2025 operating cash flow: A$4,550M
- FY2025 free cash flow: A$2,022M
- FY2025 free cash flow after dividends: A$996M
- Required annual investment for 3-year phased deployment: ~A$267M/year
Internal financing is feasible at the FY2025 cash flow level, but only if dividends remain suppressed and no significant competing capital demands arise.
Pecking Order Theory (Myers and Majluf, 1984):
This theory predicts that firms prefer internal financing over external financing, and debt over equity, because internal funds carry no transaction costs, no information asymmetry costs, and no dilution. Woolworths' strong cash generation makes internal financing a credible first choice, consistent with this theoretical framework.
Opportunity cost:
The implicit cost of internal financing is the return shareholders could earn if those funds were paid out as dividends or used for share buybacks. With Woolworths' FY2025 dividend yield of approximately 2.4% and the share price around A$32–39, the opportunity cost of retaining A$800M is approximately A$19–22M per year in forgone dividends.
Conditions for appropriateness:
Internal financing is most appropriate when:
- The company has strong, stable cash flows (Woolworths does)
- Interest rates are high, making debt expensive (currently the case)
- The company wants to avoid increasing financial risk
- The investment can be phased over multiple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Financing Option 2: Debt Financing
This option evaluates financing the full A$800 million expansion through new debt issuance.
Debt Structure:
Woolworths Group operates a well-established A$5 billion MTN programme rated BBB by S&amp;P (S&amp;P Global Ratings, October 2023). The Group's most recent issuance was A$800 million of 5.91% fixed-rate notes maturing November 2034, issued in November 2024.
Cost of Debt Calculation:
Pre-tax cost of debt: 5.75% (estimated)
After-tax cost of debt = 5.75% x (1 - 0.30) = 4.03%
This uses the Australian corporate tax rate of 30% for large companies. The tax shield makes debt financing cheaper on an after-tax basis than the nominal coupon rate suggests.
Impact on Key Ratios:
If A$800M of new debt were issued:
- Total interest-bearing debt: A$5,511M + A$800M = A$6,311M
- New D/E (excl. leases): 6,311 / 4,860 = 1.30x (up from 1.13x)
- Additional annual interest: A$800M x 5.75% = A$46M
- New total interest: A$838M + A$46M = A$884M
- New interest coverage: 2,754 / 884 = 3.11x (down from 3.29x)
- If EBIT declines further (say to A$2,500M): coverage = 2,500 / 884 = 2.83x — below 3.0x
Trade-off Theory (Kraus and Litzenberger, 1973):
Trade-off theory predicts that firms balance the tax benefits of debt against the costs of financial distress. At Woolworths' current leverage level, the marginal tax benefit of additional debt is modest, while the increase in financial risk (declining interest coverage, potential credit rating pressure) is material. This suggests the firm is approaching the point where additional debt reduces rather than increases firm value.
Conclusion: Full debt financing of A$800M would stretch the Group's debt capacity and risk a negative credit outlook, making it inadvisable as the sole financing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Financing Option 3: Combined Financing
The combined approach allocates 60% of the A$800 million expansion cost to internal financing (A$480 million from retained earnings and operating cash flow) and 40% to debt financing (A$320 million via MTN issuance).
Rationale for the 60/40 split:
1. Liquidity preservation: A$480M over 3 years requires approximately A$160M per year from internal sources. With FY2025 free cash flow after dividends of approximately A$996M, this is comfortably achievable without further dividend cuts beyond the FY2025 level.
2. Manageable gearing impact: A$320M of additional debt at 5.75% adds approximately A$18.4M in annual interest costs. This reduces interest coverage from 3.29x to approximately 3.22x — a marginal decline that remains well above the 3.0x threshold typically associated with BBB-rated credit.
3. Revised debt-to-equity: (5,511 + 320) / 4,860 = 1.20x, up from 1.13x but materially lower than the 1.30x under full debt financing.
4. Tax efficiency: The A$320M debt component generates a tax shield of approximately A$5.5M per year (A$18.4M interest x 30% tax rate), reducing the effective cost of the debt component.
5. Financial flexibility: Retaining approximately A$830M+ of annual free cash flow after the internal financing allocation provides a buffer for unexpected challenges.
Comparison with alternatives:
- 100% internal: Lowest risk but requires significant dividend cuts and slow deployment
- 100% debt: Fastest deployment but highest financial risk, potentially threatening the credit rating
- 60/40 combined: Balanced approach that manages risk while enabling reasonably fast deployment
This approach is consistent with both pecking order theory (prioritising internal funds) and trade-off theory (using some debt to capture the tax shield while avoiding excessive financial distress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Financing Cost Calculations and WACC
This slide presents the key financing cost calculations.
1. Cost of Debt (After Tax):
Pre-tax cost of debt: 5.75% (estimated from the 5.91% coupon on the November 2024 MTN issuance)
After-tax cost of debt = 5.75% x (1 - 0.30) = 4.03%
Tax rate: 30% (Australian corporate tax rate for large companies)
2. Cost of Equity (CAPM):
Re = Rf + Beta x (Rm - Rf)
Rf = 4.50% (approximate 10-year Australian Government Bond yield)
Beta = 0.36 (TradingView, 1-year beta for WOW:ASX)
Market risk premium = 6.00% (historical Australian equity market average)
Re = 4.50% + 0.36 x 6.00% = 4.50% + 2.16% = 6.66%
Note on Beta: Different providers report different beta values for Woolworths. TradingView reports a 1-year beta of 0.36. eToro reports 0.02. Other sources report values between 0.36 and 0.54. The 0.36 figure is used as it reflects the stock's defensive nature as a consumer staple — grocery retailers typically have low systematic risk. The low beta means the cost of equity is relatively low, which is consistent with the company's defensive earnings profile.
3. WACC:
WACC = (E/V x Re) + (D/V x Rd x (1 - T))
Using market value weights:
E = Market capitalisation = approximately A$39,310M (TradingView, 2025)
D = Interest-bearing debt (excluding leases) = A$5,511M
V = E + D = A$44,821M
E/V = 39,310 / 44,821 = 87.7%
D/V = 5,511 / 44,821 = 12.3%
WACC = (0.877 x 6.66%) + (0.123 x 5.75% x 0.70)
WACC = 5.84% + 0.50% = 6.34%
Limitations:
- Beta varies by estimation method and period
- Book values were not used for weights because market values better reflect the true cost of capital; however, market capitalisation fluctuates daily
- The WACC is illustrative and depends on multiple assumptions
- Lease liabilities are excluded from the debt component because they represent operating leases, not financial leverage in the traditional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Scenario and Sensitivity Analysis
Three scenarios are modelled to test the robustness of the financing recommendation:
1. Base Case:
- RBA cash rate remains at 4.35%
- Pre-tax cost of new debt: 5.75%
- EBIT stable at FY2025 level: A$2,754M
- Investment cost: A$800M
- Recommended split: 60% internal (A$480M) / 40% debt (A$320M)
- Result: Interest coverage 3.22x, D/E 1.20x — within investment-grade parameters
2. Higher Interest Rate Scenario:
- RBA raises rates to 4.85% (consistent with Westpac's forecast)
- Pre-tax cost of debt rises to 6.25%
- EBIT unchanged
- Adjusted split: 70% internal (A$560M) / 30% debt (A$240M) to reduce interest burden
- Result: Interest coverage 3.26x, D/E 1.18x — manageable, but less debt should be used
3. Downside Scenario:
- RBA raises rates to 5.10% (stress scenario)
- Cost of debt rises to 6.75%
- EBIT declines 12.8% to A$2,400M (reflecting further margin compression)
- Investment cost overruns by 10% to A$880M
- Adjusted split: 75% internal (A$660M) / 25% debt (A$220M)
- Result: Interest coverage 2.77x — below the 3.0x threshold, suggesting the project should be deferred or scaled back
The most critical assumption is EBIT stability. If Woolworths' profitability continues to decline (as it has between FY2024 and FY2025), both internal cash generation and debt-servicing capacity weaken simultaneously. This is the single biggest risk to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Comparative Financing Decision Matrix
The decision matrix provides a structured comparison of the three financing alternatives across seven criteria. Each criterion is weighted by its relevance to the specific financing decision, and each option is scored from 1 to 5.
Scoring rationale:
1. Cost of financing (20%): Internal financing has zero direct cost (score 5). Debt financing carries a pre-tax cost of 5.75% (score 2). Combined reduces the overall cost by weighting toward internal funds (score 4).
2. Liquidity impact (20%): Internal financing depletes available cash (score 2). Debt preserves liquidity (score 4). Combined moderately affects liquidity (score 4).
3. Gearing impact (15%): Internal financing does not increase debt (score 5). Full debt increases D/E to 1.30x (score 2). Combined increases D/E to 1.20x (score 4).
4. Repayment obligations (10%): Internal has none (score 5). Debt creates fixed long-term obligations (score 3). Combined has lower obligations (score 4).
5. Financial flexibility (15%): Internal reduces flexibility by draining cash (score 2). Debt preserves cash for other uses (score 4). Combined partially maintains flexibility (score 4).
6. Tax efficiency (10%): Internal generates no tax benefit (score 2). Debt interest is tax-deductible, reducing effective cost by 30% (score 5). Combined captures a partial tax shield (score 4).
7. Economic risk exposure (10%): Internal is insulated from interest rate changes (score 4). Debt is exposed to refinancing and rate risk (score 2). Combined has moderate exposure (score 4).
Weighted scores:
Internal: (0.20 x 5) + (0.20 x 2) + (0.15 x 5) + (0.10 x 5) + (0.15 x 2) + (0.10 x 2) + (0.10 x 4) = 3.45
Debt: (0.20 x 2) + (0.20 x 4) + (0.15 x 2) + (0.10 x 3) + (0.15 x 4) + (0.10 x 5) + (0.10 x 2) = 2.95
Combined: (0.20 x 4) + (0.20 x 4) + (0.15 x 4) + (0.10 x 4) + (0.15 x 4) + (0.10 x 4) + (0.10 x 4) =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Final Recommendation and Implementation Plan
Recommendation:
Finance the hypothetical A$800 million distribution centre expansion through a combined approach of 60% internal financing (A$480 million from retained earnings and operating cash flow) and 40% debt financing (A$320 million via MTN issuance under the existing A$5 billion programme).
Rationale (summarised from the analysis):
1. The combined option scored highest on the decision matrix (4.00 vs 3.45 for internal, 2.95 for debt)
2. Interest coverage at 3.22x remains above the 3.0x threshold for BBB-rated credit
3. Debt-to-equity (excluding leases) increases modestly to 1.20x
4. Free cash flow after dividends (approximately A$996M in FY2025) can support A$160M/year internal allocation
5. The tax shield on A$320M of debt saves approximately A$5.5M/year
Conditions before approval:
1. Confirm FY2026 operating cash flow remains at or above A$4.0B
2. Confirm interest coverage remains above 3.0x after accounting for the new debt
3. Obtain Board approval for dividend policy consistent with the internal financing requirement
4. Secure competitive debt pricing (target pre-tax cost below 6.00%)
5. Complete site selection and planning approval for Melbourne and Brisbane DCs
Implementation stages:
Phase 1 (Year 1): Finalise project scope, secure planning approvals, initiate debt issuance
Phase 2 (Years 1-2): Begin construction, deploy internal funds
Phase 3 (Years 2-3): Commission automation systems, transition operations
Monitoring measures:
- Quarterly review of interest coverage (minimum 3.0x)
- Monthly cash flow monitoring
- Quarterly debt maturity and covenants review
- Project cost tracking against budget (A$800M +/- 10%)
- Gearing ratio monitoring (target D/E below 1.30x excluding 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Critical Evaluation, Limitations and Conclusion
This slide brings together the principal findings, identifies the key risks and limitations, and provides a concluding statement.
The recommendation is based on the evidence that:
1. Woolworths' strong cash generation supports significant internal financing
2. The Group's BBB rating and MTN programme provide access to debt markets
3. The elevated interest rate environment favours internal financing as the primary source
4. A combined approach captures the tax shield benefits of debt while managing risk
The most significant risk is continued EBIT margin compression. Between FY2024 and FY2025, EBIT before significant items fell 14.6% from A$3,223M to A$2,754M. If this trend continues, both internal cash generation and debt-servicing capacity would weaken simultaneously.
The critical threshold: Interest coverage of 3.0x requires EBIT of at least A$2,570M (given total interest of approximately A$856M under the recommended structure). Any EBIT decline beyond approximately 6.7% from the FY2025 level would breach this threshold.
The recommendation would be revised if:
- RBA cash rate falls below 3.5% → increase debt proportion to capture larger tax shield
- EBIT falls below A$2,500M → defer the expansion or fully internally finance a smaller project
- Woolworths announces an alternative strategic priority (e.g. major acquisition) → reassess capital allocation
- Construction cost inflation exceeds 15% → reassess project scope and budget
Conclusion: The combined 60/40 internal/debt financing strategy is the most appropriate approach for the hypothetical A$800 million distribution centre expansion, balancing cost efficiency, financial risk, and strategic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References (Full List)
Australian Bureau of Statistics (2026) Consumer Price Index, Australia, June 2026. Canberra: ABS. Available at: https://www.abs.gov.au/statistics/economy/price-indexes-and-inflation/consumer-price-index-australia (Accessed: October 2026).
Commonwealth Bank of Australia (2026) RBA May Interest Rates: CBA Economists' Analysis. Sydney: CBA. Available at: https://www.commbank.com.au/articles/newsroom/2026/05/rba-may-interest-rates-cba-economists-analysis.html (Accessed: October 2026).
Kraus, A. and Litzenberger, R.H. (1973) 'A State-Preference Model of Optimal Financial Leverage', The Journal of Finance, 28(4), pp. 911–922.
Myers, S.C. and Majluf, N.S. (1984) 'Corporate financing and investment decisions when firms have information that investors do not have', Journal of Financial Economics, 13(2), pp. 187–221.
Reserve Bank of Australia (2026) Statement on Monetary Policy, May 2026. Sydney: RBA. Available at: https://www.rba.gov.au/publications/smp/ (Accessed: October 2026).
Reserve Bank of Australia (2026) Media Release: Cash Rate Target, 16 June 2026. Sydney: RBA. Available at: https://www.rba.gov.au/media-releases/ (Accessed: October 2026).
S&amp;P Global Ratings (2023) Woolworths Group Ltd.'s Senior Unsecured Medium-Term Note Program Rated 'BBB', 5 October 2023. Melbourne: S&amp;P Global. Available at: https://www.spglobal.com/ratings/ (Accessed: October 2026).
StockAnalysis.com (2026) Woolworths Group (ASX: WOW) Financial Data. Available at: https://stockanalysis.com/quote/asx/WOW/ (Accessed: October 2026).
Trading Economics (2026) Australia Interest Rate. Available at: https://tradingeconomics.com/australia/interest-rate (Accessed: October 2026).
Trading Economics (2026) Australia Inflation Rate. Available at: https://tradingeconomics.com/australia/inflation-cpi (Accessed: October 2026).
TradingView (2025) Woolworths Group Ltd (ASX: WOW) Financial Data. Available at: https://www.tradingview.com/symbols/ASX-WOW/ (Accessed: October 2026).
Woolworths Group Limited (2025) Annual Report 2025: Realising Our Potential. Bella Vista: Woolworths Group. Available at: https://www.woolworthsgroup.com.au/content/dam/wwg/sustainability/reports/f25/Woolworths%20Group%20Annual%20Report%202025.pdf (Accessed: October 2026).
Woolworths Group Limited (2024) Annual Report 2024. Bella Vista: Woolworths Group. Available at: https://www.woolworthsgroup.com.au/ (Accessed: October 2026).
Woolworths Group Limited (2025) FY2025 Results Announcement, 27 August 2025. Bella Vista: Woolworths Group. Available at: https://www.woolworthsgroup.com.au/ (Accessed: October 2026).
Woolworths Group Limited (2025) Debt Investors. Bella Vista: Woolworths Group. Available at: https://www.woolworthsgroup.com.au/page/investors/Debt_Investors (Accessed: October 2026).
Woolworths Group Limited (2025) 'Woolworths Opens New Regional Distribution Centre', Media Release, 13 November 2025. Available at: https://woolworthsgroup.com.au/au/en/our-newsroom/media-releases/latest-news/2025/woolworths-opens-new-regional-distribution-centre.html (Accessed: October 2026).
All financial figures have been verified against the original annual reports and publicly available financial data sources. Hypothetical investment figures are clearly distinguished from reported company data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p:bgPr>
    </p:bg>
    <p:spTree>
      <p:nvGrpSpPr>
        <p:cNvPr id="1" name=""/>
        <p:cNvGrpSpPr/>
        <p:nvPr/>
      </p:nvGrpSpPr>
      <p:grpSpPr>
        <a:xfrm>
          <a:off x="0" y="0"/>
          <a:ext cx="0" cy="0"/>
          <a:chOff x="0" y="0"/>
          <a:chExt cx="0" cy="0"/>
        </a:xfrm>
      </p:grpSpPr>
      <p:sp>
        <p:nvSpPr>
          <p:cNvPr id="3" name="Text 0"/>
          <p:cNvSpPr txBox="1"/>
          <p:nvPr/>
        </p:nvSpPr>
        <p:spPr>
          <a:xfrm>
            <a:off x="731520" y="1005840"/>
            <a:ext cx="10728655" cy="2377440"/>
          </a:xfrm>
          <a:prstGeom prst="rect">
            <a:avLst/>
          </a:prstGeom>
          <a:noFill/>
          <a:ln/>
        </p:spPr>
        <p:txBody>
          <a:bodyPr wrap="square" lIns="0" tIns="0" rIns="0" bIns="0" rtlCol="0" anchor="b"/>
          <a:lstStyle/>
          <a:p>
            <a:pPr indent="0" marL="0">
              <a:spcAft>
                <a:spcPts val="800"/>
              </a:spcAft>
              <a:buNone/>
            </a:pPr>
            <a:r>
              <a:rPr lang="en-US" sz="4000" b="1" dirty="0">
                <a:solidFill>
                  <a:srgbClr val="FFFFFF"/>
                </a:solidFill>
                <a:latin typeface="Calibri" pitchFamily="34" charset="0"/>
                <a:ea typeface="Calibri" pitchFamily="34" charset="-122"/>
                <a:cs typeface="Calibri" pitchFamily="34" charset="-120"/>
              </a:rPr>
              <a:t>Evaluating Debt and Internal Financing</a:t>
            </a:r>
            <a:endParaRPr lang="en-US" sz="4000" dirty="0"/>
          </a:p>
          <a:p>
            <a:pPr indent="0" marL="0">
              <a:buNone/>
            </a:pPr>
            <a:r>
              <a:rPr lang="en-US" sz="3200" dirty="0">
                <a:solidFill>
                  <a:srgbClr val="D4A843"/>
                </a:solidFill>
                <a:latin typeface="Calibri" pitchFamily="34" charset="0"/>
                <a:ea typeface="Calibri" pitchFamily="34" charset="-122"/>
                <a:cs typeface="Calibri" pitchFamily="34" charset="-120"/>
              </a:rPr>
              <a:t>for Woolworths Group's Distribution</a:t>
            </a:r>
            <a:endParaRPr lang="en-US" sz="4000" dirty="0"/>
          </a:p>
          <a:p>
            <a:pPr indent="0" marL="0">
              <a:buNone/>
            </a:pPr>
            <a:r>
              <a:rPr lang="en-US" sz="3200" dirty="0">
                <a:solidFill>
                  <a:srgbClr val="D4A843"/>
                </a:solidFill>
                <a:latin typeface="Calibri" pitchFamily="34" charset="0"/>
                <a:ea typeface="Calibri" pitchFamily="34" charset="-122"/>
                <a:cs typeface="Calibri" pitchFamily="34" charset="-120"/>
              </a:rPr>
              <a:t>and Supply Chain Expansion</a:t>
            </a:r>
            <a:endParaRPr lang="en-US" sz="4000" dirty="0"/>
          </a:p>
        </p:txBody>
      </p:sp>
      <p:sp>
        <p:nvSpPr>
          <p:cNvPr id="4" name="Shape 1"/>
          <p:cNvSpPr/>
          <p:nvPr/>
        </p:nvSpPr>
        <p:spPr>
          <a:xfrm>
            <a:off x="731520" y="3703320"/>
            <a:ext cx="1463040" cy="0"/>
          </a:xfrm>
          <a:prstGeom prst="line">
            <a:avLst/>
          </a:prstGeom>
          <a:noFill/>
          <a:ln w="25400">
            <a:solidFill>
              <a:srgbClr val="D4A843"/>
            </a:solidFill>
            <a:prstDash val="solid"/>
          </a:ln>
        </p:spPr>
      </p:sp>
      <p:sp>
        <p:nvSpPr>
          <p:cNvPr id="5" name="Text 2"/>
          <p:cNvSpPr txBox="1"/>
          <p:nvPr/>
        </p:nvSpPr>
        <p:spPr>
          <a:xfrm>
            <a:off x="731520" y="3931920"/>
            <a:ext cx="10728655" cy="731520"/>
          </a:xfrm>
          <a:prstGeom prst="rect">
            <a:avLst/>
          </a:prstGeom>
          <a:noFill/>
          <a:ln/>
        </p:spPr>
        <p:txBody>
          <a:bodyPr wrap="square" lIns="0" tIns="0" rIns="0" bIns="0" rtlCol="0" anchor="t"/>
          <a:lstStyle/>
          <a:p>
            <a:pPr indent="0" marL="0">
              <a:spcAft>
                <a:spcPts val="400"/>
              </a:spcAft>
              <a:buNone/>
            </a:pPr>
            <a:r>
              <a:rPr lang="en-US" sz="1800" dirty="0">
                <a:solidFill>
                  <a:srgbClr val="A0B8A8"/>
                </a:solidFill>
                <a:latin typeface="Calibri" pitchFamily="34" charset="0"/>
                <a:ea typeface="Calibri" pitchFamily="34" charset="-122"/>
                <a:cs typeface="Calibri" pitchFamily="34" charset="-120"/>
              </a:rPr>
              <a:t>Route 3: Corporate Finance Adviser — Financing Decision</a:t>
            </a:r>
            <a:endParaRPr lang="en-US" sz="1800" dirty="0"/>
          </a:p>
          <a:p>
            <a:pPr indent="0" marL="0">
              <a:buNone/>
            </a:pPr>
            <a:r>
              <a:rPr lang="en-US" sz="1500" dirty="0">
                <a:solidFill>
                  <a:srgbClr val="A0B8A8"/>
                </a:solidFill>
                <a:latin typeface="Calibri" pitchFamily="34" charset="0"/>
                <a:ea typeface="Calibri" pitchFamily="34" charset="-122"/>
                <a:cs typeface="Calibri" pitchFamily="34" charset="-120"/>
              </a:rPr>
              <a:t>FIN4951 / FIN4001 Corporate Finance</a:t>
            </a:r>
            <a:endParaRPr lang="en-US" sz="1800" dirty="0"/>
          </a:p>
        </p:txBody>
      </p:sp>
      <p:sp>
        <p:nvSpPr>
          <p:cNvPr id="6" name="Shape 3"/>
          <p:cNvSpPr/>
          <p:nvPr/>
        </p:nvSpPr>
        <p:spPr>
          <a:xfrm>
            <a:off x="0" y="5257800"/>
            <a:ext cx="12191695" cy="1600200"/>
          </a:xfrm>
          <a:prstGeom prst="rect">
            <a:avLst/>
          </a:prstGeom>
          <a:solidFill>
            <a:srgbClr val="125B3F"/>
          </a:solidFill>
          <a:ln/>
        </p:spPr>
      </p:sp>
      <p:sp>
        <p:nvSpPr>
          <p:cNvPr id="7" name="Text 4"/>
          <p:cNvSpPr txBox="1"/>
          <p:nvPr/>
        </p:nvSpPr>
        <p:spPr>
          <a:xfrm>
            <a:off x="731520" y="5440680"/>
            <a:ext cx="7315200" cy="1188720"/>
          </a:xfrm>
          <a:prstGeom prst="rect">
            <a:avLst/>
          </a:prstGeom>
          <a:noFill/>
          <a:ln/>
        </p:spPr>
        <p:txBody>
          <a:bodyPr wrap="square" lIns="0" tIns="0" rIns="0" bIns="0" rtlCol="0" anchor="ctr"/>
          <a:lstStyle/>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Prepared by: [Student Name]</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Student ID: [Student ID]</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Date: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Executive Summary</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143000"/>
            <a:ext cx="2567864" cy="1097280"/>
          </a:xfrm>
          <a:prstGeom prst="roundRect">
            <a:avLst>
              <a:gd name="adj" fmla="val 6667"/>
            </a:avLst>
          </a:prstGeom>
          <a:solidFill>
            <a:srgbClr val="F4F6F5"/>
          </a:solidFill>
          <a:ln/>
        </p:spPr>
      </p:sp>
      <p:sp>
        <p:nvSpPr>
          <p:cNvPr id="7" name="Text 4"/>
          <p:cNvSpPr txBox="1"/>
          <p:nvPr/>
        </p:nvSpPr>
        <p:spPr>
          <a:xfrm>
            <a:off x="731520" y="1188720"/>
            <a:ext cx="2202104" cy="1005840"/>
          </a:xfrm>
          <a:prstGeom prst="rect">
            <a:avLst/>
          </a:prstGeom>
          <a:noFill/>
          <a:ln/>
        </p:spPr>
        <p:txBody>
          <a:bodyPr wrap="square" lIns="0" tIns="0" rIns="0" bIns="0" rtlCol="0" anchor="ctr"/>
          <a:lstStyle/>
          <a:p>
            <a:pPr indent="0" marL="0">
              <a:buNone/>
            </a:pPr>
            <a:r>
              <a:rPr lang="en-US" sz="3000" b="1" dirty="0">
                <a:solidFill>
                  <a:srgbClr val="125B3F"/>
                </a:solidFill>
                <a:latin typeface="Calibri" pitchFamily="34" charset="0"/>
                <a:ea typeface="Calibri" pitchFamily="34" charset="-122"/>
                <a:cs typeface="Calibri" pitchFamily="34" charset="-120"/>
              </a:rPr>
              <a:t>A$69.1B</a:t>
            </a:r>
            <a:endParaRPr lang="en-US" sz="3000" dirty="0"/>
          </a:p>
          <a:p>
            <a:pPr indent="0" marL="0">
              <a:buNone/>
            </a:pPr>
            <a:r>
              <a:rPr lang="en-US" sz="1300" dirty="0">
                <a:solidFill>
                  <a:srgbClr val="2C2C2C"/>
                </a:solidFill>
                <a:latin typeface="Calibri" pitchFamily="34" charset="0"/>
                <a:ea typeface="Calibri" pitchFamily="34" charset="-122"/>
                <a:cs typeface="Calibri" pitchFamily="34" charset="-120"/>
              </a:rPr>
              <a:t>FY2025 Revenue</a:t>
            </a:r>
            <a:endParaRPr lang="en-US" sz="3000" dirty="0"/>
          </a:p>
        </p:txBody>
      </p:sp>
      <p:sp>
        <p:nvSpPr>
          <p:cNvPr id="8" name="Shape 5"/>
          <p:cNvSpPr/>
          <p:nvPr/>
        </p:nvSpPr>
        <p:spPr>
          <a:xfrm>
            <a:off x="3390824" y="1143000"/>
            <a:ext cx="2567864" cy="1097280"/>
          </a:xfrm>
          <a:prstGeom prst="roundRect">
            <a:avLst>
              <a:gd name="adj" fmla="val 6667"/>
            </a:avLst>
          </a:prstGeom>
          <a:solidFill>
            <a:srgbClr val="F4F6F5"/>
          </a:solidFill>
          <a:ln/>
        </p:spPr>
      </p:sp>
      <p:sp>
        <p:nvSpPr>
          <p:cNvPr id="9" name="Text 6"/>
          <p:cNvSpPr txBox="1"/>
          <p:nvPr/>
        </p:nvSpPr>
        <p:spPr>
          <a:xfrm>
            <a:off x="3573704" y="1188720"/>
            <a:ext cx="2202104" cy="1005840"/>
          </a:xfrm>
          <a:prstGeom prst="rect">
            <a:avLst/>
          </a:prstGeom>
          <a:noFill/>
          <a:ln/>
        </p:spPr>
        <p:txBody>
          <a:bodyPr wrap="square" lIns="0" tIns="0" rIns="0" bIns="0" rtlCol="0" anchor="ctr"/>
          <a:lstStyle/>
          <a:p>
            <a:pPr indent="0" marL="0">
              <a:buNone/>
            </a:pPr>
            <a:r>
              <a:rPr lang="en-US" sz="3000" b="1" dirty="0">
                <a:solidFill>
                  <a:srgbClr val="4A90A4"/>
                </a:solidFill>
                <a:latin typeface="Calibri" pitchFamily="34" charset="0"/>
                <a:ea typeface="Calibri" pitchFamily="34" charset="-122"/>
                <a:cs typeface="Calibri" pitchFamily="34" charset="-120"/>
              </a:rPr>
              <a:t>A$4.55B</a:t>
            </a:r>
            <a:endParaRPr lang="en-US" sz="3000" dirty="0"/>
          </a:p>
          <a:p>
            <a:pPr indent="0" marL="0">
              <a:buNone/>
            </a:pPr>
            <a:r>
              <a:rPr lang="en-US" sz="1300" dirty="0">
                <a:solidFill>
                  <a:srgbClr val="2C2C2C"/>
                </a:solidFill>
                <a:latin typeface="Calibri" pitchFamily="34" charset="0"/>
                <a:ea typeface="Calibri" pitchFamily="34" charset="-122"/>
                <a:cs typeface="Calibri" pitchFamily="34" charset="-120"/>
              </a:rPr>
              <a:t>Operating Cash Flow</a:t>
            </a:r>
            <a:endParaRPr lang="en-US" sz="3000" dirty="0"/>
          </a:p>
        </p:txBody>
      </p:sp>
      <p:sp>
        <p:nvSpPr>
          <p:cNvPr id="10" name="Shape 7"/>
          <p:cNvSpPr/>
          <p:nvPr/>
        </p:nvSpPr>
        <p:spPr>
          <a:xfrm>
            <a:off x="6233008" y="1143000"/>
            <a:ext cx="2567864" cy="1097280"/>
          </a:xfrm>
          <a:prstGeom prst="roundRect">
            <a:avLst>
              <a:gd name="adj" fmla="val 6667"/>
            </a:avLst>
          </a:prstGeom>
          <a:solidFill>
            <a:srgbClr val="F4F6F5"/>
          </a:solidFill>
          <a:ln/>
        </p:spPr>
      </p:sp>
      <p:sp>
        <p:nvSpPr>
          <p:cNvPr id="11" name="Text 8"/>
          <p:cNvSpPr txBox="1"/>
          <p:nvPr/>
        </p:nvSpPr>
        <p:spPr>
          <a:xfrm>
            <a:off x="6415888" y="1188720"/>
            <a:ext cx="2202104" cy="1005840"/>
          </a:xfrm>
          <a:prstGeom prst="rect">
            <a:avLst/>
          </a:prstGeom>
          <a:noFill/>
          <a:ln/>
        </p:spPr>
        <p:txBody>
          <a:bodyPr wrap="square" lIns="0" tIns="0" rIns="0" bIns="0" rtlCol="0" anchor="ctr"/>
          <a:lstStyle/>
          <a:p>
            <a:pPr indent="0" marL="0">
              <a:buNone/>
            </a:pPr>
            <a:r>
              <a:rPr lang="en-US" sz="3000" b="1" dirty="0">
                <a:solidFill>
                  <a:srgbClr val="D4A843"/>
                </a:solidFill>
                <a:latin typeface="Calibri" pitchFamily="34" charset="0"/>
                <a:ea typeface="Calibri" pitchFamily="34" charset="-122"/>
                <a:cs typeface="Calibri" pitchFamily="34" charset="-120"/>
              </a:rPr>
              <a:t>A$5.5B</a:t>
            </a:r>
            <a:endParaRPr lang="en-US" sz="3000" dirty="0"/>
          </a:p>
          <a:p>
            <a:pPr indent="0" marL="0">
              <a:buNone/>
            </a:pPr>
            <a:r>
              <a:rPr lang="en-US" sz="1300" dirty="0">
                <a:solidFill>
                  <a:srgbClr val="2C2C2C"/>
                </a:solidFill>
                <a:latin typeface="Calibri" pitchFamily="34" charset="0"/>
                <a:ea typeface="Calibri" pitchFamily="34" charset="-122"/>
                <a:cs typeface="Calibri" pitchFamily="34" charset="-120"/>
              </a:rPr>
              <a:t>Interest-Bearing Debt</a:t>
            </a:r>
            <a:endParaRPr lang="en-US" sz="3000" dirty="0"/>
          </a:p>
        </p:txBody>
      </p:sp>
      <p:sp>
        <p:nvSpPr>
          <p:cNvPr id="12" name="Shape 9"/>
          <p:cNvSpPr/>
          <p:nvPr/>
        </p:nvSpPr>
        <p:spPr>
          <a:xfrm>
            <a:off x="9075191" y="1143000"/>
            <a:ext cx="2567864" cy="1097280"/>
          </a:xfrm>
          <a:prstGeom prst="roundRect">
            <a:avLst>
              <a:gd name="adj" fmla="val 6667"/>
            </a:avLst>
          </a:prstGeom>
          <a:solidFill>
            <a:srgbClr val="F4F6F5"/>
          </a:solidFill>
          <a:ln/>
        </p:spPr>
      </p:sp>
      <p:sp>
        <p:nvSpPr>
          <p:cNvPr id="13" name="Text 10"/>
          <p:cNvSpPr txBox="1"/>
          <p:nvPr/>
        </p:nvSpPr>
        <p:spPr>
          <a:xfrm>
            <a:off x="9258071" y="1188720"/>
            <a:ext cx="2202104" cy="100584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BBB</a:t>
            </a:r>
            <a:endParaRPr lang="en-US" sz="3000" dirty="0"/>
          </a:p>
          <a:p>
            <a:pPr indent="0" marL="0">
              <a:buNone/>
            </a:pPr>
            <a:r>
              <a:rPr lang="en-US" sz="1300" dirty="0">
                <a:solidFill>
                  <a:srgbClr val="2C2C2C"/>
                </a:solidFill>
                <a:latin typeface="Calibri" pitchFamily="34" charset="0"/>
                <a:ea typeface="Calibri" pitchFamily="34" charset="-122"/>
                <a:cs typeface="Calibri" pitchFamily="34" charset="-120"/>
              </a:rPr>
              <a:t>S&amp;P Credit Rating</a:t>
            </a:r>
            <a:endParaRPr lang="en-US" sz="3000" dirty="0"/>
          </a:p>
        </p:txBody>
      </p:sp>
      <p:sp>
        <p:nvSpPr>
          <p:cNvPr id="14" name="Shape 11"/>
          <p:cNvSpPr/>
          <p:nvPr/>
        </p:nvSpPr>
        <p:spPr>
          <a:xfrm>
            <a:off x="548640" y="2560320"/>
            <a:ext cx="5410048" cy="1600200"/>
          </a:xfrm>
          <a:prstGeom prst="roundRect">
            <a:avLst>
              <a:gd name="adj" fmla="val 4571"/>
            </a:avLst>
          </a:prstGeom>
          <a:solidFill>
            <a:srgbClr val="F4F6F5"/>
          </a:solidFill>
          <a:ln/>
        </p:spPr>
      </p:sp>
      <p:sp>
        <p:nvSpPr>
          <p:cNvPr id="15" name="Text 12"/>
          <p:cNvSpPr txBox="1"/>
          <p:nvPr/>
        </p:nvSpPr>
        <p:spPr>
          <a:xfrm>
            <a:off x="749808" y="2697480"/>
            <a:ext cx="5007712" cy="1325880"/>
          </a:xfrm>
          <a:prstGeom prst="rect">
            <a:avLst/>
          </a:prstGeom>
          <a:noFill/>
          <a:ln/>
        </p:spPr>
        <p:txBody>
          <a:bodyPr wrap="square" lIns="0" tIns="0" rIns="0" bIns="0" rtlCol="0" anchor="t"/>
          <a:lstStyle/>
          <a:p>
            <a:pPr indent="0" marL="0">
              <a:spcAft>
                <a:spcPts val="400"/>
              </a:spcAft>
              <a:buNone/>
            </a:pPr>
            <a:r>
              <a:rPr lang="en-US" sz="1500" b="1" dirty="0">
                <a:solidFill>
                  <a:srgbClr val="125B3F"/>
                </a:solidFill>
                <a:latin typeface="Calibri" pitchFamily="34" charset="0"/>
                <a:ea typeface="Calibri" pitchFamily="34" charset="-122"/>
                <a:cs typeface="Calibri" pitchFamily="34" charset="-120"/>
              </a:rPr>
              <a:t>Financing Decision:</a:t>
            </a:r>
            <a:endParaRPr lang="en-US" sz="1500" dirty="0"/>
          </a:p>
          <a:p>
            <a:pPr indent="0" marL="0">
              <a:buNone/>
            </a:pPr>
            <a:r>
              <a:rPr lang="en-US" sz="1250" dirty="0">
                <a:solidFill>
                  <a:srgbClr val="2C2C2C"/>
                </a:solidFill>
                <a:latin typeface="Calibri" pitchFamily="34" charset="0"/>
                <a:ea typeface="Calibri" pitchFamily="34" charset="-122"/>
                <a:cs typeface="Calibri" pitchFamily="34" charset="-120"/>
              </a:rPr>
              <a:t>How should Woolworths Group finance a hypothetical A$800 million next-phase distribution centre expansion across Melbourne and Brisbane, building on its Moorebank investment model?</a:t>
            </a:r>
            <a:endParaRPr lang="en-US" sz="1500" dirty="0"/>
          </a:p>
        </p:txBody>
      </p:sp>
      <p:sp>
        <p:nvSpPr>
          <p:cNvPr id="16" name="Shape 13"/>
          <p:cNvSpPr/>
          <p:nvPr/>
        </p:nvSpPr>
        <p:spPr>
          <a:xfrm>
            <a:off x="6233008" y="2560320"/>
            <a:ext cx="5410048" cy="1600200"/>
          </a:xfrm>
          <a:prstGeom prst="roundRect">
            <a:avLst>
              <a:gd name="adj" fmla="val 4571"/>
            </a:avLst>
          </a:prstGeom>
          <a:solidFill>
            <a:srgbClr val="F4F6F5"/>
          </a:solidFill>
          <a:ln/>
        </p:spPr>
      </p:sp>
      <p:sp>
        <p:nvSpPr>
          <p:cNvPr id="17" name="Text 14"/>
          <p:cNvSpPr txBox="1"/>
          <p:nvPr/>
        </p:nvSpPr>
        <p:spPr>
          <a:xfrm>
            <a:off x="6434176" y="2697480"/>
            <a:ext cx="5007712" cy="1325880"/>
          </a:xfrm>
          <a:prstGeom prst="rect">
            <a:avLst/>
          </a:prstGeom>
          <a:noFill/>
          <a:ln/>
        </p:spPr>
        <p:txBody>
          <a:bodyPr wrap="square" lIns="0" tIns="0" rIns="0" bIns="0" rtlCol="0" anchor="t"/>
          <a:lstStyle/>
          <a:p>
            <a:pPr indent="0" marL="0">
              <a:spcAft>
                <a:spcPts val="400"/>
              </a:spcAft>
              <a:buNone/>
            </a:pPr>
            <a:r>
              <a:rPr lang="en-US" sz="1500" b="1" dirty="0">
                <a:solidFill>
                  <a:srgbClr val="125B3F"/>
                </a:solidFill>
                <a:latin typeface="Calibri" pitchFamily="34" charset="0"/>
                <a:ea typeface="Calibri" pitchFamily="34" charset="-122"/>
                <a:cs typeface="Calibri" pitchFamily="34" charset="-120"/>
              </a:rPr>
              <a:t>Current Position:</a:t>
            </a:r>
            <a:endParaRPr lang="en-US" sz="1500" dirty="0"/>
          </a:p>
          <a:p>
            <a:pPr indent="0" marL="0">
              <a:buNone/>
            </a:pPr>
            <a:r>
              <a:rPr lang="en-US" sz="1250" dirty="0">
                <a:solidFill>
                  <a:srgbClr val="2C2C2C"/>
                </a:solidFill>
                <a:latin typeface="Calibri" pitchFamily="34" charset="0"/>
                <a:ea typeface="Calibri" pitchFamily="34" charset="-122"/>
                <a:cs typeface="Calibri" pitchFamily="34" charset="-120"/>
              </a:rPr>
              <a:t>Woolworths generates strong operating cash flow (A$4.55 billion in FY2025) but faces declining profitability, rising interest costs, and an elevated RBA cash rate of 4.35%. Existing interest-bearing debt stands at approximately A$5.5 billion, excluding lease liabilities of A$11.9 billion.</a:t>
            </a:r>
            <a:endParaRPr lang="en-US" sz="1500" dirty="0"/>
          </a:p>
        </p:txBody>
      </p:sp>
      <p:sp>
        <p:nvSpPr>
          <p:cNvPr id="18" name="Shape 15"/>
          <p:cNvSpPr/>
          <p:nvPr/>
        </p:nvSpPr>
        <p:spPr>
          <a:xfrm>
            <a:off x="548640" y="4434840"/>
            <a:ext cx="5410048" cy="1600200"/>
          </a:xfrm>
          <a:prstGeom prst="roundRect">
            <a:avLst>
              <a:gd name="adj" fmla="val 4571"/>
            </a:avLst>
          </a:prstGeom>
          <a:solidFill>
            <a:srgbClr val="EEF6EA"/>
          </a:solidFill>
          <a:ln/>
        </p:spPr>
      </p:sp>
      <p:sp>
        <p:nvSpPr>
          <p:cNvPr id="19" name="Text 16"/>
          <p:cNvSpPr txBox="1"/>
          <p:nvPr/>
        </p:nvSpPr>
        <p:spPr>
          <a:xfrm>
            <a:off x="749808" y="4572000"/>
            <a:ext cx="5007712" cy="1325880"/>
          </a:xfrm>
          <a:prstGeom prst="rect">
            <a:avLst/>
          </a:prstGeom>
          <a:noFill/>
          <a:ln/>
        </p:spPr>
        <p:txBody>
          <a:bodyPr wrap="square" lIns="0" tIns="0" rIns="0" bIns="0" rtlCol="0" anchor="t"/>
          <a:lstStyle/>
          <a:p>
            <a:pPr indent="0" marL="0">
              <a:spcAft>
                <a:spcPts val="400"/>
              </a:spcAft>
              <a:buNone/>
            </a:pPr>
            <a:r>
              <a:rPr lang="en-US" sz="1500" b="1" dirty="0">
                <a:solidFill>
                  <a:srgbClr val="125B3F"/>
                </a:solidFill>
                <a:latin typeface="Calibri" pitchFamily="34" charset="0"/>
                <a:ea typeface="Calibri" pitchFamily="34" charset="-122"/>
                <a:cs typeface="Calibri" pitchFamily="34" charset="-120"/>
              </a:rPr>
              <a:t>Provisional Recommendation:</a:t>
            </a:r>
            <a:endParaRPr lang="en-US" sz="1500" dirty="0"/>
          </a:p>
          <a:p>
            <a:pPr indent="0" marL="0">
              <a:buNone/>
            </a:pPr>
            <a:r>
              <a:rPr lang="en-US" sz="1250" dirty="0">
                <a:solidFill>
                  <a:srgbClr val="2C2C2C"/>
                </a:solidFill>
                <a:latin typeface="Calibri" pitchFamily="34" charset="0"/>
                <a:ea typeface="Calibri" pitchFamily="34" charset="-122"/>
                <a:cs typeface="Calibri" pitchFamily="34" charset="-120"/>
              </a:rPr>
              <a:t>A combined financing approach — approximately 60% internal financing (A$480 million) and 40% debt financing (A$320 million) — balances liquidity preservation with manageable gearing, subject to the financial analysis herein.</a:t>
            </a:r>
            <a:endParaRPr lang="en-US" sz="1500" dirty="0"/>
          </a:p>
        </p:txBody>
      </p:sp>
      <p:sp>
        <p:nvSpPr>
          <p:cNvPr id="20" name="Shape 17"/>
          <p:cNvSpPr/>
          <p:nvPr/>
        </p:nvSpPr>
        <p:spPr>
          <a:xfrm>
            <a:off x="6233008" y="4434840"/>
            <a:ext cx="5410048" cy="1600200"/>
          </a:xfrm>
          <a:prstGeom prst="roundRect">
            <a:avLst>
              <a:gd name="adj" fmla="val 4571"/>
            </a:avLst>
          </a:prstGeom>
          <a:solidFill>
            <a:srgbClr val="FDF0EE"/>
          </a:solidFill>
          <a:ln/>
        </p:spPr>
      </p:sp>
      <p:sp>
        <p:nvSpPr>
          <p:cNvPr id="21" name="Text 18"/>
          <p:cNvSpPr txBox="1"/>
          <p:nvPr/>
        </p:nvSpPr>
        <p:spPr>
          <a:xfrm>
            <a:off x="6434176" y="4572000"/>
            <a:ext cx="5007712" cy="1325880"/>
          </a:xfrm>
          <a:prstGeom prst="rect">
            <a:avLst/>
          </a:prstGeom>
          <a:noFill/>
          <a:ln/>
        </p:spPr>
        <p:txBody>
          <a:bodyPr wrap="square" lIns="0" tIns="0" rIns="0" bIns="0" rtlCol="0" anchor="t"/>
          <a:lstStyle/>
          <a:p>
            <a:pPr indent="0" marL="0">
              <a:spcAft>
                <a:spcPts val="400"/>
              </a:spcAft>
              <a:buNone/>
            </a:pPr>
            <a:r>
              <a:rPr lang="en-US" sz="1500" b="1" dirty="0">
                <a:solidFill>
                  <a:srgbClr val="C13B2A"/>
                </a:solidFill>
                <a:latin typeface="Calibri" pitchFamily="34" charset="0"/>
                <a:ea typeface="Calibri" pitchFamily="34" charset="-122"/>
                <a:cs typeface="Calibri" pitchFamily="34" charset="-120"/>
              </a:rPr>
              <a:t>Key Risk:</a:t>
            </a:r>
            <a:endParaRPr lang="en-US" sz="1500" dirty="0"/>
          </a:p>
          <a:p>
            <a:pPr indent="0" marL="0">
              <a:buNone/>
            </a:pPr>
            <a:r>
              <a:rPr lang="en-US" sz="1250" dirty="0">
                <a:solidFill>
                  <a:srgbClr val="2C2C2C"/>
                </a:solidFill>
                <a:latin typeface="Calibri" pitchFamily="34" charset="0"/>
                <a:ea typeface="Calibri" pitchFamily="34" charset="-122"/>
                <a:cs typeface="Calibri" pitchFamily="34" charset="-120"/>
              </a:rPr>
              <a:t>A further tightening of monetary policy or weakening of consumer demand could simultaneously raise debt costs and reduce internal cash generation.</a:t>
            </a:r>
            <a:endParaRPr lang="en-US" sz="1500" dirty="0"/>
          </a:p>
        </p:txBody>
      </p:sp>
      <p:sp>
        <p:nvSpPr>
          <p:cNvPr id="22" name="Text 19"/>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 Woolworths Group Annual Report 2025; S&amp;P Global Ratings (2023); Reserve Bank of Australia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Company Overview and Strategic Context</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143000"/>
            <a:ext cx="5410048" cy="3977640"/>
          </a:xfrm>
          <a:prstGeom prst="roundRect">
            <a:avLst>
              <a:gd name="adj" fmla="val 1839"/>
            </a:avLst>
          </a:prstGeom>
          <a:solidFill>
            <a:srgbClr val="F4F6F5"/>
          </a:solidFill>
          <a:ln/>
        </p:spPr>
      </p:sp>
      <p:sp>
        <p:nvSpPr>
          <p:cNvPr id="7" name="Text 4"/>
          <p:cNvSpPr txBox="1"/>
          <p:nvPr/>
        </p:nvSpPr>
        <p:spPr>
          <a:xfrm>
            <a:off x="749808" y="127101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About Woolworths Group</a:t>
            </a:r>
            <a:endParaRPr lang="en-US" sz="1500" dirty="0"/>
          </a:p>
        </p:txBody>
      </p:sp>
      <p:sp>
        <p:nvSpPr>
          <p:cNvPr id="8" name="Text 5"/>
          <p:cNvSpPr txBox="1"/>
          <p:nvPr/>
        </p:nvSpPr>
        <p:spPr>
          <a:xfrm>
            <a:off x="749808" y="1673352"/>
            <a:ext cx="5007712" cy="3319272"/>
          </a:xfrm>
          <a:prstGeom prst="rect">
            <a:avLst/>
          </a:prstGeom>
          <a:noFill/>
          <a:ln/>
        </p:spPr>
        <p:txBody>
          <a:bodyPr wrap="square" lIns="0" tIns="0" rIns="0" bIns="0" rtlCol="0" anchor="t"/>
          <a:lstStyle/>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Australia's largest supermarket retailer (ASX: WOW)</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Headquartered in Bella Vista, NSW; ~203,000 employees</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FY2025 group revenue: A$69.1 billion across five segments</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Core segments: Australian Food (A$51.5B), Australian B2B (A$5.7B), NZ Food (NZ$8.3B), WooliesX (A$9.6B), W Living</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~1,100 Woolworths supermarkets, plus Big W, Petstock, and wholesale operations</a:t>
            </a:r>
            <a:endParaRPr lang="en-US" sz="1300" dirty="0"/>
          </a:p>
          <a:p>
            <a:pPr marL="165100" indent="-165100">
              <a:lnSpc>
                <a:spcPct val="100000"/>
              </a:lnSpc>
              <a:buSzPct val="100000"/>
              <a:buChar char="•"/>
            </a:pPr>
            <a:r>
              <a:rPr lang="en-US" sz="1300" dirty="0">
                <a:solidFill>
                  <a:srgbClr val="2C2C2C"/>
                </a:solidFill>
                <a:latin typeface="Calibri" pitchFamily="34" charset="0"/>
                <a:ea typeface="Calibri" pitchFamily="34" charset="-122"/>
                <a:cs typeface="Calibri" pitchFamily="34" charset="-120"/>
              </a:rPr>
              <a:t>Primary Connect is the Group's dedicated supply chain arm</a:t>
            </a:r>
            <a:endParaRPr lang="en-US" sz="1300" dirty="0"/>
          </a:p>
        </p:txBody>
      </p:sp>
      <p:sp>
        <p:nvSpPr>
          <p:cNvPr id="9" name="Shape 6"/>
          <p:cNvSpPr/>
          <p:nvPr/>
        </p:nvSpPr>
        <p:spPr>
          <a:xfrm>
            <a:off x="6233008" y="1143000"/>
            <a:ext cx="5410048" cy="3977640"/>
          </a:xfrm>
          <a:prstGeom prst="roundRect">
            <a:avLst>
              <a:gd name="adj" fmla="val 1839"/>
            </a:avLst>
          </a:prstGeom>
          <a:solidFill>
            <a:srgbClr val="F4F6F5"/>
          </a:solidFill>
          <a:ln/>
        </p:spPr>
      </p:sp>
      <p:sp>
        <p:nvSpPr>
          <p:cNvPr id="10" name="Text 7"/>
          <p:cNvSpPr txBox="1"/>
          <p:nvPr/>
        </p:nvSpPr>
        <p:spPr>
          <a:xfrm>
            <a:off x="6434176" y="127101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Why Supply Chain Investment Matters</a:t>
            </a:r>
            <a:endParaRPr lang="en-US" sz="1500" dirty="0"/>
          </a:p>
        </p:txBody>
      </p:sp>
      <p:sp>
        <p:nvSpPr>
          <p:cNvPr id="11" name="Text 8"/>
          <p:cNvSpPr txBox="1"/>
          <p:nvPr/>
        </p:nvSpPr>
        <p:spPr>
          <a:xfrm>
            <a:off x="6434176" y="1673352"/>
            <a:ext cx="5007712" cy="3337560"/>
          </a:xfrm>
          <a:prstGeom prst="rect">
            <a:avLst/>
          </a:prstGeom>
          <a:noFill/>
          <a:ln/>
        </p:spPr>
        <p:txBody>
          <a:bodyPr wrap="square" lIns="0" tIns="0" rIns="0" bIns="0" rtlCol="0" anchor="t"/>
          <a:lstStyle/>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Distribution centres are critical to product availability and freshness in over 1,000 stores nationally</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Automation reduces manual handling, lowers unit fulfilment costs, and improves workplace safety</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Efficient logistics directly support competitive pricing, a key factor in the Coles-Woolworths duopoly</a:t>
            </a:r>
            <a:endParaRPr lang="en-US" sz="1300" dirty="0"/>
          </a:p>
          <a:p>
            <a:pPr marL="165100" indent="-165100">
              <a:lnSpc>
                <a:spcPct val="100000"/>
              </a:lnSpc>
              <a:spcAft>
                <a:spcPts val="700"/>
              </a:spcAft>
              <a:buSzPct val="100000"/>
              <a:buChar char="•"/>
            </a:pPr>
            <a:r>
              <a:rPr lang="en-US" sz="1300" dirty="0">
                <a:solidFill>
                  <a:srgbClr val="2C2C2C"/>
                </a:solidFill>
                <a:latin typeface="Calibri" pitchFamily="34" charset="0"/>
                <a:ea typeface="Calibri" pitchFamily="34" charset="-122"/>
                <a:cs typeface="Calibri" pitchFamily="34" charset="-120"/>
              </a:rPr>
              <a:t>Rising energy, labour and transport costs make automation ROI increasingly favourable</a:t>
            </a:r>
            <a:endParaRPr lang="en-US" sz="1300" dirty="0"/>
          </a:p>
          <a:p>
            <a:pPr marL="165100" indent="-165100">
              <a:lnSpc>
                <a:spcPct val="100000"/>
              </a:lnSpc>
              <a:buSzPct val="100000"/>
              <a:buChar char="•"/>
            </a:pPr>
            <a:r>
              <a:rPr lang="en-US" sz="1300" dirty="0">
                <a:solidFill>
                  <a:srgbClr val="2C2C2C"/>
                </a:solidFill>
                <a:latin typeface="Calibri" pitchFamily="34" charset="0"/>
                <a:ea typeface="Calibri" pitchFamily="34" charset="-122"/>
                <a:cs typeface="Calibri" pitchFamily="34" charset="-120"/>
              </a:rPr>
              <a:t>E-commerce growth (WooliesX sales grew 16% normalised in FY2025) demands faster last-mile fulfilment</a:t>
            </a:r>
            <a:endParaRPr lang="en-US" sz="1300" dirty="0"/>
          </a:p>
        </p:txBody>
      </p:sp>
      <p:sp>
        <p:nvSpPr>
          <p:cNvPr id="12" name="Shape 9"/>
          <p:cNvSpPr/>
          <p:nvPr/>
        </p:nvSpPr>
        <p:spPr>
          <a:xfrm>
            <a:off x="548640" y="5349240"/>
            <a:ext cx="11094415" cy="777240"/>
          </a:xfrm>
          <a:prstGeom prst="roundRect">
            <a:avLst>
              <a:gd name="adj" fmla="val 9412"/>
            </a:avLst>
          </a:prstGeom>
          <a:solidFill>
            <a:srgbClr val="125B3F"/>
          </a:solidFill>
          <a:ln/>
        </p:spPr>
      </p:sp>
      <p:sp>
        <p:nvSpPr>
          <p:cNvPr id="13" name="Text 10"/>
          <p:cNvSpPr txBox="1"/>
          <p:nvPr/>
        </p:nvSpPr>
        <p:spPr>
          <a:xfrm>
            <a:off x="822960" y="5349240"/>
            <a:ext cx="10545775"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Financing decision is critical: the wrong structure could weaken financial flexibility during a period of macro uncertainty</a:t>
            </a:r>
            <a:endParaRPr lang="en-US" sz="1400" dirty="0"/>
          </a:p>
        </p:txBody>
      </p:sp>
      <p:sp>
        <p:nvSpPr>
          <p:cNvPr id="14" name="Text 11"/>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Sources: Woolworths Group Annual Report 2025; Woolworths Group Investor Presentation, August 2025.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Proposed Expansion and Funding Requirement</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48640" y="1143000"/>
            <a:ext cx="5410048" cy="2377440"/>
          </a:xfrm>
          <a:prstGeom prst="roundRect">
            <a:avLst>
              <a:gd name="adj" fmla="val 3077"/>
            </a:avLst>
          </a:prstGeom>
          <a:solidFill>
            <a:srgbClr val="F4F6F5"/>
          </a:solidFill>
          <a:ln/>
        </p:spPr>
      </p:sp>
      <p:sp>
        <p:nvSpPr>
          <p:cNvPr id="7" name="Text 4"/>
          <p:cNvSpPr txBox="1"/>
          <p:nvPr/>
        </p:nvSpPr>
        <p:spPr>
          <a:xfrm>
            <a:off x="749808" y="127101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Actual Precedent: Moorebank (Completed)</a:t>
            </a:r>
            <a:endParaRPr lang="en-US" sz="1500" dirty="0"/>
          </a:p>
        </p:txBody>
      </p:sp>
      <p:sp>
        <p:nvSpPr>
          <p:cNvPr id="8" name="Text 5"/>
          <p:cNvSpPr txBox="1"/>
          <p:nvPr/>
        </p:nvSpPr>
        <p:spPr>
          <a:xfrm>
            <a:off x="749808" y="1673352"/>
            <a:ext cx="5007712" cy="1719072"/>
          </a:xfrm>
          <a:prstGeom prst="rect">
            <a:avLst/>
          </a:prstGeom>
          <a:noFill/>
          <a:ln/>
        </p:spPr>
        <p:txBody>
          <a:bodyPr wrap="square" lIns="0" tIns="0" rIns="0" bIns="0" rtlCol="0" anchor="t"/>
          <a:lstStyle/>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A$1.3 billion invested in two DCs in Western Sydney</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NDC completed November 2024; RDC November 2025</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75,000 sqm combined; 5 million cartons/week capacity</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26,000 truck movements removed from roads annually</a:t>
            </a:r>
            <a:endParaRPr lang="en-US" sz="1250" dirty="0"/>
          </a:p>
          <a:p>
            <a:pPr marL="165100" indent="-165100">
              <a:lnSpc>
                <a:spcPct val="100000"/>
              </a:lnSpc>
              <a:buSzPct val="100000"/>
              <a:buChar char="•"/>
            </a:pPr>
            <a:r>
              <a:rPr lang="en-US" sz="1250" dirty="0">
                <a:solidFill>
                  <a:srgbClr val="2C2C2C"/>
                </a:solidFill>
                <a:latin typeface="Calibri" pitchFamily="34" charset="0"/>
                <a:ea typeface="Calibri" pitchFamily="34" charset="-122"/>
                <a:cs typeface="Calibri" pitchFamily="34" charset="-120"/>
              </a:rPr>
              <a:t>Partners: Dematic, Vanderlande (technology); Qube (build)</a:t>
            </a:r>
            <a:endParaRPr lang="en-US" sz="1250" dirty="0"/>
          </a:p>
        </p:txBody>
      </p:sp>
      <p:sp>
        <p:nvSpPr>
          <p:cNvPr id="9" name="Shape 6"/>
          <p:cNvSpPr/>
          <p:nvPr/>
        </p:nvSpPr>
        <p:spPr>
          <a:xfrm>
            <a:off x="6233008" y="1143000"/>
            <a:ext cx="5410048" cy="2377440"/>
          </a:xfrm>
          <a:prstGeom prst="roundRect">
            <a:avLst>
              <a:gd name="adj" fmla="val 3077"/>
            </a:avLst>
          </a:prstGeom>
          <a:solidFill>
            <a:srgbClr val="FFF8E6"/>
          </a:solidFill>
          <a:ln/>
        </p:spPr>
      </p:sp>
      <p:sp>
        <p:nvSpPr>
          <p:cNvPr id="10" name="Text 7"/>
          <p:cNvSpPr txBox="1"/>
          <p:nvPr/>
        </p:nvSpPr>
        <p:spPr>
          <a:xfrm>
            <a:off x="6434176" y="1271016"/>
            <a:ext cx="5007712" cy="329184"/>
          </a:xfrm>
          <a:prstGeom prst="rect">
            <a:avLst/>
          </a:prstGeom>
          <a:noFill/>
          <a:ln/>
        </p:spPr>
        <p:txBody>
          <a:bodyPr wrap="square" lIns="0" tIns="0" rIns="0" bIns="0" rtlCol="0" anchor="ctr"/>
          <a:lstStyle/>
          <a:p>
            <a:pPr indent="0" marL="0">
              <a:buNone/>
            </a:pPr>
            <a:r>
              <a:rPr lang="en-US" sz="1500" b="1" dirty="0">
                <a:solidFill>
                  <a:srgbClr val="A07E22"/>
                </a:solidFill>
                <a:latin typeface="Calibri" pitchFamily="34" charset="0"/>
                <a:ea typeface="Calibri" pitchFamily="34" charset="-122"/>
                <a:cs typeface="Calibri" pitchFamily="34" charset="-120"/>
              </a:rPr>
              <a:t>Hypothetical Expansion (This Report)</a:t>
            </a:r>
            <a:endParaRPr lang="en-US" sz="1500" dirty="0"/>
          </a:p>
        </p:txBody>
      </p:sp>
      <p:sp>
        <p:nvSpPr>
          <p:cNvPr id="11" name="Text 8"/>
          <p:cNvSpPr txBox="1"/>
          <p:nvPr/>
        </p:nvSpPr>
        <p:spPr>
          <a:xfrm>
            <a:off x="6434176" y="1673352"/>
            <a:ext cx="5007712" cy="1719072"/>
          </a:xfrm>
          <a:prstGeom prst="rect">
            <a:avLst/>
          </a:prstGeom>
          <a:noFill/>
          <a:ln/>
        </p:spPr>
        <p:txBody>
          <a:bodyPr wrap="square" lIns="0" tIns="0" rIns="0" bIns="0" rtlCol="0" anchor="t"/>
          <a:lstStyle/>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Next-phase automated DCs in Melbourne and Brisbane</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Estimated capital cost: A$800 million</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Based on Moorebank cost per DC (A$650M) adjusted for</a:t>
            </a:r>
            <a:r>
              <a:rPr lang="en-US" sz="1250" dirty="0">
                <a:solidFill>
                  <a:srgbClr val="2C2C2C"/>
                </a:solidFill>
                <a:latin typeface="Calibri" pitchFamily="34" charset="0"/>
                <a:ea typeface="Calibri" pitchFamily="34" charset="-122"/>
                <a:cs typeface="Calibri" pitchFamily="34" charset="-120"/>
              </a:rPr>
              <a:t> scale and inflation</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Phased over 2–3 years</a:t>
            </a:r>
            <a:endParaRPr lang="en-US" sz="1250" dirty="0"/>
          </a:p>
          <a:p>
            <a:pPr marL="165100" indent="-165100">
              <a:lnSpc>
                <a:spcPct val="100000"/>
              </a:lnSpc>
              <a:buSzPct val="100000"/>
              <a:buChar char="•"/>
            </a:pPr>
            <a:r>
              <a:rPr lang="en-US" sz="1250" b="1" dirty="0">
                <a:solidFill>
                  <a:srgbClr val="C13B2A"/>
                </a:solidFill>
                <a:latin typeface="Calibri" pitchFamily="34" charset="0"/>
                <a:ea typeface="Calibri" pitchFamily="34" charset="-122"/>
                <a:cs typeface="Calibri" pitchFamily="34" charset="-120"/>
              </a:rPr>
              <a:t>THIS IS NOT AN ANNOUNCED WOOLWORTHS PROJECT</a:t>
            </a:r>
            <a:endParaRPr lang="en-US" sz="1250" dirty="0"/>
          </a:p>
        </p:txBody>
      </p:sp>
      <p:sp>
        <p:nvSpPr>
          <p:cNvPr id="12" name="Shape 9"/>
          <p:cNvSpPr/>
          <p:nvPr/>
        </p:nvSpPr>
        <p:spPr>
          <a:xfrm>
            <a:off x="548640" y="3794760"/>
            <a:ext cx="5410048" cy="2377440"/>
          </a:xfrm>
          <a:prstGeom prst="roundRect">
            <a:avLst>
              <a:gd name="adj" fmla="val 3077"/>
            </a:avLst>
          </a:prstGeom>
          <a:solidFill>
            <a:srgbClr val="F4F6F5"/>
          </a:solidFill>
          <a:ln/>
        </p:spPr>
      </p:sp>
      <p:sp>
        <p:nvSpPr>
          <p:cNvPr id="13" name="Text 10"/>
          <p:cNvSpPr txBox="1"/>
          <p:nvPr/>
        </p:nvSpPr>
        <p:spPr>
          <a:xfrm>
            <a:off x="749808" y="392277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Expansion Objectives</a:t>
            </a:r>
            <a:endParaRPr lang="en-US" sz="1500" dirty="0"/>
          </a:p>
        </p:txBody>
      </p:sp>
      <p:sp>
        <p:nvSpPr>
          <p:cNvPr id="14" name="Text 11"/>
          <p:cNvSpPr txBox="1"/>
          <p:nvPr/>
        </p:nvSpPr>
        <p:spPr>
          <a:xfrm>
            <a:off x="749808" y="4325112"/>
            <a:ext cx="5007712" cy="1719072"/>
          </a:xfrm>
          <a:prstGeom prst="rect">
            <a:avLst/>
          </a:prstGeom>
          <a:noFill/>
          <a:ln/>
        </p:spPr>
        <p:txBody>
          <a:bodyPr wrap="square" lIns="0" tIns="0" rIns="0" bIns="0" rtlCol="0" anchor="t"/>
          <a:lstStyle/>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Extend the Moorebank automation model to Victoria and Queensland, improving store replenishment speed</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Reduce unit distribution costs by an estimated 12–15% per carton through automation</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Support forecast e-commerce growth requiring faster fulfilment capabilities</a:t>
            </a:r>
            <a:endParaRPr lang="en-US" sz="1250" dirty="0"/>
          </a:p>
          <a:p>
            <a:pPr marL="165100" indent="-165100">
              <a:lnSpc>
                <a:spcPct val="100000"/>
              </a:lnSpc>
              <a:buSzPct val="100000"/>
              <a:buChar char="•"/>
            </a:pPr>
            <a:r>
              <a:rPr lang="en-US" sz="1250" dirty="0">
                <a:solidFill>
                  <a:srgbClr val="2C2C2C"/>
                </a:solidFill>
                <a:latin typeface="Calibri" pitchFamily="34" charset="0"/>
                <a:ea typeface="Calibri" pitchFamily="34" charset="-122"/>
                <a:cs typeface="Calibri" pitchFamily="34" charset="-120"/>
              </a:rPr>
              <a:t>Replace ageing distribution infrastructure in Melbourne and Brisbane regions</a:t>
            </a:r>
            <a:endParaRPr lang="en-US" sz="1250" dirty="0"/>
          </a:p>
        </p:txBody>
      </p:sp>
      <p:sp>
        <p:nvSpPr>
          <p:cNvPr id="15" name="Shape 12"/>
          <p:cNvSpPr/>
          <p:nvPr/>
        </p:nvSpPr>
        <p:spPr>
          <a:xfrm>
            <a:off x="6233008" y="3794760"/>
            <a:ext cx="5410048" cy="2377440"/>
          </a:xfrm>
          <a:prstGeom prst="roundRect">
            <a:avLst>
              <a:gd name="adj" fmla="val 3077"/>
            </a:avLst>
          </a:prstGeom>
          <a:solidFill>
            <a:srgbClr val="FFF8E6"/>
          </a:solidFill>
          <a:ln/>
        </p:spPr>
      </p:sp>
      <p:sp>
        <p:nvSpPr>
          <p:cNvPr id="16" name="Text 13"/>
          <p:cNvSpPr txBox="1"/>
          <p:nvPr/>
        </p:nvSpPr>
        <p:spPr>
          <a:xfrm>
            <a:off x="6434176" y="3922776"/>
            <a:ext cx="5007712" cy="329184"/>
          </a:xfrm>
          <a:prstGeom prst="rect">
            <a:avLst/>
          </a:prstGeom>
          <a:noFill/>
          <a:ln/>
        </p:spPr>
        <p:txBody>
          <a:bodyPr wrap="square" lIns="0" tIns="0" rIns="0" bIns="0" rtlCol="0" anchor="ctr"/>
          <a:lstStyle/>
          <a:p>
            <a:pPr indent="0" marL="0">
              <a:buNone/>
            </a:pPr>
            <a:r>
              <a:rPr lang="en-US" sz="1500" b="1" dirty="0">
                <a:solidFill>
                  <a:srgbClr val="A07E22"/>
                </a:solidFill>
                <a:latin typeface="Calibri" pitchFamily="34" charset="0"/>
                <a:ea typeface="Calibri" pitchFamily="34" charset="-122"/>
                <a:cs typeface="Calibri" pitchFamily="34" charset="-120"/>
              </a:rPr>
              <a:t>Key Assumptions and Limitations</a:t>
            </a:r>
            <a:endParaRPr lang="en-US" sz="1500" dirty="0"/>
          </a:p>
        </p:txBody>
      </p:sp>
      <p:sp>
        <p:nvSpPr>
          <p:cNvPr id="17" name="Text 14"/>
          <p:cNvSpPr txBox="1"/>
          <p:nvPr/>
        </p:nvSpPr>
        <p:spPr>
          <a:xfrm>
            <a:off x="6434176" y="4325112"/>
            <a:ext cx="5007712" cy="1719072"/>
          </a:xfrm>
          <a:prstGeom prst="rect">
            <a:avLst/>
          </a:prstGeom>
          <a:noFill/>
          <a:ln/>
        </p:spPr>
        <p:txBody>
          <a:bodyPr wrap="square" lIns="0" tIns="0" rIns="0" bIns="0" rtlCol="0" anchor="t"/>
          <a:lstStyle/>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A$800M is an analytical estimate, not a published figure</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Assumes similar technology partnerships (Dematic/Vanderlande)</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Assumes 20-year lease model with Qube or similar partner</a:t>
            </a:r>
            <a:endParaRPr lang="en-US" sz="1250" dirty="0"/>
          </a:p>
          <a:p>
            <a:pPr marL="165100" indent="-165100">
              <a:lnSpc>
                <a:spcPct val="100000"/>
              </a:lnSpc>
              <a:spcAft>
                <a:spcPts val="500"/>
              </a:spcAft>
              <a:buSzPct val="100000"/>
              <a:buChar char="•"/>
            </a:pPr>
            <a:r>
              <a:rPr lang="en-US" sz="1250" dirty="0">
                <a:solidFill>
                  <a:srgbClr val="2C2C2C"/>
                </a:solidFill>
                <a:latin typeface="Calibri" pitchFamily="34" charset="0"/>
                <a:ea typeface="Calibri" pitchFamily="34" charset="-122"/>
                <a:cs typeface="Calibri" pitchFamily="34" charset="-120"/>
              </a:rPr>
              <a:t>Construction cost inflation of ~5–7% above Moorebank assumed</a:t>
            </a:r>
            <a:endParaRPr lang="en-US" sz="1250" dirty="0"/>
          </a:p>
          <a:p>
            <a:pPr marL="165100" indent="-165100">
              <a:lnSpc>
                <a:spcPct val="100000"/>
              </a:lnSpc>
              <a:buSzPct val="100000"/>
              <a:buChar char="•"/>
            </a:pPr>
            <a:r>
              <a:rPr lang="en-US" sz="1250" dirty="0">
                <a:solidFill>
                  <a:srgbClr val="2C2C2C"/>
                </a:solidFill>
                <a:latin typeface="Calibri" pitchFamily="34" charset="0"/>
                <a:ea typeface="Calibri" pitchFamily="34" charset="-122"/>
                <a:cs typeface="Calibri" pitchFamily="34" charset="-120"/>
              </a:rPr>
              <a:t>All financial figures are hypothetical where stated</a:t>
            </a:r>
            <a:endParaRPr lang="en-US" sz="1250" dirty="0"/>
          </a:p>
        </p:txBody>
      </p:sp>
      <p:sp>
        <p:nvSpPr>
          <p:cNvPr id="18" name="Text 15"/>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Sources: Woolworths Group Media Release, 13 November 2025; Woolworths Group Annual Report 2025. Hypothetical scenario developed for assessment purposes.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Existing Financing Structure</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6858000" cy="914400"/>
        </p:xfrm>
        <a:graphic>
          <a:graphicData uri="http://schemas.openxmlformats.org/drawingml/2006/table">
            <a:tbl>
              <a:tblPr/>
              <a:tblGrid>
                <a:gridCol w="3017520"/>
                <a:gridCol w="1325880"/>
                <a:gridCol w="1325880"/>
                <a:gridCol w="1188720"/>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30175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Total Equity (incl. minorities)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4,962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5,570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Interest-Bearing Borrowings (ST)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-65.7%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0175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Interest-Bearing Borrowings (LT)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5,267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3,866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+36.2%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200" b="1" dirty="0">
                          <a:solidFill>
                            <a:srgbClr val="2C2C2C"/>
                          </a:solidFill>
                          <a:latin typeface="Calibri" pitchFamily="34" charset="0"/>
                          <a:ea typeface="Calibri" pitchFamily="34" charset="-122"/>
                          <a:cs typeface="Calibri" pitchFamily="34" charset="-120"/>
                        </a:rPr>
                        <a:t>Total Interest-Bearing Debt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5,511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4,578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+20.4%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r>
              <a:tr h="30175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AASB 16 Lease Liabilities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11,874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12,144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200" b="1" dirty="0">
                          <a:solidFill>
                            <a:srgbClr val="2C2C2C"/>
                          </a:solidFill>
                          <a:latin typeface="Calibri" pitchFamily="34" charset="0"/>
                          <a:ea typeface="Calibri" pitchFamily="34" charset="-122"/>
                          <a:cs typeface="Calibri" pitchFamily="34" charset="-120"/>
                        </a:rPr>
                        <a:t>Total Debt (incl. Leases)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17,385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16,722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r>
              <a:tr h="30175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Cash and Equivalents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1,275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1,298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200" b="1" dirty="0">
                          <a:solidFill>
                            <a:srgbClr val="2C2C2C"/>
                          </a:solidFill>
                          <a:latin typeface="Calibri" pitchFamily="34" charset="0"/>
                          <a:ea typeface="Calibri" pitchFamily="34" charset="-122"/>
                          <a:cs typeface="Calibri" pitchFamily="34" charset="-120"/>
                        </a:rPr>
                        <a:t>Net Debt (excl. Leases)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4,236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3,280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r>
              <a:tr h="30175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Total Assets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33,829</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33,936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Shape 3"/>
          <p:cNvSpPr/>
          <p:nvPr/>
        </p:nvSpPr>
        <p:spPr>
          <a:xfrm>
            <a:off x="7726680" y="1143000"/>
            <a:ext cx="3916375" cy="3017520"/>
          </a:xfrm>
          <a:prstGeom prst="roundRect">
            <a:avLst>
              <a:gd name="adj" fmla="val 2424"/>
            </a:avLst>
          </a:prstGeom>
          <a:solidFill>
            <a:srgbClr val="F4F6F5"/>
          </a:solidFill>
          <a:ln/>
        </p:spPr>
      </p:sp>
      <p:graphicFrame>
        <p:nvGraphicFramePr>
          <p:cNvPr id="8" name="Chart 0" descr=""/>
          <p:cNvGraphicFramePr/>
          <p:nvPr/>
        </p:nvGraphicFramePr>
        <p:xfrm>
          <a:off x="7818120" y="1188720"/>
          <a:ext cx="3733495" cy="2926080"/>
        </p:xfrm>
        <a:graphic xmlns:a="http://schemas.openxmlformats.org/drawingml/2006/main">
          <a:graphicData uri="http://schemas.openxmlformats.org/drawingml/2006/chart">
            <c:chart xmlns:c="http://schemas.openxmlformats.org/drawingml/2006/chart" r:id="rId1"/>
          </a:graphicData>
        </a:graphic>
      </p:graphicFrame>
      <p:sp>
        <p:nvSpPr>
          <p:cNvPr id="9" name="Text 4"/>
          <p:cNvSpPr txBox="1"/>
          <p:nvPr/>
        </p:nvSpPr>
        <p:spPr>
          <a:xfrm>
            <a:off x="548640" y="4389120"/>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Key Observations</a:t>
            </a:r>
            <a:endParaRPr lang="en-US" sz="1500" dirty="0"/>
          </a:p>
        </p:txBody>
      </p:sp>
      <p:sp>
        <p:nvSpPr>
          <p:cNvPr id="10" name="Text 5"/>
          <p:cNvSpPr txBox="1"/>
          <p:nvPr/>
        </p:nvSpPr>
        <p:spPr>
          <a:xfrm>
            <a:off x="548640" y="4782312"/>
            <a:ext cx="11094415" cy="1417320"/>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50" dirty="0">
                <a:solidFill>
                  <a:srgbClr val="2C2C2C"/>
                </a:solidFill>
                <a:latin typeface="Calibri" pitchFamily="34" charset="0"/>
                <a:ea typeface="Calibri" pitchFamily="34" charset="-122"/>
                <a:cs typeface="Calibri" pitchFamily="34" charset="-120"/>
              </a:rPr>
              <a:t>Woolworths has an S&amp;P credit rating of BBB (Stable) assigned to its A$5B MTN programme (S&amp;P, October 2023)</a:t>
            </a:r>
            <a:endParaRPr lang="en-US" sz="1250" dirty="0"/>
          </a:p>
          <a:p>
            <a:pPr marL="165100" indent="-165100">
              <a:lnSpc>
                <a:spcPct val="100000"/>
              </a:lnSpc>
              <a:spcAft>
                <a:spcPts val="400"/>
              </a:spcAft>
              <a:buSzPct val="100000"/>
              <a:buChar char="•"/>
            </a:pPr>
            <a:r>
              <a:rPr lang="en-US" sz="1250" dirty="0">
                <a:solidFill>
                  <a:srgbClr val="2C2C2C"/>
                </a:solidFill>
                <a:latin typeface="Calibri" pitchFamily="34" charset="0"/>
                <a:ea typeface="Calibri" pitchFamily="34" charset="-122"/>
                <a:cs typeface="Calibri" pitchFamily="34" charset="-120"/>
              </a:rPr>
              <a:t>Net debt (excluding leases) increased 29.1% to A$4.24B, reflecting higher long-term borrowing</a:t>
            </a:r>
            <a:endParaRPr lang="en-US" sz="1250" dirty="0"/>
          </a:p>
          <a:p>
            <a:pPr marL="165100" indent="-165100">
              <a:lnSpc>
                <a:spcPct val="100000"/>
              </a:lnSpc>
              <a:spcAft>
                <a:spcPts val="400"/>
              </a:spcAft>
              <a:buSzPct val="100000"/>
              <a:buChar char="•"/>
            </a:pPr>
            <a:r>
              <a:rPr lang="en-US" sz="1250" dirty="0">
                <a:solidFill>
                  <a:srgbClr val="2C2C2C"/>
                </a:solidFill>
                <a:latin typeface="Calibri" pitchFamily="34" charset="0"/>
                <a:ea typeface="Calibri" pitchFamily="34" charset="-122"/>
                <a:cs typeface="Calibri" pitchFamily="34" charset="-120"/>
              </a:rPr>
              <a:t>In November 2024, the Group issued A$800M of 5.91% fixed-rate MTNs maturing 2034</a:t>
            </a:r>
            <a:endParaRPr lang="en-US" sz="1250" dirty="0"/>
          </a:p>
          <a:p>
            <a:pPr marL="165100" indent="-165100">
              <a:lnSpc>
                <a:spcPct val="100000"/>
              </a:lnSpc>
              <a:spcAft>
                <a:spcPts val="400"/>
              </a:spcAft>
              <a:buSzPct val="100000"/>
              <a:buChar char="•"/>
            </a:pPr>
            <a:r>
              <a:rPr lang="en-US" sz="1250" dirty="0">
                <a:solidFill>
                  <a:srgbClr val="2C2C2C"/>
                </a:solidFill>
                <a:latin typeface="Calibri" pitchFamily="34" charset="0"/>
                <a:ea typeface="Calibri" pitchFamily="34" charset="-122"/>
                <a:cs typeface="Calibri" pitchFamily="34" charset="-120"/>
              </a:rPr>
              <a:t>AASB 16 lease liabilities (A$11.87B) dominate total debt but represent operating leases, not financing debt</a:t>
            </a:r>
            <a:endParaRPr lang="en-US" sz="1250" dirty="0"/>
          </a:p>
          <a:p>
            <a:pPr marL="165100" indent="-165100">
              <a:lnSpc>
                <a:spcPct val="100000"/>
              </a:lnSpc>
              <a:buSzPct val="100000"/>
              <a:buChar char="•"/>
            </a:pPr>
            <a:r>
              <a:rPr lang="en-US" sz="1250" dirty="0">
                <a:solidFill>
                  <a:srgbClr val="2C2C2C"/>
                </a:solidFill>
                <a:latin typeface="Calibri" pitchFamily="34" charset="0"/>
                <a:ea typeface="Calibri" pitchFamily="34" charset="-122"/>
                <a:cs typeface="Calibri" pitchFamily="34" charset="-120"/>
              </a:rPr>
              <a:t>Equity declined 10.9% due to dividends and the buyback programme</a:t>
            </a:r>
            <a:endParaRPr lang="en-US" sz="1250" dirty="0"/>
          </a:p>
        </p:txBody>
      </p:sp>
      <p:sp>
        <p:nvSpPr>
          <p:cNvPr id="11" name="Text 6"/>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Sources: Woolworths Group Annual Report 2025, pp. 106–120; S&amp;P Global Ratings, October 2023; Woolworths Group Debt Investors page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Two-Year Financial Performance</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6400800" cy="914400"/>
        </p:xfrm>
        <a:graphic>
          <a:graphicData uri="http://schemas.openxmlformats.org/drawingml/2006/table">
            <a:tbl>
              <a:tblPr/>
              <a:tblGrid>
                <a:gridCol w="2743200"/>
                <a:gridCol w="1280160"/>
                <a:gridCol w="1280160"/>
                <a:gridCol w="1097280"/>
              </a:tblGrid>
              <a:tr h="28346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Group Revenue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69,077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67,922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Gross Profit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18,815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18,552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EBITDA (before sig. items)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5,707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6,001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EBIT (before sig. items)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2,754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3,223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Net Profit (before sig. items)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1,385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1,711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-19.1%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Net Profit (statutory)</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963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n.m.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Operating Cash Flow</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4,550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4,359</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Free Cash Flow</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1,811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Capital Expenditure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2,528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2,548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Dividends Paid (cents/share)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84.0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144.0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-41.7%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bl>
          </a:graphicData>
        </a:graphic>
      </p:graphicFrame>
      <p:sp>
        <p:nvSpPr>
          <p:cNvPr id="7" name="Shape 3"/>
          <p:cNvSpPr/>
          <p:nvPr/>
        </p:nvSpPr>
        <p:spPr>
          <a:xfrm>
            <a:off x="548640" y="4489704"/>
            <a:ext cx="6400800" cy="1728216"/>
          </a:xfrm>
          <a:prstGeom prst="roundRect">
            <a:avLst>
              <a:gd name="adj" fmla="val 4233"/>
            </a:avLst>
          </a:prstGeom>
          <a:solidFill>
            <a:srgbClr val="F4F6F5"/>
          </a:solidFill>
          <a:ln/>
        </p:spPr>
      </p:sp>
      <p:sp>
        <p:nvSpPr>
          <p:cNvPr id="8" name="Text 4"/>
          <p:cNvSpPr txBox="1"/>
          <p:nvPr/>
        </p:nvSpPr>
        <p:spPr>
          <a:xfrm>
            <a:off x="731520" y="4599432"/>
            <a:ext cx="6035040" cy="1508760"/>
          </a:xfrm>
          <a:prstGeom prst="rect">
            <a:avLst/>
          </a:prstGeom>
          <a:noFill/>
          <a:ln/>
        </p:spPr>
        <p:txBody>
          <a:bodyPr wrap="square" lIns="0" tIns="0" rIns="0" bIns="0" rtlCol="0" anchor="ctr"/>
          <a:lstStyle/>
          <a:p>
            <a:pPr indent="0" marL="0">
              <a:lnSpc>
                <a:spcPct val="100000"/>
              </a:lnSpc>
              <a:buNone/>
            </a:pPr>
            <a:r>
              <a:rPr lang="en-US" sz="1200" b="1" dirty="0">
                <a:solidFill>
                  <a:srgbClr val="125B3F"/>
                </a:solidFill>
                <a:latin typeface="Calibri" pitchFamily="34" charset="0"/>
                <a:ea typeface="Calibri" pitchFamily="34" charset="-122"/>
                <a:cs typeface="Calibri" pitchFamily="34" charset="-120"/>
              </a:rPr>
              <a:t>Key Trend: </a:t>
            </a:r>
            <a:r>
              <a:rPr lang="en-US" sz="1200" dirty="0">
                <a:solidFill>
                  <a:srgbClr val="2C2C2C"/>
                </a:solidFill>
                <a:latin typeface="Calibri" pitchFamily="34" charset="0"/>
                <a:ea typeface="Calibri" pitchFamily="34" charset="-122"/>
                <a:cs typeface="Calibri" pitchFamily="34" charset="-120"/>
              </a:rPr>
              <a:t>Revenue grew modestly (+1.7%) while EBIT fell 14.6%, indicating margin compression from rising costs of doing business. However, operating cash flow improved 4.4% to A$4.55B, reflecting strong cash conversion. Note: FY2025 was a 52-week year vs FY2024's 53 weeks; normalised revenue growth was 3.6%.</a:t>
            </a:r>
            <a:endParaRPr lang="en-US" sz="1200" dirty="0"/>
          </a:p>
        </p:txBody>
      </p:sp>
      <p:graphicFrame>
        <p:nvGraphicFramePr>
          <p:cNvPr id="9" name="Chart 0" descr=""/>
          <p:cNvGraphicFramePr/>
          <p:nvPr/>
        </p:nvGraphicFramePr>
        <p:xfrm>
          <a:off x="7269480" y="1097280"/>
          <a:ext cx="4373575" cy="2395728"/>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7269480" y="3675888"/>
          <a:ext cx="4373575" cy="2395728"/>
        </p:xfrm>
        <a:graphic xmlns:a="http://schemas.openxmlformats.org/drawingml/2006/main">
          <a:graphicData uri="http://schemas.openxmlformats.org/drawingml/2006/chart">
            <c:chart xmlns:c="http://schemas.openxmlformats.org/drawingml/2006/chart" r:id="rId2"/>
          </a:graphicData>
        </a:graphic>
      </p:graphicFrame>
      <p:sp>
        <p:nvSpPr>
          <p:cNvPr id="11" name="Text 5"/>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 Woolworths Group Annual Report 2025; Woolworths Group FY2025 Results Announcement, 27 August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Profitability and Efficiency Analysis</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4415" cy="914400"/>
        </p:xfrm>
        <a:graphic>
          <a:graphicData uri="http://schemas.openxmlformats.org/drawingml/2006/table">
            <a:tbl>
              <a:tblPr/>
              <a:tblGrid>
                <a:gridCol w="2743200"/>
                <a:gridCol w="3291840"/>
                <a:gridCol w="1554480"/>
                <a:gridCol w="1554480"/>
                <a:gridCol w="1950415"/>
              </a:tblGrid>
              <a:tr h="29260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Formula</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Gross Margin</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Gross Profit / Revenue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27.3%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 (7 bps)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EBIT Margin</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EBIT / Revenue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 (76 bps)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Net Profit Margin</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NPAT / Revenue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 (52 bps)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Return on Assets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NPAT / Total Assets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Return on Equity</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NPAT / Equity</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28.3%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31.6%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Asset Turnover</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Revenue / Total Assets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2.04x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2.00x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92608">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CODB Ratio (Aus Food)</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CODB / Revenue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22.7%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 (unfav.)</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3685032"/>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Interpretation for the Financing Decision</a:t>
            </a:r>
            <a:endParaRPr lang="en-US" sz="1500" dirty="0"/>
          </a:p>
        </p:txBody>
      </p:sp>
      <p:sp>
        <p:nvSpPr>
          <p:cNvPr id="8" name="Text 4"/>
          <p:cNvSpPr txBox="1"/>
          <p:nvPr/>
        </p:nvSpPr>
        <p:spPr>
          <a:xfrm>
            <a:off x="548640" y="4078224"/>
            <a:ext cx="5364328" cy="2185416"/>
          </a:xfrm>
          <a:prstGeom prst="rect">
            <a:avLst/>
          </a:prstGeom>
          <a:noFill/>
          <a:ln/>
        </p:spPr>
        <p:txBody>
          <a:bodyPr wrap="square" lIns="0" tIns="0" rIns="0" bIns="0" rtlCol="0" anchor="t"/>
          <a:lstStyle/>
          <a:p>
            <a:pPr marL="165100" indent="-165100">
              <a:lnSpc>
                <a:spcPct val="100000"/>
              </a:lnSpc>
              <a:spcAft>
                <a:spcPts val="800"/>
              </a:spcAft>
              <a:buSzPct val="100000"/>
              <a:buChar char="•"/>
            </a:pPr>
            <a:r>
              <a:rPr lang="en-US" sz="1200" dirty="0">
                <a:solidFill>
                  <a:srgbClr val="2C2C2C"/>
                </a:solidFill>
                <a:latin typeface="Calibri" pitchFamily="34" charset="0"/>
                <a:ea typeface="Calibri" pitchFamily="34" charset="-122"/>
                <a:cs typeface="Calibri" pitchFamily="34" charset="-120"/>
              </a:rPr>
              <a:t>Profitability is declining across all margin measures, driven primarily by rising cost of doing business (CODB). The CODB ratio for Australian Food increased 60 basis points to 23.3%, reflecting wage growth, energy costs, and increased investment in team and digital capabilities.</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Return on equity remains strong at 28.3%, but this is partly inflated by the declining equity base following dividend payments and share buybacks. The 330 bps decline from FY2024 reflects lower profitability rather than improved capital efficiency.</a:t>
            </a:r>
            <a:endParaRPr lang="en-US" sz="1200" dirty="0"/>
          </a:p>
        </p:txBody>
      </p:sp>
      <p:sp>
        <p:nvSpPr>
          <p:cNvPr id="9" name="Text 5"/>
          <p:cNvSpPr txBox="1"/>
          <p:nvPr/>
        </p:nvSpPr>
        <p:spPr>
          <a:xfrm>
            <a:off x="6278728" y="4078224"/>
            <a:ext cx="5364328" cy="2185416"/>
          </a:xfrm>
          <a:prstGeom prst="rect">
            <a:avLst/>
          </a:prstGeom>
          <a:noFill/>
          <a:ln/>
        </p:spPr>
        <p:txBody>
          <a:bodyPr wrap="square" lIns="0" tIns="0" rIns="0" bIns="0" rtlCol="0" anchor="t"/>
          <a:lstStyle/>
          <a:p>
            <a:pPr marL="165100" indent="-165100">
              <a:lnSpc>
                <a:spcPct val="100000"/>
              </a:lnSpc>
              <a:spcAft>
                <a:spcPts val="800"/>
              </a:spcAft>
              <a:buSzPct val="100000"/>
              <a:buChar char="•"/>
            </a:pPr>
            <a:r>
              <a:rPr lang="en-US" sz="1200" dirty="0">
                <a:solidFill>
                  <a:srgbClr val="2C2C2C"/>
                </a:solidFill>
                <a:latin typeface="Calibri" pitchFamily="34" charset="0"/>
                <a:ea typeface="Calibri" pitchFamily="34" charset="-122"/>
                <a:cs typeface="Calibri" pitchFamily="34" charset="-120"/>
              </a:rPr>
              <a:t>Asset turnover improved slightly to 2.04x, indicating the Group is generating more revenue per dollar of assets, which is positive for future expansion returns.</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Overall, the declining profitability trajectory suggests that internal financing capacity may be under pressure if margins continue to compress. However, the current level of cash generation remains adequate for a phased A$800M investment.</a:t>
            </a:r>
            <a:endParaRPr lang="en-US" sz="1200" dirty="0"/>
          </a:p>
        </p:txBody>
      </p:sp>
      <p:sp>
        <p:nvSpPr>
          <p:cNvPr id="10" name="Text 6"/>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Calculations based on: Woolworths Group Annual Report 2025 and 2024. All ratios use before-significant-items earnings where applicable.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Liquidity and Cash Flow Analysis</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6766560" cy="914400"/>
        </p:xfrm>
        <a:graphic>
          <a:graphicData uri="http://schemas.openxmlformats.org/drawingml/2006/table">
            <a:tbl>
              <a:tblPr/>
              <a:tblGrid>
                <a:gridCol w="2194560"/>
                <a:gridCol w="2926080"/>
                <a:gridCol w="822960"/>
                <a:gridCol w="82296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Formula</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Current Ratio</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Current Assets / Current Liabilities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0.57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Operating CF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From cash flow statement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4,550</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4,359</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Free Cash Flow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Operating CF – CapEx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1,811</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Cash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Cash and equivalents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1,275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1,298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Operating CF Ratio</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Operating CF / Current Liabilities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CapEx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From cash flow statement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2,528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2,548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47472">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Dividends Paid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Estimated from DPS x shares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1,026</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1,759</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Shape 3"/>
          <p:cNvSpPr/>
          <p:nvPr/>
        </p:nvSpPr>
        <p:spPr>
          <a:xfrm>
            <a:off x="7589520" y="1143000"/>
            <a:ext cx="4053535" cy="3063240"/>
          </a:xfrm>
          <a:prstGeom prst="roundRect">
            <a:avLst>
              <a:gd name="adj" fmla="val 2388"/>
            </a:avLst>
          </a:prstGeom>
          <a:solidFill>
            <a:srgbClr val="F4F6F5"/>
          </a:solidFill>
          <a:ln/>
        </p:spPr>
      </p:sp>
      <p:sp>
        <p:nvSpPr>
          <p:cNvPr id="8" name="Text 4"/>
          <p:cNvSpPr txBox="1"/>
          <p:nvPr/>
        </p:nvSpPr>
        <p:spPr>
          <a:xfrm>
            <a:off x="7772400" y="1234440"/>
            <a:ext cx="3687775" cy="329184"/>
          </a:xfrm>
          <a:prstGeom prst="rect">
            <a:avLst/>
          </a:prstGeom>
          <a:noFill/>
          <a:ln/>
        </p:spPr>
        <p:txBody>
          <a:bodyPr wrap="square" lIns="0" tIns="0" rIns="0" bIns="0" rtlCol="0" anchor="ctr"/>
          <a:lstStyle/>
          <a:p>
            <a:pPr indent="0" marL="0">
              <a:buNone/>
            </a:pPr>
            <a:r>
              <a:rPr lang="en-US" sz="1400" b="1" dirty="0">
                <a:solidFill>
                  <a:srgbClr val="125B3F"/>
                </a:solidFill>
                <a:latin typeface="Calibri" pitchFamily="34" charset="0"/>
                <a:ea typeface="Calibri" pitchFamily="34" charset="-122"/>
                <a:cs typeface="Calibri" pitchFamily="34" charset="-120"/>
              </a:rPr>
              <a:t>Cash Available for Investment (FY2025 Estimate)</a:t>
            </a:r>
            <a:endParaRPr lang="en-US" sz="14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772400" y="1627632"/>
          <a:ext cx="3687775" cy="914400"/>
        </p:xfrm>
        <a:graphic>
          <a:graphicData uri="http://schemas.openxmlformats.org/drawingml/2006/table">
            <a:tbl>
              <a:tblPr/>
              <a:tblGrid>
                <a:gridCol w="2453335"/>
                <a:gridCol w="1234440"/>
              </a:tblGrid>
              <a:tr h="265176">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Operating Cash Flow:</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2C2C2C"/>
                          </a:solidFill>
                          <a:latin typeface="Calibri" pitchFamily="34" charset="0"/>
                          <a:ea typeface="Calibri" pitchFamily="34" charset="-122"/>
                          <a:cs typeface="Calibri" pitchFamily="34" charset="-120"/>
                        </a:rPr>
                        <a:t>A$4,550M</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Less: CapEx:</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2C2C2C"/>
                          </a:solidFill>
                          <a:latin typeface="Calibri" pitchFamily="34" charset="0"/>
                          <a:ea typeface="Calibri" pitchFamily="34" charset="-122"/>
                          <a:cs typeface="Calibri" pitchFamily="34" charset="-120"/>
                        </a:rPr>
                        <a:t>(A$2,528M)</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Less: Dividends:</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2C2C2C"/>
                          </a:solidFill>
                          <a:latin typeface="Calibri" pitchFamily="34" charset="0"/>
                          <a:ea typeface="Calibri" pitchFamily="34" charset="-122"/>
                          <a:cs typeface="Calibri" pitchFamily="34" charset="-120"/>
                        </a:rPr>
                        <a:t>(A$1,026M)</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Less: Interest on Debt:</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2C2C2C"/>
                          </a:solidFill>
                          <a:latin typeface="Calibri" pitchFamily="34" charset="0"/>
                          <a:ea typeface="Calibri" pitchFamily="34" charset="-122"/>
                          <a:cs typeface="Calibri" pitchFamily="34" charset="-120"/>
                        </a:rPr>
                        <a:t>(A$838M)</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200" b="1" dirty="0">
                          <a:solidFill>
                            <a:srgbClr val="125B3F"/>
                          </a:solidFill>
                          <a:latin typeface="Calibri" pitchFamily="34" charset="0"/>
                          <a:ea typeface="Calibri" pitchFamily="34" charset="-122"/>
                          <a:cs typeface="Calibri" pitchFamily="34" charset="-120"/>
                        </a:rPr>
                        <a:t>Residual Cash:</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rgbClr val="125B3F"/>
                          </a:solidFill>
                          <a:latin typeface="Calibri" pitchFamily="34" charset="0"/>
                          <a:ea typeface="Calibri" pitchFamily="34" charset="-122"/>
                          <a:cs typeface="Calibri" pitchFamily="34" charset="-120"/>
                        </a:rPr>
                        <a:t>A$158M</a:t>
                      </a:r>
                      <a:endParaRPr lang="en-US" sz="1200" dirty="0">
                        <a:latin typeface="Calibri" charset="0"/>
                        <a:ea typeface="Calibri" charset="0"/>
                        <a:cs typeface="Calibri" charset="0"/>
                      </a:endParaRPr>
                    </a:p>
                  </a:txBody>
                  <a:tcPr marL="27432" marR="27432"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0" name="Shape 5"/>
          <p:cNvSpPr/>
          <p:nvPr/>
        </p:nvSpPr>
        <p:spPr>
          <a:xfrm>
            <a:off x="7772400" y="2688336"/>
            <a:ext cx="3687775" cy="0"/>
          </a:xfrm>
          <a:prstGeom prst="line">
            <a:avLst/>
          </a:prstGeom>
          <a:noFill/>
          <a:ln w="9525">
            <a:solidFill>
              <a:srgbClr val="125B3F"/>
            </a:solidFill>
            <a:prstDash val="solid"/>
          </a:ln>
        </p:spPr>
      </p:sp>
      <p:sp>
        <p:nvSpPr>
          <p:cNvPr id="11" name="Text 6"/>
          <p:cNvSpPr txBox="1"/>
          <p:nvPr/>
        </p:nvSpPr>
        <p:spPr>
          <a:xfrm>
            <a:off x="7772400" y="3090672"/>
            <a:ext cx="3687775" cy="1024128"/>
          </a:xfrm>
          <a:prstGeom prst="rect">
            <a:avLst/>
          </a:prstGeom>
          <a:noFill/>
          <a:ln/>
        </p:spPr>
        <p:txBody>
          <a:bodyPr wrap="square" lIns="0" tIns="0" rIns="0" bIns="0" rtlCol="0" anchor="t"/>
          <a:lstStyle/>
          <a:p>
            <a:pPr indent="0" marL="0">
              <a:lnSpc>
                <a:spcPct val="100000"/>
              </a:lnSpc>
              <a:buNone/>
            </a:pPr>
            <a:r>
              <a:rPr lang="en-US" sz="1150" dirty="0">
                <a:solidFill>
                  <a:srgbClr val="2C2C2C"/>
                </a:solidFill>
                <a:latin typeface="Calibri" pitchFamily="34" charset="0"/>
                <a:ea typeface="Calibri" pitchFamily="34" charset="-122"/>
                <a:cs typeface="Calibri" pitchFamily="34" charset="-120"/>
              </a:rPr>
              <a:t>The residual after maintaining existing commitments is modest. However, a dividend reduction (as already demonstrated by the 41.7% cut in FY2025) and phased deployment would increase available internal funds to approximately A$250–350M annually.</a:t>
            </a:r>
            <a:endParaRPr lang="en-US" sz="1150" dirty="0"/>
          </a:p>
        </p:txBody>
      </p:sp>
      <p:sp>
        <p:nvSpPr>
          <p:cNvPr id="12" name="Text 7"/>
          <p:cNvSpPr txBox="1"/>
          <p:nvPr/>
        </p:nvSpPr>
        <p:spPr>
          <a:xfrm>
            <a:off x="548640" y="4434840"/>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Key Liquidity Observations</a:t>
            </a:r>
            <a:endParaRPr lang="en-US" sz="1500" dirty="0"/>
          </a:p>
        </p:txBody>
      </p:sp>
      <p:sp>
        <p:nvSpPr>
          <p:cNvPr id="13" name="Text 8"/>
          <p:cNvSpPr txBox="1"/>
          <p:nvPr/>
        </p:nvSpPr>
        <p:spPr>
          <a:xfrm>
            <a:off x="548640" y="4828032"/>
            <a:ext cx="5364328" cy="1435608"/>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dirty="0">
                <a:solidFill>
                  <a:srgbClr val="2C2C2C"/>
                </a:solidFill>
                <a:latin typeface="Calibri" pitchFamily="34" charset="0"/>
                <a:ea typeface="Calibri" pitchFamily="34" charset="-122"/>
                <a:cs typeface="Calibri" pitchFamily="34" charset="-120"/>
              </a:rPr>
              <a:t>The current ratio of 0.57 is below 1.0, which is typical for grocery retailers who carry negative working capital by design — suppliers are paid after goods are sold</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Operating cash flow of A$4.55B demonstrates strong cash conversion (approximately 3.3x underlying NPAT)</a:t>
            </a:r>
            <a:endParaRPr lang="en-US" sz="1200" dirty="0"/>
          </a:p>
        </p:txBody>
      </p:sp>
      <p:sp>
        <p:nvSpPr>
          <p:cNvPr id="14" name="Text 9"/>
          <p:cNvSpPr txBox="1"/>
          <p:nvPr/>
        </p:nvSpPr>
        <p:spPr>
          <a:xfrm>
            <a:off x="6278728" y="4828032"/>
            <a:ext cx="5364328" cy="1435608"/>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200" dirty="0">
                <a:solidFill>
                  <a:srgbClr val="2C2C2C"/>
                </a:solidFill>
                <a:latin typeface="Calibri" pitchFamily="34" charset="0"/>
                <a:ea typeface="Calibri" pitchFamily="34" charset="-122"/>
                <a:cs typeface="Calibri" pitchFamily="34" charset="-120"/>
              </a:rPr>
              <a:t>Profit does not equal cash: while NPAT fell 19.1%, operating cash flow increased 4.4%</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Full internal financing of A$800M over 2–3 years would require approximately A$270–400M per year, which is achievable with dividend adjustments but would leave limited buffer</a:t>
            </a:r>
            <a:endParaRPr lang="en-US" sz="1200" dirty="0"/>
          </a:p>
        </p:txBody>
      </p:sp>
      <p:sp>
        <p:nvSpPr>
          <p:cNvPr id="15" name="Text 10"/>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 Woolworths Group Annual Report 2025; Woolworths Group FY2025 Results, 27 August 2025.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Gearing and Debt Servicing Capacity</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4415" cy="914400"/>
        </p:xfrm>
        <a:graphic>
          <a:graphicData uri="http://schemas.openxmlformats.org/drawingml/2006/table">
            <a:tbl>
              <a:tblPr/>
              <a:tblGrid>
                <a:gridCol w="2377440"/>
                <a:gridCol w="3017520"/>
                <a:gridCol w="1371600"/>
                <a:gridCol w="1371600"/>
                <a:gridCol w="2956255"/>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Formula</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Implication</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D/E (excl. leases)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Int.-Bearing Debt / Equity</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1.13x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0.85x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Rising leverage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D/E (incl. leases)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Total Debt / Equity</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3.57x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3.09x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High but lease-driven</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Net Debt/EBITDA</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Net Debt / EBITDA</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0.74x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0.55x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Within investment grade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Interest Coverage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EBIT / Interest Expense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3.29x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4.18x</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Declining but adequate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Finance Costs (A$M)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Interest expense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838</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772</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+8.5% increase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Debt-to-Assets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Total Debt / Total Assets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51.4%</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49.3%</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Moderate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bl>
          </a:graphicData>
        </a:graphic>
      </p:graphicFrame>
      <p:sp>
        <p:nvSpPr>
          <p:cNvPr id="7" name="Text 3"/>
          <p:cNvSpPr txBox="1"/>
          <p:nvPr/>
        </p:nvSpPr>
        <p:spPr>
          <a:xfrm>
            <a:off x="548640" y="3648456"/>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Gearing Analysis</a:t>
            </a:r>
            <a:endParaRPr lang="en-US" sz="1500" dirty="0"/>
          </a:p>
        </p:txBody>
      </p:sp>
      <p:sp>
        <p:nvSpPr>
          <p:cNvPr id="8" name="Shape 4"/>
          <p:cNvSpPr/>
          <p:nvPr/>
        </p:nvSpPr>
        <p:spPr>
          <a:xfrm>
            <a:off x="548640" y="4069080"/>
            <a:ext cx="3515258" cy="2148840"/>
          </a:xfrm>
          <a:prstGeom prst="roundRect">
            <a:avLst>
              <a:gd name="adj" fmla="val 3404"/>
            </a:avLst>
          </a:prstGeom>
          <a:solidFill>
            <a:srgbClr val="F4F6F5"/>
          </a:solidFill>
          <a:ln/>
        </p:spPr>
      </p:sp>
      <p:sp>
        <p:nvSpPr>
          <p:cNvPr id="9" name="Text 5"/>
          <p:cNvSpPr txBox="1"/>
          <p:nvPr/>
        </p:nvSpPr>
        <p:spPr>
          <a:xfrm>
            <a:off x="731520" y="4206240"/>
            <a:ext cx="3149498" cy="1874520"/>
          </a:xfrm>
          <a:prstGeom prst="rect">
            <a:avLst/>
          </a:prstGeom>
          <a:noFill/>
          <a:ln/>
        </p:spPr>
        <p:txBody>
          <a:bodyPr wrap="square" lIns="0" tIns="0" rIns="0" bIns="0" rtlCol="0" anchor="t"/>
          <a:lstStyle/>
          <a:p>
            <a:pPr indent="0" marL="0">
              <a:lnSpc>
                <a:spcPct val="100000"/>
              </a:lnSpc>
              <a:buNone/>
            </a:pPr>
            <a:r>
              <a:rPr lang="en-US" sz="1200" dirty="0">
                <a:solidFill>
                  <a:srgbClr val="2C2C2C"/>
                </a:solidFill>
                <a:latin typeface="Calibri" pitchFamily="34" charset="0"/>
                <a:ea typeface="Calibri" pitchFamily="34" charset="-122"/>
                <a:cs typeface="Calibri" pitchFamily="34" charset="-120"/>
              </a:rPr>
              <a:t>Excluding AASB 16 lease liabilities, the debt-to-equity ratio rose from 0.85x to 1.13x, reflecting the A$800M MTN issuance in November 2024. Including lease liabilities, total debt-to-equity stands at 3.57x — high in absolute terms but largely driven by the Group's extensive store lease portfolio, which is characteristic of the grocery sector.</a:t>
            </a:r>
            <a:endParaRPr lang="en-US" sz="1200" dirty="0"/>
          </a:p>
        </p:txBody>
      </p:sp>
      <p:sp>
        <p:nvSpPr>
          <p:cNvPr id="10" name="Shape 6"/>
          <p:cNvSpPr/>
          <p:nvPr/>
        </p:nvSpPr>
        <p:spPr>
          <a:xfrm>
            <a:off x="4338218" y="4069080"/>
            <a:ext cx="3515258" cy="2148840"/>
          </a:xfrm>
          <a:prstGeom prst="roundRect">
            <a:avLst>
              <a:gd name="adj" fmla="val 3404"/>
            </a:avLst>
          </a:prstGeom>
          <a:solidFill>
            <a:srgbClr val="F4F6F5"/>
          </a:solidFill>
          <a:ln/>
        </p:spPr>
      </p:sp>
      <p:sp>
        <p:nvSpPr>
          <p:cNvPr id="11" name="Text 7"/>
          <p:cNvSpPr txBox="1"/>
          <p:nvPr/>
        </p:nvSpPr>
        <p:spPr>
          <a:xfrm>
            <a:off x="4521098" y="4206240"/>
            <a:ext cx="3149498" cy="1874520"/>
          </a:xfrm>
          <a:prstGeom prst="rect">
            <a:avLst/>
          </a:prstGeom>
          <a:noFill/>
          <a:ln/>
        </p:spPr>
        <p:txBody>
          <a:bodyPr wrap="square" lIns="0" tIns="0" rIns="0" bIns="0" rtlCol="0" anchor="t"/>
          <a:lstStyle/>
          <a:p>
            <a:pPr indent="0" marL="0">
              <a:lnSpc>
                <a:spcPct val="100000"/>
              </a:lnSpc>
              <a:buNone/>
            </a:pPr>
            <a:r>
              <a:rPr lang="en-US" sz="1200" dirty="0">
                <a:solidFill>
                  <a:srgbClr val="2C2C2C"/>
                </a:solidFill>
                <a:latin typeface="Calibri" pitchFamily="34" charset="0"/>
                <a:ea typeface="Calibri" pitchFamily="34" charset="-122"/>
                <a:cs typeface="Calibri" pitchFamily="34" charset="-120"/>
              </a:rPr>
              <a:t>Net debt-to-EBITDA of 0.74x remains well within investment-grade parameters (typically below 2.5–3.0x for BBB-rated issuers), suggesting capacity for additional borrowing.</a:t>
            </a:r>
            <a:endParaRPr lang="en-US" sz="1200" dirty="0"/>
          </a:p>
        </p:txBody>
      </p:sp>
      <p:sp>
        <p:nvSpPr>
          <p:cNvPr id="12" name="Shape 8"/>
          <p:cNvSpPr/>
          <p:nvPr/>
        </p:nvSpPr>
        <p:spPr>
          <a:xfrm>
            <a:off x="8127797" y="4069080"/>
            <a:ext cx="3515258" cy="2148840"/>
          </a:xfrm>
          <a:prstGeom prst="roundRect">
            <a:avLst>
              <a:gd name="adj" fmla="val 3404"/>
            </a:avLst>
          </a:prstGeom>
          <a:solidFill>
            <a:srgbClr val="F4F6F5"/>
          </a:solidFill>
          <a:ln/>
        </p:spPr>
      </p:sp>
      <p:sp>
        <p:nvSpPr>
          <p:cNvPr id="13" name="Text 9"/>
          <p:cNvSpPr txBox="1"/>
          <p:nvPr/>
        </p:nvSpPr>
        <p:spPr>
          <a:xfrm>
            <a:off x="8310677" y="4206240"/>
            <a:ext cx="3149498" cy="1874520"/>
          </a:xfrm>
          <a:prstGeom prst="rect">
            <a:avLst/>
          </a:prstGeom>
          <a:noFill/>
          <a:ln/>
        </p:spPr>
        <p:txBody>
          <a:bodyPr wrap="square" lIns="0" tIns="0" rIns="0" bIns="0" rtlCol="0" anchor="t"/>
          <a:lstStyle/>
          <a:p>
            <a:pPr indent="0" marL="0">
              <a:lnSpc>
                <a:spcPct val="100000"/>
              </a:lnSpc>
              <a:buNone/>
            </a:pPr>
            <a:r>
              <a:rPr lang="en-US" sz="1200" dirty="0">
                <a:solidFill>
                  <a:srgbClr val="2C2C2C"/>
                </a:solidFill>
                <a:latin typeface="Calibri" pitchFamily="34" charset="0"/>
                <a:ea typeface="Calibri" pitchFamily="34" charset="-122"/>
                <a:cs typeface="Calibri" pitchFamily="34" charset="-120"/>
              </a:rPr>
              <a:t>Interest coverage declined from 4.18x to 3.29x, reflecting both higher finance costs (+8.5% to A$838M) and lower EBIT. A further A$320M of borrowing at approximately 5.5–6.0% would add approximately A$18–19M in annual interest, reducing coverage to approximately 3.1x — tight but manageable for a BBB-rated issuer.</a:t>
            </a:r>
            <a:endParaRPr lang="en-US" sz="1200" dirty="0"/>
          </a:p>
        </p:txBody>
      </p:sp>
      <p:sp>
        <p:nvSpPr>
          <p:cNvPr id="14" name="Text 10"/>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 Woolworths Group Annual Report 2025 and 2024. Interest coverage = EBIT before significant items / finance costs.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Economic and Industry Environment</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143000"/>
            <a:ext cx="5410048" cy="2377440"/>
          </a:xfrm>
          <a:prstGeom prst="roundRect">
            <a:avLst>
              <a:gd name="adj" fmla="val 3077"/>
            </a:avLst>
          </a:prstGeom>
          <a:solidFill>
            <a:srgbClr val="F4F6F5"/>
          </a:solidFill>
          <a:ln/>
        </p:spPr>
      </p:sp>
      <p:sp>
        <p:nvSpPr>
          <p:cNvPr id="7" name="Text 4"/>
          <p:cNvSpPr txBox="1"/>
          <p:nvPr/>
        </p:nvSpPr>
        <p:spPr>
          <a:xfrm>
            <a:off x="749808" y="127101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RBA Cash Rate and Borrowing Costs</a:t>
            </a:r>
            <a:endParaRPr lang="en-US" sz="1500" dirty="0"/>
          </a:p>
        </p:txBody>
      </p:sp>
      <p:sp>
        <p:nvSpPr>
          <p:cNvPr id="8" name="Text 5"/>
          <p:cNvSpPr txBox="1"/>
          <p:nvPr/>
        </p:nvSpPr>
        <p:spPr>
          <a:xfrm>
            <a:off x="749808" y="1673352"/>
            <a:ext cx="5007712" cy="171907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RBA cash rate: 4.35% (June 2026), after three consecutive hikes in Feb, Mar, May 2026</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RBA May 2026 SoMP implies a possible peak of ~4.7% by end-2026</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CBA expects rates to hold at 4.35% for remainder of 2026; Westpac expects peak at 4.85%</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Corporate bond spreads for BBB-rated issuers have widened, increasing effective borrowing costs to ~5.5–6.5%</a:t>
            </a:r>
            <a:endParaRPr lang="en-US" sz="1200" dirty="0"/>
          </a:p>
        </p:txBody>
      </p:sp>
      <p:sp>
        <p:nvSpPr>
          <p:cNvPr id="9" name="Shape 6"/>
          <p:cNvSpPr/>
          <p:nvPr/>
        </p:nvSpPr>
        <p:spPr>
          <a:xfrm>
            <a:off x="6233008" y="1143000"/>
            <a:ext cx="5410048" cy="2377440"/>
          </a:xfrm>
          <a:prstGeom prst="roundRect">
            <a:avLst>
              <a:gd name="adj" fmla="val 3077"/>
            </a:avLst>
          </a:prstGeom>
          <a:solidFill>
            <a:srgbClr val="F4F6F5"/>
          </a:solidFill>
          <a:ln/>
        </p:spPr>
      </p:sp>
      <p:sp>
        <p:nvSpPr>
          <p:cNvPr id="10" name="Text 7"/>
          <p:cNvSpPr txBox="1"/>
          <p:nvPr/>
        </p:nvSpPr>
        <p:spPr>
          <a:xfrm>
            <a:off x="6434176" y="127101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Inflation and Cost Pressures</a:t>
            </a:r>
            <a:endParaRPr lang="en-US" sz="1500" dirty="0"/>
          </a:p>
        </p:txBody>
      </p:sp>
      <p:sp>
        <p:nvSpPr>
          <p:cNvPr id="11" name="Text 8"/>
          <p:cNvSpPr txBox="1"/>
          <p:nvPr/>
        </p:nvSpPr>
        <p:spPr>
          <a:xfrm>
            <a:off x="6434176" y="1673352"/>
            <a:ext cx="5007712" cy="171907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Annual CPI: 3.8% (June 2026), above the RBA's 2–3% target band</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Underlying trimmed mean CPI: ~3.4% (above target)</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Housing, food, and transport remain the primary inflation drivers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Wage growth and energy costs directly impact grocery distribution costs</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Construction cost inflation of 5–7% affects distribution centre build costs</a:t>
            </a:r>
            <a:endParaRPr lang="en-US" sz="1200" dirty="0"/>
          </a:p>
        </p:txBody>
      </p:sp>
      <p:sp>
        <p:nvSpPr>
          <p:cNvPr id="12" name="Shape 9"/>
          <p:cNvSpPr/>
          <p:nvPr/>
        </p:nvSpPr>
        <p:spPr>
          <a:xfrm>
            <a:off x="548640" y="3794760"/>
            <a:ext cx="5410048" cy="2377440"/>
          </a:xfrm>
          <a:prstGeom prst="roundRect">
            <a:avLst>
              <a:gd name="adj" fmla="val 3077"/>
            </a:avLst>
          </a:prstGeom>
          <a:solidFill>
            <a:srgbClr val="F4F6F5"/>
          </a:solidFill>
          <a:ln/>
        </p:spPr>
      </p:sp>
      <p:sp>
        <p:nvSpPr>
          <p:cNvPr id="13" name="Text 10"/>
          <p:cNvSpPr txBox="1"/>
          <p:nvPr/>
        </p:nvSpPr>
        <p:spPr>
          <a:xfrm>
            <a:off x="749808" y="392277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Consumer and Competitive Environment</a:t>
            </a:r>
            <a:endParaRPr lang="en-US" sz="1500" dirty="0"/>
          </a:p>
        </p:txBody>
      </p:sp>
      <p:sp>
        <p:nvSpPr>
          <p:cNvPr id="14" name="Text 11"/>
          <p:cNvSpPr txBox="1"/>
          <p:nvPr/>
        </p:nvSpPr>
        <p:spPr>
          <a:xfrm>
            <a:off x="749808" y="4325112"/>
            <a:ext cx="5007712" cy="171907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Prolonged cost-of-living pressures are reducing discretionary consumer spending</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The Woolworths-Coles duopoly faces increasing scrutiny from the ACCC and community expectations for lower grocery prices</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Aldi and private-label competitors continue to gain market share in the value segment</a:t>
            </a:r>
            <a:endParaRPr lang="en-US" sz="1200" dirty="0"/>
          </a:p>
        </p:txBody>
      </p:sp>
      <p:sp>
        <p:nvSpPr>
          <p:cNvPr id="15" name="Shape 12"/>
          <p:cNvSpPr/>
          <p:nvPr/>
        </p:nvSpPr>
        <p:spPr>
          <a:xfrm>
            <a:off x="6233008" y="3794760"/>
            <a:ext cx="5410048" cy="2377440"/>
          </a:xfrm>
          <a:prstGeom prst="roundRect">
            <a:avLst>
              <a:gd name="adj" fmla="val 3077"/>
            </a:avLst>
          </a:prstGeom>
          <a:solidFill>
            <a:srgbClr val="FFF8E6"/>
          </a:solidFill>
          <a:ln/>
        </p:spPr>
      </p:sp>
      <p:sp>
        <p:nvSpPr>
          <p:cNvPr id="16" name="Text 13"/>
          <p:cNvSpPr txBox="1"/>
          <p:nvPr/>
        </p:nvSpPr>
        <p:spPr>
          <a:xfrm>
            <a:off x="6434176" y="3922776"/>
            <a:ext cx="5007712" cy="329184"/>
          </a:xfrm>
          <a:prstGeom prst="rect">
            <a:avLst/>
          </a:prstGeom>
          <a:noFill/>
          <a:ln/>
        </p:spPr>
        <p:txBody>
          <a:bodyPr wrap="square" lIns="0" tIns="0" rIns="0" bIns="0" rtlCol="0" anchor="ctr"/>
          <a:lstStyle/>
          <a:p>
            <a:pPr indent="0" marL="0">
              <a:buNone/>
            </a:pPr>
            <a:r>
              <a:rPr lang="en-US" sz="1500" b="1" dirty="0">
                <a:solidFill>
                  <a:srgbClr val="A07E22"/>
                </a:solidFill>
                <a:latin typeface="Calibri" pitchFamily="34" charset="0"/>
                <a:ea typeface="Calibri" pitchFamily="34" charset="-122"/>
                <a:cs typeface="Calibri" pitchFamily="34" charset="-120"/>
              </a:rPr>
              <a:t>Implications for Financing</a:t>
            </a:r>
            <a:endParaRPr lang="en-US" sz="1500" dirty="0"/>
          </a:p>
        </p:txBody>
      </p:sp>
      <p:sp>
        <p:nvSpPr>
          <p:cNvPr id="17" name="Text 14"/>
          <p:cNvSpPr txBox="1"/>
          <p:nvPr/>
        </p:nvSpPr>
        <p:spPr>
          <a:xfrm>
            <a:off x="6434176" y="4325112"/>
            <a:ext cx="5007712" cy="171907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Elevated interest rates increase the cost of new debt, favouring internal financing where available</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Persistent inflation raises both construction costs and operating costs, potentially increasing the project budget and reducing EBIT</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Competitive pressures limit pricing power, constraining the ability to pass through higher financing costs to consumers</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Credit conditions remain accessible for BBB-rated issuers, but the cost premium over risk-free rates has widened</a:t>
            </a:r>
            <a:endParaRPr lang="en-US" sz="1200" dirty="0"/>
          </a:p>
        </p:txBody>
      </p:sp>
      <p:sp>
        <p:nvSpPr>
          <p:cNvPr id="18" name="Text 15"/>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Sources: Reserve Bank of Australia, June 2026; Australian Bureau of Statistics, CPI June 2026; CBA Economic Research, May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Supply-Chain Expansion: Costs, Benefits and Risks</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143000"/>
            <a:ext cx="5410048" cy="3154680"/>
          </a:xfrm>
          <a:prstGeom prst="roundRect">
            <a:avLst>
              <a:gd name="adj" fmla="val 2319"/>
            </a:avLst>
          </a:prstGeom>
          <a:solidFill>
            <a:srgbClr val="EEF6EA"/>
          </a:solidFill>
          <a:ln/>
        </p:spPr>
      </p:sp>
      <p:sp>
        <p:nvSpPr>
          <p:cNvPr id="7" name="Text 4"/>
          <p:cNvSpPr txBox="1"/>
          <p:nvPr/>
        </p:nvSpPr>
        <p:spPr>
          <a:xfrm>
            <a:off x="749808" y="127101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Expected Operational Benefits</a:t>
            </a:r>
            <a:endParaRPr lang="en-US" sz="1500" dirty="0"/>
          </a:p>
        </p:txBody>
      </p:sp>
      <p:sp>
        <p:nvSpPr>
          <p:cNvPr id="8" name="Text 5"/>
          <p:cNvSpPr txBox="1"/>
          <p:nvPr/>
        </p:nvSpPr>
        <p:spPr>
          <a:xfrm>
            <a:off x="749808" y="1673352"/>
            <a:ext cx="5007712" cy="249631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12–15% estimated reduction in per-carton distribution cost through automation (estimated based on industry benchmarks)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Improved on-shelf availability across Victoria and Queensland stores, reducing out-of-stock losses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Reduced reliance on manual handling, improving workplace safety and lowering workers’ compensation costs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Faster product introduction cycles via automated fulfilment</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Enhanced e-commerce fulfilment capacity to support WooliesX growth</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Environmental benefit: reduced road freight emissions through rail connectivity</a:t>
            </a:r>
            <a:endParaRPr lang="en-US" sz="1200" dirty="0"/>
          </a:p>
        </p:txBody>
      </p:sp>
      <p:sp>
        <p:nvSpPr>
          <p:cNvPr id="9" name="Shape 6"/>
          <p:cNvSpPr/>
          <p:nvPr/>
        </p:nvSpPr>
        <p:spPr>
          <a:xfrm>
            <a:off x="6233008" y="1143000"/>
            <a:ext cx="5410048" cy="3154680"/>
          </a:xfrm>
          <a:prstGeom prst="roundRect">
            <a:avLst>
              <a:gd name="adj" fmla="val 2319"/>
            </a:avLst>
          </a:prstGeom>
          <a:solidFill>
            <a:srgbClr val="FDF0EE"/>
          </a:solidFill>
          <a:ln/>
        </p:spPr>
      </p:sp>
      <p:sp>
        <p:nvSpPr>
          <p:cNvPr id="10" name="Text 7"/>
          <p:cNvSpPr txBox="1"/>
          <p:nvPr/>
        </p:nvSpPr>
        <p:spPr>
          <a:xfrm>
            <a:off x="6434176" y="1271016"/>
            <a:ext cx="5007712" cy="329184"/>
          </a:xfrm>
          <a:prstGeom prst="rect">
            <a:avLst/>
          </a:prstGeom>
          <a:noFill/>
          <a:ln/>
        </p:spPr>
        <p:txBody>
          <a:bodyPr wrap="square" lIns="0" tIns="0" rIns="0" bIns="0" rtlCol="0" anchor="ctr"/>
          <a:lstStyle/>
          <a:p>
            <a:pPr indent="0" marL="0">
              <a:buNone/>
            </a:pPr>
            <a:r>
              <a:rPr lang="en-US" sz="1500" b="1" dirty="0">
                <a:solidFill>
                  <a:srgbClr val="C13B2A"/>
                </a:solidFill>
                <a:latin typeface="Calibri" pitchFamily="34" charset="0"/>
                <a:ea typeface="Calibri" pitchFamily="34" charset="-122"/>
                <a:cs typeface="Calibri" pitchFamily="34" charset="-120"/>
              </a:rPr>
              <a:t>Costs and Financial Risks</a:t>
            </a:r>
            <a:endParaRPr lang="en-US" sz="1500" dirty="0"/>
          </a:p>
        </p:txBody>
      </p:sp>
      <p:sp>
        <p:nvSpPr>
          <p:cNvPr id="11" name="Text 8"/>
          <p:cNvSpPr txBox="1"/>
          <p:nvPr/>
        </p:nvSpPr>
        <p:spPr>
          <a:xfrm>
            <a:off x="6434176" y="1673352"/>
            <a:ext cx="5007712" cy="249631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Estimated capital cost: A$800M (hypothetical), potentially higher if construction cost inflation exceeds assumptions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Implementation timeline risk: the Moorebank project experienced a 12–18 month delay from initial planning</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Technology integration risk: automation systems require commissioning and workforce retraining</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Supply chain disruption during transition from existing DCs to new facilities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Demand risk: if consumer spending contracts, surplus distribution capacity becomes a cost burden</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Opportunity cost: A$800M committed to DCs cannot be deployed on digital, new markets, or shareholder returns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4415" cy="914400"/>
        </p:xfrm>
        <a:graphic>
          <a:graphicData uri="http://schemas.openxmlformats.org/drawingml/2006/table">
            <a:tbl>
              <a:tblPr/>
              <a:tblGrid>
                <a:gridCol w="4754880"/>
                <a:gridCol w="3200400"/>
                <a:gridCol w="3139135"/>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Cost Component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Estimated Range</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Technology and automation fitout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A$500–550M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Hypothetical</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Construction and property</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A$250–300M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Hypothetical</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329184">
                <a:tc>
                  <a:txBody>
                    <a:bodyPr/>
                    <a:lstStyle/>
                    <a:p>
                      <a:pPr algn="l" indent="0" marL="0">
                        <a:buNone/>
                      </a:pPr>
                      <a:r>
                        <a:rPr lang="en-US" sz="1200" b="1" dirty="0">
                          <a:solidFill>
                            <a:srgbClr val="2C2C2C"/>
                          </a:solidFill>
                          <a:latin typeface="Calibri" pitchFamily="34" charset="0"/>
                          <a:ea typeface="Calibri" pitchFamily="34" charset="-122"/>
                          <a:cs typeface="Calibri" pitchFamily="34" charset="-120"/>
                        </a:rPr>
                        <a:t>Total estimated cost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A$750–850M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200" b="1" dirty="0">
                          <a:solidFill>
                            <a:srgbClr val="2C2C2C"/>
                          </a:solidFill>
                          <a:latin typeface="Calibri" pitchFamily="34" charset="0"/>
                          <a:ea typeface="Calibri" pitchFamily="34" charset="-122"/>
                          <a:cs typeface="Calibri" pitchFamily="34" charset="-120"/>
                        </a:rPr>
                        <a:t>Assumed A$800M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r>
              <a:tr h="329184">
                <a:tc>
                  <a:txBody>
                    <a:bodyPr/>
                    <a:lstStyle/>
                    <a:p>
                      <a:pPr algn="l" indent="0" marL="0">
                        <a:buNone/>
                      </a:pPr>
                      <a:r>
                        <a:rPr lang="en-US" sz="1200" dirty="0">
                          <a:solidFill>
                            <a:srgbClr val="2C2C2C"/>
                          </a:solidFill>
                          <a:latin typeface="Calibri" pitchFamily="34" charset="0"/>
                          <a:ea typeface="Calibri" pitchFamily="34" charset="-122"/>
                          <a:cs typeface="Calibri" pitchFamily="34" charset="-120"/>
                        </a:rPr>
                        <a:t>Annual operating savings (est.)</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A$60–80M</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200" dirty="0">
                          <a:solidFill>
                            <a:srgbClr val="2C2C2C"/>
                          </a:solidFill>
                          <a:latin typeface="Calibri" pitchFamily="34" charset="0"/>
                          <a:ea typeface="Calibri" pitchFamily="34" charset="-122"/>
                          <a:cs typeface="Calibri" pitchFamily="34" charset="-120"/>
                        </a:rPr>
                        <a:t>Assumed</a:t>
                      </a:r>
                      <a:endParaRPr lang="en-US" sz="12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bl>
          </a:graphicData>
        </a:graphic>
      </p:graphicFrame>
      <p:sp>
        <p:nvSpPr>
          <p:cNvPr id="13" name="Text 9"/>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All cost figures are hypothetical estimates for this assessment. Not based on any Woolworths Group disclosure. Industry benchmarks from supply chain publications.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Financing Option 1: Internal Financing</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143000"/>
            <a:ext cx="11094415" cy="1691640"/>
          </a:xfrm>
          <a:prstGeom prst="roundRect">
            <a:avLst>
              <a:gd name="adj" fmla="val 4324"/>
            </a:avLst>
          </a:prstGeom>
          <a:solidFill>
            <a:srgbClr val="F4F6F5"/>
          </a:solidFill>
          <a:ln/>
        </p:spPr>
      </p:sp>
      <p:sp>
        <p:nvSpPr>
          <p:cNvPr id="7" name="Text 4"/>
          <p:cNvSpPr txBox="1"/>
          <p:nvPr/>
        </p:nvSpPr>
        <p:spPr>
          <a:xfrm>
            <a:off x="749808" y="1252728"/>
            <a:ext cx="10692079"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How Internal Financing Would Work</a:t>
            </a:r>
            <a:endParaRPr lang="en-US" sz="1500" dirty="0"/>
          </a:p>
        </p:txBody>
      </p:sp>
      <p:sp>
        <p:nvSpPr>
          <p:cNvPr id="8" name="Text 5"/>
          <p:cNvSpPr txBox="1"/>
          <p:nvPr/>
        </p:nvSpPr>
        <p:spPr>
          <a:xfrm>
            <a:off x="749808" y="1645920"/>
            <a:ext cx="10692079" cy="1097280"/>
          </a:xfrm>
          <a:prstGeom prst="rect">
            <a:avLst/>
          </a:prstGeom>
          <a:noFill/>
          <a:ln/>
        </p:spPr>
        <p:txBody>
          <a:bodyPr wrap="square" lIns="0" tIns="0" rIns="0" bIns="0" rtlCol="0" anchor="t"/>
          <a:lstStyle/>
          <a:p>
            <a:pPr indent="0" marL="0">
              <a:lnSpc>
                <a:spcPct val="100000"/>
              </a:lnSpc>
              <a:spcAft>
                <a:spcPts val="500"/>
              </a:spcAft>
              <a:buNone/>
            </a:pPr>
            <a:r>
              <a:rPr lang="en-US" sz="1200" dirty="0">
                <a:solidFill>
                  <a:srgbClr val="2C2C2C"/>
                </a:solidFill>
                <a:latin typeface="Calibri" pitchFamily="34" charset="0"/>
                <a:ea typeface="Calibri" pitchFamily="34" charset="-122"/>
                <a:cs typeface="Calibri" pitchFamily="34" charset="-120"/>
              </a:rPr>
              <a:t>The Group would fund the A$800M expansion from retained earnings and operating cash flow over 2–3 financial years (approximately A$270–400M per year). This would require either reducing dividend payments further, deferring other capital expenditure, or a combination of both.</a:t>
            </a:r>
            <a:endParaRPr lang="en-US" sz="1200" dirty="0"/>
          </a:p>
          <a:p>
            <a:pPr indent="0" marL="0">
              <a:lnSpc>
                <a:spcPct val="100000"/>
              </a:lnSpc>
              <a:buNone/>
            </a:pPr>
            <a:r>
              <a:rPr lang="en-US" sz="1200" dirty="0">
                <a:solidFill>
                  <a:srgbClr val="2C2C2C"/>
                </a:solidFill>
                <a:latin typeface="Calibri" pitchFamily="34" charset="0"/>
                <a:ea typeface="Calibri" pitchFamily="34" charset="-122"/>
                <a:cs typeface="Calibri" pitchFamily="34" charset="-120"/>
              </a:rPr>
              <a:t>FY2025 free cash flow was A$2,022M. After dividends (A$1,026M), approximately A$996M was available for debt reduction or new investment. This suggests that internal financing is feasible if the Board accepts a temporary reduction in shareholder returns.</a:t>
            </a:r>
            <a:endParaRPr lang="en-US" sz="1200" dirty="0"/>
          </a:p>
        </p:txBody>
      </p:sp>
      <p:sp>
        <p:nvSpPr>
          <p:cNvPr id="9" name="Shape 6"/>
          <p:cNvSpPr/>
          <p:nvPr/>
        </p:nvSpPr>
        <p:spPr>
          <a:xfrm>
            <a:off x="548640" y="3108960"/>
            <a:ext cx="5410048" cy="3108960"/>
          </a:xfrm>
          <a:prstGeom prst="roundRect">
            <a:avLst>
              <a:gd name="adj" fmla="val 2353"/>
            </a:avLst>
          </a:prstGeom>
          <a:solidFill>
            <a:srgbClr val="EEF6EA"/>
          </a:solidFill>
          <a:ln/>
        </p:spPr>
      </p:sp>
      <p:sp>
        <p:nvSpPr>
          <p:cNvPr id="10" name="Text 7"/>
          <p:cNvSpPr txBox="1"/>
          <p:nvPr/>
        </p:nvSpPr>
        <p:spPr>
          <a:xfrm>
            <a:off x="749808" y="323697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Advantages</a:t>
            </a:r>
            <a:endParaRPr lang="en-US" sz="1500" dirty="0"/>
          </a:p>
        </p:txBody>
      </p:sp>
      <p:sp>
        <p:nvSpPr>
          <p:cNvPr id="11" name="Text 8"/>
          <p:cNvSpPr txBox="1"/>
          <p:nvPr/>
        </p:nvSpPr>
        <p:spPr>
          <a:xfrm>
            <a:off x="749808" y="3639312"/>
            <a:ext cx="5007712" cy="245059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No increase in debt or interest obligations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No dilution of ownership or control</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No exposure to refinancing risk or interest rate volatility</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Preserves the BBB credit rating</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Consistent with pecking order theory (Myers and Majluf, 1984) — internal funds are the lowest-cost source of finance</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Signals confidence in the Group's cash-generative capacity</a:t>
            </a:r>
            <a:endParaRPr lang="en-US" sz="1200" dirty="0"/>
          </a:p>
        </p:txBody>
      </p:sp>
      <p:sp>
        <p:nvSpPr>
          <p:cNvPr id="12" name="Shape 9"/>
          <p:cNvSpPr/>
          <p:nvPr/>
        </p:nvSpPr>
        <p:spPr>
          <a:xfrm>
            <a:off x="6233008" y="3108960"/>
            <a:ext cx="5410048" cy="3108960"/>
          </a:xfrm>
          <a:prstGeom prst="roundRect">
            <a:avLst>
              <a:gd name="adj" fmla="val 2353"/>
            </a:avLst>
          </a:prstGeom>
          <a:solidFill>
            <a:srgbClr val="FDF0EE"/>
          </a:solidFill>
          <a:ln/>
        </p:spPr>
      </p:sp>
      <p:sp>
        <p:nvSpPr>
          <p:cNvPr id="13" name="Text 10"/>
          <p:cNvSpPr txBox="1"/>
          <p:nvPr/>
        </p:nvSpPr>
        <p:spPr>
          <a:xfrm>
            <a:off x="6434176" y="3236976"/>
            <a:ext cx="5007712" cy="329184"/>
          </a:xfrm>
          <a:prstGeom prst="rect">
            <a:avLst/>
          </a:prstGeom>
          <a:noFill/>
          <a:ln/>
        </p:spPr>
        <p:txBody>
          <a:bodyPr wrap="square" lIns="0" tIns="0" rIns="0" bIns="0" rtlCol="0" anchor="ctr"/>
          <a:lstStyle/>
          <a:p>
            <a:pPr indent="0" marL="0">
              <a:buNone/>
            </a:pPr>
            <a:r>
              <a:rPr lang="en-US" sz="1500" b="1" dirty="0">
                <a:solidFill>
                  <a:srgbClr val="C13B2A"/>
                </a:solidFill>
                <a:latin typeface="Calibri" pitchFamily="34" charset="0"/>
                <a:ea typeface="Calibri" pitchFamily="34" charset="-122"/>
                <a:cs typeface="Calibri" pitchFamily="34" charset="-120"/>
              </a:rPr>
              <a:t>Disadvantages</a:t>
            </a:r>
            <a:endParaRPr lang="en-US" sz="1500" dirty="0"/>
          </a:p>
        </p:txBody>
      </p:sp>
      <p:sp>
        <p:nvSpPr>
          <p:cNvPr id="14" name="Text 11"/>
          <p:cNvSpPr txBox="1"/>
          <p:nvPr/>
        </p:nvSpPr>
        <p:spPr>
          <a:xfrm>
            <a:off x="6434176" y="3639312"/>
            <a:ext cx="5007712" cy="245059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Reduces liquidity buffer during a period of macro uncertainty</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Likely requires further dividend cuts, frustrating income-focused shareholders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Opportunity cost: cash cannot be used for other investments, acquisitions or share buybacks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Forgoes the tax shield benefit of debt interest deductibility</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May constrain the Group's ability to respond to unexpected competitive or economic challenges</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Slower deployment — phasing over 3 years delays operational benefits</a:t>
            </a:r>
            <a:endParaRPr lang="en-US" sz="1200" dirty="0"/>
          </a:p>
        </p:txBody>
      </p:sp>
      <p:sp>
        <p:nvSpPr>
          <p:cNvPr id="15" name="Text 12"/>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Academic reference: Myers, S.C. and Majluf, N.S. (1984) "Corporate financing and investment decisions when firms have information that investors do not have", Journal of Financial Economics, 13(2), pp. 187–221.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Financing Option 2: Debt Financing</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48640" y="1143000"/>
            <a:ext cx="11094415" cy="2103120"/>
          </a:xfrm>
          <a:prstGeom prst="roundRect">
            <a:avLst>
              <a:gd name="adj" fmla="val 3478"/>
            </a:avLst>
          </a:prstGeom>
          <a:solidFill>
            <a:srgbClr val="F4F6F5"/>
          </a:solidFill>
          <a:ln/>
        </p:spPr>
      </p:sp>
      <p:sp>
        <p:nvSpPr>
          <p:cNvPr id="7" name="Text 4"/>
          <p:cNvSpPr txBox="1"/>
          <p:nvPr/>
        </p:nvSpPr>
        <p:spPr>
          <a:xfrm>
            <a:off x="749808" y="1252728"/>
            <a:ext cx="10692079"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Potential Debt Structure</a:t>
            </a:r>
            <a:endParaRPr lang="en-US" sz="1500" dirty="0"/>
          </a:p>
        </p:txBody>
      </p:sp>
      <p:sp>
        <p:nvSpPr>
          <p:cNvPr id="8" name="Text 5"/>
          <p:cNvSpPr txBox="1"/>
          <p:nvPr/>
        </p:nvSpPr>
        <p:spPr>
          <a:xfrm>
            <a:off x="749808" y="1645920"/>
            <a:ext cx="10692079" cy="1508760"/>
          </a:xfrm>
          <a:prstGeom prst="rect">
            <a:avLst/>
          </a:prstGeom>
          <a:noFill/>
          <a:ln/>
        </p:spPr>
        <p:txBody>
          <a:bodyPr wrap="square" lIns="0" tIns="0" rIns="0" bIns="0" rtlCol="0" anchor="t"/>
          <a:lstStyle/>
          <a:p>
            <a:pPr indent="0" marL="0">
              <a:lnSpc>
                <a:spcPct val="100000"/>
              </a:lnSpc>
              <a:spcAft>
                <a:spcPts val="500"/>
              </a:spcAft>
              <a:buNone/>
            </a:pPr>
            <a:r>
              <a:rPr lang="en-US" sz="1200" dirty="0">
                <a:solidFill>
                  <a:srgbClr val="2C2C2C"/>
                </a:solidFill>
                <a:latin typeface="Calibri" pitchFamily="34" charset="0"/>
                <a:ea typeface="Calibri" pitchFamily="34" charset="-122"/>
                <a:cs typeface="Calibri" pitchFamily="34" charset="-120"/>
              </a:rPr>
              <a:t>Based on Woolworths’ recent debt issuance history, the most likely structure would be a medium-term note (MTN) issuance under its existing A$5 billion MTN programme. The November 2024 issuance of A$800M 10-year fixed-rate notes at 5.91% provides a direct benchmark.</a:t>
            </a:r>
            <a:endParaRPr lang="en-US" sz="1200" dirty="0"/>
          </a:p>
          <a:p>
            <a:pPr indent="0" marL="0">
              <a:lnSpc>
                <a:spcPct val="100000"/>
              </a:lnSpc>
              <a:spcAft>
                <a:spcPts val="500"/>
              </a:spcAft>
              <a:buNone/>
            </a:pPr>
            <a:r>
              <a:rPr lang="en-US" sz="1200" b="1" dirty="0">
                <a:solidFill>
                  <a:srgbClr val="125B3F"/>
                </a:solidFill>
                <a:latin typeface="Calibri" pitchFamily="34" charset="0"/>
                <a:ea typeface="Calibri" pitchFamily="34" charset="-122"/>
                <a:cs typeface="Calibri" pitchFamily="34" charset="-120"/>
              </a:rPr>
              <a:t>Interest Rate Assumptions:</a:t>
            </a:r>
            <a:endParaRPr lang="en-US" sz="1200" dirty="0"/>
          </a:p>
          <a:p>
            <a:pPr indent="0" marL="0">
              <a:lnSpc>
                <a:spcPct val="100000"/>
              </a:lnSpc>
              <a:spcAft>
                <a:spcPts val="500"/>
              </a:spcAft>
              <a:buNone/>
            </a:pPr>
            <a:r>
              <a:rPr lang="en-US" sz="1200" dirty="0">
                <a:solidFill>
                  <a:srgbClr val="2C2C2C"/>
                </a:solidFill>
                <a:latin typeface="Calibri" pitchFamily="34" charset="0"/>
                <a:ea typeface="Calibri" pitchFamily="34" charset="-122"/>
                <a:cs typeface="Calibri" pitchFamily="34" charset="-120"/>
              </a:rPr>
              <a:t>Pre-tax cost of new debt: 5.75% (estimated, based on the 5.91% coupon of the 2024 MTNs, adjusted for current market conditions)</a:t>
            </a:r>
            <a:endParaRPr lang="en-US" sz="1200" dirty="0"/>
          </a:p>
          <a:p>
            <a:pPr indent="0" marL="0">
              <a:lnSpc>
                <a:spcPct val="100000"/>
              </a:lnSpc>
              <a:spcAft>
                <a:spcPts val="500"/>
              </a:spcAft>
              <a:buNone/>
            </a:pPr>
            <a:r>
              <a:rPr lang="en-US" sz="1200" dirty="0">
                <a:solidFill>
                  <a:srgbClr val="2C2C2C"/>
                </a:solidFill>
                <a:latin typeface="Calibri" pitchFamily="34" charset="0"/>
                <a:ea typeface="Calibri" pitchFamily="34" charset="-122"/>
                <a:cs typeface="Calibri" pitchFamily="34" charset="-120"/>
              </a:rPr>
              <a:t>After-tax cost of debt: 5.75% x (1 – 0.30) = 4.03% (using the Australian corporate tax rate of 30%)</a:t>
            </a:r>
            <a:endParaRPr lang="en-US" sz="1200" dirty="0"/>
          </a:p>
          <a:p>
            <a:pPr indent="0" marL="0">
              <a:lnSpc>
                <a:spcPct val="100000"/>
              </a:lnSpc>
              <a:buNone/>
            </a:pPr>
            <a:r>
              <a:rPr lang="en-US" sz="1200" dirty="0">
                <a:solidFill>
                  <a:srgbClr val="2C2C2C"/>
                </a:solidFill>
                <a:latin typeface="Calibri" pitchFamily="34" charset="0"/>
                <a:ea typeface="Calibri" pitchFamily="34" charset="-122"/>
                <a:cs typeface="Calibri" pitchFamily="34" charset="-120"/>
              </a:rPr>
              <a:t>Note: This is an estimate. Actual pricing would depend on market conditions, tenor, and credit assessment at issuance.</a:t>
            </a:r>
            <a:endParaRPr lang="en-US" sz="1200" dirty="0"/>
          </a:p>
        </p:txBody>
      </p:sp>
      <p:sp>
        <p:nvSpPr>
          <p:cNvPr id="9" name="Shape 6"/>
          <p:cNvSpPr/>
          <p:nvPr/>
        </p:nvSpPr>
        <p:spPr>
          <a:xfrm>
            <a:off x="548640" y="3520440"/>
            <a:ext cx="5410048" cy="2697480"/>
          </a:xfrm>
          <a:prstGeom prst="roundRect">
            <a:avLst>
              <a:gd name="adj" fmla="val 2712"/>
            </a:avLst>
          </a:prstGeom>
          <a:solidFill>
            <a:srgbClr val="EEF6EA"/>
          </a:solidFill>
          <a:ln/>
        </p:spPr>
      </p:sp>
      <p:sp>
        <p:nvSpPr>
          <p:cNvPr id="10" name="Text 7"/>
          <p:cNvSpPr txBox="1"/>
          <p:nvPr/>
        </p:nvSpPr>
        <p:spPr>
          <a:xfrm>
            <a:off x="749808" y="3648456"/>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Advantages</a:t>
            </a:r>
            <a:endParaRPr lang="en-US" sz="1500" dirty="0"/>
          </a:p>
        </p:txBody>
      </p:sp>
      <p:sp>
        <p:nvSpPr>
          <p:cNvPr id="11" name="Text 8"/>
          <p:cNvSpPr txBox="1"/>
          <p:nvPr/>
        </p:nvSpPr>
        <p:spPr>
          <a:xfrm>
            <a:off x="749808" y="4050792"/>
            <a:ext cx="5007712" cy="203911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Tax shield: interest deductibility reduces the after-tax cost to ~4.03%</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Preserves internal cash for dividends, other CapEx, and contingencies</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Enables faster deployment of the full A$800M</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Consistent with trade-off theory — optimal capital structure involves a balance of debt and equity (Kraus and Litzenberger, 1973)</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Proven access: Woolworths has a well-established MTN programme and market presence</a:t>
            </a:r>
            <a:endParaRPr lang="en-US" sz="1200" dirty="0"/>
          </a:p>
        </p:txBody>
      </p:sp>
      <p:sp>
        <p:nvSpPr>
          <p:cNvPr id="12" name="Shape 9"/>
          <p:cNvSpPr/>
          <p:nvPr/>
        </p:nvSpPr>
        <p:spPr>
          <a:xfrm>
            <a:off x="6233008" y="3520440"/>
            <a:ext cx="5410048" cy="2697480"/>
          </a:xfrm>
          <a:prstGeom prst="roundRect">
            <a:avLst>
              <a:gd name="adj" fmla="val 2712"/>
            </a:avLst>
          </a:prstGeom>
          <a:solidFill>
            <a:srgbClr val="FDF0EE"/>
          </a:solidFill>
          <a:ln/>
        </p:spPr>
      </p:sp>
      <p:sp>
        <p:nvSpPr>
          <p:cNvPr id="13" name="Text 10"/>
          <p:cNvSpPr txBox="1"/>
          <p:nvPr/>
        </p:nvSpPr>
        <p:spPr>
          <a:xfrm>
            <a:off x="6434176" y="3648456"/>
            <a:ext cx="5007712" cy="329184"/>
          </a:xfrm>
          <a:prstGeom prst="rect">
            <a:avLst/>
          </a:prstGeom>
          <a:noFill/>
          <a:ln/>
        </p:spPr>
        <p:txBody>
          <a:bodyPr wrap="square" lIns="0" tIns="0" rIns="0" bIns="0" rtlCol="0" anchor="ctr"/>
          <a:lstStyle/>
          <a:p>
            <a:pPr indent="0" marL="0">
              <a:buNone/>
            </a:pPr>
            <a:r>
              <a:rPr lang="en-US" sz="1500" b="1" dirty="0">
                <a:solidFill>
                  <a:srgbClr val="C13B2A"/>
                </a:solidFill>
                <a:latin typeface="Calibri" pitchFamily="34" charset="0"/>
                <a:ea typeface="Calibri" pitchFamily="34" charset="-122"/>
                <a:cs typeface="Calibri" pitchFamily="34" charset="-120"/>
              </a:rPr>
              <a:t>Disadvantages</a:t>
            </a:r>
            <a:endParaRPr lang="en-US" sz="1500" dirty="0"/>
          </a:p>
        </p:txBody>
      </p:sp>
      <p:sp>
        <p:nvSpPr>
          <p:cNvPr id="14" name="Text 11"/>
          <p:cNvSpPr txBox="1"/>
          <p:nvPr/>
        </p:nvSpPr>
        <p:spPr>
          <a:xfrm>
            <a:off x="6434176" y="4050792"/>
            <a:ext cx="5007712" cy="2039112"/>
          </a:xfrm>
          <a:prstGeom prst="rect">
            <a:avLst/>
          </a:prstGeom>
          <a:noFill/>
          <a:ln/>
        </p:spPr>
        <p:txBody>
          <a:bodyPr wrap="square" lIns="0" tIns="0" rIns="0" bIns="0" rtlCol="0" anchor="t"/>
          <a:lstStyle/>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Increases gearing: D/E (excl. leases) would rise from 1.13x to ~1.30x</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Additional annual interest: A$800M x 5.75% = A$46M per year, reducing interest coverage from 3.29x to ~2.84x</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Refinancing risk on maturity</a:t>
            </a:r>
            <a:endParaRPr lang="en-US" sz="1200" dirty="0"/>
          </a:p>
          <a:p>
            <a:pPr marL="165100" indent="-165100">
              <a:lnSpc>
                <a:spcPct val="100000"/>
              </a:lnSpc>
              <a:spcAft>
                <a:spcPts val="400"/>
              </a:spcAft>
              <a:buSzPct val="100000"/>
              <a:buChar char="•"/>
            </a:pPr>
            <a:r>
              <a:rPr lang="en-US" sz="1200" dirty="0">
                <a:solidFill>
                  <a:srgbClr val="2C2C2C"/>
                </a:solidFill>
                <a:latin typeface="Calibri" pitchFamily="34" charset="0"/>
                <a:ea typeface="Calibri" pitchFamily="34" charset="-122"/>
                <a:cs typeface="Calibri" pitchFamily="34" charset="-120"/>
              </a:rPr>
              <a:t>Credit rating pressure: could trigger a negative outlook from S&amp;P if coverage falls below 3.0x</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Higher borrowing cost in the current elevated interest rate environment</a:t>
            </a:r>
            <a:endParaRPr lang="en-US" sz="1200" dirty="0"/>
          </a:p>
        </p:txBody>
      </p:sp>
      <p:sp>
        <p:nvSpPr>
          <p:cNvPr id="15" name="Text 12"/>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Sources: Woolworths Group Debt Investors (2025); S&amp;P Global Ratings (2023); Kraus, A. and Litzenberger, R.H. (1973) "A State-Preference Model of Optimal Financial Leverage", Journal of Finance, 28(4).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Financing Option 3: Combined Financing</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143000"/>
            <a:ext cx="5410048" cy="868680"/>
          </a:xfrm>
          <a:prstGeom prst="roundRect">
            <a:avLst>
              <a:gd name="adj" fmla="val 8421"/>
            </a:avLst>
          </a:prstGeom>
          <a:solidFill>
            <a:srgbClr val="125B3F"/>
          </a:solidFill>
          <a:ln/>
        </p:spPr>
      </p:sp>
      <p:sp>
        <p:nvSpPr>
          <p:cNvPr id="7" name="Text 4"/>
          <p:cNvSpPr txBox="1"/>
          <p:nvPr/>
        </p:nvSpPr>
        <p:spPr>
          <a:xfrm>
            <a:off x="777240" y="1143000"/>
            <a:ext cx="4952848" cy="8686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60% Internal: A$480M</a:t>
            </a:r>
            <a:endParaRPr lang="en-US" sz="2200" dirty="0"/>
          </a:p>
          <a:p>
            <a:pPr indent="0" marL="0">
              <a:buNone/>
            </a:pPr>
            <a:r>
              <a:rPr lang="en-US" sz="1250" dirty="0">
                <a:solidFill>
                  <a:srgbClr val="C0DCC8"/>
                </a:solidFill>
                <a:latin typeface="Calibri" pitchFamily="34" charset="0"/>
                <a:ea typeface="Calibri" pitchFamily="34" charset="-122"/>
                <a:cs typeface="Calibri" pitchFamily="34" charset="-120"/>
              </a:rPr>
              <a:t>Retained earnings and operating cash flow over 2–3 years</a:t>
            </a:r>
            <a:endParaRPr lang="en-US" sz="2200" dirty="0"/>
          </a:p>
        </p:txBody>
      </p:sp>
      <p:sp>
        <p:nvSpPr>
          <p:cNvPr id="8" name="Shape 5"/>
          <p:cNvSpPr/>
          <p:nvPr/>
        </p:nvSpPr>
        <p:spPr>
          <a:xfrm>
            <a:off x="6233008" y="1143000"/>
            <a:ext cx="5410048" cy="868680"/>
          </a:xfrm>
          <a:prstGeom prst="roundRect">
            <a:avLst>
              <a:gd name="adj" fmla="val 8421"/>
            </a:avLst>
          </a:prstGeom>
          <a:solidFill>
            <a:srgbClr val="D4A843"/>
          </a:solidFill>
          <a:ln/>
        </p:spPr>
      </p:sp>
      <p:sp>
        <p:nvSpPr>
          <p:cNvPr id="9" name="Text 6"/>
          <p:cNvSpPr txBox="1"/>
          <p:nvPr/>
        </p:nvSpPr>
        <p:spPr>
          <a:xfrm>
            <a:off x="6461608" y="1143000"/>
            <a:ext cx="4952848" cy="8686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40% Debt: A$320M</a:t>
            </a:r>
            <a:endParaRPr lang="en-US" sz="2200" dirty="0"/>
          </a:p>
          <a:p>
            <a:pPr indent="0" marL="0">
              <a:buNone/>
            </a:pPr>
            <a:r>
              <a:rPr lang="en-US" sz="1250" dirty="0">
                <a:solidFill>
                  <a:srgbClr val="FFFFFF"/>
                </a:solidFill>
                <a:latin typeface="Calibri" pitchFamily="34" charset="0"/>
                <a:ea typeface="Calibri" pitchFamily="34" charset="-122"/>
                <a:cs typeface="Calibri" pitchFamily="34" charset="-120"/>
              </a:rPr>
              <a:t>MTN issuance under existing A$5B programme</a:t>
            </a:r>
            <a:endParaRPr lang="en-US" sz="2200" dirty="0"/>
          </a:p>
        </p:txBody>
      </p:sp>
      <p:sp>
        <p:nvSpPr>
          <p:cNvPr id="10" name="Text 7"/>
          <p:cNvSpPr txBox="1"/>
          <p:nvPr/>
        </p:nvSpPr>
        <p:spPr>
          <a:xfrm>
            <a:off x="548640" y="2148840"/>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Rationale for the 60/40 Split</a:t>
            </a:r>
            <a:endParaRPr lang="en-US" sz="1500" dirty="0"/>
          </a:p>
        </p:txBody>
      </p:sp>
      <p:sp>
        <p:nvSpPr>
          <p:cNvPr id="11" name="Text 8"/>
          <p:cNvSpPr txBox="1"/>
          <p:nvPr/>
        </p:nvSpPr>
        <p:spPr>
          <a:xfrm>
            <a:off x="548640" y="2514600"/>
            <a:ext cx="11094415" cy="2057400"/>
          </a:xfrm>
          <a:prstGeom prst="rect">
            <a:avLst/>
          </a:prstGeom>
          <a:noFill/>
          <a:ln/>
        </p:spPr>
        <p:txBody>
          <a:bodyPr wrap="square" lIns="0" tIns="0" rIns="0" bIns="0" rtlCol="0" anchor="t"/>
          <a:lstStyle/>
          <a:p>
            <a:pPr marL="165100" indent="-165100">
              <a:lnSpc>
                <a:spcPct val="100000"/>
              </a:lnSpc>
              <a:spcAft>
                <a:spcPts val="500"/>
              </a:spcAft>
              <a:buSzPct val="100000"/>
              <a:buChar char="•"/>
            </a:pPr>
            <a:r>
              <a:rPr lang="en-US" sz="1200" dirty="0">
                <a:solidFill>
                  <a:srgbClr val="2C2C2C"/>
                </a:solidFill>
                <a:latin typeface="Calibri" pitchFamily="34" charset="0"/>
                <a:ea typeface="Calibri" pitchFamily="34" charset="-122"/>
                <a:cs typeface="Calibri" pitchFamily="34" charset="-120"/>
              </a:rPr>
              <a:t>Internal (60%): A$480M over 3 years = A$160M/year. This is comfortably within the Group's post-dividend FCF capacity (A$996M in FY2025) without requiring additional dividend cuts beyond the FY2025 level. It preserves the majority of the investment's funding from the lowest-cost source.</a:t>
            </a:r>
            <a:endParaRPr lang="en-US" sz="1200" dirty="0"/>
          </a:p>
          <a:p>
            <a:pPr marL="165100" indent="-165100">
              <a:lnSpc>
                <a:spcPct val="100000"/>
              </a:lnSpc>
              <a:spcAft>
                <a:spcPts val="500"/>
              </a:spcAft>
              <a:buSzPct val="100000"/>
              <a:buChar char="•"/>
            </a:pPr>
            <a:r>
              <a:rPr lang="en-US" sz="1200" dirty="0">
                <a:solidFill>
                  <a:srgbClr val="2C2C2C"/>
                </a:solidFill>
                <a:latin typeface="Calibri" pitchFamily="34" charset="0"/>
                <a:ea typeface="Calibri" pitchFamily="34" charset="-122"/>
                <a:cs typeface="Calibri" pitchFamily="34" charset="-120"/>
              </a:rPr>
              <a:t>Debt (40%): A$320M of new MTNs adds approximately A$18.4M in annual interest (at 5.75%), reducing interest coverage from 3.29x to approximately 3.22x — a modest and manageable decline. This keeps gearing within investment-grade comfort levels.</a:t>
            </a:r>
            <a:endParaRPr lang="en-US" sz="1200" dirty="0"/>
          </a:p>
          <a:p>
            <a:pPr marL="165100" indent="-165100">
              <a:lnSpc>
                <a:spcPct val="100000"/>
              </a:lnSpc>
              <a:spcAft>
                <a:spcPts val="500"/>
              </a:spcAft>
              <a:buSzPct val="100000"/>
              <a:buChar char="•"/>
            </a:pPr>
            <a:r>
              <a:rPr lang="en-US" sz="1200" dirty="0">
                <a:solidFill>
                  <a:srgbClr val="2C2C2C"/>
                </a:solidFill>
                <a:latin typeface="Calibri" pitchFamily="34" charset="0"/>
                <a:ea typeface="Calibri" pitchFamily="34" charset="-122"/>
                <a:cs typeface="Calibri" pitchFamily="34" charset="-120"/>
              </a:rPr>
              <a:t>Combined approach balances the pecking order preference for internal funds with the practical need for faster capital deployment and the tax shield benefit of debt.</a:t>
            </a:r>
            <a:endParaRPr lang="en-US" sz="1200" dirty="0"/>
          </a:p>
          <a:p>
            <a:pPr marL="165100" indent="-165100">
              <a:lnSpc>
                <a:spcPct val="100000"/>
              </a:lnSpc>
              <a:buSzPct val="100000"/>
              <a:buChar char="•"/>
            </a:pPr>
            <a:r>
              <a:rPr lang="en-US" sz="1200" dirty="0">
                <a:solidFill>
                  <a:srgbClr val="2C2C2C"/>
                </a:solidFill>
                <a:latin typeface="Calibri" pitchFamily="34" charset="0"/>
                <a:ea typeface="Calibri" pitchFamily="34" charset="-122"/>
                <a:cs typeface="Calibri" pitchFamily="34" charset="-120"/>
              </a:rPr>
              <a:t>The proportions are hypothetical and should be adjusted based on actual project phasing, market conditions at time of issuance, and the Group's financial position at the decision point.</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4415" cy="914400"/>
        </p:xfrm>
        <a:graphic>
          <a:graphicData uri="http://schemas.openxmlformats.org/drawingml/2006/table">
            <a:tbl>
              <a:tblPr/>
              <a:tblGrid>
                <a:gridCol w="2926080"/>
                <a:gridCol w="2651760"/>
                <a:gridCol w="2651760"/>
                <a:gridCol w="2864815"/>
              </a:tblGrid>
              <a:tr h="274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100% Internal</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100% Debt</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60/40 Combined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274320">
                <a:tc>
                  <a:txBody>
                    <a:bodyPr/>
                    <a:lstStyle/>
                    <a:p>
                      <a:pPr algn="l" indent="0" marL="0">
                        <a:buNone/>
                      </a:pPr>
                      <a:r>
                        <a:rPr lang="en-US" sz="1100" dirty="0">
                          <a:solidFill>
                            <a:srgbClr val="2C2C2C"/>
                          </a:solidFill>
                          <a:latin typeface="Calibri" pitchFamily="34" charset="0"/>
                          <a:ea typeface="Calibri" pitchFamily="34" charset="-122"/>
                          <a:cs typeface="Calibri" pitchFamily="34" charset="-120"/>
                        </a:rPr>
                        <a:t>Additional annual interest</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A$0</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A$46M</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25B3F"/>
                          </a:solidFill>
                          <a:latin typeface="Calibri" pitchFamily="34" charset="0"/>
                          <a:ea typeface="Calibri" pitchFamily="34" charset="-122"/>
                          <a:cs typeface="Calibri" pitchFamily="34" charset="-120"/>
                        </a:rPr>
                        <a:t>A$18.4M</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2C2C2C"/>
                          </a:solidFill>
                          <a:latin typeface="Calibri" pitchFamily="34" charset="0"/>
                          <a:ea typeface="Calibri" pitchFamily="34" charset="-122"/>
                          <a:cs typeface="Calibri" pitchFamily="34" charset="-120"/>
                        </a:rPr>
                        <a:t>Interest coverage (revised)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3.29x (unchanged)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3.11x</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00" b="1" dirty="0">
                          <a:solidFill>
                            <a:srgbClr val="125B3F"/>
                          </a:solidFill>
                          <a:latin typeface="Calibri" pitchFamily="34" charset="0"/>
                          <a:ea typeface="Calibri" pitchFamily="34" charset="-122"/>
                          <a:cs typeface="Calibri" pitchFamily="34" charset="-120"/>
                        </a:rPr>
                        <a:t>3.22x</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74320">
                <a:tc>
                  <a:txBody>
                    <a:bodyPr/>
                    <a:lstStyle/>
                    <a:p>
                      <a:pPr algn="l" indent="0" marL="0">
                        <a:buNone/>
                      </a:pPr>
                      <a:r>
                        <a:rPr lang="en-US" sz="1100" dirty="0">
                          <a:solidFill>
                            <a:srgbClr val="2C2C2C"/>
                          </a:solidFill>
                          <a:latin typeface="Calibri" pitchFamily="34" charset="0"/>
                          <a:ea typeface="Calibri" pitchFamily="34" charset="-122"/>
                          <a:cs typeface="Calibri" pitchFamily="34" charset="-120"/>
                        </a:rPr>
                        <a:t>D/E excl. leases (revised)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1.13x (unchanged)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1.30x</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25B3F"/>
                          </a:solidFill>
                          <a:latin typeface="Calibri" pitchFamily="34" charset="0"/>
                          <a:ea typeface="Calibri" pitchFamily="34" charset="-122"/>
                          <a:cs typeface="Calibri" pitchFamily="34" charset="-120"/>
                        </a:rPr>
                        <a:t>1.20x</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2C2C2C"/>
                          </a:solidFill>
                          <a:latin typeface="Calibri" pitchFamily="34" charset="0"/>
                          <a:ea typeface="Calibri" pitchFamily="34" charset="-122"/>
                          <a:cs typeface="Calibri" pitchFamily="34" charset="-120"/>
                        </a:rPr>
                        <a:t>Dividend impact</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Significant cuts likely</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No change needed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00" b="1" dirty="0">
                          <a:solidFill>
                            <a:srgbClr val="125B3F"/>
                          </a:solidFill>
                          <a:latin typeface="Calibri" pitchFamily="34" charset="0"/>
                          <a:ea typeface="Calibri" pitchFamily="34" charset="-122"/>
                          <a:cs typeface="Calibri" pitchFamily="34" charset="-120"/>
                        </a:rPr>
                        <a:t>Modest reduction</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74320">
                <a:tc>
                  <a:txBody>
                    <a:bodyPr/>
                    <a:lstStyle/>
                    <a:p>
                      <a:pPr algn="l" indent="0" marL="0">
                        <a:buNone/>
                      </a:pPr>
                      <a:r>
                        <a:rPr lang="en-US" sz="1100" dirty="0">
                          <a:solidFill>
                            <a:srgbClr val="2C2C2C"/>
                          </a:solidFill>
                          <a:latin typeface="Calibri" pitchFamily="34" charset="0"/>
                          <a:ea typeface="Calibri" pitchFamily="34" charset="-122"/>
                          <a:cs typeface="Calibri" pitchFamily="34" charset="-120"/>
                        </a:rPr>
                        <a:t>Deployment speed</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Slow (3 years)</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C2C2C"/>
                          </a:solidFill>
                          <a:latin typeface="Calibri" pitchFamily="34" charset="0"/>
                          <a:ea typeface="Calibri" pitchFamily="34" charset="-122"/>
                          <a:cs typeface="Calibri" pitchFamily="34" charset="-120"/>
                        </a:rPr>
                        <a:t>Fast (1–2 years)</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25B3F"/>
                          </a:solidFill>
                          <a:latin typeface="Calibri" pitchFamily="34" charset="0"/>
                          <a:ea typeface="Calibri" pitchFamily="34" charset="-122"/>
                          <a:cs typeface="Calibri" pitchFamily="34" charset="-120"/>
                        </a:rPr>
                        <a:t>Moderate (2–3 years)</a:t>
                      </a:r>
                      <a:endParaRPr lang="en-US" sz="110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All figures are hypothetical estimates. Actual metrics would depend on timing, market conditions, and financial performance at the point of decision.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Financing Cost Calculations and WACC</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15</a:t>
            </a:r>
            <a:endParaRPr lang="en-US" sz="1000" dirty="0"/>
          </a:p>
        </p:txBody>
      </p:sp>
      <p:sp>
        <p:nvSpPr>
          <p:cNvPr id="6" name="Shape 3"/>
          <p:cNvSpPr/>
          <p:nvPr/>
        </p:nvSpPr>
        <p:spPr>
          <a:xfrm>
            <a:off x="548640" y="1143000"/>
            <a:ext cx="5410048" cy="1783080"/>
          </a:xfrm>
          <a:prstGeom prst="roundRect">
            <a:avLst>
              <a:gd name="adj" fmla="val 4103"/>
            </a:avLst>
          </a:prstGeom>
          <a:solidFill>
            <a:srgbClr val="F4F6F5"/>
          </a:solidFill>
          <a:ln/>
        </p:spPr>
      </p:sp>
      <p:sp>
        <p:nvSpPr>
          <p:cNvPr id="7" name="Text 4"/>
          <p:cNvSpPr txBox="1"/>
          <p:nvPr/>
        </p:nvSpPr>
        <p:spPr>
          <a:xfrm>
            <a:off x="749808" y="1234440"/>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Cost of Debt (After Tax)</a:t>
            </a:r>
            <a:endParaRPr lang="en-US" sz="1500" dirty="0"/>
          </a:p>
        </p:txBody>
      </p:sp>
      <p:sp>
        <p:nvSpPr>
          <p:cNvPr id="8" name="Text 5"/>
          <p:cNvSpPr txBox="1"/>
          <p:nvPr/>
        </p:nvSpPr>
        <p:spPr>
          <a:xfrm>
            <a:off x="749808" y="1600200"/>
            <a:ext cx="5007712" cy="1261872"/>
          </a:xfrm>
          <a:prstGeom prst="rect">
            <a:avLst/>
          </a:prstGeom>
          <a:noFill/>
          <a:ln/>
        </p:spPr>
        <p:txBody>
          <a:bodyPr wrap="square" lIns="0" tIns="0" rIns="0" bIns="0" rtlCol="0" anchor="t"/>
          <a:lstStyle/>
          <a:p>
            <a:pPr indent="0" marL="0">
              <a:spcAft>
                <a:spcPts val="200"/>
              </a:spcAft>
              <a:buNone/>
            </a:pPr>
            <a:r>
              <a:rPr lang="en-US" sz="1300" dirty="0">
                <a:solidFill>
                  <a:srgbClr val="2C2C2C"/>
                </a:solidFill>
                <a:latin typeface="Calibri" pitchFamily="34" charset="0"/>
                <a:ea typeface="Calibri" pitchFamily="34" charset="-122"/>
                <a:cs typeface="Calibri" pitchFamily="34" charset="-120"/>
              </a:rPr>
              <a:t>After-tax cost of debt = Pre-tax cost of debt x (1 – Tax rate)</a:t>
            </a:r>
            <a:endParaRPr lang="en-US" sz="1300" dirty="0"/>
          </a:p>
          <a:p>
            <a:pPr indent="0" marL="0">
              <a:spcAft>
                <a:spcPts val="600"/>
              </a:spcAft>
              <a:buNone/>
            </a:pPr>
            <a:r>
              <a:rPr lang="en-US" sz="1400" b="1" dirty="0">
                <a:solidFill>
                  <a:srgbClr val="125B3F"/>
                </a:solidFill>
                <a:latin typeface="Calibri" pitchFamily="34" charset="0"/>
                <a:ea typeface="Calibri" pitchFamily="34" charset="-122"/>
                <a:cs typeface="Calibri" pitchFamily="34" charset="-120"/>
              </a:rPr>
              <a:t>= 5.75% x (1 – 0.30) = 4.03%</a:t>
            </a:r>
            <a:endParaRPr lang="en-US" sz="1300" dirty="0"/>
          </a:p>
          <a:p>
            <a:pPr indent="0" marL="0">
              <a:buNone/>
            </a:pPr>
            <a:r>
              <a:rPr lang="en-US" sz="1050" dirty="0">
                <a:solidFill>
                  <a:srgbClr val="666666"/>
                </a:solidFill>
                <a:latin typeface="Calibri" pitchFamily="34" charset="0"/>
                <a:ea typeface="Calibri" pitchFamily="34" charset="-122"/>
                <a:cs typeface="Calibri" pitchFamily="34" charset="-120"/>
              </a:rPr>
              <a:t>Assumptions: Pre-tax cost of debt of 5.75% is estimated from the 5.91% coupon on the November 2024 A$800M MTN issuance. Australian corporate tax rate: 30%.</a:t>
            </a:r>
            <a:endParaRPr lang="en-US" sz="1300" dirty="0"/>
          </a:p>
        </p:txBody>
      </p:sp>
      <p:sp>
        <p:nvSpPr>
          <p:cNvPr id="9" name="Shape 6"/>
          <p:cNvSpPr/>
          <p:nvPr/>
        </p:nvSpPr>
        <p:spPr>
          <a:xfrm>
            <a:off x="6233008" y="1143000"/>
            <a:ext cx="5410048" cy="1783080"/>
          </a:xfrm>
          <a:prstGeom prst="roundRect">
            <a:avLst>
              <a:gd name="adj" fmla="val 4103"/>
            </a:avLst>
          </a:prstGeom>
          <a:solidFill>
            <a:srgbClr val="F4F6F5"/>
          </a:solidFill>
          <a:ln/>
        </p:spPr>
      </p:sp>
      <p:sp>
        <p:nvSpPr>
          <p:cNvPr id="10" name="Text 7"/>
          <p:cNvSpPr txBox="1"/>
          <p:nvPr/>
        </p:nvSpPr>
        <p:spPr>
          <a:xfrm>
            <a:off x="6434176" y="1234440"/>
            <a:ext cx="5007712"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Cost of Equity (CAPM)</a:t>
            </a:r>
            <a:endParaRPr lang="en-US" sz="1500" dirty="0"/>
          </a:p>
        </p:txBody>
      </p:sp>
      <p:sp>
        <p:nvSpPr>
          <p:cNvPr id="11" name="Text 8"/>
          <p:cNvSpPr txBox="1"/>
          <p:nvPr/>
        </p:nvSpPr>
        <p:spPr>
          <a:xfrm>
            <a:off x="6434176" y="1600200"/>
            <a:ext cx="5007712" cy="1261872"/>
          </a:xfrm>
          <a:prstGeom prst="rect">
            <a:avLst/>
          </a:prstGeom>
          <a:noFill/>
          <a:ln/>
        </p:spPr>
        <p:txBody>
          <a:bodyPr wrap="square" lIns="0" tIns="0" rIns="0" bIns="0" rtlCol="0" anchor="t"/>
          <a:lstStyle/>
          <a:p>
            <a:pPr indent="0" marL="0">
              <a:spcAft>
                <a:spcPts val="200"/>
              </a:spcAft>
              <a:buNone/>
            </a:pPr>
            <a:r>
              <a:rPr lang="en-US" sz="1300" dirty="0">
                <a:solidFill>
                  <a:srgbClr val="2C2C2C"/>
                </a:solidFill>
                <a:latin typeface="Calibri" pitchFamily="34" charset="0"/>
                <a:ea typeface="Calibri" pitchFamily="34" charset="-122"/>
                <a:cs typeface="Calibri" pitchFamily="34" charset="-120"/>
              </a:rPr>
              <a:t>Re = Rf + β(Rm – Rf)</a:t>
            </a:r>
            <a:endParaRPr lang="en-US" sz="1300" dirty="0"/>
          </a:p>
          <a:p>
            <a:pPr indent="0" marL="0">
              <a:spcAft>
                <a:spcPts val="600"/>
              </a:spcAft>
              <a:buNone/>
            </a:pPr>
            <a:r>
              <a:rPr lang="en-US" sz="1400" b="1" dirty="0">
                <a:solidFill>
                  <a:srgbClr val="125B3F"/>
                </a:solidFill>
                <a:latin typeface="Calibri" pitchFamily="34" charset="0"/>
                <a:ea typeface="Calibri" pitchFamily="34" charset="-122"/>
                <a:cs typeface="Calibri" pitchFamily="34" charset="-120"/>
              </a:rPr>
              <a:t>= 4.50% + 0.36 x (6.00%) = 4.50% + 2.16% = 6.66%</a:t>
            </a:r>
            <a:endParaRPr lang="en-US" sz="1300" dirty="0"/>
          </a:p>
          <a:p>
            <a:pPr indent="0" marL="0">
              <a:buNone/>
            </a:pPr>
            <a:r>
              <a:rPr lang="en-US" sz="1050" dirty="0">
                <a:solidFill>
                  <a:srgbClr val="666666"/>
                </a:solidFill>
                <a:latin typeface="Calibri" pitchFamily="34" charset="0"/>
                <a:ea typeface="Calibri" pitchFamily="34" charset="-122"/>
                <a:cs typeface="Calibri" pitchFamily="34" charset="-120"/>
              </a:rPr>
              <a:t>Assumptions: Rf (10-year Australian Government Bond yield) ≈ 4.50%; Beta = 0.36 (TradingView, 2025); Market risk premium ≈ 6.00% (Australian equity market historical average). Beta of 0.36 reflects Woolworths’ defensive consumer staples profile.</a:t>
            </a:r>
            <a:endParaRPr lang="en-US" sz="1300" dirty="0"/>
          </a:p>
        </p:txBody>
      </p:sp>
      <p:sp>
        <p:nvSpPr>
          <p:cNvPr id="12" name="Shape 9"/>
          <p:cNvSpPr/>
          <p:nvPr/>
        </p:nvSpPr>
        <p:spPr>
          <a:xfrm>
            <a:off x="548640" y="3108960"/>
            <a:ext cx="11094415" cy="2331720"/>
          </a:xfrm>
          <a:prstGeom prst="roundRect">
            <a:avLst>
              <a:gd name="adj" fmla="val 3137"/>
            </a:avLst>
          </a:prstGeom>
          <a:solidFill>
            <a:srgbClr val="E9F0EB"/>
          </a:solidFill>
          <a:ln/>
        </p:spPr>
      </p:sp>
      <p:sp>
        <p:nvSpPr>
          <p:cNvPr id="13" name="Text 10"/>
          <p:cNvSpPr txBox="1"/>
          <p:nvPr/>
        </p:nvSpPr>
        <p:spPr>
          <a:xfrm>
            <a:off x="777240" y="3218688"/>
            <a:ext cx="6400800" cy="329184"/>
          </a:xfrm>
          <a:prstGeom prst="rect">
            <a:avLst/>
          </a:prstGeom>
          <a:noFill/>
          <a:ln/>
        </p:spPr>
        <p:txBody>
          <a:bodyPr wrap="square" lIns="0" tIns="0" rIns="0" bIns="0" rtlCol="0" anchor="ctr"/>
          <a:lstStyle/>
          <a:p>
            <a:pPr indent="0" marL="0">
              <a:buNone/>
            </a:pPr>
            <a:r>
              <a:rPr lang="en-US" sz="1600" b="1" dirty="0">
                <a:solidFill>
                  <a:srgbClr val="1B3A2D"/>
                </a:solidFill>
                <a:latin typeface="Calibri" pitchFamily="34" charset="0"/>
                <a:ea typeface="Calibri" pitchFamily="34" charset="-122"/>
                <a:cs typeface="Calibri" pitchFamily="34" charset="-120"/>
              </a:rPr>
              <a:t>Weighted Average Cost of Capital (WACC)</a:t>
            </a:r>
            <a:endParaRPr lang="en-US" sz="1600" dirty="0"/>
          </a:p>
        </p:txBody>
      </p:sp>
      <p:sp>
        <p:nvSpPr>
          <p:cNvPr id="14" name="Text 11"/>
          <p:cNvSpPr txBox="1"/>
          <p:nvPr/>
        </p:nvSpPr>
        <p:spPr>
          <a:xfrm>
            <a:off x="777240" y="3611880"/>
            <a:ext cx="6949440" cy="1691640"/>
          </a:xfrm>
          <a:prstGeom prst="rect">
            <a:avLst/>
          </a:prstGeom>
          <a:noFill/>
          <a:ln/>
        </p:spPr>
        <p:txBody>
          <a:bodyPr wrap="square" lIns="0" tIns="0" rIns="0" bIns="0" rtlCol="0" anchor="t"/>
          <a:lstStyle/>
          <a:p>
            <a:pPr indent="0" marL="0">
              <a:spcAft>
                <a:spcPts val="600"/>
              </a:spcAft>
              <a:buNone/>
            </a:pPr>
            <a:r>
              <a:rPr lang="en-US" sz="1400" dirty="0">
                <a:solidFill>
                  <a:srgbClr val="2C2C2C"/>
                </a:solidFill>
                <a:latin typeface="Calibri" pitchFamily="34" charset="0"/>
                <a:ea typeface="Calibri" pitchFamily="34" charset="-122"/>
                <a:cs typeface="Calibri" pitchFamily="34" charset="-120"/>
              </a:rPr>
              <a:t>WACC = (E/V x Re) + (D/V x Rd x (1 – T))</a:t>
            </a:r>
            <a:endParaRPr lang="en-US" sz="1400" dirty="0"/>
          </a:p>
          <a:p>
            <a:pPr indent="0" marL="0">
              <a:spcAft>
                <a:spcPts val="200"/>
              </a:spcAft>
              <a:buNone/>
            </a:pPr>
            <a:r>
              <a:rPr lang="en-US" sz="1200" dirty="0">
                <a:solidFill>
                  <a:srgbClr val="2C2C2C"/>
                </a:solidFill>
                <a:latin typeface="Calibri" pitchFamily="34" charset="0"/>
                <a:ea typeface="Calibri" pitchFamily="34" charset="-122"/>
                <a:cs typeface="Calibri" pitchFamily="34" charset="-120"/>
              </a:rPr>
              <a:t>Using market value weights:</a:t>
            </a:r>
            <a:endParaRPr lang="en-US" sz="1400" dirty="0"/>
          </a:p>
          <a:p>
            <a:pPr indent="0" marL="0">
              <a:spcAft>
                <a:spcPts val="200"/>
              </a:spcAft>
              <a:buNone/>
            </a:pPr>
            <a:r>
              <a:rPr lang="en-US" sz="1200" dirty="0">
                <a:solidFill>
                  <a:srgbClr val="2C2C2C"/>
                </a:solidFill>
                <a:latin typeface="Calibri" pitchFamily="34" charset="0"/>
                <a:ea typeface="Calibri" pitchFamily="34" charset="-122"/>
                <a:cs typeface="Calibri" pitchFamily="34" charset="-120"/>
              </a:rPr>
              <a:t>E (market cap) = A$39,310M (approx.);  D (interest-bearing debt) = A$5,511M;  V = A$44,821M</a:t>
            </a:r>
            <a:endParaRPr lang="en-US" sz="1400" dirty="0"/>
          </a:p>
          <a:p>
            <a:pPr indent="0" marL="0">
              <a:spcAft>
                <a:spcPts val="600"/>
              </a:spcAft>
              <a:buNone/>
            </a:pPr>
            <a:r>
              <a:rPr lang="en-US" sz="1200" dirty="0">
                <a:solidFill>
                  <a:srgbClr val="2C2C2C"/>
                </a:solidFill>
                <a:latin typeface="Calibri" pitchFamily="34" charset="0"/>
                <a:ea typeface="Calibri" pitchFamily="34" charset="-122"/>
                <a:cs typeface="Calibri" pitchFamily="34" charset="-120"/>
              </a:rPr>
              <a:t>E/V = 87.7%;  D/V = 12.3%</a:t>
            </a:r>
            <a:endParaRPr lang="en-US" sz="1400" dirty="0"/>
          </a:p>
          <a:p>
            <a:pPr indent="0" marL="0">
              <a:buNone/>
            </a:pPr>
            <a:r>
              <a:rPr lang="en-US" sz="1250" dirty="0">
                <a:solidFill>
                  <a:srgbClr val="2C2C2C"/>
                </a:solidFill>
                <a:latin typeface="Calibri" pitchFamily="34" charset="0"/>
                <a:ea typeface="Calibri" pitchFamily="34" charset="-122"/>
                <a:cs typeface="Calibri" pitchFamily="34" charset="-120"/>
              </a:rPr>
              <a:t>WACC = (0.877 x 6.66%) + (0.123 x 5.75% x 0.70)</a:t>
            </a:r>
            <a:endParaRPr lang="en-US" sz="1400" dirty="0"/>
          </a:p>
        </p:txBody>
      </p:sp>
      <p:sp>
        <p:nvSpPr>
          <p:cNvPr id="15" name="Shape 12"/>
          <p:cNvSpPr/>
          <p:nvPr/>
        </p:nvSpPr>
        <p:spPr>
          <a:xfrm>
            <a:off x="8001000" y="3291840"/>
            <a:ext cx="3459175" cy="1965960"/>
          </a:xfrm>
          <a:prstGeom prst="roundRect">
            <a:avLst>
              <a:gd name="adj" fmla="val 3721"/>
            </a:avLst>
          </a:prstGeom>
          <a:solidFill>
            <a:srgbClr val="125B3F"/>
          </a:solidFill>
          <a:ln/>
        </p:spPr>
      </p:sp>
      <p:sp>
        <p:nvSpPr>
          <p:cNvPr id="16" name="Text 13"/>
          <p:cNvSpPr txBox="1"/>
          <p:nvPr/>
        </p:nvSpPr>
        <p:spPr>
          <a:xfrm>
            <a:off x="8202168" y="3383280"/>
            <a:ext cx="3056839" cy="1783080"/>
          </a:xfrm>
          <a:prstGeom prst="rect">
            <a:avLst/>
          </a:prstGeom>
          <a:noFill/>
          <a:ln/>
        </p:spPr>
        <p:txBody>
          <a:bodyPr wrap="square" lIns="0" tIns="0" rIns="0" bIns="0" rtlCol="0" anchor="ctr"/>
          <a:lstStyle/>
          <a:p>
            <a:pPr indent="0" marL="0">
              <a:spcAft>
                <a:spcPts val="800"/>
              </a:spcAft>
              <a:buNone/>
            </a:pPr>
            <a:r>
              <a:rPr lang="en-US" sz="2000" b="1" dirty="0">
                <a:solidFill>
                  <a:srgbClr val="FFFFFF"/>
                </a:solidFill>
                <a:latin typeface="Calibri" pitchFamily="34" charset="0"/>
                <a:ea typeface="Calibri" pitchFamily="34" charset="-122"/>
                <a:cs typeface="Calibri" pitchFamily="34" charset="-120"/>
              </a:rPr>
              <a:t>WACC = 5.84% + 0.50% = 6.34%</a:t>
            </a:r>
            <a:endParaRPr lang="en-US" sz="2000" dirty="0"/>
          </a:p>
          <a:p>
            <a:pPr indent="0" marL="0">
              <a:buNone/>
            </a:pPr>
            <a:r>
              <a:rPr lang="en-US" sz="1050" dirty="0">
                <a:solidFill>
                  <a:srgbClr val="C0DCC8"/>
                </a:solidFill>
                <a:latin typeface="Calibri" pitchFamily="34" charset="0"/>
                <a:ea typeface="Calibri" pitchFamily="34" charset="-122"/>
                <a:cs typeface="Calibri" pitchFamily="34" charset="-120"/>
              </a:rPr>
              <a:t>Illustrative WACC. Actual WACC depends on market conditions, beta estimation period, and the chosen risk-free rate and market risk premium. This figure should not be treated as a definitive company WACC.</a:t>
            </a:r>
            <a:endParaRPr lang="en-US" sz="2000" dirty="0"/>
          </a:p>
        </p:txBody>
      </p:sp>
      <p:sp>
        <p:nvSpPr>
          <p:cNvPr id="17" name="Text 14"/>
          <p:cNvSpPr txBox="1"/>
          <p:nvPr/>
        </p:nvSpPr>
        <p:spPr>
          <a:xfrm>
            <a:off x="548640" y="5596128"/>
            <a:ext cx="11094415" cy="685800"/>
          </a:xfrm>
          <a:prstGeom prst="rect">
            <a:avLst/>
          </a:prstGeom>
          <a:noFill/>
          <a:ln/>
        </p:spPr>
        <p:txBody>
          <a:bodyPr wrap="square" lIns="0" tIns="0" rIns="0" bIns="0" rtlCol="0" anchor="t"/>
          <a:lstStyle/>
          <a:p>
            <a:pPr indent="0" marL="0">
              <a:lnSpc>
                <a:spcPct val="100000"/>
              </a:lnSpc>
              <a:buNone/>
            </a:pPr>
            <a:r>
              <a:rPr lang="en-US" sz="1150" b="1" dirty="0">
                <a:solidFill>
                  <a:srgbClr val="A07E22"/>
                </a:solidFill>
                <a:latin typeface="Calibri" pitchFamily="34" charset="0"/>
                <a:ea typeface="Calibri" pitchFamily="34" charset="-122"/>
                <a:cs typeface="Calibri" pitchFamily="34" charset="-120"/>
              </a:rPr>
              <a:t>Limitations: </a:t>
            </a:r>
            <a:r>
              <a:rPr lang="en-US" sz="1150" dirty="0">
                <a:solidFill>
                  <a:srgbClr val="2C2C2C"/>
                </a:solidFill>
                <a:latin typeface="Calibri" pitchFamily="34" charset="0"/>
                <a:ea typeface="Calibri" pitchFamily="34" charset="-122"/>
                <a:cs typeface="Calibri" pitchFamily="34" charset="-120"/>
              </a:rPr>
              <a:t>CAPM beta varies significantly by source (0.02 to 0.54 reported across providers). The 0.36 figure is from TradingView (1-year beta). Market risk premium is an estimated historical average. The WACC is illustrative and should be interpreted as an approximate benchmark, not a precise figure.</a:t>
            </a:r>
            <a:endParaRPr lang="en-US" sz="1150" dirty="0"/>
          </a:p>
        </p:txBody>
      </p:sp>
      <p:sp>
        <p:nvSpPr>
          <p:cNvPr id="18" name="Text 15"/>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Sources: Woolworths Group Annual Report 2025; TradingView (2025); S&amp;P Global Ratings (2023); Reserve Bank of Australia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Scenario and Sensitivity Analysis</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4415" cy="914400"/>
        </p:xfrm>
        <a:graphic>
          <a:graphicData uri="http://schemas.openxmlformats.org/drawingml/2006/table">
            <a:tbl>
              <a:tblPr/>
              <a:tblGrid>
                <a:gridCol w="3474720"/>
                <a:gridCol w="2514600"/>
                <a:gridCol w="2560320"/>
                <a:gridCol w="2544775"/>
              </a:tblGrid>
              <a:tr h="26060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Base Case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Higher Interest Rate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Downside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RBA cash rate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4.35%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4.85%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5.10%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Pre-tax cost of new debt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5.75%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6.25%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6.75%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After-tax cost of debt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4.03%</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4.38%</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4.73%</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EBIT (A$M)</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2,754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2,754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2,400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Investment cost (A$M)</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800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800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880 (+10%)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Internal/Debt split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60/40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70/30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75/25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Debt component (A$M)</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320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240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220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Additional interest (A$M)</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18.4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14.9</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60604">
                <a:tc>
                  <a:txBody>
                    <a:bodyPr/>
                    <a:lstStyle/>
                    <a:p>
                      <a:pPr algn="l" indent="0" marL="0">
                        <a:buNone/>
                      </a:pPr>
                      <a:r>
                        <a:rPr lang="en-US" sz="1150" b="1" dirty="0">
                          <a:solidFill>
                            <a:srgbClr val="2C2C2C"/>
                          </a:solidFill>
                          <a:latin typeface="Calibri" pitchFamily="34" charset="0"/>
                          <a:ea typeface="Calibri" pitchFamily="34" charset="-122"/>
                          <a:cs typeface="Calibri" pitchFamily="34" charset="-120"/>
                        </a:rPr>
                        <a:t>Revised interest cover</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3.22x</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2C2C2C"/>
                          </a:solidFill>
                          <a:latin typeface="Calibri" pitchFamily="34" charset="0"/>
                          <a:ea typeface="Calibri" pitchFamily="34" charset="-122"/>
                          <a:cs typeface="Calibri" pitchFamily="34" charset="-120"/>
                        </a:rPr>
                        <a:t>3.26x</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2C2C2C"/>
                          </a:solidFill>
                          <a:latin typeface="Calibri" pitchFamily="34" charset="0"/>
                          <a:ea typeface="Calibri" pitchFamily="34" charset="-122"/>
                          <a:cs typeface="Calibri" pitchFamily="34" charset="-120"/>
                        </a:rPr>
                        <a:t>2.77x</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r>
              <a:tr h="260604">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Revised D/E (excl. leases)</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1.20x</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1.18x</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1.17x</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bl>
          </a:graphicData>
        </a:graphic>
      </p:graphicFrame>
      <p:sp>
        <p:nvSpPr>
          <p:cNvPr id="7" name="Text 3"/>
          <p:cNvSpPr txBox="1"/>
          <p:nvPr/>
        </p:nvSpPr>
        <p:spPr>
          <a:xfrm>
            <a:off x="548640" y="4146804"/>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Key Sensitivities</a:t>
            </a:r>
            <a:endParaRPr lang="en-US" sz="1500" dirty="0"/>
          </a:p>
        </p:txBody>
      </p:sp>
      <p:sp>
        <p:nvSpPr>
          <p:cNvPr id="8" name="Text 4"/>
          <p:cNvSpPr txBox="1"/>
          <p:nvPr/>
        </p:nvSpPr>
        <p:spPr>
          <a:xfrm>
            <a:off x="548640" y="4512564"/>
            <a:ext cx="5364328" cy="1778508"/>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150" b="1" dirty="0">
                <a:solidFill>
                  <a:srgbClr val="2C2C2C"/>
                </a:solidFill>
                <a:latin typeface="Calibri" pitchFamily="34" charset="0"/>
                <a:ea typeface="Calibri" pitchFamily="34" charset="-122"/>
                <a:cs typeface="Calibri" pitchFamily="34" charset="-120"/>
              </a:rPr>
              <a:t>Interest rate sensitivity: </a:t>
            </a:r>
            <a:r>
              <a:rPr lang="en-US" sz="1150" dirty="0">
                <a:solidFill>
                  <a:srgbClr val="2C2C2C"/>
                </a:solidFill>
                <a:latin typeface="Calibri" pitchFamily="34" charset="0"/>
                <a:ea typeface="Calibri" pitchFamily="34" charset="-122"/>
                <a:cs typeface="Calibri" pitchFamily="34" charset="-120"/>
              </a:rPr>
              <a:t>Each 50bp increase in the cost of debt adds approximately A$1.6M in annual interest per A$320M borrowed. The recommendation shifts toward a higher internal proportion as rates rise.</a:t>
            </a:r>
            <a:endParaRPr lang="en-US" sz="1150" dirty="0"/>
          </a:p>
          <a:p>
            <a:pPr marL="165100" indent="-165100">
              <a:lnSpc>
                <a:spcPct val="100000"/>
              </a:lnSpc>
              <a:buSzPct val="100000"/>
              <a:buChar char="•"/>
            </a:pPr>
            <a:r>
              <a:rPr lang="en-US" sz="1150" b="1" dirty="0">
                <a:solidFill>
                  <a:srgbClr val="2C2C2C"/>
                </a:solidFill>
                <a:latin typeface="Calibri" pitchFamily="34" charset="0"/>
                <a:ea typeface="Calibri" pitchFamily="34" charset="-122"/>
                <a:cs typeface="Calibri" pitchFamily="34" charset="-120"/>
              </a:rPr>
              <a:t>EBIT sensitivity: </a:t>
            </a:r>
            <a:r>
              <a:rPr lang="en-US" sz="1150" dirty="0">
                <a:solidFill>
                  <a:srgbClr val="2C2C2C"/>
                </a:solidFill>
                <a:latin typeface="Calibri" pitchFamily="34" charset="0"/>
                <a:ea typeface="Calibri" pitchFamily="34" charset="-122"/>
                <a:cs typeface="Calibri" pitchFamily="34" charset="-120"/>
              </a:rPr>
              <a:t>If EBIT falls to A$2,400M (a further 12.8% decline), interest coverage under the base-case 60/40 split drops to approximately 2.77x — below the 3.0x threshold. In this scenario, the financing mix should shift to 75/25 or fully internal.</a:t>
            </a:r>
            <a:endParaRPr lang="en-US" sz="1150" dirty="0"/>
          </a:p>
        </p:txBody>
      </p:sp>
      <p:sp>
        <p:nvSpPr>
          <p:cNvPr id="9" name="Text 5"/>
          <p:cNvSpPr txBox="1"/>
          <p:nvPr/>
        </p:nvSpPr>
        <p:spPr>
          <a:xfrm>
            <a:off x="6278728" y="4512564"/>
            <a:ext cx="5364328" cy="1778508"/>
          </a:xfrm>
          <a:prstGeom prst="rect">
            <a:avLst/>
          </a:prstGeom>
          <a:noFill/>
          <a:ln/>
        </p:spPr>
        <p:txBody>
          <a:bodyPr wrap="square" lIns="0" tIns="0" rIns="0" bIns="0" rtlCol="0" anchor="t"/>
          <a:lstStyle/>
          <a:p>
            <a:pPr marL="165100" indent="-165100">
              <a:lnSpc>
                <a:spcPct val="100000"/>
              </a:lnSpc>
              <a:spcAft>
                <a:spcPts val="600"/>
              </a:spcAft>
              <a:buSzPct val="100000"/>
              <a:buChar char="•"/>
            </a:pPr>
            <a:r>
              <a:rPr lang="en-US" sz="1150" b="1" dirty="0">
                <a:solidFill>
                  <a:srgbClr val="2C2C2C"/>
                </a:solidFill>
                <a:latin typeface="Calibri" pitchFamily="34" charset="0"/>
                <a:ea typeface="Calibri" pitchFamily="34" charset="-122"/>
                <a:cs typeface="Calibri" pitchFamily="34" charset="-120"/>
              </a:rPr>
              <a:t>Cost overrun sensitivity: </a:t>
            </a:r>
            <a:r>
              <a:rPr lang="en-US" sz="1150" dirty="0">
                <a:solidFill>
                  <a:srgbClr val="2C2C2C"/>
                </a:solidFill>
                <a:latin typeface="Calibri" pitchFamily="34" charset="0"/>
                <a:ea typeface="Calibri" pitchFamily="34" charset="-122"/>
                <a:cs typeface="Calibri" pitchFamily="34" charset="-120"/>
              </a:rPr>
              <a:t>A 10% cost overrun (to A$880M) adds A$80M to the funding requirement. This is manageable if absorbed by internal cash but would increase the debt burden if fully debt-financed.</a:t>
            </a:r>
            <a:endParaRPr lang="en-US" sz="1150" dirty="0"/>
          </a:p>
          <a:p>
            <a:pPr marL="165100" indent="-165100">
              <a:lnSpc>
                <a:spcPct val="100000"/>
              </a:lnSpc>
              <a:buSzPct val="100000"/>
              <a:buChar char="•"/>
            </a:pPr>
            <a:r>
              <a:rPr lang="en-US" sz="1150" b="1" dirty="0">
                <a:solidFill>
                  <a:srgbClr val="C13B2A"/>
                </a:solidFill>
                <a:latin typeface="Calibri" pitchFamily="34" charset="0"/>
                <a:ea typeface="Calibri" pitchFamily="34" charset="-122"/>
                <a:cs typeface="Calibri" pitchFamily="34" charset="-120"/>
              </a:rPr>
              <a:t>Most critical assumption: </a:t>
            </a:r>
            <a:r>
              <a:rPr lang="en-US" sz="1150" dirty="0">
                <a:solidFill>
                  <a:srgbClr val="2C2C2C"/>
                </a:solidFill>
                <a:latin typeface="Calibri" pitchFamily="34" charset="0"/>
                <a:ea typeface="Calibri" pitchFamily="34" charset="-122"/>
                <a:cs typeface="Calibri" pitchFamily="34" charset="-120"/>
              </a:rPr>
              <a:t>EBIT stability. If margins continue to compress, both internal cash generation and debt-servicing capacity weaken simultaneously, creating a compounding risk.</a:t>
            </a:r>
            <a:endParaRPr lang="en-US" sz="1150" dirty="0"/>
          </a:p>
        </p:txBody>
      </p:sp>
      <p:sp>
        <p:nvSpPr>
          <p:cNvPr id="10" name="Text 6"/>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All scenarios are illustrative. Assumptions are clearly labelled. Not based on Woolworths Group forecasts.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Comparative Financing Decision Matrix</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914400"/>
        </p:xfrm>
        <a:graphic>
          <a:graphicData uri="http://schemas.openxmlformats.org/drawingml/2006/table">
            <a:tbl>
              <a:tblPr/>
              <a:tblGrid>
                <a:gridCol w="2240280"/>
                <a:gridCol w="868680"/>
                <a:gridCol w="1783080"/>
                <a:gridCol w="777240"/>
                <a:gridCol w="1874520"/>
                <a:gridCol w="777240"/>
                <a:gridCol w="1965960"/>
                <a:gridCol w="807415"/>
              </a:tblGrid>
              <a:tr h="2926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Criterion</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Weight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Internal</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Score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Debt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Score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Combined</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Score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1B3A2D"/>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Cost of financing</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Lowest (no interest)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Highest (5.75%)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Liquidity impact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High — drains cash</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Low — preserves cash</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Gearing impact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No change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Significant increase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Modest increase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Repayment obligations</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Fixed, long-term</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Lower obligations</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Financial flexibility</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Reduced</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Maintained</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Partially maintained</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Tax efficiency</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No tax shield</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Tax deductible interest</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Partial tax shield</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4F6F5"/>
                    </a:solidFill>
                  </a:tcPr>
                </a:tc>
              </a:tr>
              <a:tr h="292608">
                <a:tc>
                  <a:txBody>
                    <a:bodyPr/>
                    <a:lstStyle/>
                    <a:p>
                      <a:pPr algn="l" indent="0" marL="0">
                        <a:buNone/>
                      </a:pPr>
                      <a:r>
                        <a:rPr lang="en-US" sz="1150" dirty="0">
                          <a:solidFill>
                            <a:srgbClr val="2C2C2C"/>
                          </a:solidFill>
                          <a:latin typeface="Calibri" pitchFamily="34" charset="0"/>
                          <a:ea typeface="Calibri" pitchFamily="34" charset="-122"/>
                          <a:cs typeface="Calibri" pitchFamily="34" charset="-120"/>
                        </a:rPr>
                        <a:t>Economic risk exposure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High (rate sensitivity)</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2C2C"/>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FFFFFF"/>
                    </a:solidFill>
                  </a:tcPr>
                </a:tc>
              </a:tr>
              <a:tr h="292608">
                <a:tc>
                  <a:txBody>
                    <a:bodyPr/>
                    <a:lstStyle/>
                    <a:p>
                      <a:pPr algn="l" indent="0" marL="0">
                        <a:buNone/>
                      </a:pPr>
                      <a:r>
                        <a:rPr lang="en-US" sz="1150" b="1" dirty="0">
                          <a:solidFill>
                            <a:srgbClr val="2C2C2C"/>
                          </a:solidFill>
                          <a:latin typeface="Calibri" pitchFamily="34" charset="0"/>
                          <a:ea typeface="Calibri" pitchFamily="34" charset="-122"/>
                          <a:cs typeface="Calibri" pitchFamily="34" charset="-120"/>
                        </a:rPr>
                        <a:t>Weighted Score</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2C2C2C"/>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2C2C2C"/>
                          </a:solidFill>
                          <a:latin typeface="Calibri" pitchFamily="34" charset="0"/>
                          <a:ea typeface="Calibri" pitchFamily="34" charset="-122"/>
                          <a:cs typeface="Calibri" pitchFamily="34" charset="-120"/>
                        </a:rPr>
                        <a:t>3.45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2C2C2C"/>
                          </a:solidFill>
                          <a:latin typeface="Calibri" pitchFamily="34" charset="0"/>
                          <a:ea typeface="Calibri" pitchFamily="34" charset="-122"/>
                          <a:cs typeface="Calibri" pitchFamily="34" charset="-120"/>
                        </a:rPr>
                        <a:t>2.95</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c>
                  <a:txBody>
                    <a:bodyPr/>
                    <a:lstStyle/>
                    <a:p>
                      <a:pPr algn="ctr" indent="0" marL="0">
                        <a:buNone/>
                      </a:pPr>
                      <a:r>
                        <a:rPr lang="en-US" sz="1150" b="1" dirty="0">
                          <a:solidFill>
                            <a:srgbClr val="125B3F"/>
                          </a:solidFill>
                          <a:latin typeface="Calibri" pitchFamily="34" charset="0"/>
                          <a:ea typeface="Calibri" pitchFamily="34" charset="-122"/>
                          <a:cs typeface="Calibri" pitchFamily="34" charset="-120"/>
                        </a:rPr>
                        <a:t>4.00</a:t>
                      </a:r>
                      <a:endParaRPr lang="en-US" sz="1150" dirty="0">
                        <a:latin typeface="Calibri" charset="0"/>
                        <a:ea typeface="Calibri" charset="0"/>
                        <a:cs typeface="Calibri" charset="0"/>
                      </a:endParaRPr>
                    </a:p>
                  </a:txBody>
                  <a:tcPr marL="73152" marR="73152" marT="27432" marB="27432"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E6EFE9"/>
                    </a:solidFill>
                  </a:tcPr>
                </a:tc>
              </a:tr>
            </a:tbl>
          </a:graphicData>
        </a:graphic>
      </p:graphicFrame>
      <p:sp>
        <p:nvSpPr>
          <p:cNvPr id="7" name="Text 3"/>
          <p:cNvSpPr txBox="1"/>
          <p:nvPr/>
        </p:nvSpPr>
        <p:spPr>
          <a:xfrm>
            <a:off x="548640" y="3895344"/>
            <a:ext cx="11094415" cy="329184"/>
          </a:xfrm>
          <a:prstGeom prst="rect">
            <a:avLst/>
          </a:prstGeom>
          <a:noFill/>
          <a:ln/>
        </p:spPr>
        <p:txBody>
          <a:bodyPr wrap="square" lIns="0" tIns="0" rIns="0" bIns="0" rtlCol="0" anchor="ctr"/>
          <a:lstStyle/>
          <a:p>
            <a:pPr indent="0" marL="0">
              <a:buNone/>
            </a:pPr>
            <a:r>
              <a:rPr lang="en-US" sz="1500" b="1" dirty="0">
                <a:solidFill>
                  <a:srgbClr val="125B3F"/>
                </a:solidFill>
                <a:latin typeface="Calibri" pitchFamily="34" charset="0"/>
                <a:ea typeface="Calibri" pitchFamily="34" charset="-122"/>
                <a:cs typeface="Calibri" pitchFamily="34" charset="-120"/>
              </a:rPr>
              <a:t>Interpretation</a:t>
            </a:r>
            <a:endParaRPr lang="en-US" sz="1500" dirty="0"/>
          </a:p>
        </p:txBody>
      </p:sp>
      <p:sp>
        <p:nvSpPr>
          <p:cNvPr id="8" name="Text 4"/>
          <p:cNvSpPr txBox="1"/>
          <p:nvPr/>
        </p:nvSpPr>
        <p:spPr>
          <a:xfrm>
            <a:off x="548640" y="4261104"/>
            <a:ext cx="11094415" cy="1371600"/>
          </a:xfrm>
          <a:prstGeom prst="rect">
            <a:avLst/>
          </a:prstGeom>
          <a:noFill/>
          <a:ln/>
        </p:spPr>
        <p:txBody>
          <a:bodyPr wrap="square" lIns="0" tIns="0" rIns="0" bIns="0" rtlCol="0" anchor="t"/>
          <a:lstStyle/>
          <a:p>
            <a:pPr indent="0" marL="0">
              <a:lnSpc>
                <a:spcPct val="100000"/>
              </a:lnSpc>
              <a:spcAft>
                <a:spcPts val="600"/>
              </a:spcAft>
              <a:buNone/>
            </a:pPr>
            <a:r>
              <a:rPr lang="en-US" sz="1200" dirty="0">
                <a:solidFill>
                  <a:srgbClr val="2C2C2C"/>
                </a:solidFill>
                <a:latin typeface="Calibri" pitchFamily="34" charset="0"/>
                <a:ea typeface="Calibri" pitchFamily="34" charset="-122"/>
                <a:cs typeface="Calibri" pitchFamily="34" charset="-120"/>
              </a:rPr>
              <a:t>The weighted decision matrix scores each financing option against seven criteria drawn from the financial analysis. Scores range from 1 (least favourable) to 5 (most favourable). Weights reflect the relative importance of each criterion to the specific financing decision.</a:t>
            </a:r>
            <a:endParaRPr lang="en-US" sz="1200" dirty="0"/>
          </a:p>
          <a:p>
            <a:pPr indent="0" marL="0">
              <a:lnSpc>
                <a:spcPct val="100000"/>
              </a:lnSpc>
              <a:buNone/>
            </a:pPr>
            <a:r>
              <a:rPr lang="en-US" sz="1200" dirty="0">
                <a:solidFill>
                  <a:srgbClr val="2C2C2C"/>
                </a:solidFill>
                <a:latin typeface="Calibri" pitchFamily="34" charset="0"/>
                <a:ea typeface="Calibri" pitchFamily="34" charset="-122"/>
                <a:cs typeface="Calibri" pitchFamily="34" charset="-120"/>
              </a:rPr>
              <a:t>The combined financing option scores highest (4.00) because it balances competing priorities: it uses the lowest-cost source (internal funds) for the majority of the investment while capturing the tax shield and liquidity benefits of a moderate debt component. Internal financing alone (3.45) suffers from liquidity depletion and inflexibility, while full debt financing (2.95) carries excessive gearing and interest rate risk in the current environment.</a:t>
            </a:r>
            <a:endParaRPr lang="en-US" sz="1200" dirty="0"/>
          </a:p>
        </p:txBody>
      </p:sp>
      <p:sp>
        <p:nvSpPr>
          <p:cNvPr id="9" name="Text 5"/>
          <p:cNvSpPr txBox="1"/>
          <p:nvPr/>
        </p:nvSpPr>
        <p:spPr>
          <a:xfrm>
            <a:off x="548640" y="5870448"/>
            <a:ext cx="11094415" cy="411480"/>
          </a:xfrm>
          <a:prstGeom prst="rect">
            <a:avLst/>
          </a:prstGeom>
          <a:noFill/>
          <a:ln/>
        </p:spPr>
        <p:txBody>
          <a:bodyPr wrap="square" lIns="0" tIns="0" rIns="0" bIns="0" rtlCol="0" anchor="t"/>
          <a:lstStyle/>
          <a:p>
            <a:pPr indent="0" marL="0">
              <a:lnSpc>
                <a:spcPct val="100000"/>
              </a:lnSpc>
              <a:buNone/>
            </a:pPr>
            <a:r>
              <a:rPr lang="en-US" sz="1050" dirty="0">
                <a:solidFill>
                  <a:srgbClr val="666666"/>
                </a:solidFill>
                <a:latin typeface="Calibri" pitchFamily="34" charset="0"/>
                <a:ea typeface="Calibri" pitchFamily="34" charset="-122"/>
                <a:cs typeface="Calibri" pitchFamily="34" charset="-120"/>
              </a:rPr>
              <a:t>Note: Ownership dilution is not scored because equity financing is not considered a viable option — the brief focuses on internal financing and debt.</a:t>
            </a:r>
            <a:endParaRPr lang="en-US" sz="1050" dirty="0"/>
          </a:p>
        </p:txBody>
      </p:sp>
      <p:sp>
        <p:nvSpPr>
          <p:cNvPr id="10" name="Text 6"/>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Weighted score = sum of (criterion weight x score). Criteria and weights are analytical judgements for this assessment.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2D"/>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11887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Final Recommendation</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and Implementation Plan</a:t>
            </a:r>
            <a:endParaRPr lang="en-US" sz="3400" dirty="0"/>
          </a:p>
        </p:txBody>
      </p:sp>
      <p:sp>
        <p:nvSpPr>
          <p:cNvPr id="4" name="Shape 1"/>
          <p:cNvSpPr/>
          <p:nvPr/>
        </p:nvSpPr>
        <p:spPr>
          <a:xfrm>
            <a:off x="548640" y="1783080"/>
            <a:ext cx="1463040" cy="0"/>
          </a:xfrm>
          <a:prstGeom prst="line">
            <a:avLst/>
          </a:prstGeom>
          <a:noFill/>
          <a:ln w="25400">
            <a:solidFill>
              <a:srgbClr val="D4A843"/>
            </a:solidFill>
            <a:prstDash val="solid"/>
          </a:ln>
        </p:spPr>
      </p:sp>
      <p:sp>
        <p:nvSpPr>
          <p:cNvPr id="5" name="Shape 2"/>
          <p:cNvSpPr/>
          <p:nvPr/>
        </p:nvSpPr>
        <p:spPr>
          <a:xfrm>
            <a:off x="548640" y="2011680"/>
            <a:ext cx="11094415" cy="1417320"/>
          </a:xfrm>
          <a:prstGeom prst="roundRect">
            <a:avLst>
              <a:gd name="adj" fmla="val 5161"/>
            </a:avLst>
          </a:prstGeom>
          <a:solidFill>
            <a:srgbClr val="24503D"/>
          </a:solidFill>
          <a:ln/>
        </p:spPr>
      </p:sp>
      <p:sp>
        <p:nvSpPr>
          <p:cNvPr id="6" name="Text 3"/>
          <p:cNvSpPr txBox="1"/>
          <p:nvPr/>
        </p:nvSpPr>
        <p:spPr>
          <a:xfrm>
            <a:off x="822960" y="2011680"/>
            <a:ext cx="10545775" cy="1417320"/>
          </a:xfrm>
          <a:prstGeom prst="rect">
            <a:avLst/>
          </a:prstGeom>
          <a:noFill/>
          <a:ln/>
        </p:spPr>
        <p:txBody>
          <a:bodyPr wrap="square" lIns="0" tIns="0" rIns="0" bIns="0" rtlCol="0" anchor="ctr"/>
          <a:lstStyle/>
          <a:p>
            <a:pPr indent="0" marL="0">
              <a:spcAft>
                <a:spcPts val="600"/>
              </a:spcAft>
              <a:buNone/>
            </a:pPr>
            <a:r>
              <a:rPr lang="en-US" sz="1500" b="1" dirty="0">
                <a:solidFill>
                  <a:srgbClr val="D4A843"/>
                </a:solidFill>
                <a:latin typeface="Calibri" pitchFamily="34" charset="0"/>
                <a:ea typeface="Calibri" pitchFamily="34" charset="-122"/>
                <a:cs typeface="Calibri" pitchFamily="34" charset="-120"/>
              </a:rPr>
              <a:t>Recommendation to the CFO and Board of Directors:</a:t>
            </a:r>
            <a:endParaRPr lang="en-US" sz="1500" dirty="0"/>
          </a:p>
          <a:p>
            <a:pPr indent="0" marL="0">
              <a:buNone/>
            </a:pPr>
            <a:r>
              <a:rPr lang="en-US" sz="1700" dirty="0">
                <a:solidFill>
                  <a:srgbClr val="FFFFFF"/>
                </a:solidFill>
                <a:latin typeface="Calibri" pitchFamily="34" charset="0"/>
                <a:ea typeface="Calibri" pitchFamily="34" charset="-122"/>
                <a:cs typeface="Calibri" pitchFamily="34" charset="-120"/>
              </a:rPr>
              <a:t>Finance the A$800M distribution centre expansion through a combined approach of 60% internal financing (A$480M) and 40% debt financing (A$320M), phased over approximately 2–3 financial years.</a:t>
            </a:r>
            <a:endParaRPr lang="en-US" sz="1500" dirty="0"/>
          </a:p>
        </p:txBody>
      </p:sp>
      <p:sp>
        <p:nvSpPr>
          <p:cNvPr id="7" name="Text 4"/>
          <p:cNvSpPr txBox="1"/>
          <p:nvPr/>
        </p:nvSpPr>
        <p:spPr>
          <a:xfrm>
            <a:off x="548640" y="3657600"/>
            <a:ext cx="11094415" cy="329184"/>
          </a:xfrm>
          <a:prstGeom prst="rect">
            <a:avLst/>
          </a:prstGeom>
          <a:noFill/>
          <a:ln/>
        </p:spPr>
        <p:txBody>
          <a:bodyPr wrap="square" lIns="0" tIns="0" rIns="0" bIns="0" rtlCol="0" anchor="ctr"/>
          <a:lstStyle/>
          <a:p>
            <a:pPr indent="0" marL="0">
              <a:buNone/>
            </a:pPr>
            <a:r>
              <a:rPr lang="en-US" sz="1500" b="1" dirty="0">
                <a:solidFill>
                  <a:srgbClr val="D4A843"/>
                </a:solidFill>
                <a:latin typeface="Calibri" pitchFamily="34" charset="0"/>
                <a:ea typeface="Calibri" pitchFamily="34" charset="-122"/>
                <a:cs typeface="Calibri" pitchFamily="34" charset="-120"/>
              </a:rPr>
              <a:t>Rationale:</a:t>
            </a:r>
            <a:endParaRPr lang="en-US" sz="1500" dirty="0"/>
          </a:p>
        </p:txBody>
      </p:sp>
      <p:sp>
        <p:nvSpPr>
          <p:cNvPr id="8" name="Text 5"/>
          <p:cNvSpPr txBox="1"/>
          <p:nvPr/>
        </p:nvSpPr>
        <p:spPr>
          <a:xfrm>
            <a:off x="548640" y="4041648"/>
            <a:ext cx="11094415" cy="2011680"/>
          </a:xfrm>
          <a:prstGeom prst="rect">
            <a:avLst/>
          </a:prstGeom>
          <a:noFill/>
          <a:ln/>
        </p:spPr>
        <p:txBody>
          <a:bodyPr wrap="square" lIns="0" tIns="0" rIns="0" bIns="0" rtlCol="0" anchor="t"/>
          <a:lstStyle/>
          <a:p>
            <a:pPr marL="165100" indent="-165100">
              <a:lnSpc>
                <a:spcPct val="100000"/>
              </a:lnSpc>
              <a:spcAft>
                <a:spcPts val="800"/>
              </a:spcAft>
              <a:buSzPct val="100000"/>
              <a:buChar char="•"/>
            </a:pPr>
            <a:r>
              <a:rPr lang="en-US" sz="1400" dirty="0">
                <a:solidFill>
                  <a:srgbClr val="C0DCC8"/>
                </a:solidFill>
                <a:latin typeface="Calibri" pitchFamily="34" charset="0"/>
                <a:ea typeface="Calibri" pitchFamily="34" charset="-122"/>
                <a:cs typeface="Calibri" pitchFamily="34" charset="-120"/>
              </a:rPr>
              <a:t>The 60/40 split scores highest on the weighted decision matrix (4.00 vs 3.45 for internal and 2.95 for debt)</a:t>
            </a:r>
            <a:endParaRPr lang="en-US" sz="1400" dirty="0"/>
          </a:p>
          <a:p>
            <a:pPr marL="165100" indent="-165100">
              <a:lnSpc>
                <a:spcPct val="100000"/>
              </a:lnSpc>
              <a:spcAft>
                <a:spcPts val="800"/>
              </a:spcAft>
              <a:buSzPct val="100000"/>
              <a:buChar char="•"/>
            </a:pPr>
            <a:r>
              <a:rPr lang="en-US" sz="1400" dirty="0">
                <a:solidFill>
                  <a:srgbClr val="C0DCC8"/>
                </a:solidFill>
                <a:latin typeface="Calibri" pitchFamily="34" charset="0"/>
                <a:ea typeface="Calibri" pitchFamily="34" charset="-122"/>
                <a:cs typeface="Calibri" pitchFamily="34" charset="-120"/>
              </a:rPr>
              <a:t>Interest coverage remains above 3.0x (at 3.22x), preserving the BBB credit rating</a:t>
            </a:r>
            <a:endParaRPr lang="en-US" sz="1400" dirty="0"/>
          </a:p>
          <a:p>
            <a:pPr marL="165100" indent="-165100">
              <a:lnSpc>
                <a:spcPct val="100000"/>
              </a:lnSpc>
              <a:spcAft>
                <a:spcPts val="800"/>
              </a:spcAft>
              <a:buSzPct val="100000"/>
              <a:buChar char="•"/>
            </a:pPr>
            <a:r>
              <a:rPr lang="en-US" sz="1400" dirty="0">
                <a:solidFill>
                  <a:srgbClr val="C0DCC8"/>
                </a:solidFill>
                <a:latin typeface="Calibri" pitchFamily="34" charset="0"/>
                <a:ea typeface="Calibri" pitchFamily="34" charset="-122"/>
                <a:cs typeface="Calibri" pitchFamily="34" charset="-120"/>
              </a:rPr>
              <a:t>Consistent with pecking order theory (prioritising internal funds) and trade-off theory (capturing the tax shield)</a:t>
            </a:r>
            <a:endParaRPr lang="en-US" sz="1400" dirty="0"/>
          </a:p>
          <a:p>
            <a:pPr marL="165100" indent="-165100">
              <a:lnSpc>
                <a:spcPct val="100000"/>
              </a:lnSpc>
              <a:buSzPct val="100000"/>
              <a:buChar char="•"/>
            </a:pPr>
            <a:r>
              <a:rPr lang="en-US" sz="1400" dirty="0">
                <a:solidFill>
                  <a:srgbClr val="C0DCC8"/>
                </a:solidFill>
                <a:latin typeface="Calibri" pitchFamily="34" charset="0"/>
                <a:ea typeface="Calibri" pitchFamily="34" charset="-122"/>
                <a:cs typeface="Calibri" pitchFamily="34" charset="-120"/>
              </a:rPr>
              <a:t>Scenario analysis confirms the recommendation remains viable under higher interest rates, shifting to a higher internal proportion (70/30 or 75/25) in adverse conditions</a:t>
            </a:r>
            <a:endParaRPr lang="en-US" sz="1400" dirty="0"/>
          </a:p>
        </p:txBody>
      </p:sp>
      <p:sp>
        <p:nvSpPr>
          <p:cNvPr id="9" name="Text 6"/>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A0B8A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Critical Evaluation, Limitations and Conclusion</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19</a:t>
            </a:r>
            <a:endParaRPr lang="en-US" sz="1000" dirty="0"/>
          </a:p>
        </p:txBody>
      </p:sp>
      <p:sp>
        <p:nvSpPr>
          <p:cNvPr id="6" name="Shape 3"/>
          <p:cNvSpPr/>
          <p:nvPr/>
        </p:nvSpPr>
        <p:spPr>
          <a:xfrm>
            <a:off x="548640" y="1097280"/>
            <a:ext cx="5410048" cy="2103120"/>
          </a:xfrm>
          <a:prstGeom prst="roundRect">
            <a:avLst>
              <a:gd name="adj" fmla="val 3478"/>
            </a:avLst>
          </a:prstGeom>
          <a:solidFill>
            <a:srgbClr val="F4F6F5"/>
          </a:solidFill>
          <a:ln/>
        </p:spPr>
      </p:sp>
      <p:sp>
        <p:nvSpPr>
          <p:cNvPr id="7" name="Text 4"/>
          <p:cNvSpPr txBox="1"/>
          <p:nvPr/>
        </p:nvSpPr>
        <p:spPr>
          <a:xfrm>
            <a:off x="731520" y="1170432"/>
            <a:ext cx="5044288" cy="329184"/>
          </a:xfrm>
          <a:prstGeom prst="rect">
            <a:avLst/>
          </a:prstGeom>
          <a:noFill/>
          <a:ln/>
        </p:spPr>
        <p:txBody>
          <a:bodyPr wrap="square" lIns="0" tIns="0" rIns="0" bIns="0" rtlCol="0" anchor="ctr"/>
          <a:lstStyle/>
          <a:p>
            <a:pPr indent="0" marL="0">
              <a:buNone/>
            </a:pPr>
            <a:r>
              <a:rPr lang="en-US" sz="1350" b="1" dirty="0">
                <a:solidFill>
                  <a:srgbClr val="125B3F"/>
                </a:solidFill>
                <a:latin typeface="Calibri" pitchFamily="34" charset="0"/>
                <a:ea typeface="Calibri" pitchFamily="34" charset="-122"/>
                <a:cs typeface="Calibri" pitchFamily="34" charset="-120"/>
              </a:rPr>
              <a:t>Principal Findings</a:t>
            </a:r>
            <a:endParaRPr lang="en-US" sz="1350" dirty="0"/>
          </a:p>
        </p:txBody>
      </p:sp>
      <p:sp>
        <p:nvSpPr>
          <p:cNvPr id="8" name="Text 5"/>
          <p:cNvSpPr txBox="1"/>
          <p:nvPr/>
        </p:nvSpPr>
        <p:spPr>
          <a:xfrm>
            <a:off x="731520" y="1508760"/>
            <a:ext cx="5044288" cy="1645920"/>
          </a:xfrm>
          <a:prstGeom prst="rect">
            <a:avLst/>
          </a:prstGeom>
          <a:noFill/>
          <a:ln/>
        </p:spPr>
        <p:txBody>
          <a:bodyPr wrap="square" lIns="0" tIns="0" rIns="0" bIns="0" rtlCol="0" anchor="t"/>
          <a:lstStyle/>
          <a:p>
            <a:pPr marL="165100" indent="-165100">
              <a:lnSpc>
                <a:spcPct val="100000"/>
              </a:lnSpc>
              <a:spcAft>
                <a:spcPts val="300"/>
              </a:spcAft>
              <a:buSzPct val="100000"/>
              <a:buChar char="•"/>
            </a:pPr>
            <a:r>
              <a:rPr lang="en-US" sz="1100" dirty="0">
                <a:solidFill>
                  <a:srgbClr val="2C2C2C"/>
                </a:solidFill>
                <a:latin typeface="Calibri" pitchFamily="34" charset="0"/>
                <a:ea typeface="Calibri" pitchFamily="34" charset="-122"/>
                <a:cs typeface="Calibri" pitchFamily="34" charset="-120"/>
              </a:rPr>
              <a:t>Woolworths generates strong operating cash flow (A$4.55B) but faces declining EBIT margins (from 4.7% to 4.0% in one year)</a:t>
            </a:r>
            <a:endParaRPr lang="en-US" sz="1100" dirty="0"/>
          </a:p>
          <a:p>
            <a:pPr marL="165100" indent="-165100">
              <a:lnSpc>
                <a:spcPct val="100000"/>
              </a:lnSpc>
              <a:spcAft>
                <a:spcPts val="300"/>
              </a:spcAft>
              <a:buSzPct val="100000"/>
              <a:buChar char="•"/>
            </a:pPr>
            <a:r>
              <a:rPr lang="en-US" sz="1100" dirty="0">
                <a:solidFill>
                  <a:srgbClr val="2C2C2C"/>
                </a:solidFill>
                <a:latin typeface="Calibri" pitchFamily="34" charset="0"/>
                <a:ea typeface="Calibri" pitchFamily="34" charset="-122"/>
                <a:cs typeface="Calibri" pitchFamily="34" charset="-120"/>
              </a:rPr>
              <a:t>The Group's BBB credit rating and established MTN programme provide proven access to debt markets</a:t>
            </a:r>
            <a:endParaRPr lang="en-US" sz="1100" dirty="0"/>
          </a:p>
          <a:p>
            <a:pPr marL="165100" indent="-165100">
              <a:lnSpc>
                <a:spcPct val="100000"/>
              </a:lnSpc>
              <a:spcAft>
                <a:spcPts val="300"/>
              </a:spcAft>
              <a:buSzPct val="100000"/>
              <a:buChar char="•"/>
            </a:pPr>
            <a:r>
              <a:rPr lang="en-US" sz="1100" dirty="0">
                <a:solidFill>
                  <a:srgbClr val="2C2C2C"/>
                </a:solidFill>
                <a:latin typeface="Calibri" pitchFamily="34" charset="0"/>
                <a:ea typeface="Calibri" pitchFamily="34" charset="-122"/>
                <a:cs typeface="Calibri" pitchFamily="34" charset="-120"/>
              </a:rPr>
              <a:t>The elevated RBA cash rate (4.35%) increases the cost of new debt, favouring internal financing where feasible</a:t>
            </a:r>
            <a:endParaRPr lang="en-US" sz="1100" dirty="0"/>
          </a:p>
          <a:p>
            <a:pPr marL="165100" indent="-165100">
              <a:lnSpc>
                <a:spcPct val="100000"/>
              </a:lnSpc>
              <a:buSzPct val="100000"/>
              <a:buChar char="•"/>
            </a:pPr>
            <a:r>
              <a:rPr lang="en-US" sz="1100" dirty="0">
                <a:solidFill>
                  <a:srgbClr val="2C2C2C"/>
                </a:solidFill>
                <a:latin typeface="Calibri" pitchFamily="34" charset="0"/>
                <a:ea typeface="Calibri" pitchFamily="34" charset="-122"/>
                <a:cs typeface="Calibri" pitchFamily="34" charset="-120"/>
              </a:rPr>
              <a:t>A 60/40 internal/debt split balances cost, risk and flexibility, maintaining interest coverage above 3.0x</a:t>
            </a:r>
            <a:endParaRPr lang="en-US" sz="1100" dirty="0"/>
          </a:p>
        </p:txBody>
      </p:sp>
      <p:sp>
        <p:nvSpPr>
          <p:cNvPr id="9" name="Shape 6"/>
          <p:cNvSpPr/>
          <p:nvPr/>
        </p:nvSpPr>
        <p:spPr>
          <a:xfrm>
            <a:off x="548640" y="3337560"/>
            <a:ext cx="5410048" cy="1783080"/>
          </a:xfrm>
          <a:prstGeom prst="roundRect">
            <a:avLst>
              <a:gd name="adj" fmla="val 4103"/>
            </a:avLst>
          </a:prstGeom>
          <a:solidFill>
            <a:srgbClr val="F4F6F5"/>
          </a:solidFill>
          <a:ln/>
        </p:spPr>
      </p:sp>
      <p:sp>
        <p:nvSpPr>
          <p:cNvPr id="10" name="Text 7"/>
          <p:cNvSpPr txBox="1"/>
          <p:nvPr/>
        </p:nvSpPr>
        <p:spPr>
          <a:xfrm>
            <a:off x="731520" y="3410712"/>
            <a:ext cx="5044288" cy="329184"/>
          </a:xfrm>
          <a:prstGeom prst="rect">
            <a:avLst/>
          </a:prstGeom>
          <a:noFill/>
          <a:ln/>
        </p:spPr>
        <p:txBody>
          <a:bodyPr wrap="square" lIns="0" tIns="0" rIns="0" bIns="0" rtlCol="0" anchor="ctr"/>
          <a:lstStyle/>
          <a:p>
            <a:pPr indent="0" marL="0">
              <a:buNone/>
            </a:pPr>
            <a:r>
              <a:rPr lang="en-US" sz="1350" b="1" dirty="0">
                <a:solidFill>
                  <a:srgbClr val="2C2C2C"/>
                </a:solidFill>
                <a:latin typeface="Calibri" pitchFamily="34" charset="0"/>
                <a:ea typeface="Calibri" pitchFamily="34" charset="-122"/>
                <a:cs typeface="Calibri" pitchFamily="34" charset="-120"/>
              </a:rPr>
              <a:t>Limitations</a:t>
            </a:r>
            <a:endParaRPr lang="en-US" sz="1350" dirty="0"/>
          </a:p>
        </p:txBody>
      </p:sp>
      <p:sp>
        <p:nvSpPr>
          <p:cNvPr id="11" name="Text 8"/>
          <p:cNvSpPr txBox="1"/>
          <p:nvPr/>
        </p:nvSpPr>
        <p:spPr>
          <a:xfrm>
            <a:off x="731520" y="3749040"/>
            <a:ext cx="5044288" cy="1325880"/>
          </a:xfrm>
          <a:prstGeom prst="rect">
            <a:avLst/>
          </a:prstGeom>
          <a:noFill/>
          <a:ln/>
        </p:spPr>
        <p:txBody>
          <a:bodyPr wrap="square" lIns="0" tIns="0" rIns="0" bIns="0" rtlCol="0" anchor="t"/>
          <a:lstStyle/>
          <a:p>
            <a:pPr marL="165100" indent="-165100">
              <a:lnSpc>
                <a:spcPct val="100000"/>
              </a:lnSpc>
              <a:spcAft>
                <a:spcPts val="300"/>
              </a:spcAft>
              <a:buSzPct val="100000"/>
              <a:buChar char="•"/>
            </a:pPr>
            <a:r>
              <a:rPr lang="en-US" sz="1100" dirty="0">
                <a:solidFill>
                  <a:srgbClr val="2C2C2C"/>
                </a:solidFill>
                <a:latin typeface="Calibri" pitchFamily="34" charset="0"/>
                <a:ea typeface="Calibri" pitchFamily="34" charset="-122"/>
                <a:cs typeface="Calibri" pitchFamily="34" charset="-120"/>
              </a:rPr>
              <a:t>The A$800M investment is a hypothetical scenario, not a publicly announced Woolworths project</a:t>
            </a:r>
            <a:endParaRPr lang="en-US" sz="1100" dirty="0"/>
          </a:p>
          <a:p>
            <a:pPr marL="165100" indent="-165100">
              <a:lnSpc>
                <a:spcPct val="100000"/>
              </a:lnSpc>
              <a:spcAft>
                <a:spcPts val="300"/>
              </a:spcAft>
              <a:buSzPct val="100000"/>
              <a:buChar char="•"/>
            </a:pPr>
            <a:r>
              <a:rPr lang="en-US" sz="1100" dirty="0">
                <a:solidFill>
                  <a:srgbClr val="2C2C2C"/>
                </a:solidFill>
                <a:latin typeface="Calibri" pitchFamily="34" charset="0"/>
                <a:ea typeface="Calibri" pitchFamily="34" charset="-122"/>
                <a:cs typeface="Calibri" pitchFamily="34" charset="-120"/>
              </a:rPr>
              <a:t>Debt pricing assumptions are estimates based on market conditions; actual terms may differ</a:t>
            </a:r>
            <a:endParaRPr lang="en-US" sz="1100" dirty="0"/>
          </a:p>
          <a:p>
            <a:pPr marL="165100" indent="-165100">
              <a:lnSpc>
                <a:spcPct val="100000"/>
              </a:lnSpc>
              <a:spcAft>
                <a:spcPts val="300"/>
              </a:spcAft>
              <a:buSzPct val="100000"/>
              <a:buChar char="•"/>
            </a:pPr>
            <a:r>
              <a:rPr lang="en-US" sz="1100" dirty="0">
                <a:solidFill>
                  <a:srgbClr val="2C2C2C"/>
                </a:solidFill>
                <a:latin typeface="Calibri" pitchFamily="34" charset="0"/>
                <a:ea typeface="Calibri" pitchFamily="34" charset="-122"/>
                <a:cs typeface="Calibri" pitchFamily="34" charset="-120"/>
              </a:rPr>
              <a:t>Beta estimates vary widely across providers, affecting CAPM and WACC calculations</a:t>
            </a:r>
            <a:endParaRPr lang="en-US" sz="1100" dirty="0"/>
          </a:p>
          <a:p>
            <a:pPr marL="165100" indent="-165100">
              <a:lnSpc>
                <a:spcPct val="100000"/>
              </a:lnSpc>
              <a:buSzPct val="100000"/>
              <a:buChar char="•"/>
            </a:pPr>
            <a:r>
              <a:rPr lang="en-US" sz="1100" dirty="0">
                <a:solidFill>
                  <a:srgbClr val="2C2C2C"/>
                </a:solidFill>
                <a:latin typeface="Calibri" pitchFamily="34" charset="0"/>
                <a:ea typeface="Calibri" pitchFamily="34" charset="-122"/>
                <a:cs typeface="Calibri" pitchFamily="34" charset="-120"/>
              </a:rPr>
              <a:t>The analysis relies on publicly available financial data; internal management data is not available</a:t>
            </a:r>
            <a:endParaRPr lang="en-US" sz="1100" dirty="0"/>
          </a:p>
        </p:txBody>
      </p:sp>
      <p:sp>
        <p:nvSpPr>
          <p:cNvPr id="12" name="Shape 9"/>
          <p:cNvSpPr/>
          <p:nvPr/>
        </p:nvSpPr>
        <p:spPr>
          <a:xfrm>
            <a:off x="6233008" y="1097280"/>
            <a:ext cx="5410048" cy="1249680"/>
          </a:xfrm>
          <a:prstGeom prst="roundRect">
            <a:avLst>
              <a:gd name="adj" fmla="val 5854"/>
            </a:avLst>
          </a:prstGeom>
          <a:solidFill>
            <a:srgbClr val="FDF0EE"/>
          </a:solidFill>
          <a:ln/>
        </p:spPr>
      </p:sp>
      <p:sp>
        <p:nvSpPr>
          <p:cNvPr id="13" name="Text 10"/>
          <p:cNvSpPr txBox="1"/>
          <p:nvPr/>
        </p:nvSpPr>
        <p:spPr>
          <a:xfrm>
            <a:off x="6415888" y="1170432"/>
            <a:ext cx="5044288" cy="329184"/>
          </a:xfrm>
          <a:prstGeom prst="rect">
            <a:avLst/>
          </a:prstGeom>
          <a:noFill/>
          <a:ln/>
        </p:spPr>
        <p:txBody>
          <a:bodyPr wrap="square" lIns="0" tIns="0" rIns="0" bIns="0" rtlCol="0" anchor="ctr"/>
          <a:lstStyle/>
          <a:p>
            <a:pPr indent="0" marL="0">
              <a:buNone/>
            </a:pPr>
            <a:r>
              <a:rPr lang="en-US" sz="1350" b="1" dirty="0">
                <a:solidFill>
                  <a:srgbClr val="C13B2A"/>
                </a:solidFill>
                <a:latin typeface="Calibri" pitchFamily="34" charset="0"/>
                <a:ea typeface="Calibri" pitchFamily="34" charset="-122"/>
                <a:cs typeface="Calibri" pitchFamily="34" charset="-120"/>
              </a:rPr>
              <a:t>Most Significant Risk</a:t>
            </a:r>
            <a:endParaRPr lang="en-US" sz="1350" dirty="0"/>
          </a:p>
        </p:txBody>
      </p:sp>
      <p:sp>
        <p:nvSpPr>
          <p:cNvPr id="14" name="Text 11"/>
          <p:cNvSpPr txBox="1"/>
          <p:nvPr/>
        </p:nvSpPr>
        <p:spPr>
          <a:xfrm>
            <a:off x="6415888" y="1508760"/>
            <a:ext cx="5044288" cy="792480"/>
          </a:xfrm>
          <a:prstGeom prst="rect">
            <a:avLst/>
          </a:prstGeom>
          <a:noFill/>
          <a:ln/>
        </p:spPr>
        <p:txBody>
          <a:bodyPr wrap="square" lIns="0" tIns="0" rIns="0" bIns="0" rtlCol="0" anchor="t"/>
          <a:lstStyle/>
          <a:p>
            <a:pPr marL="165100" indent="-165100">
              <a:lnSpc>
                <a:spcPct val="100000"/>
              </a:lnSpc>
              <a:buSzPct val="100000"/>
              <a:buChar char="•"/>
            </a:pPr>
            <a:r>
              <a:rPr lang="en-US" sz="1100" dirty="0">
                <a:solidFill>
                  <a:srgbClr val="2C2C2C"/>
                </a:solidFill>
                <a:latin typeface="Calibri" pitchFamily="34" charset="0"/>
                <a:ea typeface="Calibri" pitchFamily="34" charset="-122"/>
                <a:cs typeface="Calibri" pitchFamily="34" charset="-120"/>
              </a:rPr>
              <a:t>Continued EBIT margin compression. If EBIT falls below approximately A$2,570M (a further 6.7% decline), interest coverage would breach 3.0x under the recommended financing structure, potentially triggering a negative credit outlook.</a:t>
            </a:r>
            <a:endParaRPr lang="en-US" sz="1100" dirty="0"/>
          </a:p>
        </p:txBody>
      </p:sp>
      <p:sp>
        <p:nvSpPr>
          <p:cNvPr id="15" name="Shape 12"/>
          <p:cNvSpPr/>
          <p:nvPr/>
        </p:nvSpPr>
        <p:spPr>
          <a:xfrm>
            <a:off x="6233008" y="2484120"/>
            <a:ext cx="5410048" cy="1249680"/>
          </a:xfrm>
          <a:prstGeom prst="roundRect">
            <a:avLst>
              <a:gd name="adj" fmla="val 5854"/>
            </a:avLst>
          </a:prstGeom>
          <a:solidFill>
            <a:srgbClr val="FFF8E6"/>
          </a:solidFill>
          <a:ln/>
        </p:spPr>
      </p:sp>
      <p:sp>
        <p:nvSpPr>
          <p:cNvPr id="16" name="Text 13"/>
          <p:cNvSpPr txBox="1"/>
          <p:nvPr/>
        </p:nvSpPr>
        <p:spPr>
          <a:xfrm>
            <a:off x="6415888" y="2557272"/>
            <a:ext cx="5044288" cy="329184"/>
          </a:xfrm>
          <a:prstGeom prst="rect">
            <a:avLst/>
          </a:prstGeom>
          <a:noFill/>
          <a:ln/>
        </p:spPr>
        <p:txBody>
          <a:bodyPr wrap="square" lIns="0" tIns="0" rIns="0" bIns="0" rtlCol="0" anchor="ctr"/>
          <a:lstStyle/>
          <a:p>
            <a:pPr indent="0" marL="0">
              <a:buNone/>
            </a:pPr>
            <a:r>
              <a:rPr lang="en-US" sz="1350" b="1" dirty="0">
                <a:solidFill>
                  <a:srgbClr val="A07E22"/>
                </a:solidFill>
                <a:latin typeface="Calibri" pitchFamily="34" charset="0"/>
                <a:ea typeface="Calibri" pitchFamily="34" charset="-122"/>
                <a:cs typeface="Calibri" pitchFamily="34" charset="-120"/>
              </a:rPr>
              <a:t>Most Important Assumption</a:t>
            </a:r>
            <a:endParaRPr lang="en-US" sz="1350" dirty="0"/>
          </a:p>
        </p:txBody>
      </p:sp>
      <p:sp>
        <p:nvSpPr>
          <p:cNvPr id="17" name="Text 14"/>
          <p:cNvSpPr txBox="1"/>
          <p:nvPr/>
        </p:nvSpPr>
        <p:spPr>
          <a:xfrm>
            <a:off x="6415888" y="2895600"/>
            <a:ext cx="5044288" cy="792480"/>
          </a:xfrm>
          <a:prstGeom prst="rect">
            <a:avLst/>
          </a:prstGeom>
          <a:noFill/>
          <a:ln/>
        </p:spPr>
        <p:txBody>
          <a:bodyPr wrap="square" lIns="0" tIns="0" rIns="0" bIns="0" rtlCol="0" anchor="t"/>
          <a:lstStyle/>
          <a:p>
            <a:pPr marL="165100" indent="-165100">
              <a:lnSpc>
                <a:spcPct val="100000"/>
              </a:lnSpc>
              <a:buSzPct val="100000"/>
              <a:buChar char="•"/>
            </a:pPr>
            <a:r>
              <a:rPr lang="en-US" sz="1100" dirty="0">
                <a:solidFill>
                  <a:srgbClr val="2C2C2C"/>
                </a:solidFill>
                <a:latin typeface="Calibri" pitchFamily="34" charset="0"/>
                <a:ea typeface="Calibri" pitchFamily="34" charset="-122"/>
                <a:cs typeface="Calibri" pitchFamily="34" charset="-120"/>
              </a:rPr>
              <a:t>Operating cash flow remains at or above A$4.0B annually. If cash generation deteriorates significantly due to competitive pressure, cost inflation, or economic downturn, the internal financing component becomes undeliverable.</a:t>
            </a:r>
            <a:endParaRPr lang="en-US" sz="1100" dirty="0"/>
          </a:p>
        </p:txBody>
      </p:sp>
      <p:sp>
        <p:nvSpPr>
          <p:cNvPr id="18" name="Shape 15"/>
          <p:cNvSpPr/>
          <p:nvPr/>
        </p:nvSpPr>
        <p:spPr>
          <a:xfrm>
            <a:off x="6233008" y="3870960"/>
            <a:ext cx="5410048" cy="1249680"/>
          </a:xfrm>
          <a:prstGeom prst="roundRect">
            <a:avLst>
              <a:gd name="adj" fmla="val 5854"/>
            </a:avLst>
          </a:prstGeom>
          <a:solidFill>
            <a:srgbClr val="F4F6F5"/>
          </a:solidFill>
          <a:ln/>
        </p:spPr>
      </p:sp>
      <p:sp>
        <p:nvSpPr>
          <p:cNvPr id="19" name="Text 16"/>
          <p:cNvSpPr txBox="1"/>
          <p:nvPr/>
        </p:nvSpPr>
        <p:spPr>
          <a:xfrm>
            <a:off x="6415888" y="3944112"/>
            <a:ext cx="5044288" cy="329184"/>
          </a:xfrm>
          <a:prstGeom prst="rect">
            <a:avLst/>
          </a:prstGeom>
          <a:noFill/>
          <a:ln/>
        </p:spPr>
        <p:txBody>
          <a:bodyPr wrap="square" lIns="0" tIns="0" rIns="0" bIns="0" rtlCol="0" anchor="ctr"/>
          <a:lstStyle/>
          <a:p>
            <a:pPr indent="0" marL="0">
              <a:buNone/>
            </a:pPr>
            <a:r>
              <a:rPr lang="en-US" sz="1350" b="1" dirty="0">
                <a:solidFill>
                  <a:srgbClr val="2C2C2C"/>
                </a:solidFill>
                <a:latin typeface="Calibri" pitchFamily="34" charset="0"/>
                <a:ea typeface="Calibri" pitchFamily="34" charset="-122"/>
                <a:cs typeface="Calibri" pitchFamily="34" charset="-120"/>
              </a:rPr>
              <a:t>What Could Change the Recommendation</a:t>
            </a:r>
            <a:endParaRPr lang="en-US" sz="1350" dirty="0"/>
          </a:p>
        </p:txBody>
      </p:sp>
      <p:sp>
        <p:nvSpPr>
          <p:cNvPr id="20" name="Text 17"/>
          <p:cNvSpPr txBox="1"/>
          <p:nvPr/>
        </p:nvSpPr>
        <p:spPr>
          <a:xfrm>
            <a:off x="6415888" y="4282440"/>
            <a:ext cx="5044288" cy="792480"/>
          </a:xfrm>
          <a:prstGeom prst="rect">
            <a:avLst/>
          </a:prstGeom>
          <a:noFill/>
          <a:ln/>
        </p:spPr>
        <p:txBody>
          <a:bodyPr wrap="square" lIns="0" tIns="0" rIns="0" bIns="0" rtlCol="0" anchor="t"/>
          <a:lstStyle/>
          <a:p>
            <a:pPr marL="165100" indent="-165100">
              <a:lnSpc>
                <a:spcPct val="100000"/>
              </a:lnSpc>
              <a:buSzPct val="100000"/>
              <a:buChar char="•"/>
            </a:pPr>
            <a:r>
              <a:rPr lang="en-US" sz="1100" dirty="0">
                <a:solidFill>
                  <a:srgbClr val="2C2C2C"/>
                </a:solidFill>
                <a:latin typeface="Calibri" pitchFamily="34" charset="0"/>
                <a:ea typeface="Calibri" pitchFamily="34" charset="-122"/>
                <a:cs typeface="Calibri" pitchFamily="34" charset="-120"/>
              </a:rPr>
              <a:t>If interest rates decline significantly, the balance should shift toward more debt financing to capture a larger tax shield at lower cost. If EBIT declines materially, the project should be deferred or scaled back.</a:t>
            </a:r>
            <a:endParaRPr lang="en-US" sz="1100" dirty="0"/>
          </a:p>
        </p:txBody>
      </p:sp>
      <p:sp>
        <p:nvSpPr>
          <p:cNvPr id="21" name="Shape 18"/>
          <p:cNvSpPr/>
          <p:nvPr/>
        </p:nvSpPr>
        <p:spPr>
          <a:xfrm>
            <a:off x="548640" y="5285232"/>
            <a:ext cx="11094415" cy="978408"/>
          </a:xfrm>
          <a:prstGeom prst="roundRect">
            <a:avLst>
              <a:gd name="adj" fmla="val 7477"/>
            </a:avLst>
          </a:prstGeom>
          <a:solidFill>
            <a:srgbClr val="1B3A2D"/>
          </a:solidFill>
          <a:ln/>
        </p:spPr>
      </p:sp>
      <p:sp>
        <p:nvSpPr>
          <p:cNvPr id="22" name="Text 19"/>
          <p:cNvSpPr txBox="1"/>
          <p:nvPr/>
        </p:nvSpPr>
        <p:spPr>
          <a:xfrm>
            <a:off x="777240" y="5285232"/>
            <a:ext cx="10637215" cy="978408"/>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Conclusion: </a:t>
            </a:r>
            <a:r>
              <a:rPr lang="en-US" sz="1250" dirty="0">
                <a:solidFill>
                  <a:srgbClr val="FFFFFF"/>
                </a:solidFill>
                <a:latin typeface="Calibri" pitchFamily="34" charset="0"/>
                <a:ea typeface="Calibri" pitchFamily="34" charset="-122"/>
                <a:cs typeface="Calibri" pitchFamily="34" charset="-120"/>
              </a:rPr>
              <a:t>Woolworths Group should finance the proposed expansion through a combination of internal and debt financing, weighted toward internal sources. This approach best preserves financial flexibility and the investment-grade credit rating during a period of economic uncertainty, while enabling a strategically important supply-chain investment.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1695" cy="82296"/>
          </a:xfrm>
          <a:prstGeom prst="rect">
            <a:avLst/>
          </a:prstGeom>
          <a:solidFill>
            <a:srgbClr val="1B3A2D"/>
          </a:solidFill>
          <a:ln/>
        </p:spPr>
      </p:sp>
      <p:sp>
        <p:nvSpPr>
          <p:cNvPr id="4" name="Text 1"/>
          <p:cNvSpPr txBox="1"/>
          <p:nvPr/>
        </p:nvSpPr>
        <p:spPr>
          <a:xfrm>
            <a:off x="548640" y="274320"/>
            <a:ext cx="11094415" cy="640080"/>
          </a:xfrm>
          <a:prstGeom prst="rect">
            <a:avLst/>
          </a:prstGeom>
          <a:noFill/>
          <a:ln/>
        </p:spPr>
        <p:txBody>
          <a:bodyPr wrap="square" lIns="0" tIns="0" rIns="0" bIns="0" rtlCol="0" anchor="ctr"/>
          <a:lstStyle/>
          <a:p>
            <a:pPr indent="0" marL="0">
              <a:buNone/>
            </a:pPr>
            <a:r>
              <a:rPr lang="en-US" sz="3000" b="1" dirty="0">
                <a:solidFill>
                  <a:srgbClr val="1B3A2D"/>
                </a:solidFill>
                <a:latin typeface="Calibri" pitchFamily="34" charset="0"/>
                <a:ea typeface="Calibri" pitchFamily="34" charset="-122"/>
                <a:cs typeface="Calibri" pitchFamily="34" charset="-120"/>
              </a:rPr>
              <a:t>References</a:t>
            </a:r>
            <a:endParaRPr lang="en-US" sz="3000" dirty="0"/>
          </a:p>
        </p:txBody>
      </p:sp>
      <p:sp>
        <p:nvSpPr>
          <p:cNvPr id="5" name="Text 2"/>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20</a:t>
            </a:r>
            <a:endParaRPr lang="en-US" sz="1000" dirty="0"/>
          </a:p>
        </p:txBody>
      </p:sp>
      <p:sp>
        <p:nvSpPr>
          <p:cNvPr id="6" name="Text 3"/>
          <p:cNvSpPr txBox="1"/>
          <p:nvPr/>
        </p:nvSpPr>
        <p:spPr>
          <a:xfrm>
            <a:off x="548640" y="1143000"/>
            <a:ext cx="5364328" cy="5120640"/>
          </a:xfrm>
          <a:prstGeom prst="rect">
            <a:avLst/>
          </a:prstGeom>
          <a:noFill/>
          <a:ln/>
        </p:spPr>
        <p:txBody>
          <a:bodyPr wrap="square" lIns="0" tIns="0" rIns="0" bIns="0" rtlCol="0" anchor="t"/>
          <a:lstStyle/>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Australian Bureau of Statistics (2026) Consumer Price Index, Australia, June 2026. Canberra: ABS. Available at: https://www.abs.gov.au/statistics/economy/price-indexes-and-inflation/consumer-price-index-australia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Commonwealth Bank of Australia (2026) RBA May Interest Rates: CBA Economists’ Analysis. Sydney: CBA. Available at: https://www.commbank.com.au/articles/newsroom/2026/05/rba-may-interest-rates-cba-economists-analysis.html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Kraus, A. and Litzenberger, R.H. (1973) ‘A State-Preference Model of Optimal Financial Leverage’, The Journal of Finance, 28(4), pp. 911–922.</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Myers, S.C. and Majluf, N.S. (1984) ‘Corporate financing and investment decisions when firms have information that investors do not have’, Journal of Financial Economics, 13(2), pp. 187–221.</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Reserve Bank of Australia (2026) Statement on Monetary Policy, May 2026. Sydney: RBA. Available at: https://www.rba.gov.au/publications/smp/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Reserve Bank of Australia (2026) Media Release: Cash Rate Target, 16 June 2026. Sydney: RBA. Available at: https://www.rba.gov.au/media-releases/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S&amp;P Global Ratings (2023) Woolworths Group Ltd.’s Senior Unsecured Medium-Term Note Program Rated ‘BBB’, 5 October 2023. Available at: https://www.spglobal.com/ratings/ (Accessed: October 2026).</a:t>
            </a:r>
            <a:endParaRPr lang="en-US" sz="1000" dirty="0"/>
          </a:p>
        </p:txBody>
      </p:sp>
      <p:sp>
        <p:nvSpPr>
          <p:cNvPr id="7" name="Text 4"/>
          <p:cNvSpPr txBox="1"/>
          <p:nvPr/>
        </p:nvSpPr>
        <p:spPr>
          <a:xfrm>
            <a:off x="6278728" y="1143000"/>
            <a:ext cx="5364328" cy="5120640"/>
          </a:xfrm>
          <a:prstGeom prst="rect">
            <a:avLst/>
          </a:prstGeom>
          <a:noFill/>
          <a:ln/>
        </p:spPr>
        <p:txBody>
          <a:bodyPr wrap="square" lIns="0" tIns="0" rIns="0" bIns="0" rtlCol="0" anchor="t"/>
          <a:lstStyle/>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TradingView (2025) Woolworths Group Ltd (ASX: WOW) Financial Data. Available at: https://www.tradingview.com/symbols/ASX-WOW/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Woolworths Group Limited (2025) Annual Report 2025: Realising Our Potential. Bella Vista: Woolworths Group. Available at: https://www.woolworthsgroup.com.au/content/dam/wwg/sustainability/reports/f25/Woolworths%20Group%20Annual%20Report%202025.pdf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Woolworths Group Limited (2024) Annual Report 2024. Bella Vista: Woolworths Group. Available at: https://www.woolworthsgroup.com.au/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Woolworths Group Limited (2025) FY2025 Results Announcement, 27 August 2025. Bella Vista: Woolworths Group. Available at: https://www.woolworthsgroup.com.au/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Woolworths Group Limited (2025) Debt Investors. Bella Vista: Woolworths Group. Available at: https://www.woolworthsgroup.com.au/page/investors/Debt_Investors (Accessed: October 2026).</a:t>
            </a:r>
            <a:endParaRPr lang="en-US" sz="1000" dirty="0"/>
          </a:p>
          <a:p>
            <a:pPr indent="0" marL="0">
              <a:spcAft>
                <a:spcPts val="700"/>
              </a:spcAft>
              <a:buNone/>
            </a:pPr>
            <a:r>
              <a:rPr lang="en-US" sz="1000" dirty="0">
                <a:solidFill>
                  <a:srgbClr val="2C2C2C"/>
                </a:solidFill>
                <a:latin typeface="Calibri" pitchFamily="34" charset="0"/>
                <a:ea typeface="Calibri" pitchFamily="34" charset="-122"/>
                <a:cs typeface="Calibri" pitchFamily="34" charset="-120"/>
              </a:rPr>
              <a:t>Woolworths Group Limited (2025) ‘Woolworths Opens New Regional Distribution Centre’, Media Release, 13 November 2025. Available at: https://woolworthsgroup.com.au/au/en/our-newsroom/media-releases/latest-news/2025/woolworths-opens-new-regional-distribution-centre.html (Accessed: October 2026).</a:t>
            </a:r>
            <a:endParaRPr lang="en-US" sz="1000" dirty="0"/>
          </a:p>
        </p:txBody>
      </p:sp>
      <p:sp>
        <p:nvSpPr>
          <p:cNvPr id="8" name="Text 5"/>
          <p:cNvSpPr txBox="1"/>
          <p:nvPr/>
        </p:nvSpPr>
        <p:spPr>
          <a:xfrm>
            <a:off x="548640" y="6355080"/>
            <a:ext cx="10271455" cy="34747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Full reference list with additional sources provided in speaker notes below.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Debt and Internal Financing for Woolworths Group's Distribution and Supply Chain Expansion</dc:title>
  <dc:subject>PptxGenJS Presentation</dc:subject>
  <dc:creator>PptxGenJS</dc:creator>
  <cp:lastModifiedBy>PptxGenJS</cp:lastModifiedBy>
  <cp:revision>1</cp:revision>
  <dcterms:created xsi:type="dcterms:W3CDTF">2026-10-12T06:03:34Z</dcterms:created>
  <dcterms:modified xsi:type="dcterms:W3CDTF">2026-10-12T06:03:34Z</dcterms:modified>
</cp:coreProperties>
</file>