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mpany background" id="{34f3d17c-3653-f8fc-c208-bbf23d4a093b}">
          <p14:sldIdLst>
            <p14:sldId id="256"/>
            <p14:sldId id="257"/>
            <p14:sldId id="258"/>
            <p14:sldId id="259"/>
          </p14:sldIdLst>
        </p14:section>
        <p14:section name="Ratio analysis" id="{e606976d-cdd8-d0b5-e5c7-a761b79244ca}">
          <p14:sldIdLst>
            <p14:sldId id="260"/>
            <p14:sldId id="261"/>
            <p14:sldId id="262"/>
            <p14:sldId id="263"/>
            <p14:sldId id="264"/>
          </p14:sldIdLst>
        </p14:section>
        <p14:section name="Market ratios" id="{161b7ecf-b3a6-6228-c071-5274b7922fcc}">
          <p14:sldIdLst>
            <p14:sldId id="265"/>
            <p14:sldId id="266"/>
            <p14:sldId id="267"/>
          </p14:sldIdLst>
        </p14:section>
        <p14:section name="Stakeholders and strengths" id="{6cd560a1-2e8c-467b-c4ba-77c5dfaf3d26}">
          <p14:sldIdLst>
            <p14:sldId id="268"/>
            <p14:sldId id="269"/>
          </p14:sldIdLst>
        </p14:section>
        <p14:section name="Conclusion" id="{0a113591-29f8-85a2-1200-56e2840acf5a}">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B0F35"/>
                </a:solidFill>
                <a:latin typeface="+mn-lt"/>
              </a:defRPr>
            </a:pPr>
            <a:r>
              <a:rPr sz="1400" b="0" i="0" u="none" strike="noStrike">
                <a:solidFill>
                  <a:srgbClr val="3B0F35"/>
                </a:solidFill>
                <a:latin typeface="+mn-lt"/>
              </a:rPr>
              <a:t>FY2025 net revenue by area (£m)</a:t>
            </a:r>
          </a:p>
        </c:rich>
      </c:tx>
      <c:layout/>
      <c:overlay val="0"/>
    </c:title>
    <c:autoTitleDeleted val="0"/>
    <c:plotArea>
      <c:layout/>
      <c:doughnutChart>
        <c:varyColors val="1"/>
        <c:ser>
          <c:idx val="0"/>
          <c:order val="0"/>
          <c:tx>
            <c:strRef>
              <c:f>Sheet1!$B$1</c:f>
              <c:strCache>
                <c:ptCount val="1"/>
                <c:pt idx="0">
                  <c:v>FY2025 net revenue (£m)</c:v>
                </c:pt>
              </c:strCache>
            </c:strRef>
          </c:tx>
          <c:spPr>
            <a:solidFill>
              <a:schemeClr val="accent1"/>
            </a:solidFill>
            <a:ln w="9525" cap="flat">
              <a:solidFill>
                <a:srgbClr val="F9F9F9"/>
              </a:solidFill>
              <a:prstDash val="solid"/>
              <a:round/>
            </a:ln>
            <a:effectLst/>
          </c:spPr>
          <c:dPt>
            <c:idx val="0"/>
            <c:bubble3D val="0"/>
            <c:spPr>
              <a:solidFill>
                <a:srgbClr val="D6006E"/>
              </a:solidFill>
              <a:effectLst/>
            </c:spPr>
          </c:dPt>
          <c:dPt>
            <c:idx val="1"/>
            <c:bubble3D val="0"/>
            <c:spPr>
              <a:solidFill>
                <a:srgbClr val="3B0F35"/>
              </a:solidFill>
              <a:effectLst/>
            </c:spPr>
          </c:dPt>
          <c:dPt>
            <c:idx val="2"/>
            <c:bubble3D val="0"/>
            <c:spPr>
              <a:solidFill>
                <a:srgbClr val="8C7F96"/>
              </a:solidFill>
              <a:effectLst/>
            </c:spPr>
          </c:dPt>
          <c:dPt>
            <c:idx val="3"/>
            <c:bubble3D val="0"/>
            <c:spPr>
              <a:solidFill>
                <a:srgbClr val="CBC2D2"/>
              </a:solidFill>
              <a:effectLst/>
            </c:spPr>
          </c:dPt>
          <c:dPt>
            <c:idx val="4"/>
            <c:bubble3D val="0"/>
            <c:spPr>
              <a:solidFill>
                <a:srgbClr val="F2A7CB"/>
              </a:solidFill>
              <a:effectLst/>
            </c:spPr>
          </c:dPt>
          <c:dLbls>
            <c:dLbl>
              <c:idx val="0"/>
              <c:numFmt formatCode="0%" sourceLinked="0"/>
              <c:spPr/>
              <c:txPr>
                <a:bodyPr/>
                <a:lstStyle/>
                <a:p>
                  <a:pPr>
                    <a:defRPr sz="11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100" b="0"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1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Emerging Markets</c:v>
                </c:pt>
                <c:pt idx="1">
                  <c:v>Europe</c:v>
                </c:pt>
                <c:pt idx="2">
                  <c:v>North America</c:v>
                </c:pt>
                <c:pt idx="3">
                  <c:v>Mead Johnson</c:v>
                </c:pt>
                <c:pt idx="4">
                  <c:v>Essential Home (sold)</c:v>
                </c:pt>
              </c:strCache>
            </c:strRef>
          </c:cat>
          <c:val>
            <c:numRef>
              <c:f>Sheet1!$B$2:$B$6</c:f>
              <c:numCache>
                <c:ptCount val="5"/>
                <c:pt idx="0">
                  <c:v>4291</c:v>
                </c:pt>
                <c:pt idx="1">
                  <c:v>3384</c:v>
                </c:pt>
                <c:pt idx="2">
                  <c:v>2559</c:v>
                </c:pt>
                <c:pt idx="3">
                  <c:v>2119</c:v>
                </c:pt>
                <c:pt idx="4">
                  <c:v>1852</c:v>
                </c:pt>
              </c:numCache>
            </c:numRef>
          </c:val>
        </c:ser>
        <c:firstSliceAng val="0"/>
        <c:holeSize val="55"/>
      </c:doughnutChart>
      <c:spPr>
        <a:noFill/>
        <a:ln>
          <a:noFill/>
        </a:ln>
        <a:effectLst/>
      </c:spPr>
    </c:plotArea>
    <c:legend>
      <c:legendPos val="b"/>
      <c:overlay val="0"/>
      <c:txPr>
        <a:bodyPr/>
        <a:lstStyle/>
        <a:p>
          <a:pPr>
            <a:defRPr sz="1200">
              <a:solidFill>
                <a:srgbClr val="1F1A2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B0F35"/>
                </a:solidFill>
                <a:latin typeface="+mn-lt"/>
              </a:defRPr>
            </a:pPr>
            <a:r>
              <a:rPr sz="1400" b="0" i="0" u="none" strike="noStrike">
                <a:solidFill>
                  <a:srgbClr val="3B0F35"/>
                </a:solidFill>
                <a:latin typeface="+mn-lt"/>
              </a:rPr>
              <a:t>Liquidity ratios (times)</a:t>
            </a:r>
          </a:p>
        </c:rich>
      </c:tx>
      <c:layout/>
      <c:overlay val="0"/>
    </c:title>
    <c:autoTitleDeleted val="0"/>
    <c:plotArea>
      <c:layout/>
      <c:barChart>
        <c:barDir val="col"/>
        <c:grouping val="clustered"/>
        <c:varyColors val="0"/>
        <c:ser>
          <c:idx val="0"/>
          <c:order val="0"/>
          <c:tx>
            <c:strRef>
              <c:f>Sheet1!$B$1</c:f>
              <c:strCache>
                <c:ptCount val="1"/>
                <c:pt idx="0">
                  <c:v>FY2023</c:v>
                </c:pt>
              </c:strCache>
            </c:strRef>
          </c:tx>
          <c:spPr>
            <a:solidFill>
              <a:srgbClr val="CBC2D2"/>
            </a:solidFill>
            <a:effectLst/>
          </c:spPr>
          <c:invertIfNegative val="0"/>
          <c:dLbls>
            <c:numFmt formatCode="0.00" sourceLinked="0"/>
            <c:txPr>
              <a:bodyPr/>
              <a:lstStyle/>
              <a:p>
                <a:pPr>
                  <a:defRPr b="0" i="0" strike="noStrike" sz="1100" u="none">
                    <a:solidFill>
                      <a:srgbClr val="1F1A24"/>
                    </a:solidFill>
                    <a:latin typeface="+mn-lt"/>
                  </a:defRPr>
                </a:pPr>
              </a:p>
            </c:txPr>
            <c:showLegendKey val="0"/>
            <c:showVal val="1"/>
            <c:showCatName val="0"/>
            <c:showSerName val="0"/>
            <c:showPercent val="0"/>
            <c:showBubbleSize val="0"/>
            <c:showLeaderLines val="0"/>
          </c:dLbls>
          <c:cat>
            <c:multiLvlStrRef>
              <c:f>Sheet1!$A$2:$A$4</c:f>
              <c:multiLvlStrCache>
                <c:ptCount val="3"/>
                <c:lvl>
                  <c:pt idx="0">
                    <c:v>Current ratio</c:v>
                  </c:pt>
                  <c:pt idx="1">
                    <c:v>Quick ratio</c:v>
                  </c:pt>
                  <c:pt idx="2">
                    <c:v>Cash ratio</c:v>
                  </c:pt>
                </c:lvl>
              </c:multiLvlStrCache>
            </c:multiLvlStrRef>
          </c:cat>
          <c:val>
            <c:numRef>
              <c:f>Sheet1!$B$2:$B$4</c:f>
              <c:numCache>
                <c:formatCode>General</c:formatCode>
                <c:ptCount val="3"/>
                <c:pt idx="0">
                  <c:v>0.64</c:v>
                </c:pt>
                <c:pt idx="1">
                  <c:v>0.44</c:v>
                </c:pt>
                <c:pt idx="2">
                  <c:v>0.17</c:v>
                </c:pt>
              </c:numCache>
            </c:numRef>
          </c:val>
        </c:ser>
        <c:ser>
          <c:idx val="1"/>
          <c:order val="1"/>
          <c:tx>
            <c:strRef>
              <c:f>Sheet1!$C$1</c:f>
              <c:strCache>
                <c:ptCount val="1"/>
                <c:pt idx="0">
                  <c:v>FY2024</c:v>
                </c:pt>
              </c:strCache>
            </c:strRef>
          </c:tx>
          <c:spPr>
            <a:solidFill>
              <a:srgbClr val="8C7F96"/>
            </a:solidFill>
            <a:effectLst/>
          </c:spPr>
          <c:invertIfNegative val="0"/>
          <c:dLbls>
            <c:numFmt formatCode="0.00" sourceLinked="0"/>
            <c:txPr>
              <a:bodyPr/>
              <a:lstStyle/>
              <a:p>
                <a:pPr>
                  <a:defRPr b="0" i="0" strike="noStrike" sz="1100" u="none">
                    <a:solidFill>
                      <a:srgbClr val="1F1A24"/>
                    </a:solidFill>
                    <a:latin typeface="+mn-lt"/>
                  </a:defRPr>
                </a:pPr>
              </a:p>
            </c:txPr>
            <c:showLegendKey val="0"/>
            <c:showVal val="1"/>
            <c:showCatName val="0"/>
            <c:showSerName val="0"/>
            <c:showPercent val="0"/>
            <c:showBubbleSize val="0"/>
            <c:showLeaderLines val="0"/>
          </c:dLbls>
          <c:cat>
            <c:multiLvlStrRef>
              <c:f>Sheet1!$A$2:$A$4</c:f>
              <c:multiLvlStrCache>
                <c:ptCount val="3"/>
                <c:lvl>
                  <c:pt idx="0">
                    <c:v>Current ratio</c:v>
                  </c:pt>
                  <c:pt idx="1">
                    <c:v>Quick ratio</c:v>
                  </c:pt>
                  <c:pt idx="2">
                    <c:v>Cash ratio</c:v>
                  </c:pt>
                </c:lvl>
              </c:multiLvlStrCache>
            </c:multiLvlStrRef>
          </c:cat>
          <c:val>
            <c:numRef>
              <c:f>Sheet1!$C$2:$C$4</c:f>
              <c:numCache>
                <c:formatCode>General</c:formatCode>
                <c:ptCount val="3"/>
                <c:pt idx="0">
                  <c:v>0.58</c:v>
                </c:pt>
                <c:pt idx="1">
                  <c:v>0.39</c:v>
                </c:pt>
                <c:pt idx="2">
                  <c:v>0.11</c:v>
                </c:pt>
              </c:numCache>
            </c:numRef>
          </c:val>
        </c:ser>
        <c:ser>
          <c:idx val="2"/>
          <c:order val="2"/>
          <c:tx>
            <c:strRef>
              <c:f>Sheet1!$D$1</c:f>
              <c:strCache>
                <c:ptCount val="1"/>
                <c:pt idx="0">
                  <c:v>FY2025</c:v>
                </c:pt>
              </c:strCache>
            </c:strRef>
          </c:tx>
          <c:spPr>
            <a:solidFill>
              <a:srgbClr val="D6006E"/>
            </a:solidFill>
            <a:effectLst/>
          </c:spPr>
          <c:invertIfNegative val="0"/>
          <c:dLbls>
            <c:numFmt formatCode="0.00" sourceLinked="0"/>
            <c:txPr>
              <a:bodyPr/>
              <a:lstStyle/>
              <a:p>
                <a:pPr>
                  <a:defRPr b="0" i="0" strike="noStrike" sz="1100" u="none">
                    <a:solidFill>
                      <a:srgbClr val="1F1A24"/>
                    </a:solidFill>
                    <a:latin typeface="+mn-lt"/>
                  </a:defRPr>
                </a:pPr>
              </a:p>
            </c:txPr>
            <c:showLegendKey val="0"/>
            <c:showVal val="1"/>
            <c:showCatName val="0"/>
            <c:showSerName val="0"/>
            <c:showPercent val="0"/>
            <c:showBubbleSize val="0"/>
            <c:showLeaderLines val="0"/>
          </c:dLbls>
          <c:cat>
            <c:multiLvlStrRef>
              <c:f>Sheet1!$A$2:$A$4</c:f>
              <c:multiLvlStrCache>
                <c:ptCount val="3"/>
                <c:lvl>
                  <c:pt idx="0">
                    <c:v>Current ratio</c:v>
                  </c:pt>
                  <c:pt idx="1">
                    <c:v>Quick ratio</c:v>
                  </c:pt>
                  <c:pt idx="2">
                    <c:v>Cash ratio</c:v>
                  </c:pt>
                </c:lvl>
              </c:multiLvlStrCache>
            </c:multiLvlStrRef>
          </c:cat>
          <c:val>
            <c:numRef>
              <c:f>Sheet1!$D$2:$D$4</c:f>
              <c:numCache>
                <c:formatCode>General</c:formatCode>
                <c:ptCount val="3"/>
                <c:pt idx="0">
                  <c:v>0.85</c:v>
                </c:pt>
                <c:pt idx="1">
                  <c:v>0.63</c:v>
                </c:pt>
                <c:pt idx="2">
                  <c:v>0.29</c:v>
                </c:pt>
              </c:numCache>
            </c:numRef>
          </c:val>
        </c:ser>
        <c:ser>
          <c:idx val="3"/>
          <c:order val="3"/>
          <c:tx>
            <c:strRef>
              <c:f>Sheet1!$E$1</c:f>
              <c:strCache>
                <c:ptCount val="1"/>
                <c:pt idx="0">
                  <c:v>H1 2026</c:v>
                </c:pt>
              </c:strCache>
            </c:strRef>
          </c:tx>
          <c:spPr>
            <a:solidFill>
              <a:srgbClr val="3B0F35"/>
            </a:solidFill>
            <a:effectLst/>
          </c:spPr>
          <c:invertIfNegative val="0"/>
          <c:dLbls>
            <c:numFmt formatCode="0.00" sourceLinked="0"/>
            <c:txPr>
              <a:bodyPr/>
              <a:lstStyle/>
              <a:p>
                <a:pPr>
                  <a:defRPr b="0" i="0" strike="noStrike" sz="1100" u="none">
                    <a:solidFill>
                      <a:srgbClr val="1F1A24"/>
                    </a:solidFill>
                    <a:latin typeface="+mn-lt"/>
                  </a:defRPr>
                </a:pPr>
              </a:p>
            </c:txPr>
            <c:showLegendKey val="0"/>
            <c:showVal val="1"/>
            <c:showCatName val="0"/>
            <c:showSerName val="0"/>
            <c:showPercent val="0"/>
            <c:showBubbleSize val="0"/>
            <c:showLeaderLines val="0"/>
          </c:dLbls>
          <c:cat>
            <c:multiLvlStrRef>
              <c:f>Sheet1!$A$2:$A$4</c:f>
              <c:multiLvlStrCache>
                <c:ptCount val="3"/>
                <c:lvl>
                  <c:pt idx="0">
                    <c:v>Current ratio</c:v>
                  </c:pt>
                  <c:pt idx="1">
                    <c:v>Quick ratio</c:v>
                  </c:pt>
                  <c:pt idx="2">
                    <c:v>Cash ratio</c:v>
                  </c:pt>
                </c:lvl>
              </c:multiLvlStrCache>
            </c:multiLvlStrRef>
          </c:cat>
          <c:val>
            <c:numRef>
              <c:f>Sheet1!$E$2:$E$4</c:f>
              <c:numCache>
                <c:formatCode>General</c:formatCode>
                <c:ptCount val="3"/>
                <c:pt idx="0">
                  <c:v>0.59</c:v>
                </c:pt>
                <c:pt idx="1">
                  <c:v>0.4</c:v>
                </c:pt>
                <c:pt idx="2">
                  <c:v>0.11</c:v>
                </c:pt>
              </c:numCache>
            </c:numRef>
          </c:val>
        </c:ser>
        <c:dLbls>
          <c:numFmt formatCode="0.00" sourceLinked="0"/>
          <c:txPr>
            <a:bodyPr/>
            <a:lstStyle/>
            <a:p>
              <a:pPr>
                <a:defRPr b="0" i="0" strike="noStrike" sz="1100" u="none">
                  <a:solidFill>
                    <a:srgbClr val="1F1A24"/>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1A24"/>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DCE2"/>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C7F9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1A2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B0F35"/>
                </a:solidFill>
                <a:latin typeface="+mn-lt"/>
              </a:defRPr>
            </a:pPr>
            <a:r>
              <a:rPr sz="1400" b="0" i="0" u="none" strike="noStrike">
                <a:solidFill>
                  <a:srgbClr val="3B0F35"/>
                </a:solidFill>
                <a:latin typeface="+mn-lt"/>
              </a:rPr>
              <a:t>RKT month-end share price (pence), Dec 2023 - Oct 2026</a:t>
            </a:r>
          </a:p>
        </c:rich>
      </c:tx>
      <c:layout/>
      <c:overlay val="0"/>
    </c:title>
    <c:autoTitleDeleted val="0"/>
    <c:plotArea>
      <c:layout/>
      <c:lineChart>
        <c:varyColors val="0"/>
        <c:ser>
          <c:idx val="0"/>
          <c:order val="0"/>
          <c:tx>
            <c:strRef>
              <c:f>Sheet1!$B$1</c:f>
              <c:strCache>
                <c:ptCount val="1"/>
                <c:pt idx="0">
                  <c:v>Share price (p)</c:v>
                </c:pt>
              </c:strCache>
            </c:strRef>
          </c:tx>
          <c:spPr>
            <a:solidFill>
              <a:srgbClr val="D6006E"/>
            </a:solidFill>
            <a:ln w="38100" cap="flat">
              <a:solidFill>
                <a:srgbClr val="D6006E"/>
              </a:solidFill>
              <a:prstDash val="solid"/>
              <a:round/>
            </a:ln>
            <a:effectLst/>
          </c:spPr>
          <c:invertIfNegative val="0"/>
          <c:dLbls>
            <c:numFmt formatCode="#,##0" sourceLinked="0"/>
            <c:txPr>
              <a:bodyPr/>
              <a:lstStyle/>
              <a:p>
                <a:pPr>
                  <a:defRPr b="0" i="0" strike="noStrike" sz="1100" u="none">
                    <a:solidFill>
                      <a:srgbClr val="1F1A24"/>
                    </a:solidFill>
                    <a:latin typeface="+mn-lt"/>
                  </a:defRPr>
                </a:pPr>
              </a:p>
            </c:txPr>
            <c:showLegendKey val="0"/>
            <c:showVal val="0"/>
            <c:showCatName val="0"/>
            <c:showSerName val="0"/>
            <c:showPercent val="0"/>
            <c:showBubbleSize val="0"/>
            <c:showLeaderLines val="0"/>
          </c:dLbls>
          <c:marker>
            <c:symbol val="none"/>
            <c:size val="6"/>
            <c:spPr>
              <a:solidFill>
                <a:srgbClr val="D6006E"/>
              </a:solidFill>
              <a:ln w="9525" cap="flat">
                <a:solidFill>
                  <a:srgbClr val="D6006E"/>
                </a:solidFill>
                <a:prstDash val="solid"/>
                <a:round/>
              </a:ln>
              <a:effectLst/>
            </c:spPr>
          </c:marker>
          <c:cat>
            <c:multiLvlStrRef>
              <c:f>Sheet1!$A$2:$A$36</c:f>
              <c:multiLvlStrCache>
                <c:ptCount val="35"/>
                <c:lvl>
                  <c:pt idx="0">
                    <c:v>Dec 23</c:v>
                  </c:pt>
                  <c:pt idx="1">
                    <c:v>Jan 24</c:v>
                  </c:pt>
                  <c:pt idx="2">
                    <c:v>Feb 24</c:v>
                  </c:pt>
                  <c:pt idx="3">
                    <c:v>Mar 24</c:v>
                  </c:pt>
                  <c:pt idx="4">
                    <c:v>Apr 24</c:v>
                  </c:pt>
                  <c:pt idx="5">
                    <c:v>May 24</c:v>
                  </c:pt>
                  <c:pt idx="6">
                    <c:v>Jun 24</c:v>
                  </c:pt>
                  <c:pt idx="7">
                    <c:v>Jul 24</c:v>
                  </c:pt>
                  <c:pt idx="8">
                    <c:v>Aug 24</c:v>
                  </c:pt>
                  <c:pt idx="9">
                    <c:v>Sep 24</c:v>
                  </c:pt>
                  <c:pt idx="10">
                    <c:v>Oct 24</c:v>
                  </c:pt>
                  <c:pt idx="11">
                    <c:v>Nov 24</c:v>
                  </c:pt>
                  <c:pt idx="12">
                    <c:v>Dec 24</c:v>
                  </c:pt>
                  <c:pt idx="13">
                    <c:v>Jan 25</c:v>
                  </c:pt>
                  <c:pt idx="14">
                    <c:v>Feb 25</c:v>
                  </c:pt>
                  <c:pt idx="15">
                    <c:v>Mar 25</c:v>
                  </c:pt>
                  <c:pt idx="16">
                    <c:v>Apr 25</c:v>
                  </c:pt>
                  <c:pt idx="17">
                    <c:v>May 25</c:v>
                  </c:pt>
                  <c:pt idx="18">
                    <c:v>Jun 25</c:v>
                  </c:pt>
                  <c:pt idx="19">
                    <c:v>Jul 25</c:v>
                  </c:pt>
                  <c:pt idx="20">
                    <c:v>Aug 25</c:v>
                  </c:pt>
                  <c:pt idx="21">
                    <c:v>Sep 25</c:v>
                  </c:pt>
                  <c:pt idx="22">
                    <c:v>Oct 25</c:v>
                  </c:pt>
                  <c:pt idx="23">
                    <c:v>Nov 25</c:v>
                  </c:pt>
                  <c:pt idx="24">
                    <c:v>Dec 25</c:v>
                  </c:pt>
                  <c:pt idx="25">
                    <c:v>Jan 26</c:v>
                  </c:pt>
                  <c:pt idx="26">
                    <c:v>Feb 26</c:v>
                  </c:pt>
                  <c:pt idx="27">
                    <c:v>Mar 26</c:v>
                  </c:pt>
                  <c:pt idx="28">
                    <c:v>Apr 26</c:v>
                  </c:pt>
                  <c:pt idx="29">
                    <c:v>May 26</c:v>
                  </c:pt>
                  <c:pt idx="30">
                    <c:v>Jun 26</c:v>
                  </c:pt>
                  <c:pt idx="31">
                    <c:v>Jul 26</c:v>
                  </c:pt>
                  <c:pt idx="32">
                    <c:v>Aug 26</c:v>
                  </c:pt>
                  <c:pt idx="33">
                    <c:v>Sep 26</c:v>
                  </c:pt>
                  <c:pt idx="34">
                    <c:v>Oct 26</c:v>
                  </c:pt>
                </c:lvl>
              </c:multiLvlStrCache>
            </c:multiLvlStrRef>
          </c:cat>
          <c:val>
            <c:numRef>
              <c:f>Sheet1!$B$2:$B$36</c:f>
              <c:numCache>
                <c:formatCode>General</c:formatCode>
                <c:ptCount val="35"/>
                <c:pt idx="0">
                  <c:v>5420</c:v>
                </c:pt>
                <c:pt idx="1">
                  <c:v>5708</c:v>
                </c:pt>
                <c:pt idx="2">
                  <c:v>4998</c:v>
                </c:pt>
                <c:pt idx="3">
                  <c:v>4512</c:v>
                </c:pt>
                <c:pt idx="4">
                  <c:v>4468</c:v>
                </c:pt>
                <c:pt idx="5">
                  <c:v>4452</c:v>
                </c:pt>
                <c:pt idx="6">
                  <c:v>4282</c:v>
                </c:pt>
                <c:pt idx="7">
                  <c:v>4178</c:v>
                </c:pt>
                <c:pt idx="8">
                  <c:v>4366</c:v>
                </c:pt>
                <c:pt idx="9">
                  <c:v>4577</c:v>
                </c:pt>
                <c:pt idx="10">
                  <c:v>4684</c:v>
                </c:pt>
                <c:pt idx="11">
                  <c:v>4860</c:v>
                </c:pt>
                <c:pt idx="12">
                  <c:v>4833</c:v>
                </c:pt>
                <c:pt idx="13">
                  <c:v>5330</c:v>
                </c:pt>
                <c:pt idx="14">
                  <c:v>5240</c:v>
                </c:pt>
                <c:pt idx="15">
                  <c:v>5230</c:v>
                </c:pt>
                <c:pt idx="16">
                  <c:v>4838</c:v>
                </c:pt>
                <c:pt idx="17">
                  <c:v>5032</c:v>
                </c:pt>
                <c:pt idx="18">
                  <c:v>4955</c:v>
                </c:pt>
                <c:pt idx="19">
                  <c:v>5672</c:v>
                </c:pt>
                <c:pt idx="20">
                  <c:v>5530</c:v>
                </c:pt>
                <c:pt idx="21">
                  <c:v>5718</c:v>
                </c:pt>
                <c:pt idx="22">
                  <c:v>5816</c:v>
                </c:pt>
                <c:pt idx="23">
                  <c:v>5852</c:v>
                </c:pt>
                <c:pt idx="24">
                  <c:v>6002</c:v>
                </c:pt>
                <c:pt idx="25">
                  <c:v>6092</c:v>
                </c:pt>
                <c:pt idx="26">
                  <c:v>6512</c:v>
                </c:pt>
                <c:pt idx="27">
                  <c:v>5088</c:v>
                </c:pt>
                <c:pt idx="28">
                  <c:v>4678</c:v>
                </c:pt>
                <c:pt idx="29">
                  <c:v>4591</c:v>
                </c:pt>
                <c:pt idx="30">
                  <c:v>4911</c:v>
                </c:pt>
                <c:pt idx="31">
                  <c:v>5240</c:v>
                </c:pt>
                <c:pt idx="32">
                  <c:v>5132</c:v>
                </c:pt>
                <c:pt idx="33">
                  <c:v>4992</c:v>
                </c:pt>
                <c:pt idx="34">
                  <c:v>5430</c:v>
                </c:pt>
              </c:numCache>
            </c:numRef>
          </c:val>
          <c:smooth val="0"/>
        </c:ser>
        <c:dLbls>
          <c:numFmt formatCode="#,##0" sourceLinked="0"/>
          <c:txPr>
            <a:bodyPr/>
            <a:lstStyle/>
            <a:p>
              <a:pPr>
                <a:defRPr b="0" i="0" strike="noStrike" sz="1100" u="none">
                  <a:solidFill>
                    <a:srgbClr val="1F1A2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A24"/>
                </a:solidFill>
                <a:latin typeface="+mn-lt"/>
              </a:defRPr>
            </a:pPr>
            <a:endParaRPr lang="en-US"/>
          </a:p>
        </c:txPr>
        <c:crossAx val="2094734552"/>
        <c:crosses val="autoZero"/>
        <c:auto val="1"/>
        <c:lblAlgn val="ctr"/>
        <c:noMultiLvlLbl val="1"/>
        <c:tickLblSkip val="3"/>
      </c:catAx>
      <c:valAx>
        <c:axId val="2094734552"/>
        <c:scaling>
          <c:orientation val="minMax"/>
          <c:max val="7000"/>
          <c:min val="3500"/>
        </c:scaling>
        <c:delete val="0"/>
        <c:axPos val="l"/>
        <c:majorGridlines>
          <c:spPr>
            <a:ln w="9525" cap="flat">
              <a:solidFill>
                <a:srgbClr val="E4DCE2"/>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C7F9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B0F35"/>
                </a:solidFill>
                <a:latin typeface="+mn-lt"/>
              </a:defRPr>
            </a:pPr>
            <a:r>
              <a:rPr sz="1400" b="0" i="0" u="none" strike="noStrike">
                <a:solidFill>
                  <a:srgbClr val="3B0F35"/>
                </a:solidFill>
                <a:latin typeface="+mn-lt"/>
              </a:rPr>
              <a:t>Declared ordinary dividend per share (pence)</a:t>
            </a:r>
          </a:p>
        </c:rich>
      </c:tx>
      <c:layout/>
      <c:overlay val="0"/>
    </c:title>
    <c:autoTitleDeleted val="0"/>
    <c:plotArea>
      <c:layout/>
      <c:barChart>
        <c:barDir val="col"/>
        <c:grouping val="clustered"/>
        <c:varyColors val="0"/>
        <c:ser>
          <c:idx val="0"/>
          <c:order val="0"/>
          <c:tx>
            <c:strRef>
              <c:f>Sheet1!$B$1</c:f>
              <c:strCache>
                <c:ptCount val="1"/>
                <c:pt idx="0">
                  <c:v>Dividend per share (p)</c:v>
                </c:pt>
              </c:strCache>
            </c:strRef>
          </c:tx>
          <c:spPr>
            <a:solidFill>
              <a:srgbClr val="D6006E"/>
            </a:solidFill>
            <a:effectLst/>
          </c:spPr>
          <c:invertIfNegative val="0"/>
          <c:dLbls>
            <c:numFmt formatCode="0.0" sourceLinked="0"/>
            <c:txPr>
              <a:bodyPr/>
              <a:lstStyle/>
              <a:p>
                <a:pPr>
                  <a:defRPr b="0" i="0" strike="noStrike" sz="1100" u="none">
                    <a:solidFill>
                      <a:srgbClr val="1F1A24"/>
                    </a:solidFill>
                    <a:latin typeface="+mn-lt"/>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174.6</c:v>
                </c:pt>
                <c:pt idx="1">
                  <c:v>183.3</c:v>
                </c:pt>
                <c:pt idx="2">
                  <c:v>192.5</c:v>
                </c:pt>
                <c:pt idx="3">
                  <c:v>202.1</c:v>
                </c:pt>
                <c:pt idx="4">
                  <c:v>212.2</c:v>
                </c:pt>
              </c:numCache>
            </c:numRef>
          </c:val>
        </c:ser>
        <c:dLbls>
          <c:numFmt formatCode="0.0" sourceLinked="0"/>
          <c:txPr>
            <a:bodyPr/>
            <a:lstStyle/>
            <a:p>
              <a:pPr>
                <a:defRPr b="0" i="0" strike="noStrike" sz="1100" u="none">
                  <a:solidFill>
                    <a:srgbClr val="1F1A2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1A24"/>
                </a:solidFill>
                <a:latin typeface="+mn-lt"/>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9525" cap="flat">
              <a:solidFill>
                <a:srgbClr val="E4DC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C7F9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As Reckitt's newly appointed Finance Manager, I will brief you, as potential investors, on the company's financial performance. I will cover the business background, ratio analysis of profitability, liquidity and efficiency for 2025 against 2024, market ratios, management strengths and my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Benckiser was founded in Germany in 1823 and Reckitt in Hull in 1840; they merged in 1999. Acquisitions then built a health portfolio. The turning point came in July 2024: a focus on 11 Powerbrands, Fuel for Growth and the Essential Home sale, completed in December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Reckitt is a FTSE 100 company worth about £40 billion. It earned £14.2 billion of revenue in 2025, employs 36,000 people across 80 countries, and owns brands such as Dettol, Durex and Finish. Emerging Markets is now its largest and fastest-growing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Leadership is strong. Chair Sir Jeremy Darroch led Sky, CEO Kris Licht drove the 2024 strategy reset, and CFO Shannon Eisenhardt joined from Nike. Nine of the twelve directors are independent and seven are women. KPMG audits the accounts, which strengthens governance and the credibility of the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Financial analysis reduces the information gap between managers and investors. I use trend analysis, ratio analysis and peer benchmarking. Ratios are useful but historic, and one-off items such as Reckitt's £1.2 billion disposal gain can distort them. The table shows the data extracted from the audited statements.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Gross margin held at 60.8 per cent. Operating margin rose to 29.7 per cent and ROCE to 22.9 per cent, mainly because of the one-off disposal gain. Excluding the gain, operating margin is still 20.9 per cent, up 3.8 points. Investors should value Reckitt on its underlying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ratio improved from 0.58 to 0.85 because the sale proceeds arrived as cash. Ratios below 1 are normal for a strong-brand business with negative working capital and £4.4 billion of facilities. After the special dividend, however, the ratio fell to 0.59, so investors should monitor refinancing.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Asset turnover rose slightly to 0.57 times. Inventory turnover improved to 3.7 times, cutting inventory days from 103 to 98, while receivable days held at 54. Asset turnover is low because 63 per cent of assets are acquired brands and goodwill. Inventory days should fall below 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its FTSE 100 peers, Reckitt's gross margin is 14 points above Unilever's, and even excluding the gain its operating margin matches Haleon's. Yet it trades at an adjusted P/E of 17 times, against 20 to 22 for peers: a potential value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share price rose 24 per cent in 2025, recovering from the 2024 NEC litigation setback. Basic EPS more than doubled to 468 pence because of the gain, while adjusted EPS rose 1.1 per cent. The adjusted P/E rose from 13.8 to 17 times, showing growing market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dividend rose 5 per cent to 212.2 pence, a 3.5 per cent yield. Cover on adjusted earnings is a safe 1.7 times, so about 60 per cent of profit is paid out. Including the £1.6 billion special dividend and buybacks, £6.4 billion has been returned since July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latest half-year results show like-for-like growth of 2.6 per cent, accelerating to 4.7 per cent in the second quarter. Reported profit and EPS fell because Essential Home was sold, and leverage rose to 2.5 times. Management reiterated its guidance and raised the interim dividend by 5 per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annual report serves many stakeholders. Investors use it to assess performance, lenders to check liquidity, suppliers to judge ability to pay, and customers to understand the customer base. It is audited and IFRS-based, so it is comparable. But it is historic, lengthy and reliant on adjusted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management strengths support the investment case. The first is strategy and innovation: a focused Powerbrand portfolio, Fuel for Growth cutting fixed costs to 19.4 per cent, and successful launches. The second is risk management: a clear governance framework, strong facilities, and proven responses to sanctions, conflict and litigation.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recommendation is to accumulate Reckitt shares. The company offers premium margins, a well-covered progressive dividend and a discount to peers. Investors should monitor the NEC litigation, the lean liquidity and the 2026 earnings dilution, and build a position gradually. Thank you;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twenty sources, in Harvard style, comprise seven academic books, seven peer-reviewed journal articles, and reports from Reckitt, Unilever, Haleon and the IASB. Share prices are London Stock Exchange closing data from Alpha Vantage. Every ratio can be traced back to the audited statements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rtlCol="0"/>
          <a:lstStyle>
            <a:lvl1pPr indent="0" marL="0">
              <a:buNone/>
              <a:defRPr lang="en-US" sz="4400" b="1" dirty="0">
                <a:solidFill>
                  <a:schemeClr val="bg1"/>
                </a:solidFill>
                <a:latin typeface="Cambria" pitchFamily="34" charset="0"/>
                <a:ea typeface="Cambria" pitchFamily="34" charset="-122"/>
                <a:cs typeface="Cambria" pitchFamily="34" charset="-120"/>
              </a:defRPr>
            </a:lvl1pPr>
          </a:lstStyle>
          <a:p>
            <a:pPr indent="0" marL="0">
              <a:buNone/>
            </a:pPr>
            <a:endParaRPr lang="en-US" sz="4400" dirty="0"/>
          </a:p>
        </p:txBody>
      </p:sp>
      <p:sp>
        <p:nvSpPr>
          <p:cNvPr id="3" name="Text 0"/>
          <p:cNvSpPr/>
          <p:nvPr>
            <p:ph idx="101" type="body" hasCustomPrompt="1"/>
          </p:nvPr>
        </p:nvSpPr>
        <p:spPr>
          <a:xfrm>
            <a:off x="731520" y="3749040"/>
            <a:ext cx="10698480" cy="146304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tx2"/>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nvSpPr>
        <p:spPr>
          <a:xfrm>
            <a:off x="548640" y="6419088"/>
            <a:ext cx="10058400" cy="274320"/>
          </a:xfrm>
          <a:prstGeom prst="rect">
            <a:avLst/>
          </a:prstGeom>
          <a:noFill/>
          <a:ln/>
        </p:spPr>
        <p:txBody>
          <a:bodyPr wrap="square" lIns="0" tIns="0" rIns="0" bIns="0" rtlCol="0" anchor="ctr"/>
          <a:lstStyle/>
          <a:p>
            <a:pPr indent="0" marL="0">
              <a:buNone/>
            </a:pPr>
            <a:r>
              <a:rPr lang="en-US" sz="1000" dirty="0">
                <a:solidFill>
                  <a:schemeClr val="accent3"/>
                </a:solidFill>
              </a:rPr>
              <a:t>Reckitt Benckiser Group plc  |  Investor presentation  |  Data: Reckitt Annual Reports 2024-2025 and H1 2026 results unless stated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3.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lIns="0" tIns="0" rIns="0" bIns="0" rtlCol="0" anchor="b"/>
          <a:lstStyle/>
          <a:p>
            <a:pPr indent="0" marL="0">
              <a:buNone/>
            </a:pPr>
            <a:r>
              <a:rPr lang="en-US" sz="4400" b="1" dirty="0">
                <a:solidFill>
                  <a:schemeClr val="bg1"/>
                </a:solidFill>
                <a:latin typeface="Cambria" pitchFamily="34" charset="0"/>
                <a:ea typeface="Cambria" pitchFamily="34" charset="-122"/>
                <a:cs typeface="Cambria" pitchFamily="34" charset="-120"/>
              </a:rPr>
              <a:t>Reckitt Benckiser Group plc</a:t>
            </a:r>
            <a:endParaRPr lang="en-US" sz="4400" dirty="0"/>
          </a:p>
        </p:txBody>
      </p:sp>
      <p:sp>
        <p:nvSpPr>
          <p:cNvPr id="3" name="Text 0"/>
          <p:cNvSpPr/>
          <p:nvPr>
            <p:ph idx="101" type="body" hasCustomPrompt="1"/>
          </p:nvPr>
        </p:nvSpPr>
        <p:spPr>
          <a:xfrm>
            <a:off x="731520" y="3749040"/>
            <a:ext cx="10698480" cy="1463040"/>
          </a:xfrm>
          <a:prstGeom prst="rect">
            <a:avLst/>
          </a:prstGeom>
          <a:noFill/>
          <a:ln/>
        </p:spPr>
        <p:txBody>
          <a:bodyPr wrap="square" lIns="0" tIns="0" rIns="0" bIns="0" rtlCol="0" anchor="t"/>
          <a:lstStyle/>
          <a:p>
            <a:pPr indent="0" marL="0">
              <a:buNone/>
            </a:pPr>
            <a:r>
              <a:rPr lang="en-US" sz="2000" dirty="0">
                <a:solidFill>
                  <a:schemeClr val="accent4"/>
                </a:solidFill>
              </a:rPr>
              <a:t>Financial performance and investment case: ratio analysis of FY2025 against FY2024, with an H1 2026 update</a:t>
            </a:r>
            <a:endParaRPr lang="en-US" sz="2000" dirty="0"/>
          </a:p>
          <a:p>
            <a:pPr indent="0" marL="0">
              <a:buNone/>
            </a:pPr>
            <a:r>
              <a:rPr lang="en-US" sz="1500" dirty="0">
                <a:solidFill>
                  <a:schemeClr val="bg1"/>
                </a:solidFill>
              </a:rPr>
              <a:t>Presented by: [Your name], Finance Manager  |  MBA7060 Financial Management and Decision Making  |  October 2026</a:t>
            </a:r>
            <a:endParaRPr lang="en-US" sz="2000" dirty="0"/>
          </a:p>
        </p:txBody>
      </p:sp>
      <p:sp>
        <p:nvSpPr>
          <p:cNvPr id="4" name="title-icon-circle"/>
          <p:cNvSpPr/>
          <p:nvPr/>
        </p:nvSpPr>
        <p:spPr>
          <a:xfrm>
            <a:off x="10241280" y="640080"/>
            <a:ext cx="1188720" cy="1188720"/>
          </a:xfrm>
          <a:prstGeom prst="ellipse">
            <a:avLst/>
          </a:prstGeom>
          <a:solidFill>
            <a:schemeClr val="accent1"/>
          </a:solidFill>
          <a:ln/>
        </p:spPr>
      </p:sp>
      <p:pic>
        <p:nvPicPr>
          <p:cNvPr id="5" name="title-icon-glyph" descr="preencoded.png">    </p:cNvPr>
          <p:cNvPicPr>
            <a:picLocks noChangeAspect="1"/>
          </p:cNvPicPr>
          <p:nvPr/>
        </p:nvPicPr>
        <p:blipFill>
          <a:blip r:embed="rId1"/>
          <a:stretch>
            <a:fillRect/>
          </a:stretch>
        </p:blipFill>
        <p:spPr>
          <a:xfrm>
            <a:off x="10526573" y="925373"/>
            <a:ext cx="618134" cy="618134"/>
          </a:xfrm>
          <a:prstGeom prst="rect">
            <a:avLst/>
          </a:prstGeom>
        </p:spPr>
      </p:pic>
      <p:sp>
        <p:nvSpPr>
          <p:cNvPr id="6" name="Text 3"/>
          <p:cNvSpPr txBox="1"/>
          <p:nvPr/>
        </p:nvSpPr>
        <p:spPr>
          <a:xfrm>
            <a:off x="731520" y="777240"/>
            <a:ext cx="5486400" cy="365760"/>
          </a:xfrm>
          <a:prstGeom prst="rect">
            <a:avLst/>
          </a:prstGeom>
          <a:noFill/>
          <a:ln/>
        </p:spPr>
        <p:txBody>
          <a:bodyPr wrap="square" lIns="0" tIns="0" rIns="0" bIns="0" rtlCol="0" anchor="t"/>
          <a:lstStyle/>
          <a:p>
            <a:pPr indent="0" marL="0">
              <a:buNone/>
            </a:pPr>
            <a:r>
              <a:rPr lang="en-US" sz="1600" b="1" dirty="0">
                <a:solidFill>
                  <a:schemeClr val="accent4"/>
                </a:solidFill>
              </a:rPr>
              <a:t>LSE: RKT  |  FTSE 100</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Background and history: 200 years in the making</a:t>
            </a:r>
            <a:endParaRPr lang="en-US" sz="3400" dirty="0"/>
          </a:p>
        </p:txBody>
      </p:sp>
      <p:sp>
        <p:nvSpPr>
          <p:cNvPr id="3" name="timeline-line"/>
          <p:cNvSpPr/>
          <p:nvPr/>
        </p:nvSpPr>
        <p:spPr>
          <a:xfrm>
            <a:off x="868680" y="2926080"/>
            <a:ext cx="10040112" cy="0"/>
          </a:xfrm>
          <a:prstGeom prst="line">
            <a:avLst/>
          </a:prstGeom>
          <a:noFill/>
          <a:ln w="25400">
            <a:solidFill>
              <a:srgbClr val="CBC2D2"/>
            </a:solidFill>
            <a:prstDash val="solid"/>
          </a:ln>
        </p:spPr>
      </p:sp>
      <p:sp>
        <p:nvSpPr>
          <p:cNvPr id="4" name="timeline-dot-0"/>
          <p:cNvSpPr/>
          <p:nvPr/>
        </p:nvSpPr>
        <p:spPr>
          <a:xfrm>
            <a:off x="685800" y="2743200"/>
            <a:ext cx="365760" cy="365760"/>
          </a:xfrm>
          <a:prstGeom prst="ellipse">
            <a:avLst/>
          </a:prstGeom>
          <a:solidFill>
            <a:schemeClr val="tx2"/>
          </a:solidFill>
          <a:ln w="25400">
            <a:solidFill>
              <a:schemeClr val="bg1"/>
            </a:solidFill>
            <a:prstDash val="solid"/>
          </a:ln>
        </p:spPr>
      </p:sp>
      <p:sp>
        <p:nvSpPr>
          <p:cNvPr id="5" name="Text 3"/>
          <p:cNvSpPr txBox="1"/>
          <p:nvPr/>
        </p:nvSpPr>
        <p:spPr>
          <a:xfrm>
            <a:off x="274320" y="2057400"/>
            <a:ext cx="1554480" cy="4572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1823</a:t>
            </a:r>
            <a:endParaRPr lang="en-US" sz="1800" dirty="0"/>
          </a:p>
        </p:txBody>
      </p:sp>
      <p:sp>
        <p:nvSpPr>
          <p:cNvPr id="6" name="Text 4"/>
          <p:cNvSpPr txBox="1"/>
          <p:nvPr/>
        </p:nvSpPr>
        <p:spPr>
          <a:xfrm>
            <a:off x="274320" y="3291840"/>
            <a:ext cx="1572768" cy="1737360"/>
          </a:xfrm>
          <a:prstGeom prst="rect">
            <a:avLst/>
          </a:prstGeom>
          <a:noFill/>
          <a:ln/>
        </p:spPr>
        <p:txBody>
          <a:bodyPr wrap="square" lIns="0" tIns="0" rIns="0" bIns="0" rtlCol="0" anchor="t"/>
          <a:lstStyle/>
          <a:p>
            <a:pPr indent="0" marL="0">
              <a:buNone/>
            </a:pPr>
            <a:r>
              <a:rPr lang="en-US" sz="1400" dirty="0">
                <a:solidFill>
                  <a:schemeClr val="tx1"/>
                </a:solidFill>
              </a:rPr>
              <a:t>Benckiser founded in Germany as an industrial chemicals business</a:t>
            </a:r>
            <a:endParaRPr lang="en-US" sz="1400" dirty="0"/>
          </a:p>
        </p:txBody>
      </p:sp>
      <p:sp>
        <p:nvSpPr>
          <p:cNvPr id="7" name="timeline-dot-1"/>
          <p:cNvSpPr/>
          <p:nvPr/>
        </p:nvSpPr>
        <p:spPr>
          <a:xfrm>
            <a:off x="2359152" y="2743200"/>
            <a:ext cx="365760" cy="365760"/>
          </a:xfrm>
          <a:prstGeom prst="ellipse">
            <a:avLst/>
          </a:prstGeom>
          <a:solidFill>
            <a:schemeClr val="tx2"/>
          </a:solidFill>
          <a:ln w="25400">
            <a:solidFill>
              <a:schemeClr val="bg1"/>
            </a:solidFill>
            <a:prstDash val="solid"/>
          </a:ln>
        </p:spPr>
      </p:sp>
      <p:sp>
        <p:nvSpPr>
          <p:cNvPr id="8" name="Text 6"/>
          <p:cNvSpPr txBox="1"/>
          <p:nvPr/>
        </p:nvSpPr>
        <p:spPr>
          <a:xfrm>
            <a:off x="1947672" y="2057400"/>
            <a:ext cx="1554480" cy="4572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1840</a:t>
            </a:r>
            <a:endParaRPr lang="en-US" sz="1800" dirty="0"/>
          </a:p>
        </p:txBody>
      </p:sp>
      <p:sp>
        <p:nvSpPr>
          <p:cNvPr id="9" name="Text 7"/>
          <p:cNvSpPr txBox="1"/>
          <p:nvPr/>
        </p:nvSpPr>
        <p:spPr>
          <a:xfrm>
            <a:off x="1947672" y="3291840"/>
            <a:ext cx="1572768" cy="1737360"/>
          </a:xfrm>
          <a:prstGeom prst="rect">
            <a:avLst/>
          </a:prstGeom>
          <a:noFill/>
          <a:ln/>
        </p:spPr>
        <p:txBody>
          <a:bodyPr wrap="square" lIns="0" tIns="0" rIns="0" bIns="0" rtlCol="0" anchor="t"/>
          <a:lstStyle/>
          <a:p>
            <a:pPr indent="0" marL="0">
              <a:buNone/>
            </a:pPr>
            <a:r>
              <a:rPr lang="en-US" sz="1400" dirty="0">
                <a:solidFill>
                  <a:schemeClr val="tx1"/>
                </a:solidFill>
              </a:rPr>
              <a:t>Isaac Reckitt starts a starch business in Hull, England</a:t>
            </a:r>
            <a:endParaRPr lang="en-US" sz="1400" dirty="0"/>
          </a:p>
        </p:txBody>
      </p:sp>
      <p:sp>
        <p:nvSpPr>
          <p:cNvPr id="10" name="timeline-dot-2"/>
          <p:cNvSpPr/>
          <p:nvPr/>
        </p:nvSpPr>
        <p:spPr>
          <a:xfrm>
            <a:off x="4032504" y="2743200"/>
            <a:ext cx="365760" cy="365760"/>
          </a:xfrm>
          <a:prstGeom prst="ellipse">
            <a:avLst/>
          </a:prstGeom>
          <a:solidFill>
            <a:schemeClr val="tx2"/>
          </a:solidFill>
          <a:ln w="25400">
            <a:solidFill>
              <a:schemeClr val="bg1"/>
            </a:solidFill>
            <a:prstDash val="solid"/>
          </a:ln>
        </p:spPr>
      </p:sp>
      <p:sp>
        <p:nvSpPr>
          <p:cNvPr id="11" name="Text 9"/>
          <p:cNvSpPr txBox="1"/>
          <p:nvPr/>
        </p:nvSpPr>
        <p:spPr>
          <a:xfrm>
            <a:off x="3621024" y="2057400"/>
            <a:ext cx="1554480" cy="4572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1999</a:t>
            </a:r>
            <a:endParaRPr lang="en-US" sz="1800" dirty="0"/>
          </a:p>
        </p:txBody>
      </p:sp>
      <p:sp>
        <p:nvSpPr>
          <p:cNvPr id="12" name="Text 10"/>
          <p:cNvSpPr txBox="1"/>
          <p:nvPr/>
        </p:nvSpPr>
        <p:spPr>
          <a:xfrm>
            <a:off x="3621024" y="3291840"/>
            <a:ext cx="1572768" cy="1737360"/>
          </a:xfrm>
          <a:prstGeom prst="rect">
            <a:avLst/>
          </a:prstGeom>
          <a:noFill/>
          <a:ln/>
        </p:spPr>
        <p:txBody>
          <a:bodyPr wrap="square" lIns="0" tIns="0" rIns="0" bIns="0" rtlCol="0" anchor="t"/>
          <a:lstStyle/>
          <a:p>
            <a:pPr indent="0" marL="0">
              <a:buNone/>
            </a:pPr>
            <a:r>
              <a:rPr lang="en-US" sz="1400" dirty="0">
                <a:solidFill>
                  <a:schemeClr val="tx1"/>
                </a:solidFill>
              </a:rPr>
              <a:t>Reckitt &amp; Colman merges with Benckiser to form Reckitt Benckiser</a:t>
            </a:r>
            <a:endParaRPr lang="en-US" sz="1400" dirty="0"/>
          </a:p>
        </p:txBody>
      </p:sp>
      <p:sp>
        <p:nvSpPr>
          <p:cNvPr id="13" name="timeline-dot-3"/>
          <p:cNvSpPr/>
          <p:nvPr/>
        </p:nvSpPr>
        <p:spPr>
          <a:xfrm>
            <a:off x="5705856" y="2743200"/>
            <a:ext cx="365760" cy="365760"/>
          </a:xfrm>
          <a:prstGeom prst="ellipse">
            <a:avLst/>
          </a:prstGeom>
          <a:solidFill>
            <a:schemeClr val="tx2"/>
          </a:solidFill>
          <a:ln w="25400">
            <a:solidFill>
              <a:schemeClr val="bg1"/>
            </a:solidFill>
            <a:prstDash val="solid"/>
          </a:ln>
        </p:spPr>
      </p:sp>
      <p:sp>
        <p:nvSpPr>
          <p:cNvPr id="14" name="Text 12"/>
          <p:cNvSpPr txBox="1"/>
          <p:nvPr/>
        </p:nvSpPr>
        <p:spPr>
          <a:xfrm>
            <a:off x="5294376" y="2057400"/>
            <a:ext cx="1554480" cy="4572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2006-10</a:t>
            </a:r>
            <a:endParaRPr lang="en-US" sz="1800" dirty="0"/>
          </a:p>
        </p:txBody>
      </p:sp>
      <p:sp>
        <p:nvSpPr>
          <p:cNvPr id="15" name="Text 13"/>
          <p:cNvSpPr txBox="1"/>
          <p:nvPr/>
        </p:nvSpPr>
        <p:spPr>
          <a:xfrm>
            <a:off x="5294376" y="3291840"/>
            <a:ext cx="1572768" cy="1737360"/>
          </a:xfrm>
          <a:prstGeom prst="rect">
            <a:avLst/>
          </a:prstGeom>
          <a:noFill/>
          <a:ln/>
        </p:spPr>
        <p:txBody>
          <a:bodyPr wrap="square" lIns="0" tIns="0" rIns="0" bIns="0" rtlCol="0" anchor="t"/>
          <a:lstStyle/>
          <a:p>
            <a:pPr indent="0" marL="0">
              <a:buNone/>
            </a:pPr>
            <a:r>
              <a:rPr lang="en-US" sz="1400" dirty="0">
                <a:solidFill>
                  <a:schemeClr val="tx1"/>
                </a:solidFill>
              </a:rPr>
              <a:t>Boots Healthcare, Adams (Mucinex) and SSL (Durex) build a health portfolio</a:t>
            </a:r>
            <a:endParaRPr lang="en-US" sz="1400" dirty="0"/>
          </a:p>
        </p:txBody>
      </p:sp>
      <p:sp>
        <p:nvSpPr>
          <p:cNvPr id="16" name="timeline-dot-4"/>
          <p:cNvSpPr/>
          <p:nvPr/>
        </p:nvSpPr>
        <p:spPr>
          <a:xfrm>
            <a:off x="7379208" y="2743200"/>
            <a:ext cx="365760" cy="365760"/>
          </a:xfrm>
          <a:prstGeom prst="ellipse">
            <a:avLst/>
          </a:prstGeom>
          <a:solidFill>
            <a:schemeClr val="tx2"/>
          </a:solidFill>
          <a:ln w="25400">
            <a:solidFill>
              <a:schemeClr val="bg1"/>
            </a:solidFill>
            <a:prstDash val="solid"/>
          </a:ln>
        </p:spPr>
      </p:sp>
      <p:sp>
        <p:nvSpPr>
          <p:cNvPr id="17" name="Text 15"/>
          <p:cNvSpPr txBox="1"/>
          <p:nvPr/>
        </p:nvSpPr>
        <p:spPr>
          <a:xfrm>
            <a:off x="6967728" y="2057400"/>
            <a:ext cx="1554480" cy="4572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2017</a:t>
            </a:r>
            <a:endParaRPr lang="en-US" sz="1800" dirty="0"/>
          </a:p>
        </p:txBody>
      </p:sp>
      <p:sp>
        <p:nvSpPr>
          <p:cNvPr id="18" name="Text 16"/>
          <p:cNvSpPr txBox="1"/>
          <p:nvPr/>
        </p:nvSpPr>
        <p:spPr>
          <a:xfrm>
            <a:off x="6967728" y="3291840"/>
            <a:ext cx="1572768" cy="1737360"/>
          </a:xfrm>
          <a:prstGeom prst="rect">
            <a:avLst/>
          </a:prstGeom>
          <a:noFill/>
          <a:ln/>
        </p:spPr>
        <p:txBody>
          <a:bodyPr wrap="square" lIns="0" tIns="0" rIns="0" bIns="0" rtlCol="0" anchor="t"/>
          <a:lstStyle/>
          <a:p>
            <a:pPr indent="0" marL="0">
              <a:buNone/>
            </a:pPr>
            <a:r>
              <a:rPr lang="en-US" sz="1400" dirty="0">
                <a:solidFill>
                  <a:schemeClr val="tx1"/>
                </a:solidFill>
              </a:rPr>
              <a:t>Mead Johnson Nutrition acquired: infant formula enters the group</a:t>
            </a:r>
            <a:endParaRPr lang="en-US" sz="1400" dirty="0"/>
          </a:p>
        </p:txBody>
      </p:sp>
      <p:sp>
        <p:nvSpPr>
          <p:cNvPr id="19" name="timeline-dot-5"/>
          <p:cNvSpPr/>
          <p:nvPr/>
        </p:nvSpPr>
        <p:spPr>
          <a:xfrm>
            <a:off x="9052560" y="2743200"/>
            <a:ext cx="365760" cy="365760"/>
          </a:xfrm>
          <a:prstGeom prst="ellipse">
            <a:avLst/>
          </a:prstGeom>
          <a:solidFill>
            <a:schemeClr val="accent1"/>
          </a:solidFill>
          <a:ln w="25400">
            <a:solidFill>
              <a:schemeClr val="bg1"/>
            </a:solidFill>
            <a:prstDash val="solid"/>
          </a:ln>
        </p:spPr>
      </p:sp>
      <p:sp>
        <p:nvSpPr>
          <p:cNvPr id="20" name="Text 18"/>
          <p:cNvSpPr txBox="1"/>
          <p:nvPr/>
        </p:nvSpPr>
        <p:spPr>
          <a:xfrm>
            <a:off x="8641080" y="2057400"/>
            <a:ext cx="1554480" cy="45720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Jul 2024</a:t>
            </a:r>
            <a:endParaRPr lang="en-US" sz="1800" dirty="0"/>
          </a:p>
        </p:txBody>
      </p:sp>
      <p:sp>
        <p:nvSpPr>
          <p:cNvPr id="21" name="Text 19"/>
          <p:cNvSpPr txBox="1"/>
          <p:nvPr/>
        </p:nvSpPr>
        <p:spPr>
          <a:xfrm>
            <a:off x="8641080" y="3291840"/>
            <a:ext cx="1572768" cy="1737360"/>
          </a:xfrm>
          <a:prstGeom prst="rect">
            <a:avLst/>
          </a:prstGeom>
          <a:noFill/>
          <a:ln/>
        </p:spPr>
        <p:txBody>
          <a:bodyPr wrap="square" lIns="0" tIns="0" rIns="0" bIns="0" rtlCol="0" anchor="t"/>
          <a:lstStyle/>
          <a:p>
            <a:pPr indent="0" marL="0">
              <a:buNone/>
            </a:pPr>
            <a:r>
              <a:rPr lang="en-US" sz="1400" dirty="0">
                <a:solidFill>
                  <a:schemeClr val="tx1"/>
                </a:solidFill>
              </a:rPr>
              <a:t>Turning point: strategy update to focus on 11 Powerbrands and Fuel for Growth</a:t>
            </a:r>
            <a:endParaRPr lang="en-US" sz="1400" dirty="0"/>
          </a:p>
        </p:txBody>
      </p:sp>
      <p:sp>
        <p:nvSpPr>
          <p:cNvPr id="22" name="timeline-dot-6"/>
          <p:cNvSpPr/>
          <p:nvPr/>
        </p:nvSpPr>
        <p:spPr>
          <a:xfrm>
            <a:off x="10725912" y="2743200"/>
            <a:ext cx="365760" cy="365760"/>
          </a:xfrm>
          <a:prstGeom prst="ellipse">
            <a:avLst/>
          </a:prstGeom>
          <a:solidFill>
            <a:schemeClr val="accent1"/>
          </a:solidFill>
          <a:ln w="25400">
            <a:solidFill>
              <a:schemeClr val="bg1"/>
            </a:solidFill>
            <a:prstDash val="solid"/>
          </a:ln>
        </p:spPr>
      </p:sp>
      <p:sp>
        <p:nvSpPr>
          <p:cNvPr id="23" name="Text 21"/>
          <p:cNvSpPr txBox="1"/>
          <p:nvPr/>
        </p:nvSpPr>
        <p:spPr>
          <a:xfrm>
            <a:off x="10314432" y="2057400"/>
            <a:ext cx="1554480" cy="45720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Dec 2025</a:t>
            </a:r>
            <a:endParaRPr lang="en-US" sz="1800" dirty="0"/>
          </a:p>
        </p:txBody>
      </p:sp>
      <p:sp>
        <p:nvSpPr>
          <p:cNvPr id="24" name="Text 22"/>
          <p:cNvSpPr txBox="1"/>
          <p:nvPr/>
        </p:nvSpPr>
        <p:spPr>
          <a:xfrm>
            <a:off x="10314432" y="3291840"/>
            <a:ext cx="1572768" cy="1737360"/>
          </a:xfrm>
          <a:prstGeom prst="rect">
            <a:avLst/>
          </a:prstGeom>
          <a:noFill/>
          <a:ln/>
        </p:spPr>
        <p:txBody>
          <a:bodyPr wrap="square" lIns="0" tIns="0" rIns="0" bIns="0" rtlCol="0" anchor="t"/>
          <a:lstStyle/>
          <a:p>
            <a:pPr indent="0" marL="0">
              <a:buNone/>
            </a:pPr>
            <a:r>
              <a:rPr lang="en-US" sz="1400" dirty="0">
                <a:solidFill>
                  <a:schemeClr val="tx1"/>
                </a:solidFill>
              </a:rPr>
              <a:t>Essential Home sold to Advent (30% retained); £1.6bn special dividend in Feb 2026</a:t>
            </a:r>
            <a:endParaRPr lang="en-US" sz="1400" dirty="0"/>
          </a:p>
        </p:txBody>
      </p:sp>
      <p:sp>
        <p:nvSpPr>
          <p:cNvPr id="25" name="history-callout"/>
          <p:cNvSpPr/>
          <p:nvPr/>
        </p:nvSpPr>
        <p:spPr>
          <a:xfrm>
            <a:off x="548640" y="5120640"/>
            <a:ext cx="11064240" cy="1051560"/>
          </a:xfrm>
          <a:prstGeom prst="roundRect">
            <a:avLst>
              <a:gd name="adj" fmla="val 6957"/>
            </a:avLst>
          </a:prstGeom>
          <a:solidFill>
            <a:schemeClr val="bg2"/>
          </a:solidFill>
          <a:ln/>
        </p:spPr>
      </p:sp>
      <p:sp>
        <p:nvSpPr>
          <p:cNvPr id="26" name="Text 24"/>
          <p:cNvSpPr txBox="1"/>
          <p:nvPr/>
        </p:nvSpPr>
        <p:spPr>
          <a:xfrm>
            <a:off x="777240" y="5212080"/>
            <a:ext cx="10607040" cy="868680"/>
          </a:xfrm>
          <a:prstGeom prst="rect">
            <a:avLst/>
          </a:prstGeom>
          <a:noFill/>
          <a:ln/>
        </p:spPr>
        <p:txBody>
          <a:bodyPr wrap="square" lIns="0" tIns="0" rIns="0" bIns="0" rtlCol="0" anchor="ctr"/>
          <a:lstStyle/>
          <a:p>
            <a:pPr indent="0" marL="0">
              <a:buNone/>
            </a:pPr>
            <a:r>
              <a:rPr lang="en-US" sz="1500" b="1" dirty="0">
                <a:solidFill>
                  <a:schemeClr val="accent1"/>
                </a:solidFill>
              </a:rPr>
              <a:t>Why it matters to investors: </a:t>
            </a:r>
            <a:pPr indent="0" marL="0">
              <a:buNone/>
            </a:pPr>
            <a:r>
              <a:rPr lang="en-US" sz="1500" dirty="0">
                <a:solidFill>
                  <a:schemeClr val="tx1"/>
                </a:solidFill>
              </a:rPr>
              <a:t>the group has been reshaped from a diversified household-goods conglomerate into a focused consumer health and hygiene company. The 2024-25 portfolio reset is the context for every 2025 ratio that follows.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Nature and size of the business</a:t>
            </a:r>
            <a:endParaRPr lang="en-US" sz="3400" dirty="0"/>
          </a:p>
        </p:txBody>
      </p:sp>
      <p:sp>
        <p:nvSpPr>
          <p:cNvPr id="3" name="stat-0"/>
          <p:cNvSpPr/>
          <p:nvPr/>
        </p:nvSpPr>
        <p:spPr>
          <a:xfrm>
            <a:off x="548640" y="1371600"/>
            <a:ext cx="3291840" cy="1024128"/>
          </a:xfrm>
          <a:prstGeom prst="roundRect">
            <a:avLst>
              <a:gd name="adj" fmla="val 7143"/>
            </a:avLst>
          </a:prstGeom>
          <a:solidFill>
            <a:schemeClr val="bg2"/>
          </a:solidFill>
          <a:ln/>
        </p:spPr>
      </p:sp>
      <p:sp>
        <p:nvSpPr>
          <p:cNvPr id="4" name="Text 2"/>
          <p:cNvSpPr txBox="1"/>
          <p:nvPr/>
        </p:nvSpPr>
        <p:spPr>
          <a:xfrm>
            <a:off x="777240" y="1444752"/>
            <a:ext cx="292608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£14.2bn</a:t>
            </a:r>
            <a:endParaRPr lang="en-US" sz="3200" dirty="0"/>
          </a:p>
        </p:txBody>
      </p:sp>
      <p:sp>
        <p:nvSpPr>
          <p:cNvPr id="5" name="Text 3"/>
          <p:cNvSpPr txBox="1"/>
          <p:nvPr/>
        </p:nvSpPr>
        <p:spPr>
          <a:xfrm>
            <a:off x="777240" y="1993392"/>
            <a:ext cx="2926080" cy="320040"/>
          </a:xfrm>
          <a:prstGeom prst="rect">
            <a:avLst/>
          </a:prstGeom>
          <a:noFill/>
          <a:ln/>
        </p:spPr>
        <p:txBody>
          <a:bodyPr wrap="square" lIns="0" tIns="0" rIns="0" bIns="0" rtlCol="0" anchor="t"/>
          <a:lstStyle/>
          <a:p>
            <a:pPr indent="0" marL="0">
              <a:buNone/>
            </a:pPr>
            <a:r>
              <a:rPr lang="en-US" sz="1400" dirty="0">
                <a:solidFill>
                  <a:schemeClr val="tx1"/>
                </a:solidFill>
              </a:rPr>
              <a:t>net revenue FY2025</a:t>
            </a:r>
            <a:endParaRPr lang="en-US" sz="1400" dirty="0"/>
          </a:p>
        </p:txBody>
      </p:sp>
      <p:sp>
        <p:nvSpPr>
          <p:cNvPr id="6" name="stat-1"/>
          <p:cNvSpPr/>
          <p:nvPr/>
        </p:nvSpPr>
        <p:spPr>
          <a:xfrm>
            <a:off x="548640" y="2560320"/>
            <a:ext cx="3291840" cy="1024128"/>
          </a:xfrm>
          <a:prstGeom prst="roundRect">
            <a:avLst>
              <a:gd name="adj" fmla="val 7143"/>
            </a:avLst>
          </a:prstGeom>
          <a:solidFill>
            <a:schemeClr val="bg2"/>
          </a:solidFill>
          <a:ln/>
        </p:spPr>
      </p:sp>
      <p:sp>
        <p:nvSpPr>
          <p:cNvPr id="7" name="Text 5"/>
          <p:cNvSpPr txBox="1"/>
          <p:nvPr/>
        </p:nvSpPr>
        <p:spPr>
          <a:xfrm>
            <a:off x="777240" y="2633472"/>
            <a:ext cx="292608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£40.4bn</a:t>
            </a:r>
            <a:endParaRPr lang="en-US" sz="3200" dirty="0"/>
          </a:p>
        </p:txBody>
      </p:sp>
      <p:sp>
        <p:nvSpPr>
          <p:cNvPr id="8" name="Text 6"/>
          <p:cNvSpPr txBox="1"/>
          <p:nvPr/>
        </p:nvSpPr>
        <p:spPr>
          <a:xfrm>
            <a:off x="777240" y="3182112"/>
            <a:ext cx="2926080" cy="320040"/>
          </a:xfrm>
          <a:prstGeom prst="rect">
            <a:avLst/>
          </a:prstGeom>
          <a:noFill/>
          <a:ln/>
        </p:spPr>
        <p:txBody>
          <a:bodyPr wrap="square" lIns="0" tIns="0" rIns="0" bIns="0" rtlCol="0" anchor="t"/>
          <a:lstStyle/>
          <a:p>
            <a:pPr indent="0" marL="0">
              <a:buNone/>
            </a:pPr>
            <a:r>
              <a:rPr lang="en-US" sz="1400" dirty="0">
                <a:solidFill>
                  <a:schemeClr val="tx1"/>
                </a:solidFill>
              </a:rPr>
              <a:t>market capitalisation, 31 Dec 2025</a:t>
            </a:r>
            <a:endParaRPr lang="en-US" sz="1400" dirty="0"/>
          </a:p>
        </p:txBody>
      </p:sp>
      <p:sp>
        <p:nvSpPr>
          <p:cNvPr id="9" name="stat-2"/>
          <p:cNvSpPr/>
          <p:nvPr/>
        </p:nvSpPr>
        <p:spPr>
          <a:xfrm>
            <a:off x="548640" y="3749040"/>
            <a:ext cx="3291840" cy="1024128"/>
          </a:xfrm>
          <a:prstGeom prst="roundRect">
            <a:avLst>
              <a:gd name="adj" fmla="val 7143"/>
            </a:avLst>
          </a:prstGeom>
          <a:solidFill>
            <a:schemeClr val="bg2"/>
          </a:solidFill>
          <a:ln/>
        </p:spPr>
      </p:sp>
      <p:sp>
        <p:nvSpPr>
          <p:cNvPr id="10" name="Text 8"/>
          <p:cNvSpPr txBox="1"/>
          <p:nvPr/>
        </p:nvSpPr>
        <p:spPr>
          <a:xfrm>
            <a:off x="777240" y="3822192"/>
            <a:ext cx="292608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36k</a:t>
            </a:r>
            <a:endParaRPr lang="en-US" sz="3200" dirty="0"/>
          </a:p>
        </p:txBody>
      </p:sp>
      <p:sp>
        <p:nvSpPr>
          <p:cNvPr id="11" name="Text 9"/>
          <p:cNvSpPr txBox="1"/>
          <p:nvPr/>
        </p:nvSpPr>
        <p:spPr>
          <a:xfrm>
            <a:off x="777240" y="4370832"/>
            <a:ext cx="2926080" cy="320040"/>
          </a:xfrm>
          <a:prstGeom prst="rect">
            <a:avLst/>
          </a:prstGeom>
          <a:noFill/>
          <a:ln/>
        </p:spPr>
        <p:txBody>
          <a:bodyPr wrap="square" lIns="0" tIns="0" rIns="0" bIns="0" rtlCol="0" anchor="t"/>
          <a:lstStyle/>
          <a:p>
            <a:pPr indent="0" marL="0">
              <a:buNone/>
            </a:pPr>
            <a:r>
              <a:rPr lang="en-US" sz="1400" dirty="0">
                <a:solidFill>
                  <a:schemeClr val="tx1"/>
                </a:solidFill>
              </a:rPr>
              <a:t>average employees</a:t>
            </a:r>
            <a:endParaRPr lang="en-US" sz="1400" dirty="0"/>
          </a:p>
        </p:txBody>
      </p:sp>
      <p:sp>
        <p:nvSpPr>
          <p:cNvPr id="12" name="stat-3"/>
          <p:cNvSpPr/>
          <p:nvPr/>
        </p:nvSpPr>
        <p:spPr>
          <a:xfrm>
            <a:off x="548640" y="4937760"/>
            <a:ext cx="3291840" cy="1024128"/>
          </a:xfrm>
          <a:prstGeom prst="roundRect">
            <a:avLst>
              <a:gd name="adj" fmla="val 7143"/>
            </a:avLst>
          </a:prstGeom>
          <a:solidFill>
            <a:schemeClr val="bg2"/>
          </a:solidFill>
          <a:ln/>
        </p:spPr>
      </p:sp>
      <p:sp>
        <p:nvSpPr>
          <p:cNvPr id="13" name="Text 11"/>
          <p:cNvSpPr txBox="1"/>
          <p:nvPr/>
        </p:nvSpPr>
        <p:spPr>
          <a:xfrm>
            <a:off x="777240" y="5010912"/>
            <a:ext cx="292608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80</a:t>
            </a:r>
            <a:endParaRPr lang="en-US" sz="3200" dirty="0"/>
          </a:p>
        </p:txBody>
      </p:sp>
      <p:sp>
        <p:nvSpPr>
          <p:cNvPr id="14" name="Text 12"/>
          <p:cNvSpPr txBox="1"/>
          <p:nvPr/>
        </p:nvSpPr>
        <p:spPr>
          <a:xfrm>
            <a:off x="777240" y="5559552"/>
            <a:ext cx="2926080" cy="320040"/>
          </a:xfrm>
          <a:prstGeom prst="rect">
            <a:avLst/>
          </a:prstGeom>
          <a:noFill/>
          <a:ln/>
        </p:spPr>
        <p:txBody>
          <a:bodyPr wrap="square" lIns="0" tIns="0" rIns="0" bIns="0" rtlCol="0" anchor="t"/>
          <a:lstStyle/>
          <a:p>
            <a:pPr indent="0" marL="0">
              <a:buNone/>
            </a:pPr>
            <a:r>
              <a:rPr lang="en-US" sz="1400" dirty="0">
                <a:solidFill>
                  <a:schemeClr val="tx1"/>
                </a:solidFill>
              </a:rPr>
              <a:t>countries of operation</a:t>
            </a:r>
            <a:endParaRPr lang="en-US" sz="1400" dirty="0"/>
          </a:p>
        </p:txBody>
      </p:sp>
      <p:graphicFrame>
        <p:nvGraphicFramePr>
          <p:cNvPr id="15" name="revenue-doughnut" descr=""/>
          <p:cNvGraphicFramePr/>
          <p:nvPr/>
        </p:nvGraphicFramePr>
        <p:xfrm>
          <a:off x="4069080" y="1325880"/>
          <a:ext cx="3931920" cy="4846320"/>
        </p:xfrm>
        <a:graphic xmlns:a="http://schemas.openxmlformats.org/drawingml/2006/main">
          <a:graphicData uri="http://schemas.openxmlformats.org/drawingml/2006/chart">
            <c:chart xmlns:c="http://schemas.openxmlformats.org/drawingml/2006/chart" r:id="rId1"/>
          </a:graphicData>
        </a:graphic>
      </p:graphicFrame>
      <p:sp>
        <p:nvSpPr>
          <p:cNvPr id="16" name="categories-card"/>
          <p:cNvSpPr/>
          <p:nvPr/>
        </p:nvSpPr>
        <p:spPr>
          <a:xfrm>
            <a:off x="8229600" y="1371600"/>
            <a:ext cx="3383280" cy="4754880"/>
          </a:xfrm>
          <a:prstGeom prst="roundRect">
            <a:avLst>
              <a:gd name="adj" fmla="val 2162"/>
            </a:avLst>
          </a:prstGeom>
          <a:solidFill>
            <a:schemeClr val="bg2"/>
          </a:solidFill>
          <a:ln/>
        </p:spPr>
      </p:sp>
      <p:sp>
        <p:nvSpPr>
          <p:cNvPr id="17" name="Text 14"/>
          <p:cNvSpPr txBox="1"/>
          <p:nvPr/>
        </p:nvSpPr>
        <p:spPr>
          <a:xfrm>
            <a:off x="8412480" y="1481328"/>
            <a:ext cx="3017520" cy="457200"/>
          </a:xfrm>
          <a:prstGeom prst="rect">
            <a:avLst/>
          </a:prstGeom>
          <a:noFill/>
          <a:ln/>
        </p:spPr>
        <p:txBody>
          <a:bodyPr wrap="square" lIns="0" tIns="0" rIns="0" bIns="0" rtlCol="0" anchor="t"/>
          <a:lstStyle/>
          <a:p>
            <a:pPr indent="0" marL="0">
              <a:buNone/>
            </a:pPr>
            <a:r>
              <a:rPr lang="en-US" sz="1600" b="1" dirty="0">
                <a:solidFill>
                  <a:schemeClr val="tx2"/>
                </a:solidFill>
              </a:rPr>
              <a:t>Four categories, 11 Powerbrands</a:t>
            </a:r>
            <a:endParaRPr lang="en-US" sz="1600" dirty="0"/>
          </a:p>
        </p:txBody>
      </p:sp>
      <p:sp>
        <p:nvSpPr>
          <p:cNvPr id="18" name="Text 15"/>
          <p:cNvSpPr txBox="1"/>
          <p:nvPr/>
        </p:nvSpPr>
        <p:spPr>
          <a:xfrm>
            <a:off x="8412480" y="1965960"/>
            <a:ext cx="3017520" cy="4023360"/>
          </a:xfrm>
          <a:prstGeom prst="rect">
            <a:avLst/>
          </a:prstGeom>
          <a:noFill/>
          <a:ln/>
        </p:spPr>
        <p:txBody>
          <a:bodyPr wrap="square" lIns="0" tIns="0" rIns="0" bIns="0" rtlCol="0" anchor="t"/>
          <a:lstStyle/>
          <a:p>
            <a:pPr indent="0" marL="0">
              <a:spcAft>
                <a:spcPts val="800"/>
              </a:spcAft>
              <a:buNone/>
            </a:pPr>
            <a:r>
              <a:rPr lang="en-US" sz="1400" b="1" dirty="0">
                <a:solidFill>
                  <a:schemeClr val="accent1"/>
                </a:solidFill>
              </a:rPr>
              <a:t>Self Care: </a:t>
            </a:r>
            <a:pPr indent="0" marL="0">
              <a:spcAft>
                <a:spcPts val="800"/>
              </a:spcAft>
              <a:buNone/>
            </a:pPr>
            <a:r>
              <a:rPr lang="en-US" sz="1400" dirty="0">
                <a:solidFill>
                  <a:schemeClr val="tx1"/>
                </a:solidFill>
              </a:rPr>
              <a:t>Strepsils, Mucinex, Gaviscon, Nurofen</a:t>
            </a:r>
            <a:endParaRPr lang="en-US" sz="1400" dirty="0"/>
          </a:p>
          <a:p>
            <a:pPr indent="0" marL="0">
              <a:spcAft>
                <a:spcPts val="800"/>
              </a:spcAft>
              <a:buNone/>
            </a:pPr>
            <a:r>
              <a:rPr lang="en-US" sz="1400" b="1" dirty="0">
                <a:solidFill>
                  <a:schemeClr val="accent1"/>
                </a:solidFill>
              </a:rPr>
              <a:t>Germ Protection: </a:t>
            </a:r>
            <a:pPr indent="0" marL="0">
              <a:spcAft>
                <a:spcPts val="800"/>
              </a:spcAft>
              <a:buNone/>
            </a:pPr>
            <a:r>
              <a:rPr lang="en-US" sz="1400" dirty="0">
                <a:solidFill>
                  <a:schemeClr val="tx1"/>
                </a:solidFill>
              </a:rPr>
              <a:t>Lysol, Dettol, Harpic</a:t>
            </a:r>
            <a:endParaRPr lang="en-US" sz="1400" dirty="0"/>
          </a:p>
          <a:p>
            <a:pPr indent="0" marL="0">
              <a:spcAft>
                <a:spcPts val="800"/>
              </a:spcAft>
              <a:buNone/>
            </a:pPr>
            <a:r>
              <a:rPr lang="en-US" sz="1400" b="1" dirty="0">
                <a:solidFill>
                  <a:schemeClr val="accent1"/>
                </a:solidFill>
              </a:rPr>
              <a:t>Household Care: </a:t>
            </a:r>
            <a:pPr indent="0" marL="0">
              <a:spcAft>
                <a:spcPts val="800"/>
              </a:spcAft>
              <a:buNone/>
            </a:pPr>
            <a:r>
              <a:rPr lang="en-US" sz="1400" dirty="0">
                <a:solidFill>
                  <a:schemeClr val="tx1"/>
                </a:solidFill>
              </a:rPr>
              <a:t>Finish, Vanish</a:t>
            </a:r>
            <a:endParaRPr lang="en-US" sz="1400" dirty="0"/>
          </a:p>
          <a:p>
            <a:pPr indent="0" marL="0">
              <a:spcAft>
                <a:spcPts val="800"/>
              </a:spcAft>
              <a:buNone/>
            </a:pPr>
            <a:r>
              <a:rPr lang="en-US" sz="1400" b="1" dirty="0">
                <a:solidFill>
                  <a:schemeClr val="accent1"/>
                </a:solidFill>
              </a:rPr>
              <a:t>Intimate Wellness: </a:t>
            </a:r>
            <a:pPr indent="0" marL="0">
              <a:spcAft>
                <a:spcPts val="800"/>
              </a:spcAft>
              <a:buNone/>
            </a:pPr>
            <a:r>
              <a:rPr lang="en-US" sz="1400" dirty="0">
                <a:solidFill>
                  <a:schemeClr val="tx1"/>
                </a:solidFill>
              </a:rPr>
              <a:t>Durex, Veet</a:t>
            </a:r>
            <a:endParaRPr lang="en-US" sz="1400" dirty="0"/>
          </a:p>
          <a:p>
            <a:pPr indent="0" marL="0">
              <a:spcAft>
                <a:spcPts val="800"/>
              </a:spcAft>
              <a:buNone/>
            </a:pPr>
            <a:r>
              <a:rPr lang="en-US" sz="1400" i="1" dirty="0">
                <a:solidFill>
                  <a:schemeClr val="tx1"/>
                </a:solidFill>
              </a:rPr>
              <a:t>Plus Mead Johnson Nutrition (Enfamil), managed as a non-core business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Key directors and governance</a:t>
            </a:r>
            <a:endParaRPr lang="en-US" sz="3400" dirty="0"/>
          </a:p>
        </p:txBody>
      </p:sp>
      <p:sp>
        <p:nvSpPr>
          <p:cNvPr id="3" name="director-0"/>
          <p:cNvSpPr/>
          <p:nvPr/>
        </p:nvSpPr>
        <p:spPr>
          <a:xfrm>
            <a:off x="548640" y="1371600"/>
            <a:ext cx="5394960" cy="1417320"/>
          </a:xfrm>
          <a:prstGeom prst="roundRect">
            <a:avLst>
              <a:gd name="adj" fmla="val 5161"/>
            </a:avLst>
          </a:prstGeom>
          <a:solidFill>
            <a:schemeClr val="bg2"/>
          </a:solidFill>
          <a:ln/>
        </p:spPr>
      </p:sp>
      <p:sp>
        <p:nvSpPr>
          <p:cNvPr id="4" name="director-icon-0-circle"/>
          <p:cNvSpPr/>
          <p:nvPr/>
        </p:nvSpPr>
        <p:spPr>
          <a:xfrm>
            <a:off x="731520" y="1645920"/>
            <a:ext cx="822960" cy="822960"/>
          </a:xfrm>
          <a:prstGeom prst="ellipse">
            <a:avLst/>
          </a:prstGeom>
          <a:solidFill>
            <a:schemeClr val="tx2"/>
          </a:solidFill>
          <a:ln/>
        </p:spPr>
      </p:sp>
      <p:pic>
        <p:nvPicPr>
          <p:cNvPr id="5" name="director-icon-0-glyph" descr="preencoded.png">    </p:cNvPr>
          <p:cNvPicPr>
            <a:picLocks noChangeAspect="1"/>
          </p:cNvPicPr>
          <p:nvPr/>
        </p:nvPicPr>
        <p:blipFill>
          <a:blip r:embed="rId1"/>
          <a:stretch>
            <a:fillRect/>
          </a:stretch>
        </p:blipFill>
        <p:spPr>
          <a:xfrm>
            <a:off x="929030" y="1843430"/>
            <a:ext cx="427939" cy="427939"/>
          </a:xfrm>
          <a:prstGeom prst="rect">
            <a:avLst/>
          </a:prstGeom>
        </p:spPr>
      </p:pic>
      <p:sp>
        <p:nvSpPr>
          <p:cNvPr id="6" name="Text 3"/>
          <p:cNvSpPr txBox="1"/>
          <p:nvPr/>
        </p:nvSpPr>
        <p:spPr>
          <a:xfrm>
            <a:off x="1737360" y="1508760"/>
            <a:ext cx="4069080" cy="365760"/>
          </a:xfrm>
          <a:prstGeom prst="rect">
            <a:avLst/>
          </a:prstGeom>
          <a:noFill/>
          <a:ln/>
        </p:spPr>
        <p:txBody>
          <a:bodyPr wrap="square" lIns="0" tIns="0" rIns="0" bIns="0" rtlCol="0" anchor="t"/>
          <a:lstStyle/>
          <a:p>
            <a:pPr indent="0" marL="0">
              <a:buNone/>
            </a:pPr>
            <a:r>
              <a:rPr lang="en-US" sz="1700" b="1" dirty="0">
                <a:solidFill>
                  <a:schemeClr val="tx2"/>
                </a:solidFill>
              </a:rPr>
              <a:t>Sir Jeremy Darroch</a:t>
            </a:r>
            <a:endParaRPr lang="en-US" sz="1700" dirty="0"/>
          </a:p>
        </p:txBody>
      </p:sp>
      <p:sp>
        <p:nvSpPr>
          <p:cNvPr id="7" name="Text 4"/>
          <p:cNvSpPr txBox="1"/>
          <p:nvPr/>
        </p:nvSpPr>
        <p:spPr>
          <a:xfrm>
            <a:off x="1737360" y="1856232"/>
            <a:ext cx="4069080" cy="320040"/>
          </a:xfrm>
          <a:prstGeom prst="rect">
            <a:avLst/>
          </a:prstGeom>
          <a:noFill/>
          <a:ln/>
        </p:spPr>
        <p:txBody>
          <a:bodyPr wrap="square" lIns="0" tIns="0" rIns="0" bIns="0" rtlCol="0" anchor="t"/>
          <a:lstStyle/>
          <a:p>
            <a:pPr indent="0" marL="0">
              <a:buNone/>
            </a:pPr>
            <a:r>
              <a:rPr lang="en-US" sz="1400" b="1" dirty="0">
                <a:solidFill>
                  <a:schemeClr val="accent1"/>
                </a:solidFill>
              </a:rPr>
              <a:t>Chair (since May 2024)</a:t>
            </a:r>
            <a:endParaRPr lang="en-US" sz="1400" dirty="0"/>
          </a:p>
        </p:txBody>
      </p:sp>
      <p:sp>
        <p:nvSpPr>
          <p:cNvPr id="8" name="Text 5"/>
          <p:cNvSpPr txBox="1"/>
          <p:nvPr/>
        </p:nvSpPr>
        <p:spPr>
          <a:xfrm>
            <a:off x="1737360" y="2176272"/>
            <a:ext cx="4069080" cy="548640"/>
          </a:xfrm>
          <a:prstGeom prst="rect">
            <a:avLst/>
          </a:prstGeom>
          <a:noFill/>
          <a:ln/>
        </p:spPr>
        <p:txBody>
          <a:bodyPr wrap="square" lIns="0" tIns="0" rIns="0" bIns="0" rtlCol="0" anchor="t"/>
          <a:lstStyle/>
          <a:p>
            <a:pPr indent="0" marL="0">
              <a:buNone/>
            </a:pPr>
            <a:r>
              <a:rPr lang="en-US" sz="1400" dirty="0">
                <a:solidFill>
                  <a:schemeClr val="tx1"/>
                </a:solidFill>
              </a:rPr>
              <a:t>Former Executive Chair and CEO of Sky; NED of The Walt Disney Company</a:t>
            </a:r>
            <a:endParaRPr lang="en-US" sz="1400" dirty="0"/>
          </a:p>
        </p:txBody>
      </p:sp>
      <p:sp>
        <p:nvSpPr>
          <p:cNvPr id="9" name="director-1"/>
          <p:cNvSpPr/>
          <p:nvPr/>
        </p:nvSpPr>
        <p:spPr>
          <a:xfrm>
            <a:off x="6126480" y="1371600"/>
            <a:ext cx="5394960" cy="1417320"/>
          </a:xfrm>
          <a:prstGeom prst="roundRect">
            <a:avLst>
              <a:gd name="adj" fmla="val 5161"/>
            </a:avLst>
          </a:prstGeom>
          <a:solidFill>
            <a:schemeClr val="bg2"/>
          </a:solidFill>
          <a:ln/>
        </p:spPr>
      </p:sp>
      <p:sp>
        <p:nvSpPr>
          <p:cNvPr id="10" name="director-icon-1-circle"/>
          <p:cNvSpPr/>
          <p:nvPr/>
        </p:nvSpPr>
        <p:spPr>
          <a:xfrm>
            <a:off x="6309360" y="1645920"/>
            <a:ext cx="822960" cy="822960"/>
          </a:xfrm>
          <a:prstGeom prst="ellipse">
            <a:avLst/>
          </a:prstGeom>
          <a:solidFill>
            <a:schemeClr val="tx2"/>
          </a:solidFill>
          <a:ln/>
        </p:spPr>
      </p:sp>
      <p:pic>
        <p:nvPicPr>
          <p:cNvPr id="11" name="director-icon-1-glyph" descr="preencoded.png">    </p:cNvPr>
          <p:cNvPicPr>
            <a:picLocks noChangeAspect="1"/>
          </p:cNvPicPr>
          <p:nvPr/>
        </p:nvPicPr>
        <p:blipFill>
          <a:blip r:embed="rId2"/>
          <a:stretch>
            <a:fillRect/>
          </a:stretch>
        </p:blipFill>
        <p:spPr>
          <a:xfrm>
            <a:off x="6506870" y="1843430"/>
            <a:ext cx="427939" cy="427939"/>
          </a:xfrm>
          <a:prstGeom prst="rect">
            <a:avLst/>
          </a:prstGeom>
        </p:spPr>
      </p:pic>
      <p:sp>
        <p:nvSpPr>
          <p:cNvPr id="12" name="Text 8"/>
          <p:cNvSpPr txBox="1"/>
          <p:nvPr/>
        </p:nvSpPr>
        <p:spPr>
          <a:xfrm>
            <a:off x="7315200" y="1508760"/>
            <a:ext cx="4069080" cy="365760"/>
          </a:xfrm>
          <a:prstGeom prst="rect">
            <a:avLst/>
          </a:prstGeom>
          <a:noFill/>
          <a:ln/>
        </p:spPr>
        <p:txBody>
          <a:bodyPr wrap="square" lIns="0" tIns="0" rIns="0" bIns="0" rtlCol="0" anchor="t"/>
          <a:lstStyle/>
          <a:p>
            <a:pPr indent="0" marL="0">
              <a:buNone/>
            </a:pPr>
            <a:r>
              <a:rPr lang="en-US" sz="1700" b="1" dirty="0">
                <a:solidFill>
                  <a:schemeClr val="tx2"/>
                </a:solidFill>
              </a:rPr>
              <a:t>Kris Licht</a:t>
            </a:r>
            <a:endParaRPr lang="en-US" sz="1700" dirty="0"/>
          </a:p>
        </p:txBody>
      </p:sp>
      <p:sp>
        <p:nvSpPr>
          <p:cNvPr id="13" name="Text 9"/>
          <p:cNvSpPr txBox="1"/>
          <p:nvPr/>
        </p:nvSpPr>
        <p:spPr>
          <a:xfrm>
            <a:off x="7315200" y="1856232"/>
            <a:ext cx="4069080" cy="320040"/>
          </a:xfrm>
          <a:prstGeom prst="rect">
            <a:avLst/>
          </a:prstGeom>
          <a:noFill/>
          <a:ln/>
        </p:spPr>
        <p:txBody>
          <a:bodyPr wrap="square" lIns="0" tIns="0" rIns="0" bIns="0" rtlCol="0" anchor="t"/>
          <a:lstStyle/>
          <a:p>
            <a:pPr indent="0" marL="0">
              <a:buNone/>
            </a:pPr>
            <a:r>
              <a:rPr lang="en-US" sz="1400" b="1" dirty="0">
                <a:solidFill>
                  <a:schemeClr val="accent1"/>
                </a:solidFill>
              </a:rPr>
              <a:t>Chief Executive Officer (since Oct 2023)</a:t>
            </a:r>
            <a:endParaRPr lang="en-US" sz="1400" dirty="0"/>
          </a:p>
        </p:txBody>
      </p:sp>
      <p:sp>
        <p:nvSpPr>
          <p:cNvPr id="14" name="Text 10"/>
          <p:cNvSpPr txBox="1"/>
          <p:nvPr/>
        </p:nvSpPr>
        <p:spPr>
          <a:xfrm>
            <a:off x="7315200" y="2176272"/>
            <a:ext cx="4069080" cy="548640"/>
          </a:xfrm>
          <a:prstGeom prst="rect">
            <a:avLst/>
          </a:prstGeom>
          <a:noFill/>
          <a:ln/>
        </p:spPr>
        <p:txBody>
          <a:bodyPr wrap="square" lIns="0" tIns="0" rIns="0" bIns="0" rtlCol="0" anchor="t"/>
          <a:lstStyle/>
          <a:p>
            <a:pPr indent="0" marL="0">
              <a:buNone/>
            </a:pPr>
            <a:r>
              <a:rPr lang="en-US" sz="1400" dirty="0">
                <a:solidFill>
                  <a:schemeClr val="tx1"/>
                </a:solidFill>
              </a:rPr>
              <a:t>Former President of Reckitt Health; PepsiCo; McKinsey partner</a:t>
            </a:r>
            <a:endParaRPr lang="en-US" sz="1400" dirty="0"/>
          </a:p>
        </p:txBody>
      </p:sp>
      <p:sp>
        <p:nvSpPr>
          <p:cNvPr id="15" name="director-2"/>
          <p:cNvSpPr/>
          <p:nvPr/>
        </p:nvSpPr>
        <p:spPr>
          <a:xfrm>
            <a:off x="548640" y="2971800"/>
            <a:ext cx="5394960" cy="1417320"/>
          </a:xfrm>
          <a:prstGeom prst="roundRect">
            <a:avLst>
              <a:gd name="adj" fmla="val 5161"/>
            </a:avLst>
          </a:prstGeom>
          <a:solidFill>
            <a:schemeClr val="bg2"/>
          </a:solidFill>
          <a:ln/>
        </p:spPr>
      </p:sp>
      <p:sp>
        <p:nvSpPr>
          <p:cNvPr id="16" name="director-icon-2-circle"/>
          <p:cNvSpPr/>
          <p:nvPr/>
        </p:nvSpPr>
        <p:spPr>
          <a:xfrm>
            <a:off x="731520" y="3246120"/>
            <a:ext cx="822960" cy="822960"/>
          </a:xfrm>
          <a:prstGeom prst="ellipse">
            <a:avLst/>
          </a:prstGeom>
          <a:solidFill>
            <a:schemeClr val="tx2"/>
          </a:solidFill>
          <a:ln/>
        </p:spPr>
      </p:sp>
      <p:pic>
        <p:nvPicPr>
          <p:cNvPr id="17" name="director-icon-2-glyph" descr="preencoded.png">    </p:cNvPr>
          <p:cNvPicPr>
            <a:picLocks noChangeAspect="1"/>
          </p:cNvPicPr>
          <p:nvPr/>
        </p:nvPicPr>
        <p:blipFill>
          <a:blip r:embed="rId3"/>
          <a:stretch>
            <a:fillRect/>
          </a:stretch>
        </p:blipFill>
        <p:spPr>
          <a:xfrm>
            <a:off x="929030" y="3443630"/>
            <a:ext cx="427939" cy="427939"/>
          </a:xfrm>
          <a:prstGeom prst="rect">
            <a:avLst/>
          </a:prstGeom>
        </p:spPr>
      </p:pic>
      <p:sp>
        <p:nvSpPr>
          <p:cNvPr id="18" name="Text 13"/>
          <p:cNvSpPr txBox="1"/>
          <p:nvPr/>
        </p:nvSpPr>
        <p:spPr>
          <a:xfrm>
            <a:off x="1737360" y="3108960"/>
            <a:ext cx="4069080" cy="365760"/>
          </a:xfrm>
          <a:prstGeom prst="rect">
            <a:avLst/>
          </a:prstGeom>
          <a:noFill/>
          <a:ln/>
        </p:spPr>
        <p:txBody>
          <a:bodyPr wrap="square" lIns="0" tIns="0" rIns="0" bIns="0" rtlCol="0" anchor="t"/>
          <a:lstStyle/>
          <a:p>
            <a:pPr indent="0" marL="0">
              <a:buNone/>
            </a:pPr>
            <a:r>
              <a:rPr lang="en-US" sz="1700" b="1" dirty="0">
                <a:solidFill>
                  <a:schemeClr val="tx2"/>
                </a:solidFill>
              </a:rPr>
              <a:t>Shannon Eisenhardt</a:t>
            </a:r>
            <a:endParaRPr lang="en-US" sz="1700" dirty="0"/>
          </a:p>
        </p:txBody>
      </p:sp>
      <p:sp>
        <p:nvSpPr>
          <p:cNvPr id="19" name="Text 14"/>
          <p:cNvSpPr txBox="1"/>
          <p:nvPr/>
        </p:nvSpPr>
        <p:spPr>
          <a:xfrm>
            <a:off x="1737360" y="3456432"/>
            <a:ext cx="4069080" cy="320040"/>
          </a:xfrm>
          <a:prstGeom prst="rect">
            <a:avLst/>
          </a:prstGeom>
          <a:noFill/>
          <a:ln/>
        </p:spPr>
        <p:txBody>
          <a:bodyPr wrap="square" lIns="0" tIns="0" rIns="0" bIns="0" rtlCol="0" anchor="t"/>
          <a:lstStyle/>
          <a:p>
            <a:pPr indent="0" marL="0">
              <a:buNone/>
            </a:pPr>
            <a:r>
              <a:rPr lang="en-US" sz="1400" b="1" dirty="0">
                <a:solidFill>
                  <a:schemeClr val="accent1"/>
                </a:solidFill>
              </a:rPr>
              <a:t>Chief Financial Officer (since Mar 2024)</a:t>
            </a:r>
            <a:endParaRPr lang="en-US" sz="1400" dirty="0"/>
          </a:p>
        </p:txBody>
      </p:sp>
      <p:sp>
        <p:nvSpPr>
          <p:cNvPr id="20" name="Text 15"/>
          <p:cNvSpPr txBox="1"/>
          <p:nvPr/>
        </p:nvSpPr>
        <p:spPr>
          <a:xfrm>
            <a:off x="1737360" y="3776472"/>
            <a:ext cx="4069080" cy="548640"/>
          </a:xfrm>
          <a:prstGeom prst="rect">
            <a:avLst/>
          </a:prstGeom>
          <a:noFill/>
          <a:ln/>
        </p:spPr>
        <p:txBody>
          <a:bodyPr wrap="square" lIns="0" tIns="0" rIns="0" bIns="0" rtlCol="0" anchor="t"/>
          <a:lstStyle/>
          <a:p>
            <a:pPr indent="0" marL="0">
              <a:buNone/>
            </a:pPr>
            <a:r>
              <a:rPr lang="en-US" sz="1400" dirty="0">
                <a:solidFill>
                  <a:schemeClr val="tx1"/>
                </a:solidFill>
              </a:rPr>
              <a:t>Former CFO of Nike North America; Procter &amp; Gamble finance</a:t>
            </a:r>
            <a:endParaRPr lang="en-US" sz="1400" dirty="0"/>
          </a:p>
        </p:txBody>
      </p:sp>
      <p:sp>
        <p:nvSpPr>
          <p:cNvPr id="21" name="director-3"/>
          <p:cNvSpPr/>
          <p:nvPr/>
        </p:nvSpPr>
        <p:spPr>
          <a:xfrm>
            <a:off x="6126480" y="2971800"/>
            <a:ext cx="5394960" cy="1417320"/>
          </a:xfrm>
          <a:prstGeom prst="roundRect">
            <a:avLst>
              <a:gd name="adj" fmla="val 5161"/>
            </a:avLst>
          </a:prstGeom>
          <a:solidFill>
            <a:schemeClr val="bg2"/>
          </a:solidFill>
          <a:ln/>
        </p:spPr>
      </p:sp>
      <p:sp>
        <p:nvSpPr>
          <p:cNvPr id="22" name="director-icon-3-circle"/>
          <p:cNvSpPr/>
          <p:nvPr/>
        </p:nvSpPr>
        <p:spPr>
          <a:xfrm>
            <a:off x="6309360" y="3246120"/>
            <a:ext cx="822960" cy="822960"/>
          </a:xfrm>
          <a:prstGeom prst="ellipse">
            <a:avLst/>
          </a:prstGeom>
          <a:solidFill>
            <a:schemeClr val="tx2"/>
          </a:solidFill>
          <a:ln/>
        </p:spPr>
      </p:sp>
      <p:pic>
        <p:nvPicPr>
          <p:cNvPr id="23" name="director-icon-3-glyph" descr="preencoded.png">    </p:cNvPr>
          <p:cNvPicPr>
            <a:picLocks noChangeAspect="1"/>
          </p:cNvPicPr>
          <p:nvPr/>
        </p:nvPicPr>
        <p:blipFill>
          <a:blip r:embed="rId4"/>
          <a:stretch>
            <a:fillRect/>
          </a:stretch>
        </p:blipFill>
        <p:spPr>
          <a:xfrm>
            <a:off x="6506870" y="3443630"/>
            <a:ext cx="427939" cy="427939"/>
          </a:xfrm>
          <a:prstGeom prst="rect">
            <a:avLst/>
          </a:prstGeom>
        </p:spPr>
      </p:pic>
      <p:sp>
        <p:nvSpPr>
          <p:cNvPr id="24" name="Text 18"/>
          <p:cNvSpPr txBox="1"/>
          <p:nvPr/>
        </p:nvSpPr>
        <p:spPr>
          <a:xfrm>
            <a:off x="7315200" y="3108960"/>
            <a:ext cx="4069080" cy="365760"/>
          </a:xfrm>
          <a:prstGeom prst="rect">
            <a:avLst/>
          </a:prstGeom>
          <a:noFill/>
          <a:ln/>
        </p:spPr>
        <p:txBody>
          <a:bodyPr wrap="square" lIns="0" tIns="0" rIns="0" bIns="0" rtlCol="0" anchor="t"/>
          <a:lstStyle/>
          <a:p>
            <a:pPr indent="0" marL="0">
              <a:buNone/>
            </a:pPr>
            <a:r>
              <a:rPr lang="en-US" sz="1700" b="1" dirty="0">
                <a:solidFill>
                  <a:schemeClr val="tx2"/>
                </a:solidFill>
              </a:rPr>
              <a:t>Andrew Bonfield</a:t>
            </a:r>
            <a:endParaRPr lang="en-US" sz="1700" dirty="0"/>
          </a:p>
        </p:txBody>
      </p:sp>
      <p:sp>
        <p:nvSpPr>
          <p:cNvPr id="25" name="Text 19"/>
          <p:cNvSpPr txBox="1"/>
          <p:nvPr/>
        </p:nvSpPr>
        <p:spPr>
          <a:xfrm>
            <a:off x="7315200" y="3456432"/>
            <a:ext cx="4069080" cy="320040"/>
          </a:xfrm>
          <a:prstGeom prst="rect">
            <a:avLst/>
          </a:prstGeom>
          <a:noFill/>
          <a:ln/>
        </p:spPr>
        <p:txBody>
          <a:bodyPr wrap="square" lIns="0" tIns="0" rIns="0" bIns="0" rtlCol="0" anchor="t"/>
          <a:lstStyle/>
          <a:p>
            <a:pPr indent="0" marL="0">
              <a:buNone/>
            </a:pPr>
            <a:r>
              <a:rPr lang="en-US" sz="1400" b="1" dirty="0">
                <a:solidFill>
                  <a:schemeClr val="accent1"/>
                </a:solidFill>
              </a:rPr>
              <a:t>Senior Independent Director</a:t>
            </a:r>
            <a:endParaRPr lang="en-US" sz="1400" dirty="0"/>
          </a:p>
        </p:txBody>
      </p:sp>
      <p:sp>
        <p:nvSpPr>
          <p:cNvPr id="26" name="Text 20"/>
          <p:cNvSpPr txBox="1"/>
          <p:nvPr/>
        </p:nvSpPr>
        <p:spPr>
          <a:xfrm>
            <a:off x="7315200" y="3776472"/>
            <a:ext cx="4069080" cy="548640"/>
          </a:xfrm>
          <a:prstGeom prst="rect">
            <a:avLst/>
          </a:prstGeom>
          <a:noFill/>
          <a:ln/>
        </p:spPr>
        <p:txBody>
          <a:bodyPr wrap="square" lIns="0" tIns="0" rIns="0" bIns="0" rtlCol="0" anchor="t"/>
          <a:lstStyle/>
          <a:p>
            <a:pPr indent="0" marL="0">
              <a:buNone/>
            </a:pPr>
            <a:r>
              <a:rPr lang="en-US" sz="1400" dirty="0">
                <a:solidFill>
                  <a:schemeClr val="tx1"/>
                </a:solidFill>
              </a:rPr>
              <a:t>CFO of Caterpillar Inc.; formerly Group CFO of National Grid</a:t>
            </a:r>
            <a:endParaRPr lang="en-US" sz="1400" dirty="0"/>
          </a:p>
        </p:txBody>
      </p:sp>
      <p:sp>
        <p:nvSpPr>
          <p:cNvPr id="27" name="gov-stat-0"/>
          <p:cNvSpPr/>
          <p:nvPr/>
        </p:nvSpPr>
        <p:spPr>
          <a:xfrm>
            <a:off x="548640" y="4709160"/>
            <a:ext cx="2615184" cy="1463040"/>
          </a:xfrm>
          <a:prstGeom prst="roundRect">
            <a:avLst>
              <a:gd name="adj" fmla="val 5000"/>
            </a:avLst>
          </a:prstGeom>
          <a:solidFill>
            <a:schemeClr val="tx2"/>
          </a:solidFill>
          <a:ln/>
        </p:spPr>
      </p:sp>
      <p:sp>
        <p:nvSpPr>
          <p:cNvPr id="28" name="Text 22"/>
          <p:cNvSpPr txBox="1"/>
          <p:nvPr/>
        </p:nvSpPr>
        <p:spPr>
          <a:xfrm>
            <a:off x="731520" y="4828032"/>
            <a:ext cx="2286000" cy="64008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12</a:t>
            </a:r>
            <a:endParaRPr lang="en-US" sz="3000" dirty="0"/>
          </a:p>
        </p:txBody>
      </p:sp>
      <p:sp>
        <p:nvSpPr>
          <p:cNvPr id="29" name="Text 23"/>
          <p:cNvSpPr txBox="1"/>
          <p:nvPr/>
        </p:nvSpPr>
        <p:spPr>
          <a:xfrm>
            <a:off x="731520" y="5468112"/>
            <a:ext cx="2286000" cy="594360"/>
          </a:xfrm>
          <a:prstGeom prst="rect">
            <a:avLst/>
          </a:prstGeom>
          <a:noFill/>
          <a:ln/>
        </p:spPr>
        <p:txBody>
          <a:bodyPr wrap="square" lIns="0" tIns="0" rIns="0" bIns="0" rtlCol="0" anchor="t"/>
          <a:lstStyle/>
          <a:p>
            <a:pPr indent="0" marL="0">
              <a:buNone/>
            </a:pPr>
            <a:r>
              <a:rPr lang="en-US" sz="1400" dirty="0">
                <a:solidFill>
                  <a:schemeClr val="accent4"/>
                </a:solidFill>
              </a:rPr>
              <a:t>Board members</a:t>
            </a:r>
            <a:endParaRPr lang="en-US" sz="1400" dirty="0"/>
          </a:p>
        </p:txBody>
      </p:sp>
      <p:sp>
        <p:nvSpPr>
          <p:cNvPr id="30" name="gov-stat-1"/>
          <p:cNvSpPr/>
          <p:nvPr/>
        </p:nvSpPr>
        <p:spPr>
          <a:xfrm>
            <a:off x="3346704" y="4709160"/>
            <a:ext cx="2615184" cy="1463040"/>
          </a:xfrm>
          <a:prstGeom prst="roundRect">
            <a:avLst>
              <a:gd name="adj" fmla="val 5000"/>
            </a:avLst>
          </a:prstGeom>
          <a:solidFill>
            <a:schemeClr val="tx2"/>
          </a:solidFill>
          <a:ln/>
        </p:spPr>
      </p:sp>
      <p:sp>
        <p:nvSpPr>
          <p:cNvPr id="31" name="Text 25"/>
          <p:cNvSpPr txBox="1"/>
          <p:nvPr/>
        </p:nvSpPr>
        <p:spPr>
          <a:xfrm>
            <a:off x="3529584" y="4828032"/>
            <a:ext cx="2286000" cy="64008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9</a:t>
            </a:r>
            <a:endParaRPr lang="en-US" sz="3000" dirty="0"/>
          </a:p>
        </p:txBody>
      </p:sp>
      <p:sp>
        <p:nvSpPr>
          <p:cNvPr id="32" name="Text 26"/>
          <p:cNvSpPr txBox="1"/>
          <p:nvPr/>
        </p:nvSpPr>
        <p:spPr>
          <a:xfrm>
            <a:off x="3529584" y="5468112"/>
            <a:ext cx="2286000" cy="594360"/>
          </a:xfrm>
          <a:prstGeom prst="rect">
            <a:avLst/>
          </a:prstGeom>
          <a:noFill/>
          <a:ln/>
        </p:spPr>
        <p:txBody>
          <a:bodyPr wrap="square" lIns="0" tIns="0" rIns="0" bIns="0" rtlCol="0" anchor="t"/>
          <a:lstStyle/>
          <a:p>
            <a:pPr indent="0" marL="0">
              <a:buNone/>
            </a:pPr>
            <a:r>
              <a:rPr lang="en-US" sz="1400" dirty="0">
                <a:solidFill>
                  <a:schemeClr val="accent4"/>
                </a:solidFill>
              </a:rPr>
              <a:t>independent non-executive directors</a:t>
            </a:r>
            <a:endParaRPr lang="en-US" sz="1400" dirty="0"/>
          </a:p>
        </p:txBody>
      </p:sp>
      <p:sp>
        <p:nvSpPr>
          <p:cNvPr id="33" name="gov-stat-2"/>
          <p:cNvSpPr/>
          <p:nvPr/>
        </p:nvSpPr>
        <p:spPr>
          <a:xfrm>
            <a:off x="6144768" y="4709160"/>
            <a:ext cx="2615184" cy="1463040"/>
          </a:xfrm>
          <a:prstGeom prst="roundRect">
            <a:avLst>
              <a:gd name="adj" fmla="val 5000"/>
            </a:avLst>
          </a:prstGeom>
          <a:solidFill>
            <a:schemeClr val="tx2"/>
          </a:solidFill>
          <a:ln/>
        </p:spPr>
      </p:sp>
      <p:sp>
        <p:nvSpPr>
          <p:cNvPr id="34" name="Text 28"/>
          <p:cNvSpPr txBox="1"/>
          <p:nvPr/>
        </p:nvSpPr>
        <p:spPr>
          <a:xfrm>
            <a:off x="6327648" y="4828032"/>
            <a:ext cx="2286000" cy="64008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7 of 12</a:t>
            </a:r>
            <a:endParaRPr lang="en-US" sz="3000" dirty="0"/>
          </a:p>
        </p:txBody>
      </p:sp>
      <p:sp>
        <p:nvSpPr>
          <p:cNvPr id="35" name="Text 29"/>
          <p:cNvSpPr txBox="1"/>
          <p:nvPr/>
        </p:nvSpPr>
        <p:spPr>
          <a:xfrm>
            <a:off x="6327648" y="5468112"/>
            <a:ext cx="2286000" cy="594360"/>
          </a:xfrm>
          <a:prstGeom prst="rect">
            <a:avLst/>
          </a:prstGeom>
          <a:noFill/>
          <a:ln/>
        </p:spPr>
        <p:txBody>
          <a:bodyPr wrap="square" lIns="0" tIns="0" rIns="0" bIns="0" rtlCol="0" anchor="t"/>
          <a:lstStyle/>
          <a:p>
            <a:pPr indent="0" marL="0">
              <a:buNone/>
            </a:pPr>
            <a:r>
              <a:rPr lang="en-US" sz="1400" dirty="0">
                <a:solidFill>
                  <a:schemeClr val="accent4"/>
                </a:solidFill>
              </a:rPr>
              <a:t>directors are women</a:t>
            </a:r>
            <a:endParaRPr lang="en-US" sz="1400" dirty="0"/>
          </a:p>
        </p:txBody>
      </p:sp>
      <p:sp>
        <p:nvSpPr>
          <p:cNvPr id="36" name="gov-stat-3"/>
          <p:cNvSpPr/>
          <p:nvPr/>
        </p:nvSpPr>
        <p:spPr>
          <a:xfrm>
            <a:off x="8942832" y="4709160"/>
            <a:ext cx="2615184" cy="1463040"/>
          </a:xfrm>
          <a:prstGeom prst="roundRect">
            <a:avLst>
              <a:gd name="adj" fmla="val 5000"/>
            </a:avLst>
          </a:prstGeom>
          <a:solidFill>
            <a:schemeClr val="tx2"/>
          </a:solidFill>
          <a:ln/>
        </p:spPr>
      </p:sp>
      <p:sp>
        <p:nvSpPr>
          <p:cNvPr id="37" name="Text 31"/>
          <p:cNvSpPr txBox="1"/>
          <p:nvPr/>
        </p:nvSpPr>
        <p:spPr>
          <a:xfrm>
            <a:off x="9125712" y="4828032"/>
            <a:ext cx="2286000" cy="64008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KPMG</a:t>
            </a:r>
            <a:endParaRPr lang="en-US" sz="3000" dirty="0"/>
          </a:p>
        </p:txBody>
      </p:sp>
      <p:sp>
        <p:nvSpPr>
          <p:cNvPr id="38" name="Text 32"/>
          <p:cNvSpPr txBox="1"/>
          <p:nvPr/>
        </p:nvSpPr>
        <p:spPr>
          <a:xfrm>
            <a:off x="9125712" y="5468112"/>
            <a:ext cx="2286000" cy="594360"/>
          </a:xfrm>
          <a:prstGeom prst="rect">
            <a:avLst/>
          </a:prstGeom>
          <a:noFill/>
          <a:ln/>
        </p:spPr>
        <p:txBody>
          <a:bodyPr wrap="square" lIns="0" tIns="0" rIns="0" bIns="0" rtlCol="0" anchor="t"/>
          <a:lstStyle/>
          <a:p>
            <a:pPr indent="0" marL="0">
              <a:buNone/>
            </a:pPr>
            <a:r>
              <a:rPr lang="en-US" sz="1400" dirty="0">
                <a:solidFill>
                  <a:schemeClr val="accent4"/>
                </a:solidFill>
              </a:rPr>
              <a:t>external auditor since 2018</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Financial analysis: theory, methods and data</a:t>
            </a:r>
            <a:endParaRPr lang="en-US" sz="3400" dirty="0"/>
          </a:p>
        </p:txBody>
      </p:sp>
      <p:sp>
        <p:nvSpPr>
          <p:cNvPr id="3" name="theory-0"/>
          <p:cNvSpPr/>
          <p:nvPr/>
        </p:nvSpPr>
        <p:spPr>
          <a:xfrm>
            <a:off x="548640" y="1371600"/>
            <a:ext cx="4937760" cy="1463040"/>
          </a:xfrm>
          <a:prstGeom prst="roundRect">
            <a:avLst>
              <a:gd name="adj" fmla="val 5000"/>
            </a:avLst>
          </a:prstGeom>
          <a:solidFill>
            <a:schemeClr val="bg2"/>
          </a:solidFill>
          <a:ln/>
        </p:spPr>
      </p:sp>
      <p:sp>
        <p:nvSpPr>
          <p:cNvPr id="4" name="theory-icon-0-circle"/>
          <p:cNvSpPr/>
          <p:nvPr/>
        </p:nvSpPr>
        <p:spPr>
          <a:xfrm>
            <a:off x="731520" y="1600200"/>
            <a:ext cx="640080" cy="640080"/>
          </a:xfrm>
          <a:prstGeom prst="ellipse">
            <a:avLst/>
          </a:prstGeom>
          <a:solidFill>
            <a:schemeClr val="accent1"/>
          </a:solidFill>
          <a:ln/>
        </p:spPr>
      </p:sp>
      <p:pic>
        <p:nvPicPr>
          <p:cNvPr id="5" name="theory-icon-0-glyph" descr="preencoded.png">    </p:cNvPr>
          <p:cNvPicPr>
            <a:picLocks noChangeAspect="1"/>
          </p:cNvPicPr>
          <p:nvPr/>
        </p:nvPicPr>
        <p:blipFill>
          <a:blip r:embed="rId1"/>
          <a:stretch>
            <a:fillRect/>
          </a:stretch>
        </p:blipFill>
        <p:spPr>
          <a:xfrm>
            <a:off x="885139" y="1753819"/>
            <a:ext cx="332842" cy="332842"/>
          </a:xfrm>
          <a:prstGeom prst="rect">
            <a:avLst/>
          </a:prstGeom>
        </p:spPr>
      </p:pic>
      <p:sp>
        <p:nvSpPr>
          <p:cNvPr id="6" name="Text 3"/>
          <p:cNvSpPr txBox="1"/>
          <p:nvPr/>
        </p:nvSpPr>
        <p:spPr>
          <a:xfrm>
            <a:off x="1554480" y="1481328"/>
            <a:ext cx="3749040" cy="365760"/>
          </a:xfrm>
          <a:prstGeom prst="rect">
            <a:avLst/>
          </a:prstGeom>
          <a:noFill/>
          <a:ln/>
        </p:spPr>
        <p:txBody>
          <a:bodyPr wrap="square" lIns="0" tIns="0" rIns="0" bIns="0" rtlCol="0" anchor="t"/>
          <a:lstStyle/>
          <a:p>
            <a:pPr indent="0" marL="0">
              <a:buNone/>
            </a:pPr>
            <a:r>
              <a:rPr lang="en-US" sz="1700" b="1" dirty="0">
                <a:solidFill>
                  <a:schemeClr val="tx2"/>
                </a:solidFill>
              </a:rPr>
              <a:t>Purpose</a:t>
            </a:r>
            <a:endParaRPr lang="en-US" sz="1700" dirty="0"/>
          </a:p>
        </p:txBody>
      </p:sp>
      <p:sp>
        <p:nvSpPr>
          <p:cNvPr id="7" name="Text 4"/>
          <p:cNvSpPr txBox="1"/>
          <p:nvPr/>
        </p:nvSpPr>
        <p:spPr>
          <a:xfrm>
            <a:off x="1554480" y="1847088"/>
            <a:ext cx="3749040" cy="914400"/>
          </a:xfrm>
          <a:prstGeom prst="rect">
            <a:avLst/>
          </a:prstGeom>
          <a:noFill/>
          <a:ln/>
        </p:spPr>
        <p:txBody>
          <a:bodyPr wrap="square" lIns="0" tIns="0" rIns="0" bIns="0" rtlCol="0" anchor="t"/>
          <a:lstStyle/>
          <a:p>
            <a:pPr indent="0" marL="0">
              <a:buNone/>
            </a:pPr>
            <a:r>
              <a:rPr lang="en-US" sz="1400" dirty="0">
                <a:solidFill>
                  <a:schemeClr val="tx1"/>
                </a:solidFill>
              </a:rPr>
              <a:t>Judge performance and position; reduce information asymmetry for investors (Healy and Palepu, 2001)</a:t>
            </a:r>
            <a:endParaRPr lang="en-US" sz="1400" dirty="0"/>
          </a:p>
        </p:txBody>
      </p:sp>
      <p:sp>
        <p:nvSpPr>
          <p:cNvPr id="8" name="theory-1"/>
          <p:cNvSpPr/>
          <p:nvPr/>
        </p:nvSpPr>
        <p:spPr>
          <a:xfrm>
            <a:off x="548640" y="2999232"/>
            <a:ext cx="4937760" cy="1463040"/>
          </a:xfrm>
          <a:prstGeom prst="roundRect">
            <a:avLst>
              <a:gd name="adj" fmla="val 5000"/>
            </a:avLst>
          </a:prstGeom>
          <a:solidFill>
            <a:schemeClr val="bg2"/>
          </a:solidFill>
          <a:ln/>
        </p:spPr>
      </p:sp>
      <p:sp>
        <p:nvSpPr>
          <p:cNvPr id="9" name="theory-icon-1-circle"/>
          <p:cNvSpPr/>
          <p:nvPr/>
        </p:nvSpPr>
        <p:spPr>
          <a:xfrm>
            <a:off x="731520" y="3227832"/>
            <a:ext cx="640080" cy="640080"/>
          </a:xfrm>
          <a:prstGeom prst="ellipse">
            <a:avLst/>
          </a:prstGeom>
          <a:solidFill>
            <a:schemeClr val="accent1"/>
          </a:solidFill>
          <a:ln/>
        </p:spPr>
      </p:sp>
      <p:pic>
        <p:nvPicPr>
          <p:cNvPr id="10" name="theory-icon-1-glyph" descr="preencoded.png">    </p:cNvPr>
          <p:cNvPicPr>
            <a:picLocks noChangeAspect="1"/>
          </p:cNvPicPr>
          <p:nvPr/>
        </p:nvPicPr>
        <p:blipFill>
          <a:blip r:embed="rId2"/>
          <a:stretch>
            <a:fillRect/>
          </a:stretch>
        </p:blipFill>
        <p:spPr>
          <a:xfrm>
            <a:off x="885139" y="3381451"/>
            <a:ext cx="332842" cy="332842"/>
          </a:xfrm>
          <a:prstGeom prst="rect">
            <a:avLst/>
          </a:prstGeom>
        </p:spPr>
      </p:pic>
      <p:sp>
        <p:nvSpPr>
          <p:cNvPr id="11" name="Text 7"/>
          <p:cNvSpPr txBox="1"/>
          <p:nvPr/>
        </p:nvSpPr>
        <p:spPr>
          <a:xfrm>
            <a:off x="1554480" y="3108960"/>
            <a:ext cx="3749040" cy="365760"/>
          </a:xfrm>
          <a:prstGeom prst="rect">
            <a:avLst/>
          </a:prstGeom>
          <a:noFill/>
          <a:ln/>
        </p:spPr>
        <p:txBody>
          <a:bodyPr wrap="square" lIns="0" tIns="0" rIns="0" bIns="0" rtlCol="0" anchor="t"/>
          <a:lstStyle/>
          <a:p>
            <a:pPr indent="0" marL="0">
              <a:buNone/>
            </a:pPr>
            <a:r>
              <a:rPr lang="en-US" sz="1700" b="1" dirty="0">
                <a:solidFill>
                  <a:schemeClr val="tx2"/>
                </a:solidFill>
              </a:rPr>
              <a:t>Methods</a:t>
            </a:r>
            <a:endParaRPr lang="en-US" sz="1700" dirty="0"/>
          </a:p>
        </p:txBody>
      </p:sp>
      <p:sp>
        <p:nvSpPr>
          <p:cNvPr id="12" name="Text 8"/>
          <p:cNvSpPr txBox="1"/>
          <p:nvPr/>
        </p:nvSpPr>
        <p:spPr>
          <a:xfrm>
            <a:off x="1554480" y="3474720"/>
            <a:ext cx="3749040" cy="914400"/>
          </a:xfrm>
          <a:prstGeom prst="rect">
            <a:avLst/>
          </a:prstGeom>
          <a:noFill/>
          <a:ln/>
        </p:spPr>
        <p:txBody>
          <a:bodyPr wrap="square" lIns="0" tIns="0" rIns="0" bIns="0" rtlCol="0" anchor="t"/>
          <a:lstStyle/>
          <a:p>
            <a:pPr indent="0" marL="0">
              <a:buNone/>
            </a:pPr>
            <a:r>
              <a:rPr lang="en-US" sz="1400" dirty="0">
                <a:solidFill>
                  <a:schemeClr val="tx1"/>
                </a:solidFill>
              </a:rPr>
              <a:t>Trend, common-size and ratio analysis across four areas, benchmarked against peers (Atrill and McLaney, 2022)</a:t>
            </a:r>
            <a:endParaRPr lang="en-US" sz="1400" dirty="0"/>
          </a:p>
        </p:txBody>
      </p:sp>
      <p:sp>
        <p:nvSpPr>
          <p:cNvPr id="13" name="theory-2"/>
          <p:cNvSpPr/>
          <p:nvPr/>
        </p:nvSpPr>
        <p:spPr>
          <a:xfrm>
            <a:off x="548640" y="4626864"/>
            <a:ext cx="4937760" cy="1463040"/>
          </a:xfrm>
          <a:prstGeom prst="roundRect">
            <a:avLst>
              <a:gd name="adj" fmla="val 5000"/>
            </a:avLst>
          </a:prstGeom>
          <a:solidFill>
            <a:schemeClr val="bg2"/>
          </a:solidFill>
          <a:ln/>
        </p:spPr>
      </p:sp>
      <p:sp>
        <p:nvSpPr>
          <p:cNvPr id="14" name="theory-icon-2-circle"/>
          <p:cNvSpPr/>
          <p:nvPr/>
        </p:nvSpPr>
        <p:spPr>
          <a:xfrm>
            <a:off x="731520" y="4855464"/>
            <a:ext cx="640080" cy="640080"/>
          </a:xfrm>
          <a:prstGeom prst="ellipse">
            <a:avLst/>
          </a:prstGeom>
          <a:solidFill>
            <a:schemeClr val="accent1"/>
          </a:solidFill>
          <a:ln/>
        </p:spPr>
      </p:sp>
      <p:pic>
        <p:nvPicPr>
          <p:cNvPr id="15" name="theory-icon-2-glyph" descr="preencoded.png">    </p:cNvPr>
          <p:cNvPicPr>
            <a:picLocks noChangeAspect="1"/>
          </p:cNvPicPr>
          <p:nvPr/>
        </p:nvPicPr>
        <p:blipFill>
          <a:blip r:embed="rId3"/>
          <a:stretch>
            <a:fillRect/>
          </a:stretch>
        </p:blipFill>
        <p:spPr>
          <a:xfrm>
            <a:off x="885139" y="5009083"/>
            <a:ext cx="332842" cy="332842"/>
          </a:xfrm>
          <a:prstGeom prst="rect">
            <a:avLst/>
          </a:prstGeom>
        </p:spPr>
      </p:pic>
      <p:sp>
        <p:nvSpPr>
          <p:cNvPr id="16" name="Text 11"/>
          <p:cNvSpPr txBox="1"/>
          <p:nvPr/>
        </p:nvSpPr>
        <p:spPr>
          <a:xfrm>
            <a:off x="1554480" y="4736592"/>
            <a:ext cx="3749040" cy="365760"/>
          </a:xfrm>
          <a:prstGeom prst="rect">
            <a:avLst/>
          </a:prstGeom>
          <a:noFill/>
          <a:ln/>
        </p:spPr>
        <p:txBody>
          <a:bodyPr wrap="square" lIns="0" tIns="0" rIns="0" bIns="0" rtlCol="0" anchor="t"/>
          <a:lstStyle/>
          <a:p>
            <a:pPr indent="0" marL="0">
              <a:buNone/>
            </a:pPr>
            <a:r>
              <a:rPr lang="en-US" sz="1700" b="1" dirty="0">
                <a:solidFill>
                  <a:schemeClr val="tx2"/>
                </a:solidFill>
              </a:rPr>
              <a:t>Limitations</a:t>
            </a:r>
            <a:endParaRPr lang="en-US" sz="1700" dirty="0"/>
          </a:p>
        </p:txBody>
      </p:sp>
      <p:sp>
        <p:nvSpPr>
          <p:cNvPr id="17" name="Text 12"/>
          <p:cNvSpPr txBox="1"/>
          <p:nvPr/>
        </p:nvSpPr>
        <p:spPr>
          <a:xfrm>
            <a:off x="1554480" y="5102352"/>
            <a:ext cx="3749040" cy="914400"/>
          </a:xfrm>
          <a:prstGeom prst="rect">
            <a:avLst/>
          </a:prstGeom>
          <a:noFill/>
          <a:ln/>
        </p:spPr>
        <p:txBody>
          <a:bodyPr wrap="square" lIns="0" tIns="0" rIns="0" bIns="0" rtlCol="0" anchor="t"/>
          <a:lstStyle/>
          <a:p>
            <a:pPr indent="0" marL="0">
              <a:buNone/>
            </a:pPr>
            <a:r>
              <a:rPr lang="en-US" sz="1400" dirty="0">
                <a:solidFill>
                  <a:schemeClr val="tx1"/>
                </a:solidFill>
              </a:rPr>
              <a:t>Ratios are historic and distorted by one-off items and accounting policy (Barnes, 1987; Beaver, 1966)</a:t>
            </a:r>
            <a:endParaRPr lang="en-US" sz="1400" dirty="0"/>
          </a:p>
        </p:txBody>
      </p:sp>
      <p:graphicFrame>
        <p:nvGraphicFramePr>
          <p:cNvPr id="6" name="extraction-table"/>
          <p:cNvGraphicFramePr>
            <a:graphicFrameLocks noGrp="1"/>
          </p:cNvGraphicFramePr>
          <p:nvPr>
            <p:extLst>
              <p:ext uri="{D42A27DB-BD31-4B8C-83A1-F6EECF244321}">
                <p14:modId xmlns:p14="http://schemas.microsoft.com/office/powerpoint/2010/main" val="1579011935"/>
              </p:ext>
            </p:extLst>
          </p:nvPr>
        </p:nvGraphicFramePr>
        <p:xfrm>
          <a:off x="5760720" y="1371600"/>
          <a:ext cx="5852160" cy="914400"/>
        </p:xfrm>
        <a:graphic>
          <a:graphicData uri="http://schemas.openxmlformats.org/drawingml/2006/table">
            <a:tbl>
              <a:tblPr/>
              <a:tblGrid>
                <a:gridCol w="3291840"/>
                <a:gridCol w="1280160"/>
                <a:gridCol w="1280160"/>
              </a:tblGrid>
              <a:tr h="365760">
                <a:tc>
                  <a:txBody>
                    <a:bodyPr/>
                    <a:lstStyle/>
                    <a:p>
                      <a:pPr algn="ctr" indent="0" marL="0">
                        <a:buNone/>
                      </a:pPr>
                      <a:r>
                        <a:rPr lang="en-US" sz="1400" b="1" dirty="0">
                          <a:solidFill>
                            <a:schemeClr val="bg1"/>
                          </a:solidFill>
                        </a:rPr>
                        <a:t>Extracted from Group statements (£m)</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FY2025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FY2024</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r>
              <a:tr h="365760">
                <a:tc>
                  <a:txBody>
                    <a:bodyPr/>
                    <a:lstStyle/>
                    <a:p>
                      <a:pPr indent="0" marL="0">
                        <a:buNone/>
                      </a:pPr>
                      <a:r>
                        <a:rPr lang="en-US" sz="1400" dirty="0">
                          <a:solidFill>
                            <a:schemeClr val="tx1"/>
                          </a:solidFill>
                        </a:rPr>
                        <a:t>Net revenue</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14,205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14,169</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r>
              <a:tr h="365760">
                <a:tc>
                  <a:txBody>
                    <a:bodyPr/>
                    <a:lstStyle/>
                    <a:p>
                      <a:pPr indent="0" marL="0">
                        <a:buNone/>
                      </a:pPr>
                      <a:r>
                        <a:rPr lang="en-US" sz="1400" dirty="0">
                          <a:solidFill>
                            <a:schemeClr val="tx1"/>
                          </a:solidFill>
                        </a:rPr>
                        <a:t>Cost of sales</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5,571</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5,574</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r>
              <a:tr h="365760">
                <a:tc>
                  <a:txBody>
                    <a:bodyPr/>
                    <a:lstStyle/>
                    <a:p>
                      <a:pPr indent="0" marL="0">
                        <a:buNone/>
                      </a:pPr>
                      <a:r>
                        <a:rPr lang="en-US" sz="1400" dirty="0">
                          <a:solidFill>
                            <a:schemeClr val="tx1"/>
                          </a:solidFill>
                        </a:rPr>
                        <a:t>Gross profit</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8,634</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8,595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r>
              <a:tr h="365760">
                <a:tc>
                  <a:txBody>
                    <a:bodyPr/>
                    <a:lstStyle/>
                    <a:p>
                      <a:pPr indent="0" marL="0">
                        <a:buNone/>
                      </a:pPr>
                      <a:r>
                        <a:rPr lang="en-US" sz="1400" dirty="0">
                          <a:solidFill>
                            <a:schemeClr val="tx1"/>
                          </a:solidFill>
                        </a:rPr>
                        <a:t>Operating profit</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4,217</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2,425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r>
              <a:tr h="365760">
                <a:tc>
                  <a:txBody>
                    <a:bodyPr/>
                    <a:lstStyle/>
                    <a:p>
                      <a:pPr indent="0" marL="0">
                        <a:buNone/>
                      </a:pPr>
                      <a:r>
                        <a:rPr lang="en-US" sz="1400" dirty="0">
                          <a:solidFill>
                            <a:schemeClr val="tx1"/>
                          </a:solidFill>
                        </a:rPr>
                        <a:t>Net profit</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3,187</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1,428</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r>
              <a:tr h="365760">
                <a:tc>
                  <a:txBody>
                    <a:bodyPr/>
                    <a:lstStyle/>
                    <a:p>
                      <a:pPr indent="0" marL="0">
                        <a:buNone/>
                      </a:pPr>
                      <a:r>
                        <a:rPr lang="en-US" sz="1400" dirty="0">
                          <a:solidFill>
                            <a:schemeClr val="tx1"/>
                          </a:solidFill>
                        </a:rPr>
                        <a:t>Total assets</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25,068</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25,298</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r>
              <a:tr h="365760">
                <a:tc>
                  <a:txBody>
                    <a:bodyPr/>
                    <a:lstStyle/>
                    <a:p>
                      <a:pPr indent="0" marL="0">
                        <a:buNone/>
                      </a:pPr>
                      <a:r>
                        <a:rPr lang="en-US" sz="1400" dirty="0">
                          <a:solidFill>
                            <a:schemeClr val="tx1"/>
                          </a:solidFill>
                        </a:rPr>
                        <a:t>Current assets</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5,635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4,598</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r>
              <a:tr h="365760">
                <a:tc>
                  <a:txBody>
                    <a:bodyPr/>
                    <a:lstStyle/>
                    <a:p>
                      <a:pPr indent="0" marL="0">
                        <a:buNone/>
                      </a:pPr>
                      <a:r>
                        <a:rPr lang="en-US" sz="1400" dirty="0">
                          <a:solidFill>
                            <a:schemeClr val="tx1"/>
                          </a:solidFill>
                        </a:rPr>
                        <a:t>Current liabilities</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6,650</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7,943</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r>
              <a:tr h="365760">
                <a:tc>
                  <a:txBody>
                    <a:bodyPr/>
                    <a:lstStyle/>
                    <a:p>
                      <a:pPr indent="0" marL="0">
                        <a:buNone/>
                      </a:pPr>
                      <a:r>
                        <a:rPr lang="en-US" sz="1400" dirty="0">
                          <a:solidFill>
                            <a:schemeClr val="tx1"/>
                          </a:solidFill>
                        </a:rPr>
                        <a:t>Inventories</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1,473</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1,517</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r>
              <a:tr h="365760">
                <a:tc>
                  <a:txBody>
                    <a:bodyPr/>
                    <a:lstStyle/>
                    <a:p>
                      <a:pPr indent="0" marL="0">
                        <a:buNone/>
                      </a:pPr>
                      <a:r>
                        <a:rPr lang="en-US" sz="1400" dirty="0">
                          <a:solidFill>
                            <a:schemeClr val="tx1"/>
                          </a:solidFill>
                        </a:rPr>
                        <a:t>Trade and other receivables</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2,124</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r" indent="0" marL="0">
                        <a:buNone/>
                      </a:pPr>
                      <a:r>
                        <a:rPr lang="en-US" sz="1400" dirty="0">
                          <a:solidFill>
                            <a:schemeClr val="tx1"/>
                          </a:solidFill>
                        </a:rPr>
                        <a:t>2,091</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r>
              <a:tr h="365760">
                <a:tc>
                  <a:txBody>
                    <a:bodyPr/>
                    <a:lstStyle/>
                    <a:p>
                      <a:pPr indent="0" marL="0">
                        <a:buNone/>
                      </a:pPr>
                      <a:r>
                        <a:rPr lang="en-US" sz="1400" dirty="0">
                          <a:solidFill>
                            <a:schemeClr val="tx1"/>
                          </a:solidFill>
                        </a:rPr>
                        <a:t>Cash and cash equivalents</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1,952</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r" indent="0" marL="0">
                        <a:buNone/>
                      </a:pPr>
                      <a:r>
                        <a:rPr lang="en-US" sz="1400" dirty="0">
                          <a:solidFill>
                            <a:schemeClr val="tx1"/>
                          </a:solidFill>
                        </a:rPr>
                        <a:t>880</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r>
            </a:tbl>
          </a:graphicData>
        </a:graphic>
      </p:graphicFrame>
      <p:sp>
        <p:nvSpPr>
          <p:cNvPr id="19" name="Text 13"/>
          <p:cNvSpPr txBox="1"/>
          <p:nvPr/>
        </p:nvSpPr>
        <p:spPr>
          <a:xfrm>
            <a:off x="5760720" y="5897880"/>
            <a:ext cx="5852160" cy="274320"/>
          </a:xfrm>
          <a:prstGeom prst="rect">
            <a:avLst/>
          </a:prstGeom>
          <a:noFill/>
          <a:ln/>
        </p:spPr>
        <p:txBody>
          <a:bodyPr wrap="square" lIns="0" tIns="0" rIns="0" bIns="0" rtlCol="0" anchor="t"/>
          <a:lstStyle/>
          <a:p>
            <a:pPr indent="0" marL="0">
              <a:buNone/>
            </a:pPr>
            <a:r>
              <a:rPr lang="en-US" sz="1000" i="1" dirty="0">
                <a:solidFill>
                  <a:schemeClr val="accent3"/>
                </a:solidFill>
              </a:rPr>
              <a:t>Source: Reckitt Annual Report and Accounts 2025, Group Income Statement and Balance Sheet, pp. 133-134</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Profitability: margins expanded sharply in 2025</a:t>
            </a:r>
            <a:endParaRPr lang="en-US" sz="3400" dirty="0"/>
          </a:p>
        </p:txBody>
      </p:sp>
      <p:graphicFrame>
        <p:nvGraphicFramePr>
          <p:cNvPr id="7" name="profitability-table"/>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2651760"/>
                <a:gridCol w="914400"/>
                <a:gridCol w="914400"/>
                <a:gridCol w="1005840"/>
              </a:tblGrid>
              <a:tr h="429768">
                <a:tc>
                  <a:txBody>
                    <a:bodyPr/>
                    <a:lstStyle/>
                    <a:p>
                      <a:pPr algn="ctr" indent="0" marL="0">
                        <a:buNone/>
                      </a:pPr>
                      <a:r>
                        <a:rPr lang="en-US" sz="1400" b="1" dirty="0">
                          <a:solidFill>
                            <a:schemeClr val="bg1"/>
                          </a:solidFill>
                        </a:rPr>
                        <a:t>Ratio</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FY2025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FY2024</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Change</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r>
              <a:tr h="429768">
                <a:tc>
                  <a:txBody>
                    <a:bodyPr/>
                    <a:lstStyle/>
                    <a:p>
                      <a:pPr indent="0" marL="0">
                        <a:buNone/>
                      </a:pPr>
                      <a:r>
                        <a:rPr lang="en-US" sz="1400" dirty="0">
                          <a:solidFill>
                            <a:schemeClr val="tx1"/>
                          </a:solidFill>
                        </a:rPr>
                        <a:t>Gross profit margin</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rPr>
                        <a:t>60.8%</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60.7%</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5"/>
                          </a:solidFill>
                        </a:rPr>
                        <a:t>+0.1 pp</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r>
              <a:tr h="429768">
                <a:tc>
                  <a:txBody>
                    <a:bodyPr/>
                    <a:lstStyle/>
                    <a:p>
                      <a:pPr indent="0" marL="0">
                        <a:buNone/>
                      </a:pPr>
                      <a:r>
                        <a:rPr lang="en-US" sz="1400" dirty="0">
                          <a:solidFill>
                            <a:schemeClr val="tx1"/>
                          </a:solidFill>
                        </a:rPr>
                        <a:t>Operating profit margin</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rPr>
                        <a:t>29.7%</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17.1%</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5"/>
                          </a:solidFill>
                        </a:rPr>
                        <a:t>+12.6 pp</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r>
              <a:tr h="429768">
                <a:tc>
                  <a:txBody>
                    <a:bodyPr/>
                    <a:lstStyle/>
                    <a:p>
                      <a:pPr indent="0" marL="0">
                        <a:buNone/>
                      </a:pPr>
                      <a:r>
                        <a:rPr lang="en-US" sz="1400" dirty="0">
                          <a:solidFill>
                            <a:schemeClr val="tx1"/>
                          </a:solidFill>
                        </a:rPr>
                        <a:t>Net profit margin</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rPr>
                        <a:t>22.4%</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10.1%</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5"/>
                          </a:solidFill>
                        </a:rPr>
                        <a:t>+12.4 pp</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r>
              <a:tr h="429768">
                <a:tc>
                  <a:txBody>
                    <a:bodyPr/>
                    <a:lstStyle/>
                    <a:p>
                      <a:pPr indent="0" marL="0">
                        <a:buNone/>
                      </a:pPr>
                      <a:r>
                        <a:rPr lang="en-US" sz="1400" dirty="0">
                          <a:solidFill>
                            <a:schemeClr val="tx1"/>
                          </a:solidFill>
                        </a:rPr>
                        <a:t>ROCE (OP / TA - CL)</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rPr>
                        <a:t>22.9%</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14.0%</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5"/>
                          </a:solidFill>
                        </a:rPr>
                        <a:t>+8.9 pp</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r>
              <a:tr h="429768">
                <a:tc>
                  <a:txBody>
                    <a:bodyPr/>
                    <a:lstStyle/>
                    <a:p>
                      <a:pPr indent="0" marL="0">
                        <a:buNone/>
                      </a:pPr>
                      <a:r>
                        <a:rPr lang="en-US" sz="1400" i="1" dirty="0">
                          <a:solidFill>
                            <a:schemeClr val="tx1"/>
                          </a:solidFill>
                        </a:rPr>
                        <a:t>OP margin excl. disposal gain</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tx1"/>
                          </a:solidFill>
                        </a:rPr>
                        <a:t>20.9%</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17.1%</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5"/>
                          </a:solidFill>
                        </a:rPr>
                        <a:t>+3.8 pp</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r>
              <a:tr h="429768">
                <a:tc>
                  <a:txBody>
                    <a:bodyPr/>
                    <a:lstStyle/>
                    <a:p>
                      <a:pPr indent="0" marL="0">
                        <a:buNone/>
                      </a:pPr>
                      <a:r>
                        <a:rPr lang="en-US" sz="1400" i="1" dirty="0">
                          <a:solidFill>
                            <a:schemeClr val="tx1"/>
                          </a:solidFill>
                        </a:rPr>
                        <a:t>Adjusted OP margin (company)</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tx1"/>
                          </a:solidFill>
                        </a:rPr>
                        <a:t>24.9%</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24.5%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5"/>
                          </a:solidFill>
                        </a:rPr>
                        <a:t>+0.4 pp</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r>
            </a:tbl>
          </a:graphicData>
        </a:graphic>
      </p:graphicFrame>
      <p:sp>
        <p:nvSpPr>
          <p:cNvPr id="4" name="Text 1"/>
          <p:cNvSpPr txBox="1"/>
          <p:nvPr/>
        </p:nvSpPr>
        <p:spPr>
          <a:xfrm>
            <a:off x="548640" y="4526280"/>
            <a:ext cx="5486400" cy="502920"/>
          </a:xfrm>
          <a:prstGeom prst="rect">
            <a:avLst/>
          </a:prstGeom>
          <a:noFill/>
          <a:ln/>
        </p:spPr>
        <p:txBody>
          <a:bodyPr wrap="square" lIns="0" tIns="0" rIns="0" bIns="0" rtlCol="0" anchor="t"/>
          <a:lstStyle/>
          <a:p>
            <a:pPr indent="0" marL="0">
              <a:buNone/>
            </a:pPr>
            <a:r>
              <a:rPr lang="en-US" sz="1100" i="1" dirty="0">
                <a:solidFill>
                  <a:schemeClr val="accent3"/>
                </a:solidFill>
              </a:rPr>
              <a:t>Shaded rows strip out the £1,245m gain on the Essential Home disposal. Capital employed = total assets less current liabilities.</a:t>
            </a:r>
            <a:endParaRPr lang="en-US" sz="1100" dirty="0"/>
          </a:p>
        </p:txBody>
      </p:sp>
      <p:sp>
        <p:nvSpPr>
          <p:cNvPr id="5" name="Text 2"/>
          <p:cNvSpPr txBox="1"/>
          <p:nvPr/>
        </p:nvSpPr>
        <p:spPr>
          <a:xfrm>
            <a:off x="548640" y="5029200"/>
            <a:ext cx="5486400" cy="320040"/>
          </a:xfrm>
          <a:prstGeom prst="rect">
            <a:avLst/>
          </a:prstGeom>
          <a:noFill/>
          <a:ln/>
        </p:spPr>
        <p:txBody>
          <a:bodyPr wrap="square" lIns="0" tIns="0" rIns="0" bIns="0" rtlCol="0" anchor="t"/>
          <a:lstStyle/>
          <a:p>
            <a:pPr indent="0" marL="0">
              <a:buNone/>
            </a:pPr>
            <a:r>
              <a:rPr lang="en-US" sz="1400" b="1" dirty="0">
                <a:solidFill>
                  <a:schemeClr val="tx2"/>
                </a:solidFill>
              </a:rPr>
              <a:t>Fixed costs as % of net revenue (Fuel for Growth)</a:t>
            </a:r>
            <a:endParaRPr lang="en-US" sz="1400" dirty="0"/>
          </a:p>
        </p:txBody>
      </p:sp>
      <p:sp>
        <p:nvSpPr>
          <p:cNvPr id="6" name="fixed-0"/>
          <p:cNvSpPr/>
          <p:nvPr/>
        </p:nvSpPr>
        <p:spPr>
          <a:xfrm>
            <a:off x="548640" y="5394960"/>
            <a:ext cx="1280160" cy="777240"/>
          </a:xfrm>
          <a:prstGeom prst="roundRect">
            <a:avLst>
              <a:gd name="adj" fmla="val 9412"/>
            </a:avLst>
          </a:prstGeom>
          <a:solidFill>
            <a:schemeClr val="tx2"/>
          </a:solidFill>
          <a:ln/>
        </p:spPr>
      </p:sp>
      <p:sp>
        <p:nvSpPr>
          <p:cNvPr id="7" name="Text 4"/>
          <p:cNvSpPr txBox="1"/>
          <p:nvPr/>
        </p:nvSpPr>
        <p:spPr>
          <a:xfrm>
            <a:off x="548640" y="5422392"/>
            <a:ext cx="1280160" cy="411480"/>
          </a:xfrm>
          <a:prstGeom prst="rect">
            <a:avLst/>
          </a:prstGeom>
          <a:noFill/>
          <a:ln/>
        </p:spPr>
        <p:txBody>
          <a:bodyPr wrap="square" lIns="0" tIns="0" rIns="0" bIns="0" rtlCol="0" anchor="t"/>
          <a:lstStyle/>
          <a:p>
            <a:pPr algn="ctr" indent="0" marL="0">
              <a:buNone/>
            </a:pPr>
            <a:r>
              <a:rPr lang="en-US" sz="2000" b="1" dirty="0">
                <a:solidFill>
                  <a:schemeClr val="bg1"/>
                </a:solidFill>
                <a:latin typeface="Cambria" pitchFamily="34" charset="0"/>
                <a:ea typeface="Cambria" pitchFamily="34" charset="-122"/>
                <a:cs typeface="Cambria" pitchFamily="34" charset="-120"/>
              </a:rPr>
              <a:t>21.8%</a:t>
            </a:r>
            <a:endParaRPr lang="en-US" sz="2000" dirty="0"/>
          </a:p>
        </p:txBody>
      </p:sp>
      <p:sp>
        <p:nvSpPr>
          <p:cNvPr id="8" name="Text 5"/>
          <p:cNvSpPr txBox="1"/>
          <p:nvPr/>
        </p:nvSpPr>
        <p:spPr>
          <a:xfrm>
            <a:off x="548640" y="5833872"/>
            <a:ext cx="1280160" cy="274320"/>
          </a:xfrm>
          <a:prstGeom prst="rect">
            <a:avLst/>
          </a:prstGeom>
          <a:noFill/>
          <a:ln/>
        </p:spPr>
        <p:txBody>
          <a:bodyPr wrap="square" lIns="0" tIns="0" rIns="0" bIns="0" rtlCol="0" anchor="t"/>
          <a:lstStyle/>
          <a:p>
            <a:pPr algn="ctr" indent="0" marL="0">
              <a:buNone/>
            </a:pPr>
            <a:r>
              <a:rPr lang="en-US" sz="1200" dirty="0">
                <a:solidFill>
                  <a:schemeClr val="bg1"/>
                </a:solidFill>
              </a:rPr>
              <a:t>2023</a:t>
            </a:r>
            <a:endParaRPr lang="en-US" sz="1200" dirty="0"/>
          </a:p>
        </p:txBody>
      </p:sp>
      <p:sp>
        <p:nvSpPr>
          <p:cNvPr id="9" name="fixed-1"/>
          <p:cNvSpPr/>
          <p:nvPr/>
        </p:nvSpPr>
        <p:spPr>
          <a:xfrm>
            <a:off x="1947672" y="5394960"/>
            <a:ext cx="1280160" cy="777240"/>
          </a:xfrm>
          <a:prstGeom prst="roundRect">
            <a:avLst>
              <a:gd name="adj" fmla="val 9412"/>
            </a:avLst>
          </a:prstGeom>
          <a:solidFill>
            <a:schemeClr val="tx2"/>
          </a:solidFill>
          <a:ln/>
        </p:spPr>
      </p:sp>
      <p:sp>
        <p:nvSpPr>
          <p:cNvPr id="10" name="Text 7"/>
          <p:cNvSpPr txBox="1"/>
          <p:nvPr/>
        </p:nvSpPr>
        <p:spPr>
          <a:xfrm>
            <a:off x="1947672" y="5422392"/>
            <a:ext cx="1280160" cy="411480"/>
          </a:xfrm>
          <a:prstGeom prst="rect">
            <a:avLst/>
          </a:prstGeom>
          <a:noFill/>
          <a:ln/>
        </p:spPr>
        <p:txBody>
          <a:bodyPr wrap="square" lIns="0" tIns="0" rIns="0" bIns="0" rtlCol="0" anchor="t"/>
          <a:lstStyle/>
          <a:p>
            <a:pPr algn="ctr" indent="0" marL="0">
              <a:buNone/>
            </a:pPr>
            <a:r>
              <a:rPr lang="en-US" sz="2000" b="1" dirty="0">
                <a:solidFill>
                  <a:schemeClr val="bg1"/>
                </a:solidFill>
                <a:latin typeface="Cambria" pitchFamily="34" charset="0"/>
                <a:ea typeface="Cambria" pitchFamily="34" charset="-122"/>
                <a:cs typeface="Cambria" pitchFamily="34" charset="-120"/>
              </a:rPr>
              <a:t>20.9%</a:t>
            </a:r>
            <a:endParaRPr lang="en-US" sz="2000" dirty="0"/>
          </a:p>
        </p:txBody>
      </p:sp>
      <p:sp>
        <p:nvSpPr>
          <p:cNvPr id="11" name="Text 8"/>
          <p:cNvSpPr txBox="1"/>
          <p:nvPr/>
        </p:nvSpPr>
        <p:spPr>
          <a:xfrm>
            <a:off x="1947672" y="5833872"/>
            <a:ext cx="1280160" cy="274320"/>
          </a:xfrm>
          <a:prstGeom prst="rect">
            <a:avLst/>
          </a:prstGeom>
          <a:noFill/>
          <a:ln/>
        </p:spPr>
        <p:txBody>
          <a:bodyPr wrap="square" lIns="0" tIns="0" rIns="0" bIns="0" rtlCol="0" anchor="t"/>
          <a:lstStyle/>
          <a:p>
            <a:pPr algn="ctr" indent="0" marL="0">
              <a:buNone/>
            </a:pPr>
            <a:r>
              <a:rPr lang="en-US" sz="1200" dirty="0">
                <a:solidFill>
                  <a:schemeClr val="bg1"/>
                </a:solidFill>
              </a:rPr>
              <a:t>2024</a:t>
            </a:r>
            <a:endParaRPr lang="en-US" sz="1200" dirty="0"/>
          </a:p>
        </p:txBody>
      </p:sp>
      <p:sp>
        <p:nvSpPr>
          <p:cNvPr id="12" name="fixed-2"/>
          <p:cNvSpPr/>
          <p:nvPr/>
        </p:nvSpPr>
        <p:spPr>
          <a:xfrm>
            <a:off x="3346704" y="5394960"/>
            <a:ext cx="1280160" cy="777240"/>
          </a:xfrm>
          <a:prstGeom prst="roundRect">
            <a:avLst>
              <a:gd name="adj" fmla="val 9412"/>
            </a:avLst>
          </a:prstGeom>
          <a:solidFill>
            <a:schemeClr val="tx2"/>
          </a:solidFill>
          <a:ln/>
        </p:spPr>
      </p:sp>
      <p:sp>
        <p:nvSpPr>
          <p:cNvPr id="13" name="Text 10"/>
          <p:cNvSpPr txBox="1"/>
          <p:nvPr/>
        </p:nvSpPr>
        <p:spPr>
          <a:xfrm>
            <a:off x="3346704" y="5422392"/>
            <a:ext cx="1280160" cy="411480"/>
          </a:xfrm>
          <a:prstGeom prst="rect">
            <a:avLst/>
          </a:prstGeom>
          <a:noFill/>
          <a:ln/>
        </p:spPr>
        <p:txBody>
          <a:bodyPr wrap="square" lIns="0" tIns="0" rIns="0" bIns="0" rtlCol="0" anchor="t"/>
          <a:lstStyle/>
          <a:p>
            <a:pPr algn="ctr" indent="0" marL="0">
              <a:buNone/>
            </a:pPr>
            <a:r>
              <a:rPr lang="en-US" sz="2000" b="1" dirty="0">
                <a:solidFill>
                  <a:schemeClr val="bg1"/>
                </a:solidFill>
                <a:latin typeface="Cambria" pitchFamily="34" charset="0"/>
                <a:ea typeface="Cambria" pitchFamily="34" charset="-122"/>
                <a:cs typeface="Cambria" pitchFamily="34" charset="-120"/>
              </a:rPr>
              <a:t>19.4%</a:t>
            </a:r>
            <a:endParaRPr lang="en-US" sz="2000" dirty="0"/>
          </a:p>
        </p:txBody>
      </p:sp>
      <p:sp>
        <p:nvSpPr>
          <p:cNvPr id="14" name="Text 11"/>
          <p:cNvSpPr txBox="1"/>
          <p:nvPr/>
        </p:nvSpPr>
        <p:spPr>
          <a:xfrm>
            <a:off x="3346704" y="5833872"/>
            <a:ext cx="1280160" cy="274320"/>
          </a:xfrm>
          <a:prstGeom prst="rect">
            <a:avLst/>
          </a:prstGeom>
          <a:noFill/>
          <a:ln/>
        </p:spPr>
        <p:txBody>
          <a:bodyPr wrap="square" lIns="0" tIns="0" rIns="0" bIns="0" rtlCol="0" anchor="t"/>
          <a:lstStyle/>
          <a:p>
            <a:pPr algn="ctr" indent="0" marL="0">
              <a:buNone/>
            </a:pPr>
            <a:r>
              <a:rPr lang="en-US" sz="1200" dirty="0">
                <a:solidFill>
                  <a:schemeClr val="bg1"/>
                </a:solidFill>
              </a:rPr>
              <a:t>2025</a:t>
            </a:r>
            <a:endParaRPr lang="en-US" sz="1200" dirty="0"/>
          </a:p>
        </p:txBody>
      </p:sp>
      <p:sp>
        <p:nvSpPr>
          <p:cNvPr id="15" name="fixed-3"/>
          <p:cNvSpPr/>
          <p:nvPr/>
        </p:nvSpPr>
        <p:spPr>
          <a:xfrm>
            <a:off x="4745736" y="5394960"/>
            <a:ext cx="1280160" cy="777240"/>
          </a:xfrm>
          <a:prstGeom prst="roundRect">
            <a:avLst>
              <a:gd name="adj" fmla="val 9412"/>
            </a:avLst>
          </a:prstGeom>
          <a:solidFill>
            <a:schemeClr val="accent1"/>
          </a:solidFill>
          <a:ln/>
        </p:spPr>
      </p:sp>
      <p:sp>
        <p:nvSpPr>
          <p:cNvPr id="16" name="Text 13"/>
          <p:cNvSpPr txBox="1"/>
          <p:nvPr/>
        </p:nvSpPr>
        <p:spPr>
          <a:xfrm>
            <a:off x="4745736" y="5422392"/>
            <a:ext cx="1280160" cy="411480"/>
          </a:xfrm>
          <a:prstGeom prst="rect">
            <a:avLst/>
          </a:prstGeom>
          <a:noFill/>
          <a:ln/>
        </p:spPr>
        <p:txBody>
          <a:bodyPr wrap="square" lIns="0" tIns="0" rIns="0" bIns="0" rtlCol="0" anchor="t"/>
          <a:lstStyle/>
          <a:p>
            <a:pPr algn="ctr" indent="0" marL="0">
              <a:buNone/>
            </a:pPr>
            <a:r>
              <a:rPr lang="en-US" sz="2000" b="1" dirty="0">
                <a:solidFill>
                  <a:schemeClr val="bg1"/>
                </a:solidFill>
                <a:latin typeface="Cambria" pitchFamily="34" charset="0"/>
                <a:ea typeface="Cambria" pitchFamily="34" charset="-122"/>
                <a:cs typeface="Cambria" pitchFamily="34" charset="-120"/>
              </a:rPr>
              <a:t>~19%</a:t>
            </a:r>
            <a:endParaRPr lang="en-US" sz="2000" dirty="0"/>
          </a:p>
        </p:txBody>
      </p:sp>
      <p:sp>
        <p:nvSpPr>
          <p:cNvPr id="17" name="Text 14"/>
          <p:cNvSpPr txBox="1"/>
          <p:nvPr/>
        </p:nvSpPr>
        <p:spPr>
          <a:xfrm>
            <a:off x="4745736" y="5833872"/>
            <a:ext cx="1280160" cy="274320"/>
          </a:xfrm>
          <a:prstGeom prst="rect">
            <a:avLst/>
          </a:prstGeom>
          <a:noFill/>
          <a:ln/>
        </p:spPr>
        <p:txBody>
          <a:bodyPr wrap="square" lIns="0" tIns="0" rIns="0" bIns="0" rtlCol="0" anchor="t"/>
          <a:lstStyle/>
          <a:p>
            <a:pPr algn="ctr" indent="0" marL="0">
              <a:buNone/>
            </a:pPr>
            <a:r>
              <a:rPr lang="en-US" sz="1200" dirty="0">
                <a:solidFill>
                  <a:schemeClr val="bg1"/>
                </a:solidFill>
              </a:rPr>
              <a:t>2027 target</a:t>
            </a:r>
            <a:endParaRPr lang="en-US" sz="1200" dirty="0"/>
          </a:p>
        </p:txBody>
      </p:sp>
      <p:sp>
        <p:nvSpPr>
          <p:cNvPr id="18" name="step-1"/>
          <p:cNvSpPr/>
          <p:nvPr/>
        </p:nvSpPr>
        <p:spPr>
          <a:xfrm>
            <a:off x="6309360" y="1371600"/>
            <a:ext cx="5303520" cy="1097280"/>
          </a:xfrm>
          <a:prstGeom prst="roundRect">
            <a:avLst>
              <a:gd name="adj" fmla="val 6667"/>
            </a:avLst>
          </a:prstGeom>
          <a:solidFill>
            <a:schemeClr val="bg2"/>
          </a:solidFill>
          <a:ln/>
        </p:spPr>
      </p:sp>
      <p:sp>
        <p:nvSpPr>
          <p:cNvPr id="19" name="step-num-1"/>
          <p:cNvSpPr/>
          <p:nvPr/>
        </p:nvSpPr>
        <p:spPr>
          <a:xfrm>
            <a:off x="6446520" y="1508760"/>
            <a:ext cx="384048" cy="384048"/>
          </a:xfrm>
          <a:prstGeom prst="ellipse">
            <a:avLst/>
          </a:prstGeom>
          <a:solidFill>
            <a:schemeClr val="accent1"/>
          </a:solidFill>
          <a:ln/>
        </p:spPr>
      </p:sp>
      <p:sp>
        <p:nvSpPr>
          <p:cNvPr id="20" name="Text 17"/>
          <p:cNvSpPr txBox="1"/>
          <p:nvPr/>
        </p:nvSpPr>
        <p:spPr>
          <a:xfrm>
            <a:off x="6446520" y="150876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1" name="Text 18"/>
          <p:cNvSpPr txBox="1"/>
          <p:nvPr/>
        </p:nvSpPr>
        <p:spPr>
          <a:xfrm>
            <a:off x="6995160" y="1463040"/>
            <a:ext cx="4480560" cy="914400"/>
          </a:xfrm>
          <a:prstGeom prst="rect">
            <a:avLst/>
          </a:prstGeom>
          <a:noFill/>
          <a:ln/>
        </p:spPr>
        <p:txBody>
          <a:bodyPr wrap="square" lIns="0" tIns="0" rIns="0" bIns="0" rtlCol="0" anchor="ctr"/>
          <a:lstStyle/>
          <a:p>
            <a:pPr indent="0" marL="0">
              <a:buNone/>
            </a:pPr>
            <a:r>
              <a:rPr lang="en-US" sz="1400" b="1" dirty="0">
                <a:solidFill>
                  <a:schemeClr val="accent1"/>
                </a:solidFill>
              </a:rPr>
              <a:t>Interpretation: </a:t>
            </a:r>
            <a:pPr indent="0" marL="0">
              <a:buNone/>
            </a:pPr>
            <a:r>
              <a:rPr lang="en-US" sz="1400" dirty="0">
                <a:solidFill>
                  <a:schemeClr val="tx1"/>
                </a:solidFill>
              </a:rPr>
              <a:t>every £1 of revenue earned 60.8p gross and 22.4p net profit; ROCE of 22.9% is well above the cost of capital.</a:t>
            </a:r>
            <a:endParaRPr lang="en-US" sz="1400" dirty="0"/>
          </a:p>
        </p:txBody>
      </p:sp>
      <p:sp>
        <p:nvSpPr>
          <p:cNvPr id="22" name="step-2"/>
          <p:cNvSpPr/>
          <p:nvPr/>
        </p:nvSpPr>
        <p:spPr>
          <a:xfrm>
            <a:off x="6309360" y="2606040"/>
            <a:ext cx="5303520" cy="1097280"/>
          </a:xfrm>
          <a:prstGeom prst="roundRect">
            <a:avLst>
              <a:gd name="adj" fmla="val 6667"/>
            </a:avLst>
          </a:prstGeom>
          <a:solidFill>
            <a:schemeClr val="bg2"/>
          </a:solidFill>
          <a:ln/>
        </p:spPr>
      </p:sp>
      <p:sp>
        <p:nvSpPr>
          <p:cNvPr id="23" name="step-num-2"/>
          <p:cNvSpPr/>
          <p:nvPr/>
        </p:nvSpPr>
        <p:spPr>
          <a:xfrm>
            <a:off x="6446520" y="2743200"/>
            <a:ext cx="384048" cy="384048"/>
          </a:xfrm>
          <a:prstGeom prst="ellipse">
            <a:avLst/>
          </a:prstGeom>
          <a:solidFill>
            <a:schemeClr val="accent1"/>
          </a:solidFill>
          <a:ln/>
        </p:spPr>
      </p:sp>
      <p:sp>
        <p:nvSpPr>
          <p:cNvPr id="24" name="Text 21"/>
          <p:cNvSpPr txBox="1"/>
          <p:nvPr/>
        </p:nvSpPr>
        <p:spPr>
          <a:xfrm>
            <a:off x="6446520" y="274320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5" name="Text 22"/>
          <p:cNvSpPr txBox="1"/>
          <p:nvPr/>
        </p:nvSpPr>
        <p:spPr>
          <a:xfrm>
            <a:off x="6995160" y="2697480"/>
            <a:ext cx="4480560" cy="914400"/>
          </a:xfrm>
          <a:prstGeom prst="rect">
            <a:avLst/>
          </a:prstGeom>
          <a:noFill/>
          <a:ln/>
        </p:spPr>
        <p:txBody>
          <a:bodyPr wrap="square" lIns="0" tIns="0" rIns="0" bIns="0" rtlCol="0" anchor="ctr"/>
          <a:lstStyle/>
          <a:p>
            <a:pPr indent="0" marL="0">
              <a:buNone/>
            </a:pPr>
            <a:r>
              <a:rPr lang="en-US" sz="1400" b="1" dirty="0">
                <a:solidFill>
                  <a:schemeClr val="accent1"/>
                </a:solidFill>
              </a:rPr>
              <a:t>Movement and reason: </a:t>
            </a:r>
            <a:pPr indent="0" marL="0">
              <a:buNone/>
            </a:pPr>
            <a:r>
              <a:rPr lang="en-US" sz="1400" dirty="0">
                <a:solidFill>
                  <a:schemeClr val="tx1"/>
                </a:solidFill>
              </a:rPr>
              <a:t>the jump comes mainly from the £1,245m one-off gain and lower impairments (£256m vs £839m).</a:t>
            </a:r>
            <a:endParaRPr lang="en-US" sz="1400" dirty="0"/>
          </a:p>
        </p:txBody>
      </p:sp>
      <p:sp>
        <p:nvSpPr>
          <p:cNvPr id="26" name="step-3"/>
          <p:cNvSpPr/>
          <p:nvPr/>
        </p:nvSpPr>
        <p:spPr>
          <a:xfrm>
            <a:off x="6309360" y="3840480"/>
            <a:ext cx="5303520" cy="1097280"/>
          </a:xfrm>
          <a:prstGeom prst="roundRect">
            <a:avLst>
              <a:gd name="adj" fmla="val 6667"/>
            </a:avLst>
          </a:prstGeom>
          <a:solidFill>
            <a:schemeClr val="bg2"/>
          </a:solidFill>
          <a:ln/>
        </p:spPr>
      </p:sp>
      <p:sp>
        <p:nvSpPr>
          <p:cNvPr id="27" name="step-num-3"/>
          <p:cNvSpPr/>
          <p:nvPr/>
        </p:nvSpPr>
        <p:spPr>
          <a:xfrm>
            <a:off x="6446520" y="3977640"/>
            <a:ext cx="384048" cy="384048"/>
          </a:xfrm>
          <a:prstGeom prst="ellipse">
            <a:avLst/>
          </a:prstGeom>
          <a:solidFill>
            <a:schemeClr val="accent1"/>
          </a:solidFill>
          <a:ln/>
        </p:spPr>
      </p:sp>
      <p:sp>
        <p:nvSpPr>
          <p:cNvPr id="28" name="Text 25"/>
          <p:cNvSpPr txBox="1"/>
          <p:nvPr/>
        </p:nvSpPr>
        <p:spPr>
          <a:xfrm>
            <a:off x="6446520" y="397764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9" name="Text 26"/>
          <p:cNvSpPr txBox="1"/>
          <p:nvPr/>
        </p:nvSpPr>
        <p:spPr>
          <a:xfrm>
            <a:off x="6995160" y="3931920"/>
            <a:ext cx="4480560" cy="914400"/>
          </a:xfrm>
          <a:prstGeom prst="rect">
            <a:avLst/>
          </a:prstGeom>
          <a:noFill/>
          <a:ln/>
        </p:spPr>
        <p:txBody>
          <a:bodyPr wrap="square" lIns="0" tIns="0" rIns="0" bIns="0" rtlCol="0" anchor="ctr"/>
          <a:lstStyle/>
          <a:p>
            <a:pPr indent="0" marL="0">
              <a:buNone/>
            </a:pPr>
            <a:r>
              <a:rPr lang="en-US" sz="1400" b="1" dirty="0">
                <a:solidFill>
                  <a:schemeClr val="accent1"/>
                </a:solidFill>
              </a:rPr>
              <a:t>Implication: </a:t>
            </a:r>
            <a:pPr indent="0" marL="0">
              <a:buNone/>
            </a:pPr>
            <a:r>
              <a:rPr lang="en-US" sz="1400" dirty="0">
                <a:solidFill>
                  <a:schemeClr val="tx1"/>
                </a:solidFill>
              </a:rPr>
              <a:t>underlying earning power is improving, but 2025 headline profit will not repeat (H1 2026 IFRS margin 18.7%).</a:t>
            </a:r>
            <a:endParaRPr lang="en-US" sz="1400" dirty="0"/>
          </a:p>
        </p:txBody>
      </p:sp>
      <p:sp>
        <p:nvSpPr>
          <p:cNvPr id="30" name="step-4"/>
          <p:cNvSpPr/>
          <p:nvPr/>
        </p:nvSpPr>
        <p:spPr>
          <a:xfrm>
            <a:off x="6309360" y="5074920"/>
            <a:ext cx="5303520" cy="1097280"/>
          </a:xfrm>
          <a:prstGeom prst="roundRect">
            <a:avLst>
              <a:gd name="adj" fmla="val 6667"/>
            </a:avLst>
          </a:prstGeom>
          <a:solidFill>
            <a:schemeClr val="bg2"/>
          </a:solidFill>
          <a:ln/>
        </p:spPr>
      </p:sp>
      <p:sp>
        <p:nvSpPr>
          <p:cNvPr id="31" name="step-num-4"/>
          <p:cNvSpPr/>
          <p:nvPr/>
        </p:nvSpPr>
        <p:spPr>
          <a:xfrm>
            <a:off x="6446520" y="5212080"/>
            <a:ext cx="384048" cy="384048"/>
          </a:xfrm>
          <a:prstGeom prst="ellipse">
            <a:avLst/>
          </a:prstGeom>
          <a:solidFill>
            <a:schemeClr val="accent1"/>
          </a:solidFill>
          <a:ln/>
        </p:spPr>
      </p:sp>
      <p:sp>
        <p:nvSpPr>
          <p:cNvPr id="32" name="Text 29"/>
          <p:cNvSpPr txBox="1"/>
          <p:nvPr/>
        </p:nvSpPr>
        <p:spPr>
          <a:xfrm>
            <a:off x="6446520" y="52120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3" name="Text 30"/>
          <p:cNvSpPr txBox="1"/>
          <p:nvPr/>
        </p:nvSpPr>
        <p:spPr>
          <a:xfrm>
            <a:off x="6995160" y="5166360"/>
            <a:ext cx="4480560" cy="914400"/>
          </a:xfrm>
          <a:prstGeom prst="rect">
            <a:avLst/>
          </a:prstGeom>
          <a:noFill/>
          <a:ln/>
        </p:spPr>
        <p:txBody>
          <a:bodyPr wrap="square" lIns="0" tIns="0" rIns="0" bIns="0" rtlCol="0" anchor="ctr"/>
          <a:lstStyle/>
          <a:p>
            <a:pPr indent="0" marL="0">
              <a:buNone/>
            </a:pPr>
            <a:r>
              <a:rPr lang="en-US" sz="1400" b="1" dirty="0">
                <a:solidFill>
                  <a:schemeClr val="accent1"/>
                </a:solidFill>
              </a:rPr>
              <a:t>Recommendation: </a:t>
            </a:r>
            <a:pPr indent="0" marL="0">
              <a:buNone/>
            </a:pPr>
            <a:r>
              <a:rPr lang="en-US" sz="1400" dirty="0">
                <a:solidFill>
                  <a:schemeClr val="tx1"/>
                </a:solidFill>
              </a:rPr>
              <a:t>value the shares on underlying margins (about 21-25%) and deliver the 19% fixed-cost target.</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Liquidity: improved, but structurally lean</a:t>
            </a:r>
            <a:endParaRPr lang="en-US" sz="3400" dirty="0"/>
          </a:p>
        </p:txBody>
      </p:sp>
      <p:graphicFrame>
        <p:nvGraphicFramePr>
          <p:cNvPr id="3" name="liquidity-chart" descr=""/>
          <p:cNvGraphicFramePr/>
          <p:nvPr/>
        </p:nvGraphicFramePr>
        <p:xfrm>
          <a:off x="548640" y="1325880"/>
          <a:ext cx="5120640" cy="34290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liquidity-table"/>
          <p:cNvGraphicFramePr>
            <a:graphicFrameLocks noGrp="1"/>
          </p:cNvGraphicFramePr>
          <p:nvPr>
            <p:extLst>
              <p:ext uri="{D42A27DB-BD31-4B8C-83A1-F6EECF244321}">
                <p14:modId xmlns:p14="http://schemas.microsoft.com/office/powerpoint/2010/main" val="1579011935"/>
              </p:ext>
            </p:extLst>
          </p:nvPr>
        </p:nvGraphicFramePr>
        <p:xfrm>
          <a:off x="548640" y="4846320"/>
          <a:ext cx="5120640" cy="914400"/>
        </p:xfrm>
        <a:graphic>
          <a:graphicData uri="http://schemas.openxmlformats.org/drawingml/2006/table">
            <a:tbl>
              <a:tblPr/>
              <a:tblGrid>
                <a:gridCol w="2240280"/>
                <a:gridCol w="960120"/>
                <a:gridCol w="960120"/>
                <a:gridCol w="960120"/>
              </a:tblGrid>
              <a:tr h="329184">
                <a:tc>
                  <a:txBody>
                    <a:bodyPr/>
                    <a:lstStyle/>
                    <a:p>
                      <a:pPr algn="ctr" indent="0" marL="0">
                        <a:buNone/>
                      </a:pPr>
                      <a:r>
                        <a:rPr lang="en-US" sz="1400" b="1" dirty="0">
                          <a:solidFill>
                            <a:schemeClr val="bg1"/>
                          </a:solidFill>
                        </a:rPr>
                        <a:t>Ratio</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FY2025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FY2024</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Change</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r>
              <a:tr h="329184">
                <a:tc>
                  <a:txBody>
                    <a:bodyPr/>
                    <a:lstStyle/>
                    <a:p>
                      <a:pPr indent="0" marL="0">
                        <a:buNone/>
                      </a:pPr>
                      <a:r>
                        <a:rPr lang="en-US" sz="1400" dirty="0">
                          <a:solidFill>
                            <a:schemeClr val="tx1"/>
                          </a:solidFill>
                        </a:rPr>
                        <a:t>Current (CA / CL)</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b="1" dirty="0">
                          <a:solidFill>
                            <a:schemeClr val="tx1"/>
                          </a:solidFill>
                        </a:rPr>
                        <a:t>0.85:1</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dirty="0">
                          <a:solidFill>
                            <a:schemeClr val="tx1"/>
                          </a:solidFill>
                        </a:rPr>
                        <a:t>0.58:1</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b="1" dirty="0">
                          <a:solidFill>
                            <a:schemeClr val="accent5"/>
                          </a:solidFill>
                        </a:rPr>
                        <a:t>+47%</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r>
              <a:tr h="329184">
                <a:tc>
                  <a:txBody>
                    <a:bodyPr/>
                    <a:lstStyle/>
                    <a:p>
                      <a:pPr indent="0" marL="0">
                        <a:buNone/>
                      </a:pPr>
                      <a:r>
                        <a:rPr lang="en-US" sz="1400" dirty="0">
                          <a:solidFill>
                            <a:schemeClr val="tx1"/>
                          </a:solidFill>
                        </a:rPr>
                        <a:t>Quick ((CA - inv) / CL)</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b="1" dirty="0">
                          <a:solidFill>
                            <a:schemeClr val="tx1"/>
                          </a:solidFill>
                        </a:rPr>
                        <a:t>0.63:1</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dirty="0">
                          <a:solidFill>
                            <a:schemeClr val="tx1"/>
                          </a:solidFill>
                        </a:rPr>
                        <a:t>0.39:1</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b="1" dirty="0">
                          <a:solidFill>
                            <a:schemeClr val="accent5"/>
                          </a:solidFill>
                        </a:rPr>
                        <a:t>+61%</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r>
              <a:tr h="329184">
                <a:tc>
                  <a:txBody>
                    <a:bodyPr/>
                    <a:lstStyle/>
                    <a:p>
                      <a:pPr indent="0" marL="0">
                        <a:buNone/>
                      </a:pPr>
                      <a:r>
                        <a:rPr lang="en-US" sz="1400" dirty="0">
                          <a:solidFill>
                            <a:schemeClr val="tx1"/>
                          </a:solidFill>
                        </a:rPr>
                        <a:t>Cash (cash / CL)</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b="1" dirty="0">
                          <a:solidFill>
                            <a:schemeClr val="tx1"/>
                          </a:solidFill>
                        </a:rPr>
                        <a:t>0.29:1</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dirty="0">
                          <a:solidFill>
                            <a:schemeClr val="tx1"/>
                          </a:solidFill>
                        </a:rPr>
                        <a:t>0.11:1</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b="1" dirty="0">
                          <a:solidFill>
                            <a:schemeClr val="accent5"/>
                          </a:solidFill>
                        </a:rPr>
                        <a:t>+165%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r>
            </a:tbl>
          </a:graphicData>
        </a:graphic>
      </p:graphicFrame>
      <p:sp>
        <p:nvSpPr>
          <p:cNvPr id="5" name="step-1"/>
          <p:cNvSpPr/>
          <p:nvPr/>
        </p:nvSpPr>
        <p:spPr>
          <a:xfrm>
            <a:off x="5943600" y="1371600"/>
            <a:ext cx="5669280" cy="1097280"/>
          </a:xfrm>
          <a:prstGeom prst="roundRect">
            <a:avLst>
              <a:gd name="adj" fmla="val 6667"/>
            </a:avLst>
          </a:prstGeom>
          <a:solidFill>
            <a:schemeClr val="bg2"/>
          </a:solidFill>
          <a:ln/>
        </p:spPr>
      </p:sp>
      <p:sp>
        <p:nvSpPr>
          <p:cNvPr id="6" name="step-num-1"/>
          <p:cNvSpPr/>
          <p:nvPr/>
        </p:nvSpPr>
        <p:spPr>
          <a:xfrm>
            <a:off x="6080760" y="1508760"/>
            <a:ext cx="384048" cy="384048"/>
          </a:xfrm>
          <a:prstGeom prst="ellipse">
            <a:avLst/>
          </a:prstGeom>
          <a:solidFill>
            <a:schemeClr val="accent1"/>
          </a:solidFill>
          <a:ln/>
        </p:spPr>
      </p:sp>
      <p:sp>
        <p:nvSpPr>
          <p:cNvPr id="7" name="Text 3"/>
          <p:cNvSpPr txBox="1"/>
          <p:nvPr/>
        </p:nvSpPr>
        <p:spPr>
          <a:xfrm>
            <a:off x="6080760" y="150876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4"/>
          <p:cNvSpPr txBox="1"/>
          <p:nvPr/>
        </p:nvSpPr>
        <p:spPr>
          <a:xfrm>
            <a:off x="6629400" y="1463040"/>
            <a:ext cx="4846320" cy="914400"/>
          </a:xfrm>
          <a:prstGeom prst="rect">
            <a:avLst/>
          </a:prstGeom>
          <a:noFill/>
          <a:ln/>
        </p:spPr>
        <p:txBody>
          <a:bodyPr wrap="square" lIns="0" tIns="0" rIns="0" bIns="0" rtlCol="0" anchor="ctr"/>
          <a:lstStyle/>
          <a:p>
            <a:pPr indent="0" marL="0">
              <a:buNone/>
            </a:pPr>
            <a:r>
              <a:rPr lang="en-US" sz="1400" b="1" dirty="0">
                <a:solidFill>
                  <a:schemeClr val="accent1"/>
                </a:solidFill>
              </a:rPr>
              <a:t>Interpretation: </a:t>
            </a:r>
            <a:pPr indent="0" marL="0">
              <a:buNone/>
            </a:pPr>
            <a:r>
              <a:rPr lang="en-US" sz="1400" dirty="0">
                <a:solidFill>
                  <a:schemeClr val="tx1"/>
                </a:solidFill>
              </a:rPr>
              <a:t>Reckitt holds 85p of current assets for every £1 of current liabilities, below the textbook 2:1 and 1:1 guides.</a:t>
            </a:r>
            <a:endParaRPr lang="en-US" sz="1400" dirty="0"/>
          </a:p>
        </p:txBody>
      </p:sp>
      <p:sp>
        <p:nvSpPr>
          <p:cNvPr id="9" name="step-2"/>
          <p:cNvSpPr/>
          <p:nvPr/>
        </p:nvSpPr>
        <p:spPr>
          <a:xfrm>
            <a:off x="5943600" y="2606040"/>
            <a:ext cx="5669280" cy="1097280"/>
          </a:xfrm>
          <a:prstGeom prst="roundRect">
            <a:avLst>
              <a:gd name="adj" fmla="val 6667"/>
            </a:avLst>
          </a:prstGeom>
          <a:solidFill>
            <a:schemeClr val="bg2"/>
          </a:solidFill>
          <a:ln/>
        </p:spPr>
      </p:sp>
      <p:sp>
        <p:nvSpPr>
          <p:cNvPr id="10" name="step-num-2"/>
          <p:cNvSpPr/>
          <p:nvPr/>
        </p:nvSpPr>
        <p:spPr>
          <a:xfrm>
            <a:off x="6080760" y="2743200"/>
            <a:ext cx="384048" cy="384048"/>
          </a:xfrm>
          <a:prstGeom prst="ellipse">
            <a:avLst/>
          </a:prstGeom>
          <a:solidFill>
            <a:schemeClr val="accent1"/>
          </a:solidFill>
          <a:ln/>
        </p:spPr>
      </p:sp>
      <p:sp>
        <p:nvSpPr>
          <p:cNvPr id="11" name="Text 7"/>
          <p:cNvSpPr txBox="1"/>
          <p:nvPr/>
        </p:nvSpPr>
        <p:spPr>
          <a:xfrm>
            <a:off x="6080760" y="274320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8"/>
          <p:cNvSpPr txBox="1"/>
          <p:nvPr/>
        </p:nvSpPr>
        <p:spPr>
          <a:xfrm>
            <a:off x="6629400" y="2697480"/>
            <a:ext cx="4846320" cy="914400"/>
          </a:xfrm>
          <a:prstGeom prst="rect">
            <a:avLst/>
          </a:prstGeom>
          <a:noFill/>
          <a:ln/>
        </p:spPr>
        <p:txBody>
          <a:bodyPr wrap="square" lIns="0" tIns="0" rIns="0" bIns="0" rtlCol="0" anchor="ctr"/>
          <a:lstStyle/>
          <a:p>
            <a:pPr indent="0" marL="0">
              <a:buNone/>
            </a:pPr>
            <a:r>
              <a:rPr lang="en-US" sz="1400" b="1" dirty="0">
                <a:solidFill>
                  <a:schemeClr val="accent1"/>
                </a:solidFill>
              </a:rPr>
              <a:t>Movement and reason: </a:t>
            </a:r>
            <a:pPr indent="0" marL="0">
              <a:buNone/>
            </a:pPr>
            <a:r>
              <a:rPr lang="en-US" sz="1400" dirty="0">
                <a:solidFill>
                  <a:schemeClr val="tx1"/>
                </a:solidFill>
              </a:rPr>
              <a:t>cash rose £1,072m from the sale proceeds received on 31 Dec 2025, and short-term borrowings fell (£810m vs £1,423m).</a:t>
            </a:r>
            <a:endParaRPr lang="en-US" sz="1400" dirty="0"/>
          </a:p>
        </p:txBody>
      </p:sp>
      <p:sp>
        <p:nvSpPr>
          <p:cNvPr id="13" name="step-3"/>
          <p:cNvSpPr/>
          <p:nvPr/>
        </p:nvSpPr>
        <p:spPr>
          <a:xfrm>
            <a:off x="5943600" y="3840480"/>
            <a:ext cx="5669280" cy="1097280"/>
          </a:xfrm>
          <a:prstGeom prst="roundRect">
            <a:avLst>
              <a:gd name="adj" fmla="val 6667"/>
            </a:avLst>
          </a:prstGeom>
          <a:solidFill>
            <a:schemeClr val="bg2"/>
          </a:solidFill>
          <a:ln/>
        </p:spPr>
      </p:sp>
      <p:sp>
        <p:nvSpPr>
          <p:cNvPr id="14" name="step-num-3"/>
          <p:cNvSpPr/>
          <p:nvPr/>
        </p:nvSpPr>
        <p:spPr>
          <a:xfrm>
            <a:off x="6080760" y="3977640"/>
            <a:ext cx="384048" cy="384048"/>
          </a:xfrm>
          <a:prstGeom prst="ellipse">
            <a:avLst/>
          </a:prstGeom>
          <a:solidFill>
            <a:schemeClr val="accent1"/>
          </a:solidFill>
          <a:ln/>
        </p:spPr>
      </p:sp>
      <p:sp>
        <p:nvSpPr>
          <p:cNvPr id="15" name="Text 11"/>
          <p:cNvSpPr txBox="1"/>
          <p:nvPr/>
        </p:nvSpPr>
        <p:spPr>
          <a:xfrm>
            <a:off x="6080760" y="397764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2"/>
          <p:cNvSpPr txBox="1"/>
          <p:nvPr/>
        </p:nvSpPr>
        <p:spPr>
          <a:xfrm>
            <a:off x="6629400" y="3931920"/>
            <a:ext cx="4846320" cy="914400"/>
          </a:xfrm>
          <a:prstGeom prst="rect">
            <a:avLst/>
          </a:prstGeom>
          <a:noFill/>
          <a:ln/>
        </p:spPr>
        <p:txBody>
          <a:bodyPr wrap="square" lIns="0" tIns="0" rIns="0" bIns="0" rtlCol="0" anchor="ctr"/>
          <a:lstStyle/>
          <a:p>
            <a:pPr indent="0" marL="0">
              <a:buNone/>
            </a:pPr>
            <a:r>
              <a:rPr lang="en-US" sz="1400" b="1" dirty="0">
                <a:solidFill>
                  <a:schemeClr val="accent1"/>
                </a:solidFill>
              </a:rPr>
              <a:t>Implication: </a:t>
            </a:r>
            <a:pPr indent="0" marL="0">
              <a:buNone/>
            </a:pPr>
            <a:r>
              <a:rPr lang="en-US" sz="1400" dirty="0">
                <a:solidFill>
                  <a:schemeClr val="tx1"/>
                </a:solidFill>
              </a:rPr>
              <a:t>the gain is temporary: after the £1.6bn special dividend, H1 2026 fell back to 0.59. Low ratios are normal for FMCG with negative working capital and £4.4bn of undrawn facilities.</a:t>
            </a:r>
            <a:endParaRPr lang="en-US" sz="1400" dirty="0"/>
          </a:p>
        </p:txBody>
      </p:sp>
      <p:sp>
        <p:nvSpPr>
          <p:cNvPr id="17" name="step-4"/>
          <p:cNvSpPr/>
          <p:nvPr/>
        </p:nvSpPr>
        <p:spPr>
          <a:xfrm>
            <a:off x="5943600" y="5074920"/>
            <a:ext cx="5669280" cy="1097280"/>
          </a:xfrm>
          <a:prstGeom prst="roundRect">
            <a:avLst>
              <a:gd name="adj" fmla="val 6667"/>
            </a:avLst>
          </a:prstGeom>
          <a:solidFill>
            <a:schemeClr val="bg2"/>
          </a:solidFill>
          <a:ln/>
        </p:spPr>
      </p:sp>
      <p:sp>
        <p:nvSpPr>
          <p:cNvPr id="18" name="step-num-4"/>
          <p:cNvSpPr/>
          <p:nvPr/>
        </p:nvSpPr>
        <p:spPr>
          <a:xfrm>
            <a:off x="6080760" y="5212080"/>
            <a:ext cx="384048" cy="384048"/>
          </a:xfrm>
          <a:prstGeom prst="ellipse">
            <a:avLst/>
          </a:prstGeom>
          <a:solidFill>
            <a:schemeClr val="accent1"/>
          </a:solidFill>
          <a:ln/>
        </p:spPr>
      </p:sp>
      <p:sp>
        <p:nvSpPr>
          <p:cNvPr id="19" name="Text 15"/>
          <p:cNvSpPr txBox="1"/>
          <p:nvPr/>
        </p:nvSpPr>
        <p:spPr>
          <a:xfrm>
            <a:off x="6080760" y="52120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0" name="Text 16"/>
          <p:cNvSpPr txBox="1"/>
          <p:nvPr/>
        </p:nvSpPr>
        <p:spPr>
          <a:xfrm>
            <a:off x="6629400" y="5166360"/>
            <a:ext cx="4846320" cy="914400"/>
          </a:xfrm>
          <a:prstGeom prst="rect">
            <a:avLst/>
          </a:prstGeom>
          <a:noFill/>
          <a:ln/>
        </p:spPr>
        <p:txBody>
          <a:bodyPr wrap="square" lIns="0" tIns="0" rIns="0" bIns="0" rtlCol="0" anchor="ctr"/>
          <a:lstStyle/>
          <a:p>
            <a:pPr indent="0" marL="0">
              <a:buNone/>
            </a:pPr>
            <a:r>
              <a:rPr lang="en-US" sz="1400" b="1" dirty="0">
                <a:solidFill>
                  <a:schemeClr val="accent1"/>
                </a:solidFill>
              </a:rPr>
              <a:t>Recommendation: </a:t>
            </a:r>
            <a:pPr indent="0" marL="0">
              <a:buNone/>
            </a:pPr>
            <a:r>
              <a:rPr lang="en-US" sz="1400" dirty="0">
                <a:solidFill>
                  <a:schemeClr val="tx1"/>
                </a:solidFill>
              </a:rPr>
              <a:t>acceptable, but monitor refinancing of the bond now due within a year; keep net debt near 2x EBITDA.</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Efficiency: assets and inventory working harder</a:t>
            </a:r>
            <a:endParaRPr lang="en-US" sz="3400" dirty="0"/>
          </a:p>
        </p:txBody>
      </p:sp>
      <p:sp>
        <p:nvSpPr>
          <p:cNvPr id="3" name="eff-0"/>
          <p:cNvSpPr/>
          <p:nvPr/>
        </p:nvSpPr>
        <p:spPr>
          <a:xfrm>
            <a:off x="548640" y="1371600"/>
            <a:ext cx="5486400" cy="841248"/>
          </a:xfrm>
          <a:prstGeom prst="roundRect">
            <a:avLst>
              <a:gd name="adj" fmla="val 8696"/>
            </a:avLst>
          </a:prstGeom>
          <a:solidFill>
            <a:schemeClr val="bg2"/>
          </a:solidFill>
          <a:ln/>
        </p:spPr>
      </p:sp>
      <p:sp>
        <p:nvSpPr>
          <p:cNvPr id="4" name="Text 2"/>
          <p:cNvSpPr txBox="1"/>
          <p:nvPr/>
        </p:nvSpPr>
        <p:spPr>
          <a:xfrm>
            <a:off x="731520" y="1444752"/>
            <a:ext cx="2377440" cy="365760"/>
          </a:xfrm>
          <a:prstGeom prst="rect">
            <a:avLst/>
          </a:prstGeom>
          <a:noFill/>
          <a:ln/>
        </p:spPr>
        <p:txBody>
          <a:bodyPr wrap="square" lIns="0" tIns="0" rIns="0" bIns="0" rtlCol="0" anchor="t"/>
          <a:lstStyle/>
          <a:p>
            <a:pPr indent="0" marL="0">
              <a:buNone/>
            </a:pPr>
            <a:r>
              <a:rPr lang="en-US" sz="1600" b="1" dirty="0">
                <a:solidFill>
                  <a:schemeClr val="tx2"/>
                </a:solidFill>
              </a:rPr>
              <a:t>ATOR</a:t>
            </a:r>
            <a:endParaRPr lang="en-US" sz="1600" dirty="0"/>
          </a:p>
        </p:txBody>
      </p:sp>
      <p:sp>
        <p:nvSpPr>
          <p:cNvPr id="5" name="Text 3"/>
          <p:cNvSpPr txBox="1"/>
          <p:nvPr/>
        </p:nvSpPr>
        <p:spPr>
          <a:xfrm>
            <a:off x="731520" y="1810512"/>
            <a:ext cx="2377440" cy="347472"/>
          </a:xfrm>
          <a:prstGeom prst="rect">
            <a:avLst/>
          </a:prstGeom>
          <a:noFill/>
          <a:ln/>
        </p:spPr>
        <p:txBody>
          <a:bodyPr wrap="square" lIns="0" tIns="0" rIns="0" bIns="0" rtlCol="0" anchor="t"/>
          <a:lstStyle/>
          <a:p>
            <a:pPr indent="0" marL="0">
              <a:buNone/>
            </a:pPr>
            <a:r>
              <a:rPr lang="en-US" sz="1200" dirty="0">
                <a:solidFill>
                  <a:schemeClr val="accent3"/>
                </a:solidFill>
              </a:rPr>
              <a:t>Net sales / total assets</a:t>
            </a:r>
            <a:endParaRPr lang="en-US" sz="1200" dirty="0"/>
          </a:p>
        </p:txBody>
      </p:sp>
      <p:sp>
        <p:nvSpPr>
          <p:cNvPr id="6" name="Text 4"/>
          <p:cNvSpPr txBox="1"/>
          <p:nvPr/>
        </p:nvSpPr>
        <p:spPr>
          <a:xfrm>
            <a:off x="3108960" y="1463040"/>
            <a:ext cx="1371600" cy="658368"/>
          </a:xfrm>
          <a:prstGeom prst="rect">
            <a:avLst/>
          </a:prstGeom>
          <a:noFill/>
          <a:ln/>
        </p:spPr>
        <p:txBody>
          <a:bodyPr wrap="square" lIns="0" tIns="0" rIns="0" bIns="0" rtlCol="0" anchor="ctr"/>
          <a:lstStyle/>
          <a:p>
            <a:pPr algn="ctr" indent="0" marL="0">
              <a:buNone/>
            </a:pPr>
            <a:r>
              <a:rPr lang="en-US" sz="2600" b="1" dirty="0">
                <a:solidFill>
                  <a:schemeClr val="accent1"/>
                </a:solidFill>
                <a:latin typeface="Cambria" pitchFamily="34" charset="0"/>
                <a:ea typeface="Cambria" pitchFamily="34" charset="-122"/>
                <a:cs typeface="Cambria" pitchFamily="34" charset="-120"/>
              </a:rPr>
              <a:t>0.57x</a:t>
            </a:r>
            <a:endParaRPr lang="en-US" sz="2600" dirty="0"/>
          </a:p>
        </p:txBody>
      </p:sp>
      <p:sp>
        <p:nvSpPr>
          <p:cNvPr id="7" name="Text 5"/>
          <p:cNvSpPr txBox="1"/>
          <p:nvPr/>
        </p:nvSpPr>
        <p:spPr>
          <a:xfrm>
            <a:off x="4526280" y="1463040"/>
            <a:ext cx="1371600" cy="658368"/>
          </a:xfrm>
          <a:prstGeom prst="rect">
            <a:avLst/>
          </a:prstGeom>
          <a:noFill/>
          <a:ln/>
        </p:spPr>
        <p:txBody>
          <a:bodyPr wrap="square" lIns="0" tIns="0" rIns="0" bIns="0" rtlCol="0" anchor="ctr"/>
          <a:lstStyle/>
          <a:p>
            <a:pPr algn="ctr" indent="0" marL="0">
              <a:buNone/>
            </a:pPr>
            <a:r>
              <a:rPr lang="en-US" sz="1200" dirty="0">
                <a:solidFill>
                  <a:schemeClr val="accent3"/>
                </a:solidFill>
              </a:rPr>
              <a:t>FY24 </a:t>
            </a:r>
            <a:pPr algn="ctr" indent="0" marL="0">
              <a:buNone/>
            </a:pPr>
            <a:r>
              <a:rPr lang="en-US" sz="2000" b="1" dirty="0">
                <a:solidFill>
                  <a:schemeClr val="tx1"/>
                </a:solidFill>
              </a:rPr>
              <a:t>0.56x</a:t>
            </a:r>
            <a:endParaRPr lang="en-US" sz="1400" dirty="0"/>
          </a:p>
        </p:txBody>
      </p:sp>
      <p:sp>
        <p:nvSpPr>
          <p:cNvPr id="8" name="eff-1"/>
          <p:cNvSpPr/>
          <p:nvPr/>
        </p:nvSpPr>
        <p:spPr>
          <a:xfrm>
            <a:off x="548640" y="2350008"/>
            <a:ext cx="5486400" cy="841248"/>
          </a:xfrm>
          <a:prstGeom prst="roundRect">
            <a:avLst>
              <a:gd name="adj" fmla="val 8696"/>
            </a:avLst>
          </a:prstGeom>
          <a:solidFill>
            <a:schemeClr val="bg2"/>
          </a:solidFill>
          <a:ln/>
        </p:spPr>
      </p:sp>
      <p:sp>
        <p:nvSpPr>
          <p:cNvPr id="9" name="Text 7"/>
          <p:cNvSpPr txBox="1"/>
          <p:nvPr/>
        </p:nvSpPr>
        <p:spPr>
          <a:xfrm>
            <a:off x="731520" y="2423160"/>
            <a:ext cx="2377440" cy="365760"/>
          </a:xfrm>
          <a:prstGeom prst="rect">
            <a:avLst/>
          </a:prstGeom>
          <a:noFill/>
          <a:ln/>
        </p:spPr>
        <p:txBody>
          <a:bodyPr wrap="square" lIns="0" tIns="0" rIns="0" bIns="0" rtlCol="0" anchor="t"/>
          <a:lstStyle/>
          <a:p>
            <a:pPr indent="0" marL="0">
              <a:buNone/>
            </a:pPr>
            <a:r>
              <a:rPr lang="en-US" sz="1600" b="1" dirty="0">
                <a:solidFill>
                  <a:schemeClr val="tx2"/>
                </a:solidFill>
              </a:rPr>
              <a:t>Inventory turnover</a:t>
            </a:r>
            <a:endParaRPr lang="en-US" sz="1600" dirty="0"/>
          </a:p>
        </p:txBody>
      </p:sp>
      <p:sp>
        <p:nvSpPr>
          <p:cNvPr id="10" name="Text 8"/>
          <p:cNvSpPr txBox="1"/>
          <p:nvPr/>
        </p:nvSpPr>
        <p:spPr>
          <a:xfrm>
            <a:off x="731520" y="2788920"/>
            <a:ext cx="2377440" cy="347472"/>
          </a:xfrm>
          <a:prstGeom prst="rect">
            <a:avLst/>
          </a:prstGeom>
          <a:noFill/>
          <a:ln/>
        </p:spPr>
        <p:txBody>
          <a:bodyPr wrap="square" lIns="0" tIns="0" rIns="0" bIns="0" rtlCol="0" anchor="t"/>
          <a:lstStyle/>
          <a:p>
            <a:pPr indent="0" marL="0">
              <a:buNone/>
            </a:pPr>
            <a:r>
              <a:rPr lang="en-US" sz="1200" dirty="0">
                <a:solidFill>
                  <a:schemeClr val="accent3"/>
                </a:solidFill>
              </a:rPr>
              <a:t>COGS / average inventory</a:t>
            </a:r>
            <a:endParaRPr lang="en-US" sz="1200" dirty="0"/>
          </a:p>
        </p:txBody>
      </p:sp>
      <p:sp>
        <p:nvSpPr>
          <p:cNvPr id="11" name="Text 9"/>
          <p:cNvSpPr txBox="1"/>
          <p:nvPr/>
        </p:nvSpPr>
        <p:spPr>
          <a:xfrm>
            <a:off x="3108960" y="2441448"/>
            <a:ext cx="1371600" cy="658368"/>
          </a:xfrm>
          <a:prstGeom prst="rect">
            <a:avLst/>
          </a:prstGeom>
          <a:noFill/>
          <a:ln/>
        </p:spPr>
        <p:txBody>
          <a:bodyPr wrap="square" lIns="0" tIns="0" rIns="0" bIns="0" rtlCol="0" anchor="ctr"/>
          <a:lstStyle/>
          <a:p>
            <a:pPr algn="ctr" indent="0" marL="0">
              <a:buNone/>
            </a:pPr>
            <a:r>
              <a:rPr lang="en-US" sz="2600" b="1" dirty="0">
                <a:solidFill>
                  <a:schemeClr val="accent1"/>
                </a:solidFill>
                <a:latin typeface="Cambria" pitchFamily="34" charset="0"/>
                <a:ea typeface="Cambria" pitchFamily="34" charset="-122"/>
                <a:cs typeface="Cambria" pitchFamily="34" charset="-120"/>
              </a:rPr>
              <a:t>3.73x</a:t>
            </a:r>
            <a:endParaRPr lang="en-US" sz="2600" dirty="0"/>
          </a:p>
        </p:txBody>
      </p:sp>
      <p:sp>
        <p:nvSpPr>
          <p:cNvPr id="12" name="Text 10"/>
          <p:cNvSpPr txBox="1"/>
          <p:nvPr/>
        </p:nvSpPr>
        <p:spPr>
          <a:xfrm>
            <a:off x="4526280" y="2441448"/>
            <a:ext cx="1371600" cy="658368"/>
          </a:xfrm>
          <a:prstGeom prst="rect">
            <a:avLst/>
          </a:prstGeom>
          <a:noFill/>
          <a:ln/>
        </p:spPr>
        <p:txBody>
          <a:bodyPr wrap="square" lIns="0" tIns="0" rIns="0" bIns="0" rtlCol="0" anchor="ctr"/>
          <a:lstStyle/>
          <a:p>
            <a:pPr algn="ctr" indent="0" marL="0">
              <a:buNone/>
            </a:pPr>
            <a:r>
              <a:rPr lang="en-US" sz="1200" dirty="0">
                <a:solidFill>
                  <a:schemeClr val="accent3"/>
                </a:solidFill>
              </a:rPr>
              <a:t>FY24 </a:t>
            </a:r>
            <a:pPr algn="ctr" indent="0" marL="0">
              <a:buNone/>
            </a:pPr>
            <a:r>
              <a:rPr lang="en-US" sz="2000" b="1" dirty="0">
                <a:solidFill>
                  <a:schemeClr val="tx1"/>
                </a:solidFill>
              </a:rPr>
              <a:t>3.53x</a:t>
            </a:r>
            <a:endParaRPr lang="en-US" sz="1400" dirty="0"/>
          </a:p>
        </p:txBody>
      </p:sp>
      <p:sp>
        <p:nvSpPr>
          <p:cNvPr id="13" name="eff-2"/>
          <p:cNvSpPr/>
          <p:nvPr/>
        </p:nvSpPr>
        <p:spPr>
          <a:xfrm>
            <a:off x="548640" y="3328416"/>
            <a:ext cx="5486400" cy="841248"/>
          </a:xfrm>
          <a:prstGeom prst="roundRect">
            <a:avLst>
              <a:gd name="adj" fmla="val 8696"/>
            </a:avLst>
          </a:prstGeom>
          <a:solidFill>
            <a:schemeClr val="bg2"/>
          </a:solidFill>
          <a:ln/>
        </p:spPr>
      </p:sp>
      <p:sp>
        <p:nvSpPr>
          <p:cNvPr id="14" name="Text 12"/>
          <p:cNvSpPr txBox="1"/>
          <p:nvPr/>
        </p:nvSpPr>
        <p:spPr>
          <a:xfrm>
            <a:off x="731520" y="3401568"/>
            <a:ext cx="2377440" cy="365760"/>
          </a:xfrm>
          <a:prstGeom prst="rect">
            <a:avLst/>
          </a:prstGeom>
          <a:noFill/>
          <a:ln/>
        </p:spPr>
        <p:txBody>
          <a:bodyPr wrap="square" lIns="0" tIns="0" rIns="0" bIns="0" rtlCol="0" anchor="t"/>
          <a:lstStyle/>
          <a:p>
            <a:pPr indent="0" marL="0">
              <a:buNone/>
            </a:pPr>
            <a:r>
              <a:rPr lang="en-US" sz="1600" b="1" dirty="0">
                <a:solidFill>
                  <a:schemeClr val="tx2"/>
                </a:solidFill>
              </a:rPr>
              <a:t>Inventory days</a:t>
            </a:r>
            <a:endParaRPr lang="en-US" sz="1600" dirty="0"/>
          </a:p>
        </p:txBody>
      </p:sp>
      <p:sp>
        <p:nvSpPr>
          <p:cNvPr id="15" name="Text 13"/>
          <p:cNvSpPr txBox="1"/>
          <p:nvPr/>
        </p:nvSpPr>
        <p:spPr>
          <a:xfrm>
            <a:off x="731520" y="3767328"/>
            <a:ext cx="2377440" cy="347472"/>
          </a:xfrm>
          <a:prstGeom prst="rect">
            <a:avLst/>
          </a:prstGeom>
          <a:noFill/>
          <a:ln/>
        </p:spPr>
        <p:txBody>
          <a:bodyPr wrap="square" lIns="0" tIns="0" rIns="0" bIns="0" rtlCol="0" anchor="t"/>
          <a:lstStyle/>
          <a:p>
            <a:pPr indent="0" marL="0">
              <a:buNone/>
            </a:pPr>
            <a:r>
              <a:rPr lang="en-US" sz="1200" dirty="0">
                <a:solidFill>
                  <a:schemeClr val="accent3"/>
                </a:solidFill>
              </a:rPr>
              <a:t>365 / inventory turnover</a:t>
            </a:r>
            <a:endParaRPr lang="en-US" sz="1200" dirty="0"/>
          </a:p>
        </p:txBody>
      </p:sp>
      <p:sp>
        <p:nvSpPr>
          <p:cNvPr id="16" name="Text 14"/>
          <p:cNvSpPr txBox="1"/>
          <p:nvPr/>
        </p:nvSpPr>
        <p:spPr>
          <a:xfrm>
            <a:off x="3108960" y="3419856"/>
            <a:ext cx="1371600" cy="658368"/>
          </a:xfrm>
          <a:prstGeom prst="rect">
            <a:avLst/>
          </a:prstGeom>
          <a:noFill/>
          <a:ln/>
        </p:spPr>
        <p:txBody>
          <a:bodyPr wrap="square" lIns="0" tIns="0" rIns="0" bIns="0" rtlCol="0" anchor="ctr"/>
          <a:lstStyle/>
          <a:p>
            <a:pPr algn="ctr" indent="0" marL="0">
              <a:buNone/>
            </a:pPr>
            <a:r>
              <a:rPr lang="en-US" sz="2600" b="1" dirty="0">
                <a:solidFill>
                  <a:schemeClr val="accent1"/>
                </a:solidFill>
                <a:latin typeface="Cambria" pitchFamily="34" charset="0"/>
                <a:ea typeface="Cambria" pitchFamily="34" charset="-122"/>
                <a:cs typeface="Cambria" pitchFamily="34" charset="-120"/>
              </a:rPr>
              <a:t>98</a:t>
            </a:r>
            <a:endParaRPr lang="en-US" sz="2600" dirty="0"/>
          </a:p>
        </p:txBody>
      </p:sp>
      <p:sp>
        <p:nvSpPr>
          <p:cNvPr id="17" name="Text 15"/>
          <p:cNvSpPr txBox="1"/>
          <p:nvPr/>
        </p:nvSpPr>
        <p:spPr>
          <a:xfrm>
            <a:off x="4526280" y="3419856"/>
            <a:ext cx="1371600" cy="658368"/>
          </a:xfrm>
          <a:prstGeom prst="rect">
            <a:avLst/>
          </a:prstGeom>
          <a:noFill/>
          <a:ln/>
        </p:spPr>
        <p:txBody>
          <a:bodyPr wrap="square" lIns="0" tIns="0" rIns="0" bIns="0" rtlCol="0" anchor="ctr"/>
          <a:lstStyle/>
          <a:p>
            <a:pPr algn="ctr" indent="0" marL="0">
              <a:buNone/>
            </a:pPr>
            <a:r>
              <a:rPr lang="en-US" sz="1200" dirty="0">
                <a:solidFill>
                  <a:schemeClr val="accent3"/>
                </a:solidFill>
              </a:rPr>
              <a:t>FY24 </a:t>
            </a:r>
            <a:pPr algn="ctr" indent="0" marL="0">
              <a:buNone/>
            </a:pPr>
            <a:r>
              <a:rPr lang="en-US" sz="2000" b="1" dirty="0">
                <a:solidFill>
                  <a:schemeClr val="tx1"/>
                </a:solidFill>
              </a:rPr>
              <a:t>103</a:t>
            </a:r>
            <a:endParaRPr lang="en-US" sz="1400" dirty="0"/>
          </a:p>
        </p:txBody>
      </p:sp>
      <p:sp>
        <p:nvSpPr>
          <p:cNvPr id="18" name="eff-3"/>
          <p:cNvSpPr/>
          <p:nvPr/>
        </p:nvSpPr>
        <p:spPr>
          <a:xfrm>
            <a:off x="548640" y="4306824"/>
            <a:ext cx="5486400" cy="841248"/>
          </a:xfrm>
          <a:prstGeom prst="roundRect">
            <a:avLst>
              <a:gd name="adj" fmla="val 8696"/>
            </a:avLst>
          </a:prstGeom>
          <a:solidFill>
            <a:schemeClr val="bg2"/>
          </a:solidFill>
          <a:ln/>
        </p:spPr>
      </p:sp>
      <p:sp>
        <p:nvSpPr>
          <p:cNvPr id="19" name="Text 17"/>
          <p:cNvSpPr txBox="1"/>
          <p:nvPr/>
        </p:nvSpPr>
        <p:spPr>
          <a:xfrm>
            <a:off x="731520" y="4379976"/>
            <a:ext cx="2377440" cy="365760"/>
          </a:xfrm>
          <a:prstGeom prst="rect">
            <a:avLst/>
          </a:prstGeom>
          <a:noFill/>
          <a:ln/>
        </p:spPr>
        <p:txBody>
          <a:bodyPr wrap="square" lIns="0" tIns="0" rIns="0" bIns="0" rtlCol="0" anchor="t"/>
          <a:lstStyle/>
          <a:p>
            <a:pPr indent="0" marL="0">
              <a:buNone/>
            </a:pPr>
            <a:r>
              <a:rPr lang="en-US" sz="1600" b="1" dirty="0">
                <a:solidFill>
                  <a:schemeClr val="tx2"/>
                </a:solidFill>
              </a:rPr>
              <a:t>Receivables turnover</a:t>
            </a:r>
            <a:endParaRPr lang="en-US" sz="1600" dirty="0"/>
          </a:p>
        </p:txBody>
      </p:sp>
      <p:sp>
        <p:nvSpPr>
          <p:cNvPr id="20" name="Text 18"/>
          <p:cNvSpPr txBox="1"/>
          <p:nvPr/>
        </p:nvSpPr>
        <p:spPr>
          <a:xfrm>
            <a:off x="731520" y="4745736"/>
            <a:ext cx="2377440" cy="347472"/>
          </a:xfrm>
          <a:prstGeom prst="rect">
            <a:avLst/>
          </a:prstGeom>
          <a:noFill/>
          <a:ln/>
        </p:spPr>
        <p:txBody>
          <a:bodyPr wrap="square" lIns="0" tIns="0" rIns="0" bIns="0" rtlCol="0" anchor="t"/>
          <a:lstStyle/>
          <a:p>
            <a:pPr indent="0" marL="0">
              <a:buNone/>
            </a:pPr>
            <a:r>
              <a:rPr lang="en-US" sz="1200" dirty="0">
                <a:solidFill>
                  <a:schemeClr val="accent3"/>
                </a:solidFill>
              </a:rPr>
              <a:t>Net sales / average receivables</a:t>
            </a:r>
            <a:endParaRPr lang="en-US" sz="1200" dirty="0"/>
          </a:p>
        </p:txBody>
      </p:sp>
      <p:sp>
        <p:nvSpPr>
          <p:cNvPr id="21" name="Text 19"/>
          <p:cNvSpPr txBox="1"/>
          <p:nvPr/>
        </p:nvSpPr>
        <p:spPr>
          <a:xfrm>
            <a:off x="3108960" y="4398264"/>
            <a:ext cx="1371600" cy="658368"/>
          </a:xfrm>
          <a:prstGeom prst="rect">
            <a:avLst/>
          </a:prstGeom>
          <a:noFill/>
          <a:ln/>
        </p:spPr>
        <p:txBody>
          <a:bodyPr wrap="square" lIns="0" tIns="0" rIns="0" bIns="0" rtlCol="0" anchor="ctr"/>
          <a:lstStyle/>
          <a:p>
            <a:pPr algn="ctr" indent="0" marL="0">
              <a:buNone/>
            </a:pPr>
            <a:r>
              <a:rPr lang="en-US" sz="2600" b="1" dirty="0">
                <a:solidFill>
                  <a:schemeClr val="accent1"/>
                </a:solidFill>
                <a:latin typeface="Cambria" pitchFamily="34" charset="0"/>
                <a:ea typeface="Cambria" pitchFamily="34" charset="-122"/>
                <a:cs typeface="Cambria" pitchFamily="34" charset="-120"/>
              </a:rPr>
              <a:t>6.74x</a:t>
            </a:r>
            <a:endParaRPr lang="en-US" sz="2600" dirty="0"/>
          </a:p>
        </p:txBody>
      </p:sp>
      <p:sp>
        <p:nvSpPr>
          <p:cNvPr id="22" name="Text 20"/>
          <p:cNvSpPr txBox="1"/>
          <p:nvPr/>
        </p:nvSpPr>
        <p:spPr>
          <a:xfrm>
            <a:off x="4526280" y="4398264"/>
            <a:ext cx="1371600" cy="658368"/>
          </a:xfrm>
          <a:prstGeom prst="rect">
            <a:avLst/>
          </a:prstGeom>
          <a:noFill/>
          <a:ln/>
        </p:spPr>
        <p:txBody>
          <a:bodyPr wrap="square" lIns="0" tIns="0" rIns="0" bIns="0" rtlCol="0" anchor="ctr"/>
          <a:lstStyle/>
          <a:p>
            <a:pPr algn="ctr" indent="0" marL="0">
              <a:buNone/>
            </a:pPr>
            <a:r>
              <a:rPr lang="en-US" sz="1200" dirty="0">
                <a:solidFill>
                  <a:schemeClr val="accent3"/>
                </a:solidFill>
              </a:rPr>
              <a:t>FY24 </a:t>
            </a:r>
            <a:pPr algn="ctr" indent="0" marL="0">
              <a:buNone/>
            </a:pPr>
            <a:r>
              <a:rPr lang="en-US" sz="2000" b="1" dirty="0">
                <a:solidFill>
                  <a:schemeClr val="tx1"/>
                </a:solidFill>
              </a:rPr>
              <a:t>6.82x</a:t>
            </a:r>
            <a:endParaRPr lang="en-US" sz="1400" dirty="0"/>
          </a:p>
        </p:txBody>
      </p:sp>
      <p:sp>
        <p:nvSpPr>
          <p:cNvPr id="23" name="eff-4"/>
          <p:cNvSpPr/>
          <p:nvPr/>
        </p:nvSpPr>
        <p:spPr>
          <a:xfrm>
            <a:off x="548640" y="5285232"/>
            <a:ext cx="5486400" cy="841248"/>
          </a:xfrm>
          <a:prstGeom prst="roundRect">
            <a:avLst>
              <a:gd name="adj" fmla="val 8696"/>
            </a:avLst>
          </a:prstGeom>
          <a:solidFill>
            <a:schemeClr val="bg2"/>
          </a:solidFill>
          <a:ln/>
        </p:spPr>
      </p:sp>
      <p:sp>
        <p:nvSpPr>
          <p:cNvPr id="24" name="Text 22"/>
          <p:cNvSpPr txBox="1"/>
          <p:nvPr/>
        </p:nvSpPr>
        <p:spPr>
          <a:xfrm>
            <a:off x="731520" y="5358384"/>
            <a:ext cx="2377440" cy="365760"/>
          </a:xfrm>
          <a:prstGeom prst="rect">
            <a:avLst/>
          </a:prstGeom>
          <a:noFill/>
          <a:ln/>
        </p:spPr>
        <p:txBody>
          <a:bodyPr wrap="square" lIns="0" tIns="0" rIns="0" bIns="0" rtlCol="0" anchor="t"/>
          <a:lstStyle/>
          <a:p>
            <a:pPr indent="0" marL="0">
              <a:buNone/>
            </a:pPr>
            <a:r>
              <a:rPr lang="en-US" sz="1600" b="1" dirty="0">
                <a:solidFill>
                  <a:schemeClr val="tx2"/>
                </a:solidFill>
              </a:rPr>
              <a:t>Receivable days</a:t>
            </a:r>
            <a:endParaRPr lang="en-US" sz="1600" dirty="0"/>
          </a:p>
        </p:txBody>
      </p:sp>
      <p:sp>
        <p:nvSpPr>
          <p:cNvPr id="25" name="Text 23"/>
          <p:cNvSpPr txBox="1"/>
          <p:nvPr/>
        </p:nvSpPr>
        <p:spPr>
          <a:xfrm>
            <a:off x="731520" y="5724144"/>
            <a:ext cx="2377440" cy="347472"/>
          </a:xfrm>
          <a:prstGeom prst="rect">
            <a:avLst/>
          </a:prstGeom>
          <a:noFill/>
          <a:ln/>
        </p:spPr>
        <p:txBody>
          <a:bodyPr wrap="square" lIns="0" tIns="0" rIns="0" bIns="0" rtlCol="0" anchor="t"/>
          <a:lstStyle/>
          <a:p>
            <a:pPr indent="0" marL="0">
              <a:buNone/>
            </a:pPr>
            <a:r>
              <a:rPr lang="en-US" sz="1200" dirty="0">
                <a:solidFill>
                  <a:schemeClr val="accent3"/>
                </a:solidFill>
              </a:rPr>
              <a:t>365 / receivables turnover</a:t>
            </a:r>
            <a:endParaRPr lang="en-US" sz="1200" dirty="0"/>
          </a:p>
        </p:txBody>
      </p:sp>
      <p:sp>
        <p:nvSpPr>
          <p:cNvPr id="26" name="Text 24"/>
          <p:cNvSpPr txBox="1"/>
          <p:nvPr/>
        </p:nvSpPr>
        <p:spPr>
          <a:xfrm>
            <a:off x="3108960" y="5376672"/>
            <a:ext cx="1371600" cy="658368"/>
          </a:xfrm>
          <a:prstGeom prst="rect">
            <a:avLst/>
          </a:prstGeom>
          <a:noFill/>
          <a:ln/>
        </p:spPr>
        <p:txBody>
          <a:bodyPr wrap="square" lIns="0" tIns="0" rIns="0" bIns="0" rtlCol="0" anchor="ctr"/>
          <a:lstStyle/>
          <a:p>
            <a:pPr algn="ctr" indent="0" marL="0">
              <a:buNone/>
            </a:pPr>
            <a:r>
              <a:rPr lang="en-US" sz="2600" b="1" dirty="0">
                <a:solidFill>
                  <a:schemeClr val="accent1"/>
                </a:solidFill>
                <a:latin typeface="Cambria" pitchFamily="34" charset="0"/>
                <a:ea typeface="Cambria" pitchFamily="34" charset="-122"/>
                <a:cs typeface="Cambria" pitchFamily="34" charset="-120"/>
              </a:rPr>
              <a:t>54</a:t>
            </a:r>
            <a:endParaRPr lang="en-US" sz="2600" dirty="0"/>
          </a:p>
        </p:txBody>
      </p:sp>
      <p:sp>
        <p:nvSpPr>
          <p:cNvPr id="27" name="Text 25"/>
          <p:cNvSpPr txBox="1"/>
          <p:nvPr/>
        </p:nvSpPr>
        <p:spPr>
          <a:xfrm>
            <a:off x="4526280" y="5376672"/>
            <a:ext cx="1371600" cy="658368"/>
          </a:xfrm>
          <a:prstGeom prst="rect">
            <a:avLst/>
          </a:prstGeom>
          <a:noFill/>
          <a:ln/>
        </p:spPr>
        <p:txBody>
          <a:bodyPr wrap="square" lIns="0" tIns="0" rIns="0" bIns="0" rtlCol="0" anchor="ctr"/>
          <a:lstStyle/>
          <a:p>
            <a:pPr algn="ctr" indent="0" marL="0">
              <a:buNone/>
            </a:pPr>
            <a:r>
              <a:rPr lang="en-US" sz="1200" dirty="0">
                <a:solidFill>
                  <a:schemeClr val="accent3"/>
                </a:solidFill>
              </a:rPr>
              <a:t>FY24 </a:t>
            </a:r>
            <a:pPr algn="ctr" indent="0" marL="0">
              <a:buNone/>
            </a:pPr>
            <a:r>
              <a:rPr lang="en-US" sz="2000" b="1" dirty="0">
                <a:solidFill>
                  <a:schemeClr val="tx1"/>
                </a:solidFill>
              </a:rPr>
              <a:t>53</a:t>
            </a:r>
            <a:endParaRPr lang="en-US" sz="1400" dirty="0"/>
          </a:p>
        </p:txBody>
      </p:sp>
      <p:sp>
        <p:nvSpPr>
          <p:cNvPr id="28" name="step-1"/>
          <p:cNvSpPr/>
          <p:nvPr/>
        </p:nvSpPr>
        <p:spPr>
          <a:xfrm>
            <a:off x="6309360" y="1371600"/>
            <a:ext cx="5303520" cy="1097280"/>
          </a:xfrm>
          <a:prstGeom prst="roundRect">
            <a:avLst>
              <a:gd name="adj" fmla="val 6667"/>
            </a:avLst>
          </a:prstGeom>
          <a:solidFill>
            <a:schemeClr val="bg2"/>
          </a:solidFill>
          <a:ln/>
        </p:spPr>
      </p:sp>
      <p:sp>
        <p:nvSpPr>
          <p:cNvPr id="29" name="step-num-1"/>
          <p:cNvSpPr/>
          <p:nvPr/>
        </p:nvSpPr>
        <p:spPr>
          <a:xfrm>
            <a:off x="6446520" y="1508760"/>
            <a:ext cx="384048" cy="384048"/>
          </a:xfrm>
          <a:prstGeom prst="ellipse">
            <a:avLst/>
          </a:prstGeom>
          <a:solidFill>
            <a:schemeClr val="accent1"/>
          </a:solidFill>
          <a:ln/>
        </p:spPr>
      </p:sp>
      <p:sp>
        <p:nvSpPr>
          <p:cNvPr id="30" name="Text 28"/>
          <p:cNvSpPr txBox="1"/>
          <p:nvPr/>
        </p:nvSpPr>
        <p:spPr>
          <a:xfrm>
            <a:off x="6446520" y="150876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31" name="Text 29"/>
          <p:cNvSpPr txBox="1"/>
          <p:nvPr/>
        </p:nvSpPr>
        <p:spPr>
          <a:xfrm>
            <a:off x="6995160" y="1463040"/>
            <a:ext cx="4480560" cy="914400"/>
          </a:xfrm>
          <a:prstGeom prst="rect">
            <a:avLst/>
          </a:prstGeom>
          <a:noFill/>
          <a:ln/>
        </p:spPr>
        <p:txBody>
          <a:bodyPr wrap="square" lIns="0" tIns="0" rIns="0" bIns="0" rtlCol="0" anchor="ctr"/>
          <a:lstStyle/>
          <a:p>
            <a:pPr indent="0" marL="0">
              <a:buNone/>
            </a:pPr>
            <a:r>
              <a:rPr lang="en-US" sz="1400" b="1" dirty="0">
                <a:solidFill>
                  <a:schemeClr val="accent1"/>
                </a:solidFill>
              </a:rPr>
              <a:t>Interpretation: </a:t>
            </a:r>
            <a:pPr indent="0" marL="0">
              <a:buNone/>
            </a:pPr>
            <a:r>
              <a:rPr lang="en-US" sz="1400" dirty="0">
                <a:solidFill>
                  <a:schemeClr val="tx1"/>
                </a:solidFill>
              </a:rPr>
              <a:t>each £1 of assets generated 57p of sales; inventory turns 3.7 times a year (98 days) and customers pay in about 54 days.</a:t>
            </a:r>
            <a:endParaRPr lang="en-US" sz="1400" dirty="0"/>
          </a:p>
        </p:txBody>
      </p:sp>
      <p:sp>
        <p:nvSpPr>
          <p:cNvPr id="32" name="step-2"/>
          <p:cNvSpPr/>
          <p:nvPr/>
        </p:nvSpPr>
        <p:spPr>
          <a:xfrm>
            <a:off x="6309360" y="2606040"/>
            <a:ext cx="5303520" cy="1097280"/>
          </a:xfrm>
          <a:prstGeom prst="roundRect">
            <a:avLst>
              <a:gd name="adj" fmla="val 6667"/>
            </a:avLst>
          </a:prstGeom>
          <a:solidFill>
            <a:schemeClr val="bg2"/>
          </a:solidFill>
          <a:ln/>
        </p:spPr>
      </p:sp>
      <p:sp>
        <p:nvSpPr>
          <p:cNvPr id="33" name="step-num-2"/>
          <p:cNvSpPr/>
          <p:nvPr/>
        </p:nvSpPr>
        <p:spPr>
          <a:xfrm>
            <a:off x="6446520" y="2743200"/>
            <a:ext cx="384048" cy="384048"/>
          </a:xfrm>
          <a:prstGeom prst="ellipse">
            <a:avLst/>
          </a:prstGeom>
          <a:solidFill>
            <a:schemeClr val="accent1"/>
          </a:solidFill>
          <a:ln/>
        </p:spPr>
      </p:sp>
      <p:sp>
        <p:nvSpPr>
          <p:cNvPr id="34" name="Text 32"/>
          <p:cNvSpPr txBox="1"/>
          <p:nvPr/>
        </p:nvSpPr>
        <p:spPr>
          <a:xfrm>
            <a:off x="6446520" y="274320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35" name="Text 33"/>
          <p:cNvSpPr txBox="1"/>
          <p:nvPr/>
        </p:nvSpPr>
        <p:spPr>
          <a:xfrm>
            <a:off x="6995160" y="2697480"/>
            <a:ext cx="4480560" cy="914400"/>
          </a:xfrm>
          <a:prstGeom prst="rect">
            <a:avLst/>
          </a:prstGeom>
          <a:noFill/>
          <a:ln/>
        </p:spPr>
        <p:txBody>
          <a:bodyPr wrap="square" lIns="0" tIns="0" rIns="0" bIns="0" rtlCol="0" anchor="ctr"/>
          <a:lstStyle/>
          <a:p>
            <a:pPr indent="0" marL="0">
              <a:buNone/>
            </a:pPr>
            <a:r>
              <a:rPr lang="en-US" sz="1400" b="1" dirty="0">
                <a:solidFill>
                  <a:schemeClr val="accent1"/>
                </a:solidFill>
              </a:rPr>
              <a:t>Movement and reason: </a:t>
            </a:r>
            <a:pPr indent="0" marL="0">
              <a:buNone/>
            </a:pPr>
            <a:r>
              <a:rPr lang="en-US" sz="1400" dirty="0">
                <a:solidFill>
                  <a:schemeClr val="tx1"/>
                </a:solidFill>
              </a:rPr>
              <a:t>asset turnover rose as impairments and the disposal shrank intangibles (£15.8bn vs £17.6bn); inventory days fell by 5.</a:t>
            </a:r>
            <a:endParaRPr lang="en-US" sz="1400" dirty="0"/>
          </a:p>
        </p:txBody>
      </p:sp>
      <p:sp>
        <p:nvSpPr>
          <p:cNvPr id="36" name="step-3"/>
          <p:cNvSpPr/>
          <p:nvPr/>
        </p:nvSpPr>
        <p:spPr>
          <a:xfrm>
            <a:off x="6309360" y="3840480"/>
            <a:ext cx="5303520" cy="1097280"/>
          </a:xfrm>
          <a:prstGeom prst="roundRect">
            <a:avLst>
              <a:gd name="adj" fmla="val 6667"/>
            </a:avLst>
          </a:prstGeom>
          <a:solidFill>
            <a:schemeClr val="bg2"/>
          </a:solidFill>
          <a:ln/>
        </p:spPr>
      </p:sp>
      <p:sp>
        <p:nvSpPr>
          <p:cNvPr id="37" name="step-num-3"/>
          <p:cNvSpPr/>
          <p:nvPr/>
        </p:nvSpPr>
        <p:spPr>
          <a:xfrm>
            <a:off x="6446520" y="3977640"/>
            <a:ext cx="384048" cy="384048"/>
          </a:xfrm>
          <a:prstGeom prst="ellipse">
            <a:avLst/>
          </a:prstGeom>
          <a:solidFill>
            <a:schemeClr val="accent1"/>
          </a:solidFill>
          <a:ln/>
        </p:spPr>
      </p:sp>
      <p:sp>
        <p:nvSpPr>
          <p:cNvPr id="38" name="Text 36"/>
          <p:cNvSpPr txBox="1"/>
          <p:nvPr/>
        </p:nvSpPr>
        <p:spPr>
          <a:xfrm>
            <a:off x="6446520" y="397764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9" name="Text 37"/>
          <p:cNvSpPr txBox="1"/>
          <p:nvPr/>
        </p:nvSpPr>
        <p:spPr>
          <a:xfrm>
            <a:off x="6995160" y="3931920"/>
            <a:ext cx="4480560" cy="914400"/>
          </a:xfrm>
          <a:prstGeom prst="rect">
            <a:avLst/>
          </a:prstGeom>
          <a:noFill/>
          <a:ln/>
        </p:spPr>
        <p:txBody>
          <a:bodyPr wrap="square" lIns="0" tIns="0" rIns="0" bIns="0" rtlCol="0" anchor="ctr"/>
          <a:lstStyle/>
          <a:p>
            <a:pPr indent="0" marL="0">
              <a:buNone/>
            </a:pPr>
            <a:r>
              <a:rPr lang="en-US" sz="1400" b="1" dirty="0">
                <a:solidFill>
                  <a:schemeClr val="accent1"/>
                </a:solidFill>
              </a:rPr>
              <a:t>Implication: </a:t>
            </a:r>
            <a:pPr indent="0" marL="0">
              <a:buNone/>
            </a:pPr>
            <a:r>
              <a:rPr lang="en-US" sz="1400" dirty="0">
                <a:solidFill>
                  <a:schemeClr val="tx1"/>
                </a:solidFill>
              </a:rPr>
              <a:t>asset turnover is low because 63% of assets are acquired goodwill and brands, especially from Mead Johnson.</a:t>
            </a:r>
            <a:endParaRPr lang="en-US" sz="1400" dirty="0"/>
          </a:p>
        </p:txBody>
      </p:sp>
      <p:sp>
        <p:nvSpPr>
          <p:cNvPr id="40" name="step-4"/>
          <p:cNvSpPr/>
          <p:nvPr/>
        </p:nvSpPr>
        <p:spPr>
          <a:xfrm>
            <a:off x="6309360" y="5074920"/>
            <a:ext cx="5303520" cy="1097280"/>
          </a:xfrm>
          <a:prstGeom prst="roundRect">
            <a:avLst>
              <a:gd name="adj" fmla="val 6667"/>
            </a:avLst>
          </a:prstGeom>
          <a:solidFill>
            <a:schemeClr val="bg2"/>
          </a:solidFill>
          <a:ln/>
        </p:spPr>
      </p:sp>
      <p:sp>
        <p:nvSpPr>
          <p:cNvPr id="41" name="step-num-4"/>
          <p:cNvSpPr/>
          <p:nvPr/>
        </p:nvSpPr>
        <p:spPr>
          <a:xfrm>
            <a:off x="6446520" y="5212080"/>
            <a:ext cx="384048" cy="384048"/>
          </a:xfrm>
          <a:prstGeom prst="ellipse">
            <a:avLst/>
          </a:prstGeom>
          <a:solidFill>
            <a:schemeClr val="accent1"/>
          </a:solidFill>
          <a:ln/>
        </p:spPr>
      </p:sp>
      <p:sp>
        <p:nvSpPr>
          <p:cNvPr id="42" name="Text 40"/>
          <p:cNvSpPr txBox="1"/>
          <p:nvPr/>
        </p:nvSpPr>
        <p:spPr>
          <a:xfrm>
            <a:off x="6446520" y="52120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43" name="Text 41"/>
          <p:cNvSpPr txBox="1"/>
          <p:nvPr/>
        </p:nvSpPr>
        <p:spPr>
          <a:xfrm>
            <a:off x="6995160" y="5166360"/>
            <a:ext cx="4480560" cy="914400"/>
          </a:xfrm>
          <a:prstGeom prst="rect">
            <a:avLst/>
          </a:prstGeom>
          <a:noFill/>
          <a:ln/>
        </p:spPr>
        <p:txBody>
          <a:bodyPr wrap="square" lIns="0" tIns="0" rIns="0" bIns="0" rtlCol="0" anchor="ctr"/>
          <a:lstStyle/>
          <a:p>
            <a:pPr indent="0" marL="0">
              <a:buNone/>
            </a:pPr>
            <a:r>
              <a:rPr lang="en-US" sz="1400" b="1" dirty="0">
                <a:solidFill>
                  <a:schemeClr val="accent1"/>
                </a:solidFill>
              </a:rPr>
              <a:t>Recommendation: </a:t>
            </a:r>
            <a:pPr indent="0" marL="0">
              <a:buNone/>
            </a:pPr>
            <a:r>
              <a:rPr lang="en-US" sz="1400" dirty="0">
                <a:solidFill>
                  <a:schemeClr val="tx1"/>
                </a:solidFill>
              </a:rPr>
              <a:t>keep simplifying SKUs and use AI forecasting to cut inventory towards 90 days; tighten customer credit terms.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Benchmarking against FTSE 100 peers, FY2025</a:t>
            </a:r>
            <a:endParaRPr lang="en-US" sz="3400" dirty="0"/>
          </a:p>
        </p:txBody>
      </p:sp>
      <p:graphicFrame>
        <p:nvGraphicFramePr>
          <p:cNvPr id="10" name="benchmark-table"/>
          <p:cNvGraphicFramePr>
            <a:graphicFrameLocks noGrp="1"/>
          </p:cNvGraphicFramePr>
          <p:nvPr>
            <p:extLst>
              <p:ext uri="{D42A27DB-BD31-4B8C-83A1-F6EECF244321}">
                <p14:modId xmlns:p14="http://schemas.microsoft.com/office/powerpoint/2010/main" val="1579011935"/>
              </p:ext>
            </p:extLst>
          </p:nvPr>
        </p:nvGraphicFramePr>
        <p:xfrm>
          <a:off x="548640" y="1371600"/>
          <a:ext cx="7498080" cy="914400"/>
        </p:xfrm>
        <a:graphic>
          <a:graphicData uri="http://schemas.openxmlformats.org/drawingml/2006/table">
            <a:tbl>
              <a:tblPr/>
              <a:tblGrid>
                <a:gridCol w="2377440"/>
                <a:gridCol w="1325880"/>
                <a:gridCol w="1417320"/>
                <a:gridCol w="1188720"/>
                <a:gridCol w="1188720"/>
              </a:tblGrid>
              <a:tr h="475488">
                <a:tc>
                  <a:txBody>
                    <a:bodyPr/>
                    <a:lstStyle/>
                    <a:p>
                      <a:pPr algn="ctr" indent="0" marL="0">
                        <a:buNone/>
                      </a:pPr>
                      <a:r>
                        <a:rPr lang="en-US" sz="1400" b="1" dirty="0">
                          <a:solidFill>
                            <a:schemeClr val="bg1"/>
                          </a:solidFill>
                        </a:rPr>
                        <a:t>Ratio</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Reckitt (IFRS)</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Reckitt (excl. gain)</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Unilever</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Haleon</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r>
              <a:tr h="475488">
                <a:tc>
                  <a:txBody>
                    <a:bodyPr/>
                    <a:lstStyle/>
                    <a:p>
                      <a:pPr indent="0" marL="0">
                        <a:buNone/>
                      </a:pPr>
                      <a:r>
                        <a:rPr lang="en-US" sz="1400" b="1" dirty="0">
                          <a:solidFill>
                            <a:schemeClr val="tx1"/>
                          </a:solidFill>
                        </a:rPr>
                        <a:t>Gross profit margin</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1"/>
                          </a:solidFill>
                        </a:rPr>
                        <a:t>60.8%</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60.8%</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46.9%</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64.2%</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r>
              <a:tr h="475488">
                <a:tc>
                  <a:txBody>
                    <a:bodyPr/>
                    <a:lstStyle/>
                    <a:p>
                      <a:pPr indent="0" marL="0">
                        <a:buNone/>
                      </a:pPr>
                      <a:r>
                        <a:rPr lang="en-US" sz="1400" b="1" dirty="0">
                          <a:solidFill>
                            <a:schemeClr val="tx1"/>
                          </a:solidFill>
                        </a:rPr>
                        <a:t>Operating profit margin</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rPr>
                        <a:t>29.7%</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20.9%</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17.9%</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21.9%</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r>
              <a:tr h="475488">
                <a:tc>
                  <a:txBody>
                    <a:bodyPr/>
                    <a:lstStyle/>
                    <a:p>
                      <a:pPr indent="0" marL="0">
                        <a:buNone/>
                      </a:pPr>
                      <a:r>
                        <a:rPr lang="en-US" sz="1400" b="1" dirty="0">
                          <a:solidFill>
                            <a:schemeClr val="tx1"/>
                          </a:solidFill>
                        </a:rPr>
                        <a:t>ROCE</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1"/>
                          </a:solidFill>
                        </a:rPr>
                        <a:t>22.9%</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16.1%</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18.5%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8.7%</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r>
              <a:tr h="475488">
                <a:tc>
                  <a:txBody>
                    <a:bodyPr/>
                    <a:lstStyle/>
                    <a:p>
                      <a:pPr indent="0" marL="0">
                        <a:buNone/>
                      </a:pPr>
                      <a:r>
                        <a:rPr lang="en-US" sz="1400" b="1" dirty="0">
                          <a:solidFill>
                            <a:schemeClr val="tx1"/>
                          </a:solidFill>
                        </a:rPr>
                        <a:t>Current ratio</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rPr>
                        <a:t>0.85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0.85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0.79</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0.92</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r>
              <a:tr h="475488">
                <a:tc>
                  <a:txBody>
                    <a:bodyPr/>
                    <a:lstStyle/>
                    <a:p>
                      <a:pPr indent="0" marL="0">
                        <a:buNone/>
                      </a:pPr>
                      <a:r>
                        <a:rPr lang="en-US" sz="1400" b="1" dirty="0">
                          <a:solidFill>
                            <a:schemeClr val="tx1"/>
                          </a:solidFill>
                        </a:rPr>
                        <a:t>Quick ratio</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1"/>
                          </a:solidFill>
                        </a:rPr>
                        <a:t>0.63</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0.63</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0.60</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0.71</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r>
              <a:tr h="475488">
                <a:tc>
                  <a:txBody>
                    <a:bodyPr/>
                    <a:lstStyle/>
                    <a:p>
                      <a:pPr indent="0" marL="0">
                        <a:buNone/>
                      </a:pPr>
                      <a:r>
                        <a:rPr lang="en-US" sz="1400" b="1" dirty="0">
                          <a:solidFill>
                            <a:schemeClr val="tx1"/>
                          </a:solidFill>
                        </a:rPr>
                        <a:t>P/E ratio (31 Dec 2025)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rPr>
                        <a:t>12.8x</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17.0x adj.</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21.5x</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20.3x</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2"/>
                    </a:solidFill>
                  </a:tcPr>
                </a:tc>
              </a:tr>
              <a:tr h="475488">
                <a:tc>
                  <a:txBody>
                    <a:bodyPr/>
                    <a:lstStyle/>
                    <a:p>
                      <a:pPr indent="0" marL="0">
                        <a:buNone/>
                      </a:pPr>
                      <a:r>
                        <a:rPr lang="en-US" sz="1400" b="1" dirty="0">
                          <a:solidFill>
                            <a:schemeClr val="tx1"/>
                          </a:solidFill>
                        </a:rPr>
                        <a:t>Dividend yield</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1"/>
                          </a:solidFill>
                        </a:rPr>
                        <a:t>3.5%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3.5%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3.3%</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1.9%</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349240"/>
            <a:ext cx="7498080" cy="777240"/>
          </a:xfrm>
          <a:prstGeom prst="rect">
            <a:avLst/>
          </a:prstGeom>
          <a:noFill/>
          <a:ln/>
        </p:spPr>
        <p:txBody>
          <a:bodyPr wrap="square" lIns="0" tIns="0" rIns="0" bIns="0" rtlCol="0" anchor="t"/>
          <a:lstStyle/>
          <a:p>
            <a:pPr indent="0" marL="0">
              <a:buNone/>
            </a:pPr>
            <a:r>
              <a:rPr lang="en-US" sz="1100" i="1" dirty="0">
                <a:solidFill>
                  <a:schemeClr val="accent3"/>
                </a:solidFill>
              </a:rPr>
              <a:t>Peers: Unilever FY2025 results (EUR, continuing operations; P/E and yield converted at EUR/GBP 0.8715) and Haleon FY2025 results; balance sheet data via Alpha Vantage. Prices: LSE closing prices, 31 Dec 2025.</a:t>
            </a:r>
            <a:endParaRPr lang="en-US" sz="1100" dirty="0"/>
          </a:p>
        </p:txBody>
      </p:sp>
      <p:sp>
        <p:nvSpPr>
          <p:cNvPr id="5" name="benchmark-takeaway"/>
          <p:cNvSpPr/>
          <p:nvPr/>
        </p:nvSpPr>
        <p:spPr>
          <a:xfrm>
            <a:off x="8321040" y="1371600"/>
            <a:ext cx="3291840" cy="4800600"/>
          </a:xfrm>
          <a:prstGeom prst="roundRect">
            <a:avLst>
              <a:gd name="adj" fmla="val 2222"/>
            </a:avLst>
          </a:prstGeom>
          <a:solidFill>
            <a:schemeClr val="tx2"/>
          </a:solidFill>
          <a:ln/>
        </p:spPr>
      </p:sp>
      <p:sp>
        <p:nvSpPr>
          <p:cNvPr id="6" name="benchmark-icon-circle"/>
          <p:cNvSpPr/>
          <p:nvPr/>
        </p:nvSpPr>
        <p:spPr>
          <a:xfrm>
            <a:off x="8549640" y="1554480"/>
            <a:ext cx="685800" cy="685800"/>
          </a:xfrm>
          <a:prstGeom prst="ellipse">
            <a:avLst/>
          </a:prstGeom>
          <a:solidFill>
            <a:schemeClr val="accent1"/>
          </a:solidFill>
          <a:ln/>
        </p:spPr>
      </p:sp>
      <p:pic>
        <p:nvPicPr>
          <p:cNvPr id="7" name="benchmark-icon-glyph" descr="preencoded.png">    </p:cNvPr>
          <p:cNvPicPr>
            <a:picLocks noChangeAspect="1"/>
          </p:cNvPicPr>
          <p:nvPr/>
        </p:nvPicPr>
        <p:blipFill>
          <a:blip r:embed="rId1"/>
          <a:stretch>
            <a:fillRect/>
          </a:stretch>
        </p:blipFill>
        <p:spPr>
          <a:xfrm>
            <a:off x="8714232" y="1719072"/>
            <a:ext cx="356616" cy="356616"/>
          </a:xfrm>
          <a:prstGeom prst="rect">
            <a:avLst/>
          </a:prstGeom>
        </p:spPr>
      </p:pic>
      <p:sp>
        <p:nvSpPr>
          <p:cNvPr id="8" name="Text 4"/>
          <p:cNvSpPr txBox="1"/>
          <p:nvPr/>
        </p:nvSpPr>
        <p:spPr>
          <a:xfrm>
            <a:off x="9372600" y="1645920"/>
            <a:ext cx="2103120" cy="502920"/>
          </a:xfrm>
          <a:prstGeom prst="rect">
            <a:avLst/>
          </a:prstGeom>
          <a:noFill/>
          <a:ln/>
        </p:spPr>
        <p:txBody>
          <a:bodyPr wrap="square" lIns="0" tIns="0" rIns="0" bIns="0" rtlCol="0" anchor="ctr"/>
          <a:lstStyle/>
          <a:p>
            <a:pPr indent="0" marL="0">
              <a:buNone/>
            </a:pPr>
            <a:r>
              <a:rPr lang="en-US" sz="1800" b="1" dirty="0">
                <a:solidFill>
                  <a:schemeClr val="bg1"/>
                </a:solidFill>
              </a:rPr>
              <a:t>Key takeaways</a:t>
            </a:r>
            <a:endParaRPr lang="en-US" sz="1800" dirty="0"/>
          </a:p>
        </p:txBody>
      </p:sp>
      <p:sp>
        <p:nvSpPr>
          <p:cNvPr id="9" name="Text 5"/>
          <p:cNvSpPr txBox="1"/>
          <p:nvPr/>
        </p:nvSpPr>
        <p:spPr>
          <a:xfrm>
            <a:off x="8549640" y="2423160"/>
            <a:ext cx="2880360" cy="356616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bg1"/>
                </a:solidFill>
              </a:rPr>
              <a:t>Even excluding the gain, Reckitt's operating margin rivals Haleon and beats Unilever</a:t>
            </a:r>
            <a:endParaRPr lang="en-US" sz="1500" dirty="0"/>
          </a:p>
          <a:p>
            <a:pPr marL="342900" indent="-342900">
              <a:spcAft>
                <a:spcPts val="1200"/>
              </a:spcAft>
              <a:buSzPct val="100000"/>
              <a:buChar char="•"/>
            </a:pPr>
            <a:r>
              <a:rPr lang="en-US" sz="1500" dirty="0">
                <a:solidFill>
                  <a:schemeClr val="bg1"/>
                </a:solidFill>
              </a:rPr>
              <a:t>Liquidity is in line with the sector norm</a:t>
            </a:r>
            <a:endParaRPr lang="en-US" sz="1500" dirty="0"/>
          </a:p>
          <a:p>
            <a:pPr marL="342900" indent="-342900">
              <a:spcAft>
                <a:spcPts val="1200"/>
              </a:spcAft>
              <a:buSzPct val="100000"/>
              <a:buChar char="•"/>
            </a:pPr>
            <a:r>
              <a:rPr lang="en-US" sz="1500" dirty="0">
                <a:solidFill>
                  <a:schemeClr val="bg1"/>
                </a:solidFill>
              </a:rPr>
              <a:t>The shares trade at a discount to both peers on P/E: a potential value opportunity</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Share price, EPS and P/E ratio</a:t>
            </a:r>
            <a:endParaRPr lang="en-US" sz="3400" dirty="0"/>
          </a:p>
        </p:txBody>
      </p:sp>
      <p:graphicFrame>
        <p:nvGraphicFramePr>
          <p:cNvPr id="3" name="share-price-chart" descr=""/>
          <p:cNvGraphicFramePr/>
          <p:nvPr/>
        </p:nvGraphicFramePr>
        <p:xfrm>
          <a:off x="548640" y="132588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577840"/>
            <a:ext cx="6766560" cy="685800"/>
          </a:xfrm>
          <a:prstGeom prst="rect">
            <a:avLst/>
          </a:prstGeom>
          <a:noFill/>
          <a:ln/>
        </p:spPr>
        <p:txBody>
          <a:bodyPr wrap="square" lIns="0" tIns="0" rIns="0" bIns="0" rtlCol="0" anchor="t"/>
          <a:lstStyle/>
          <a:p>
            <a:pPr indent="0" marL="0">
              <a:buNone/>
            </a:pPr>
            <a:r>
              <a:rPr lang="en-US" sz="1100" i="1" dirty="0">
                <a:solidFill>
                  <a:schemeClr val="accent3"/>
                </a:solidFill>
              </a:rPr>
              <a:t>Mar 2024: NEC litigation verdict against Mead Johnson.  Feb 2026: 24-for-25 share consolidation alongside the 235p special dividend.  Mar 2026: sector-wide sell-off (Unilever also fell c.23%).  Oct 2026 price is at 21 Oct.</a:t>
            </a:r>
            <a:endParaRPr lang="en-US" sz="1100" dirty="0"/>
          </a:p>
        </p:txBody>
      </p:sp>
      <p:sp>
        <p:nvSpPr>
          <p:cNvPr id="5" name="market-stat-0"/>
          <p:cNvSpPr/>
          <p:nvPr/>
        </p:nvSpPr>
        <p:spPr>
          <a:xfrm>
            <a:off x="7589520" y="1371600"/>
            <a:ext cx="4023360" cy="1463040"/>
          </a:xfrm>
          <a:prstGeom prst="roundRect">
            <a:avLst>
              <a:gd name="adj" fmla="val 5000"/>
            </a:avLst>
          </a:prstGeom>
          <a:solidFill>
            <a:schemeClr val="bg2"/>
          </a:solidFill>
          <a:ln/>
        </p:spPr>
      </p:sp>
      <p:sp>
        <p:nvSpPr>
          <p:cNvPr id="6" name="Text 3"/>
          <p:cNvSpPr txBox="1"/>
          <p:nvPr/>
        </p:nvSpPr>
        <p:spPr>
          <a:xfrm>
            <a:off x="7818120" y="1481328"/>
            <a:ext cx="3657600" cy="6400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+24.2%</a:t>
            </a:r>
            <a:endParaRPr lang="en-US" sz="3200" dirty="0"/>
          </a:p>
        </p:txBody>
      </p:sp>
      <p:sp>
        <p:nvSpPr>
          <p:cNvPr id="7" name="Text 4"/>
          <p:cNvSpPr txBox="1"/>
          <p:nvPr/>
        </p:nvSpPr>
        <p:spPr>
          <a:xfrm>
            <a:off x="7818120" y="2148840"/>
            <a:ext cx="3657600" cy="594360"/>
          </a:xfrm>
          <a:prstGeom prst="rect">
            <a:avLst/>
          </a:prstGeom>
          <a:noFill/>
          <a:ln/>
        </p:spPr>
        <p:txBody>
          <a:bodyPr wrap="square" lIns="0" tIns="0" rIns="0" bIns="0" rtlCol="0" anchor="t"/>
          <a:lstStyle/>
          <a:p>
            <a:pPr indent="0" marL="0">
              <a:buNone/>
            </a:pPr>
            <a:r>
              <a:rPr lang="en-US" sz="1400" dirty="0">
                <a:solidFill>
                  <a:schemeClr val="tx1"/>
                </a:solidFill>
              </a:rPr>
              <a:t>share price growth 2025 (4,833p to 6,002p); 2024: -10.8%</a:t>
            </a:r>
            <a:endParaRPr lang="en-US" sz="1400" dirty="0"/>
          </a:p>
        </p:txBody>
      </p:sp>
      <p:sp>
        <p:nvSpPr>
          <p:cNvPr id="8" name="market-stat-1"/>
          <p:cNvSpPr/>
          <p:nvPr/>
        </p:nvSpPr>
        <p:spPr>
          <a:xfrm>
            <a:off x="7589520" y="2999232"/>
            <a:ext cx="4023360" cy="1463040"/>
          </a:xfrm>
          <a:prstGeom prst="roundRect">
            <a:avLst>
              <a:gd name="adj" fmla="val 5000"/>
            </a:avLst>
          </a:prstGeom>
          <a:solidFill>
            <a:schemeClr val="bg2"/>
          </a:solidFill>
          <a:ln/>
        </p:spPr>
      </p:sp>
      <p:sp>
        <p:nvSpPr>
          <p:cNvPr id="9" name="Text 6"/>
          <p:cNvSpPr txBox="1"/>
          <p:nvPr/>
        </p:nvSpPr>
        <p:spPr>
          <a:xfrm>
            <a:off x="7818120" y="3108960"/>
            <a:ext cx="3657600" cy="6400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468.3p</a:t>
            </a:r>
            <a:endParaRPr lang="en-US" sz="3200" dirty="0"/>
          </a:p>
        </p:txBody>
      </p:sp>
      <p:sp>
        <p:nvSpPr>
          <p:cNvPr id="10" name="Text 7"/>
          <p:cNvSpPr txBox="1"/>
          <p:nvPr/>
        </p:nvSpPr>
        <p:spPr>
          <a:xfrm>
            <a:off x="7818120" y="3776472"/>
            <a:ext cx="3657600" cy="594360"/>
          </a:xfrm>
          <a:prstGeom prst="rect">
            <a:avLst/>
          </a:prstGeom>
          <a:noFill/>
          <a:ln/>
        </p:spPr>
        <p:txBody>
          <a:bodyPr wrap="square" lIns="0" tIns="0" rIns="0" bIns="0" rtlCol="0" anchor="t"/>
          <a:lstStyle/>
          <a:p>
            <a:pPr indent="0" marL="0">
              <a:buNone/>
            </a:pPr>
            <a:r>
              <a:rPr lang="en-US" sz="1400" dirty="0">
                <a:solidFill>
                  <a:schemeClr val="tx1"/>
                </a:solidFill>
              </a:rPr>
              <a:t>basic EPS 2025 (203.6p); adjusted diluted EPS 352.8p (+1.1%)</a:t>
            </a:r>
            <a:endParaRPr lang="en-US" sz="1400" dirty="0"/>
          </a:p>
        </p:txBody>
      </p:sp>
      <p:sp>
        <p:nvSpPr>
          <p:cNvPr id="11" name="market-stat-2"/>
          <p:cNvSpPr/>
          <p:nvPr/>
        </p:nvSpPr>
        <p:spPr>
          <a:xfrm>
            <a:off x="7589520" y="4626864"/>
            <a:ext cx="4023360" cy="1463040"/>
          </a:xfrm>
          <a:prstGeom prst="roundRect">
            <a:avLst>
              <a:gd name="adj" fmla="val 5000"/>
            </a:avLst>
          </a:prstGeom>
          <a:solidFill>
            <a:schemeClr val="bg2"/>
          </a:solidFill>
          <a:ln/>
        </p:spPr>
      </p:sp>
      <p:sp>
        <p:nvSpPr>
          <p:cNvPr id="12" name="Text 9"/>
          <p:cNvSpPr txBox="1"/>
          <p:nvPr/>
        </p:nvSpPr>
        <p:spPr>
          <a:xfrm>
            <a:off x="7818120" y="4736592"/>
            <a:ext cx="3657600" cy="64008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12.8x</a:t>
            </a:r>
            <a:endParaRPr lang="en-US" sz="3200" dirty="0"/>
          </a:p>
        </p:txBody>
      </p:sp>
      <p:sp>
        <p:nvSpPr>
          <p:cNvPr id="13" name="Text 10"/>
          <p:cNvSpPr txBox="1"/>
          <p:nvPr/>
        </p:nvSpPr>
        <p:spPr>
          <a:xfrm>
            <a:off x="7818120" y="5404104"/>
            <a:ext cx="3657600" cy="594360"/>
          </a:xfrm>
          <a:prstGeom prst="rect">
            <a:avLst/>
          </a:prstGeom>
          <a:noFill/>
          <a:ln/>
        </p:spPr>
        <p:txBody>
          <a:bodyPr wrap="square" lIns="0" tIns="0" rIns="0" bIns="0" rtlCol="0" anchor="t"/>
          <a:lstStyle/>
          <a:p>
            <a:pPr indent="0" marL="0">
              <a:buNone/>
            </a:pPr>
            <a:r>
              <a:rPr lang="en-US" sz="1400" dirty="0">
                <a:solidFill>
                  <a:schemeClr val="tx1"/>
                </a:solidFill>
              </a:rPr>
              <a:t>P/E on basic EPS (2024: 23.7x); 17.0x on adjusted EPS (2024: 13.8x)</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Dividends: a progressive and well-covered payout</a:t>
            </a:r>
            <a:endParaRPr lang="en-US" sz="3400" dirty="0"/>
          </a:p>
        </p:txBody>
      </p:sp>
      <p:graphicFrame>
        <p:nvGraphicFramePr>
          <p:cNvPr id="3" name="dividend-chart" descr=""/>
          <p:cNvGraphicFramePr/>
          <p:nvPr/>
        </p:nvGraphicFramePr>
        <p:xfrm>
          <a:off x="548640" y="1325880"/>
          <a:ext cx="4937760" cy="39319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349240"/>
            <a:ext cx="4937760" cy="640080"/>
          </a:xfrm>
          <a:prstGeom prst="rect">
            <a:avLst/>
          </a:prstGeom>
          <a:noFill/>
          <a:ln/>
        </p:spPr>
        <p:txBody>
          <a:bodyPr wrap="square" lIns="0" tIns="0" rIns="0" bIns="0" rtlCol="0" anchor="t"/>
          <a:lstStyle/>
          <a:p>
            <a:pPr indent="0" marL="0">
              <a:buNone/>
            </a:pPr>
            <a:r>
              <a:rPr lang="en-US" sz="1200" i="1" dirty="0">
                <a:solidFill>
                  <a:schemeClr val="accent3"/>
                </a:solidFill>
              </a:rPr>
              <a:t>Compound growth of about 5% a year; excludes the 235p special dividend paid in February 2026.</a:t>
            </a:r>
            <a:endParaRPr lang="en-US" sz="1200" dirty="0"/>
          </a:p>
        </p:txBody>
      </p:sp>
      <p:graphicFrame>
        <p:nvGraphicFramePr>
          <p:cNvPr id="12" name="dividend-table"/>
          <p:cNvGraphicFramePr>
            <a:graphicFrameLocks noGrp="1"/>
          </p:cNvGraphicFramePr>
          <p:nvPr>
            <p:extLst>
              <p:ext uri="{D42A27DB-BD31-4B8C-83A1-F6EECF244321}">
                <p14:modId xmlns:p14="http://schemas.microsoft.com/office/powerpoint/2010/main" val="1579011935"/>
              </p:ext>
            </p:extLst>
          </p:nvPr>
        </p:nvGraphicFramePr>
        <p:xfrm>
          <a:off x="5760720" y="1371600"/>
          <a:ext cx="5852160" cy="914400"/>
        </p:xfrm>
        <a:graphic>
          <a:graphicData uri="http://schemas.openxmlformats.org/drawingml/2006/table">
            <a:tbl>
              <a:tblPr/>
              <a:tblGrid>
                <a:gridCol w="3291840"/>
                <a:gridCol w="1280160"/>
                <a:gridCol w="1280160"/>
              </a:tblGrid>
              <a:tr h="420624">
                <a:tc>
                  <a:txBody>
                    <a:bodyPr/>
                    <a:lstStyle/>
                    <a:p>
                      <a:pPr algn="ctr" indent="0" marL="0">
                        <a:buNone/>
                      </a:pPr>
                      <a:r>
                        <a:rPr lang="en-US" sz="1400" b="1" dirty="0">
                          <a:solidFill>
                            <a:schemeClr val="bg1"/>
                          </a:solidFill>
                        </a:rPr>
                        <a:t>Dividend ratio</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FY2025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FY2024</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solidFill>
                      <a:schemeClr val="tx2"/>
                    </a:solidFill>
                  </a:tcPr>
                </a:tc>
              </a:tr>
              <a:tr h="420624">
                <a:tc>
                  <a:txBody>
                    <a:bodyPr/>
                    <a:lstStyle/>
                    <a:p>
                      <a:pPr indent="0" marL="0">
                        <a:buNone/>
                      </a:pPr>
                      <a:r>
                        <a:rPr lang="en-US" sz="1400" dirty="0">
                          <a:solidFill>
                            <a:schemeClr val="tx1"/>
                          </a:solidFill>
                        </a:rPr>
                        <a:t>Dividend per share</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b="1" dirty="0">
                          <a:solidFill>
                            <a:schemeClr val="tx1"/>
                          </a:solidFill>
                        </a:rPr>
                        <a:t>212.2p</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dirty="0">
                          <a:solidFill>
                            <a:schemeClr val="tx1"/>
                          </a:solidFill>
                        </a:rPr>
                        <a:t>202.1p</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r>
              <a:tr h="420624">
                <a:tc>
                  <a:txBody>
                    <a:bodyPr/>
                    <a:lstStyle/>
                    <a:p>
                      <a:pPr indent="0" marL="0">
                        <a:buNone/>
                      </a:pPr>
                      <a:r>
                        <a:rPr lang="en-US" sz="1400" dirty="0">
                          <a:solidFill>
                            <a:schemeClr val="tx1"/>
                          </a:solidFill>
                        </a:rPr>
                        <a:t>Dividend yield (DPS / price)</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b="1" dirty="0">
                          <a:solidFill>
                            <a:schemeClr val="tx1"/>
                          </a:solidFill>
                        </a:rPr>
                        <a:t>3.5%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dirty="0">
                          <a:solidFill>
                            <a:schemeClr val="tx1"/>
                          </a:solidFill>
                        </a:rPr>
                        <a:t>4.2%</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r>
              <a:tr h="420624">
                <a:tc>
                  <a:txBody>
                    <a:bodyPr/>
                    <a:lstStyle/>
                    <a:p>
                      <a:pPr indent="0" marL="0">
                        <a:buNone/>
                      </a:pPr>
                      <a:r>
                        <a:rPr lang="en-US" sz="1400" dirty="0">
                          <a:solidFill>
                            <a:schemeClr val="tx1"/>
                          </a:solidFill>
                        </a:rPr>
                        <a:t>Payout (DPS / basic EPS)</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b="1" dirty="0">
                          <a:solidFill>
                            <a:schemeClr val="tx1"/>
                          </a:solidFill>
                        </a:rPr>
                        <a:t>45%</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dirty="0">
                          <a:solidFill>
                            <a:schemeClr val="tx1"/>
                          </a:solidFill>
                        </a:rPr>
                        <a:t>99%</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r>
              <a:tr h="420624">
                <a:tc>
                  <a:txBody>
                    <a:bodyPr/>
                    <a:lstStyle/>
                    <a:p>
                      <a:pPr indent="0" marL="0">
                        <a:buNone/>
                      </a:pPr>
                      <a:r>
                        <a:rPr lang="en-US" sz="1400" dirty="0">
                          <a:solidFill>
                            <a:schemeClr val="tx1"/>
                          </a:solidFill>
                        </a:rPr>
                        <a:t>Payout on adjusted EPS</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b="1" dirty="0">
                          <a:solidFill>
                            <a:schemeClr val="tx1"/>
                          </a:solidFill>
                        </a:rPr>
                        <a:t>60%</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dirty="0">
                          <a:solidFill>
                            <a:schemeClr val="tx1"/>
                          </a:solidFill>
                        </a:rPr>
                        <a:t>58%</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r>
              <a:tr h="420624">
                <a:tc>
                  <a:txBody>
                    <a:bodyPr/>
                    <a:lstStyle/>
                    <a:p>
                      <a:pPr indent="0" marL="0">
                        <a:buNone/>
                      </a:pPr>
                      <a:r>
                        <a:rPr lang="en-US" sz="1400" dirty="0">
                          <a:solidFill>
                            <a:schemeClr val="tx1"/>
                          </a:solidFill>
                        </a:rPr>
                        <a:t>Cover (basic EPS / DPS)</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b="1" dirty="0">
                          <a:solidFill>
                            <a:schemeClr val="tx1"/>
                          </a:solidFill>
                        </a:rPr>
                        <a:t>2.2x</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dirty="0">
                          <a:solidFill>
                            <a:schemeClr val="tx1"/>
                          </a:solidFill>
                        </a:rPr>
                        <a:t>1.0x</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r>
              <a:tr h="420624">
                <a:tc>
                  <a:txBody>
                    <a:bodyPr/>
                    <a:lstStyle/>
                    <a:p>
                      <a:pPr indent="0" marL="0">
                        <a:buNone/>
                      </a:pPr>
                      <a:r>
                        <a:rPr lang="en-US" sz="1400" dirty="0">
                          <a:solidFill>
                            <a:schemeClr val="tx1"/>
                          </a:solidFill>
                        </a:rPr>
                        <a:t>Cover on adjusted EPS</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b="1" dirty="0">
                          <a:solidFill>
                            <a:schemeClr val="tx1"/>
                          </a:solidFill>
                        </a:rPr>
                        <a:t>1.7x</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c>
                  <a:txBody>
                    <a:bodyPr/>
                    <a:lstStyle/>
                    <a:p>
                      <a:pPr algn="ctr" indent="0" marL="0">
                        <a:buNone/>
                      </a:pPr>
                      <a:r>
                        <a:rPr lang="en-US" sz="1400" dirty="0">
                          <a:solidFill>
                            <a:schemeClr val="tx1"/>
                          </a:solidFill>
                        </a:rPr>
                        <a:t>1.7x</a:t>
                      </a:r>
                      <a:endParaRPr lang="en-US" sz="1400" dirty="0"/>
                    </a:p>
                  </a:txBody>
                  <a:tcPr marL="91440" marR="91440" marT="45720" marB="45720" anchor="ctr">
                    <a:lnL w="6350" cap="flat" cmpd="sng" algn="ctr">
                      <a:solidFill>
                        <a:srgbClr val="E4DCE2"/>
                      </a:solidFill>
                      <a:prstDash val="solid"/>
                      <a:round/>
                      <a:headEnd type="none" w="med" len="med"/>
                      <a:tailEnd type="none" w="med" len="med"/>
                    </a:lnL>
                    <a:lnR w="6350" cap="flat" cmpd="sng" algn="ctr">
                      <a:solidFill>
                        <a:srgbClr val="E4DCE2"/>
                      </a:solidFill>
                      <a:prstDash val="solid"/>
                      <a:round/>
                      <a:headEnd type="none" w="med" len="med"/>
                      <a:tailEnd type="none" w="med" len="med"/>
                    </a:lnR>
                    <a:lnT w="6350" cap="flat" cmpd="sng" algn="ctr">
                      <a:solidFill>
                        <a:srgbClr val="E4DCE2"/>
                      </a:solidFill>
                      <a:prstDash val="solid"/>
                      <a:round/>
                      <a:headEnd type="none" w="med" len="med"/>
                      <a:tailEnd type="none" w="med" len="med"/>
                    </a:lnT>
                    <a:lnB w="6350" cap="flat" cmpd="sng" algn="ctr">
                      <a:solidFill>
                        <a:srgbClr val="E4DCE2"/>
                      </a:solidFill>
                      <a:prstDash val="solid"/>
                      <a:round/>
                      <a:headEnd type="none" w="med" len="med"/>
                      <a:tailEnd type="none" w="med" len="med"/>
                    </a:lnB>
                  </a:tcPr>
                </a:tc>
              </a:tr>
            </a:tbl>
          </a:graphicData>
        </a:graphic>
      </p:graphicFrame>
      <p:sp>
        <p:nvSpPr>
          <p:cNvPr id="6" name="returns-card"/>
          <p:cNvSpPr/>
          <p:nvPr/>
        </p:nvSpPr>
        <p:spPr>
          <a:xfrm>
            <a:off x="5760720" y="4526280"/>
            <a:ext cx="5852160" cy="1645920"/>
          </a:xfrm>
          <a:prstGeom prst="roundRect">
            <a:avLst>
              <a:gd name="adj" fmla="val 4444"/>
            </a:avLst>
          </a:prstGeom>
          <a:solidFill>
            <a:schemeClr val="tx2"/>
          </a:solidFill>
          <a:ln/>
        </p:spPr>
      </p:sp>
      <p:sp>
        <p:nvSpPr>
          <p:cNvPr id="7" name="Text 3"/>
          <p:cNvSpPr txBox="1"/>
          <p:nvPr/>
        </p:nvSpPr>
        <p:spPr>
          <a:xfrm>
            <a:off x="5989320" y="4617720"/>
            <a:ext cx="5394960" cy="1463040"/>
          </a:xfrm>
          <a:prstGeom prst="rect">
            <a:avLst/>
          </a:prstGeom>
          <a:noFill/>
          <a:ln/>
        </p:spPr>
        <p:txBody>
          <a:bodyPr wrap="square" lIns="0" tIns="0" rIns="0" bIns="0" rtlCol="0" anchor="ctr"/>
          <a:lstStyle/>
          <a:p>
            <a:pPr indent="0" marL="0">
              <a:buNone/>
            </a:pPr>
            <a:r>
              <a:rPr lang="en-US" sz="1800" b="1" dirty="0">
                <a:solidFill>
                  <a:schemeClr val="bg1"/>
                </a:solidFill>
              </a:rPr>
              <a:t>£6.4bn returned to shareholders since July 2024</a:t>
            </a:r>
            <a:endParaRPr lang="en-US" sz="1400" dirty="0"/>
          </a:p>
          <a:p>
            <a:pPr indent="0" marL="0">
              <a:buNone/>
            </a:pPr>
            <a:r>
              <a:rPr lang="en-US" sz="1400" dirty="0">
                <a:solidFill>
                  <a:schemeClr val="accent4"/>
                </a:solidFill>
              </a:rPr>
              <a:t>£1.6bn special dividend (Feb 2026), £879m of buybacks in 2025, interim 2026 dividend +5% to 88.6p and a new buyback of up to £500m</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Latest management information: H1 2026</a:t>
            </a:r>
            <a:endParaRPr lang="en-US" sz="3400" dirty="0"/>
          </a:p>
        </p:txBody>
      </p:sp>
      <p:sp>
        <p:nvSpPr>
          <p:cNvPr id="3" name="h1-card-0"/>
          <p:cNvSpPr/>
          <p:nvPr/>
        </p:nvSpPr>
        <p:spPr>
          <a:xfrm>
            <a:off x="548640" y="1371600"/>
            <a:ext cx="3657600" cy="1463040"/>
          </a:xfrm>
          <a:prstGeom prst="roundRect">
            <a:avLst>
              <a:gd name="adj" fmla="val 5000"/>
            </a:avLst>
          </a:prstGeom>
          <a:solidFill>
            <a:schemeClr val="bg2"/>
          </a:solidFill>
          <a:ln/>
        </p:spPr>
      </p:sp>
      <p:sp>
        <p:nvSpPr>
          <p:cNvPr id="4" name="h1-icon-0-circle"/>
          <p:cNvSpPr/>
          <p:nvPr/>
        </p:nvSpPr>
        <p:spPr>
          <a:xfrm>
            <a:off x="731520" y="1600200"/>
            <a:ext cx="548640" cy="548640"/>
          </a:xfrm>
          <a:prstGeom prst="ellipse">
            <a:avLst/>
          </a:prstGeom>
          <a:solidFill>
            <a:schemeClr val="accent5"/>
          </a:solidFill>
          <a:ln/>
        </p:spPr>
      </p:sp>
      <p:pic>
        <p:nvPicPr>
          <p:cNvPr id="5" name="h1-icon-0-glyph" descr="preencoded.png">    </p:cNvPr>
          <p:cNvPicPr>
            <a:picLocks noChangeAspect="1"/>
          </p:cNvPicPr>
          <p:nvPr/>
        </p:nvPicPr>
        <p:blipFill>
          <a:blip r:embed="rId1"/>
          <a:stretch>
            <a:fillRect/>
          </a:stretch>
        </p:blipFill>
        <p:spPr>
          <a:xfrm>
            <a:off x="863194" y="1731874"/>
            <a:ext cx="285293" cy="285293"/>
          </a:xfrm>
          <a:prstGeom prst="rect">
            <a:avLst/>
          </a:prstGeom>
        </p:spPr>
      </p:pic>
      <p:sp>
        <p:nvSpPr>
          <p:cNvPr id="6" name="Text 3"/>
          <p:cNvSpPr txBox="1"/>
          <p:nvPr/>
        </p:nvSpPr>
        <p:spPr>
          <a:xfrm>
            <a:off x="1417320" y="1536192"/>
            <a:ext cx="2651760" cy="59436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+2.6%</a:t>
            </a:r>
            <a:endParaRPr lang="en-US" sz="2800" dirty="0"/>
          </a:p>
        </p:txBody>
      </p:sp>
      <p:sp>
        <p:nvSpPr>
          <p:cNvPr id="7" name="Text 4"/>
          <p:cNvSpPr txBox="1"/>
          <p:nvPr/>
        </p:nvSpPr>
        <p:spPr>
          <a:xfrm>
            <a:off x="1417320" y="2121408"/>
            <a:ext cx="2651760" cy="640080"/>
          </a:xfrm>
          <a:prstGeom prst="rect">
            <a:avLst/>
          </a:prstGeom>
          <a:noFill/>
          <a:ln/>
        </p:spPr>
        <p:txBody>
          <a:bodyPr wrap="square" lIns="0" tIns="0" rIns="0" bIns="0" rtlCol="0" anchor="t"/>
          <a:lstStyle/>
          <a:p>
            <a:pPr indent="0" marL="0">
              <a:buNone/>
            </a:pPr>
            <a:r>
              <a:rPr lang="en-US" sz="1300" dirty="0">
                <a:solidFill>
                  <a:schemeClr val="tx1"/>
                </a:solidFill>
              </a:rPr>
              <a:t>like-for-like revenue growth; Q2 accelerated to +4.7%</a:t>
            </a:r>
            <a:endParaRPr lang="en-US" sz="1300" dirty="0"/>
          </a:p>
        </p:txBody>
      </p:sp>
      <p:sp>
        <p:nvSpPr>
          <p:cNvPr id="8" name="h1-card-1"/>
          <p:cNvSpPr/>
          <p:nvPr/>
        </p:nvSpPr>
        <p:spPr>
          <a:xfrm>
            <a:off x="4389120" y="1371600"/>
            <a:ext cx="3657600" cy="1463040"/>
          </a:xfrm>
          <a:prstGeom prst="roundRect">
            <a:avLst>
              <a:gd name="adj" fmla="val 5000"/>
            </a:avLst>
          </a:prstGeom>
          <a:solidFill>
            <a:schemeClr val="bg2"/>
          </a:solidFill>
          <a:ln/>
        </p:spPr>
      </p:sp>
      <p:sp>
        <p:nvSpPr>
          <p:cNvPr id="9" name="h1-icon-1-circle"/>
          <p:cNvSpPr/>
          <p:nvPr/>
        </p:nvSpPr>
        <p:spPr>
          <a:xfrm>
            <a:off x="4572000" y="1600200"/>
            <a:ext cx="548640" cy="548640"/>
          </a:xfrm>
          <a:prstGeom prst="ellipse">
            <a:avLst/>
          </a:prstGeom>
          <a:solidFill>
            <a:schemeClr val="accent6"/>
          </a:solidFill>
          <a:ln/>
        </p:spPr>
      </p:sp>
      <p:pic>
        <p:nvPicPr>
          <p:cNvPr id="10" name="h1-icon-1-glyph" descr="preencoded.png">    </p:cNvPr>
          <p:cNvPicPr>
            <a:picLocks noChangeAspect="1"/>
          </p:cNvPicPr>
          <p:nvPr/>
        </p:nvPicPr>
        <p:blipFill>
          <a:blip r:embed="rId2"/>
          <a:stretch>
            <a:fillRect/>
          </a:stretch>
        </p:blipFill>
        <p:spPr>
          <a:xfrm>
            <a:off x="4703674" y="1731874"/>
            <a:ext cx="285293" cy="285293"/>
          </a:xfrm>
          <a:prstGeom prst="rect">
            <a:avLst/>
          </a:prstGeom>
        </p:spPr>
      </p:pic>
      <p:sp>
        <p:nvSpPr>
          <p:cNvPr id="11" name="Text 7"/>
          <p:cNvSpPr txBox="1"/>
          <p:nvPr/>
        </p:nvSpPr>
        <p:spPr>
          <a:xfrm>
            <a:off x="5257800" y="1536192"/>
            <a:ext cx="2651760" cy="59436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-8.1%</a:t>
            </a:r>
            <a:endParaRPr lang="en-US" sz="2800" dirty="0"/>
          </a:p>
        </p:txBody>
      </p:sp>
      <p:sp>
        <p:nvSpPr>
          <p:cNvPr id="12" name="Text 8"/>
          <p:cNvSpPr txBox="1"/>
          <p:nvPr/>
        </p:nvSpPr>
        <p:spPr>
          <a:xfrm>
            <a:off x="5257800" y="2121408"/>
            <a:ext cx="2651760" cy="640080"/>
          </a:xfrm>
          <a:prstGeom prst="rect">
            <a:avLst/>
          </a:prstGeom>
          <a:noFill/>
          <a:ln/>
        </p:spPr>
        <p:txBody>
          <a:bodyPr wrap="square" lIns="0" tIns="0" rIns="0" bIns="0" rtlCol="0" anchor="t"/>
          <a:lstStyle/>
          <a:p>
            <a:pPr indent="0" marL="0">
              <a:buNone/>
            </a:pPr>
            <a:r>
              <a:rPr lang="en-US" sz="1300" dirty="0">
                <a:solidFill>
                  <a:schemeClr val="tx1"/>
                </a:solidFill>
              </a:rPr>
              <a:t>IFRS net revenue to £6,411m, reflecting the divestment</a:t>
            </a:r>
            <a:endParaRPr lang="en-US" sz="1300" dirty="0"/>
          </a:p>
        </p:txBody>
      </p:sp>
      <p:sp>
        <p:nvSpPr>
          <p:cNvPr id="13" name="h1-card-2"/>
          <p:cNvSpPr/>
          <p:nvPr/>
        </p:nvSpPr>
        <p:spPr>
          <a:xfrm>
            <a:off x="548640" y="2999232"/>
            <a:ext cx="3657600" cy="1463040"/>
          </a:xfrm>
          <a:prstGeom prst="roundRect">
            <a:avLst>
              <a:gd name="adj" fmla="val 5000"/>
            </a:avLst>
          </a:prstGeom>
          <a:solidFill>
            <a:schemeClr val="bg2"/>
          </a:solidFill>
          <a:ln/>
        </p:spPr>
      </p:sp>
      <p:sp>
        <p:nvSpPr>
          <p:cNvPr id="14" name="h1-icon-2-circle"/>
          <p:cNvSpPr/>
          <p:nvPr/>
        </p:nvSpPr>
        <p:spPr>
          <a:xfrm>
            <a:off x="731520" y="3227832"/>
            <a:ext cx="548640" cy="548640"/>
          </a:xfrm>
          <a:prstGeom prst="ellipse">
            <a:avLst/>
          </a:prstGeom>
          <a:solidFill>
            <a:schemeClr val="accent6"/>
          </a:solidFill>
          <a:ln/>
        </p:spPr>
      </p:sp>
      <p:pic>
        <p:nvPicPr>
          <p:cNvPr id="15" name="h1-icon-2-glyph" descr="preencoded.png">    </p:cNvPr>
          <p:cNvPicPr>
            <a:picLocks noChangeAspect="1"/>
          </p:cNvPicPr>
          <p:nvPr/>
        </p:nvPicPr>
        <p:blipFill>
          <a:blip r:embed="rId3"/>
          <a:stretch>
            <a:fillRect/>
          </a:stretch>
        </p:blipFill>
        <p:spPr>
          <a:xfrm>
            <a:off x="863194" y="3359506"/>
            <a:ext cx="285293" cy="285293"/>
          </a:xfrm>
          <a:prstGeom prst="rect">
            <a:avLst/>
          </a:prstGeom>
        </p:spPr>
      </p:pic>
      <p:sp>
        <p:nvSpPr>
          <p:cNvPr id="16" name="Text 11"/>
          <p:cNvSpPr txBox="1"/>
          <p:nvPr/>
        </p:nvSpPr>
        <p:spPr>
          <a:xfrm>
            <a:off x="1417320" y="3163824"/>
            <a:ext cx="2651760" cy="59436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18.7%</a:t>
            </a:r>
            <a:endParaRPr lang="en-US" sz="2800" dirty="0"/>
          </a:p>
        </p:txBody>
      </p:sp>
      <p:sp>
        <p:nvSpPr>
          <p:cNvPr id="17" name="Text 12"/>
          <p:cNvSpPr txBox="1"/>
          <p:nvPr/>
        </p:nvSpPr>
        <p:spPr>
          <a:xfrm>
            <a:off x="1417320" y="3749040"/>
            <a:ext cx="2651760" cy="640080"/>
          </a:xfrm>
          <a:prstGeom prst="rect">
            <a:avLst/>
          </a:prstGeom>
          <a:noFill/>
          <a:ln/>
        </p:spPr>
        <p:txBody>
          <a:bodyPr wrap="square" lIns="0" tIns="0" rIns="0" bIns="0" rtlCol="0" anchor="t"/>
          <a:lstStyle/>
          <a:p>
            <a:pPr indent="0" marL="0">
              <a:buNone/>
            </a:pPr>
            <a:r>
              <a:rPr lang="en-US" sz="1300" dirty="0">
                <a:solidFill>
                  <a:schemeClr val="tx1"/>
                </a:solidFill>
              </a:rPr>
              <a:t>IFRS operating margin (Core + MJN); operating profit -22.2%</a:t>
            </a:r>
            <a:endParaRPr lang="en-US" sz="1300" dirty="0"/>
          </a:p>
        </p:txBody>
      </p:sp>
      <p:sp>
        <p:nvSpPr>
          <p:cNvPr id="18" name="h1-card-3"/>
          <p:cNvSpPr/>
          <p:nvPr/>
        </p:nvSpPr>
        <p:spPr>
          <a:xfrm>
            <a:off x="4389120" y="2999232"/>
            <a:ext cx="3657600" cy="1463040"/>
          </a:xfrm>
          <a:prstGeom prst="roundRect">
            <a:avLst>
              <a:gd name="adj" fmla="val 5000"/>
            </a:avLst>
          </a:prstGeom>
          <a:solidFill>
            <a:schemeClr val="bg2"/>
          </a:solidFill>
          <a:ln/>
        </p:spPr>
      </p:sp>
      <p:sp>
        <p:nvSpPr>
          <p:cNvPr id="19" name="h1-icon-3-circle"/>
          <p:cNvSpPr/>
          <p:nvPr/>
        </p:nvSpPr>
        <p:spPr>
          <a:xfrm>
            <a:off x="4572000" y="3227832"/>
            <a:ext cx="548640" cy="548640"/>
          </a:xfrm>
          <a:prstGeom prst="ellipse">
            <a:avLst/>
          </a:prstGeom>
          <a:solidFill>
            <a:schemeClr val="accent6"/>
          </a:solidFill>
          <a:ln/>
        </p:spPr>
      </p:sp>
      <p:pic>
        <p:nvPicPr>
          <p:cNvPr id="20" name="h1-icon-3-glyph" descr="preencoded.png">    </p:cNvPr>
          <p:cNvPicPr>
            <a:picLocks noChangeAspect="1"/>
          </p:cNvPicPr>
          <p:nvPr/>
        </p:nvPicPr>
        <p:blipFill>
          <a:blip r:embed="rId4"/>
          <a:stretch>
            <a:fillRect/>
          </a:stretch>
        </p:blipFill>
        <p:spPr>
          <a:xfrm>
            <a:off x="4703674" y="3359506"/>
            <a:ext cx="285293" cy="285293"/>
          </a:xfrm>
          <a:prstGeom prst="rect">
            <a:avLst/>
          </a:prstGeom>
        </p:spPr>
      </p:pic>
      <p:sp>
        <p:nvSpPr>
          <p:cNvPr id="21" name="Text 15"/>
          <p:cNvSpPr txBox="1"/>
          <p:nvPr/>
        </p:nvSpPr>
        <p:spPr>
          <a:xfrm>
            <a:off x="5257800" y="3163824"/>
            <a:ext cx="2651760" cy="59436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152.1p</a:t>
            </a:r>
            <a:endParaRPr lang="en-US" sz="2800" dirty="0"/>
          </a:p>
        </p:txBody>
      </p:sp>
      <p:sp>
        <p:nvSpPr>
          <p:cNvPr id="22" name="Text 16"/>
          <p:cNvSpPr txBox="1"/>
          <p:nvPr/>
        </p:nvSpPr>
        <p:spPr>
          <a:xfrm>
            <a:off x="5257800" y="3749040"/>
            <a:ext cx="2651760" cy="640080"/>
          </a:xfrm>
          <a:prstGeom prst="rect">
            <a:avLst/>
          </a:prstGeom>
          <a:noFill/>
          <a:ln/>
        </p:spPr>
        <p:txBody>
          <a:bodyPr wrap="square" lIns="0" tIns="0" rIns="0" bIns="0" rtlCol="0" anchor="t"/>
          <a:lstStyle/>
          <a:p>
            <a:pPr indent="0" marL="0">
              <a:buNone/>
            </a:pPr>
            <a:r>
              <a:rPr lang="en-US" sz="1300" dirty="0">
                <a:solidFill>
                  <a:schemeClr val="tx1"/>
                </a:solidFill>
              </a:rPr>
              <a:t>adjusted diluted EPS, -9.7% (Essential Home dilution)</a:t>
            </a:r>
            <a:endParaRPr lang="en-US" sz="1300" dirty="0"/>
          </a:p>
        </p:txBody>
      </p:sp>
      <p:sp>
        <p:nvSpPr>
          <p:cNvPr id="23" name="h1-card-4"/>
          <p:cNvSpPr/>
          <p:nvPr/>
        </p:nvSpPr>
        <p:spPr>
          <a:xfrm>
            <a:off x="548640" y="4626864"/>
            <a:ext cx="3657600" cy="1463040"/>
          </a:xfrm>
          <a:prstGeom prst="roundRect">
            <a:avLst>
              <a:gd name="adj" fmla="val 5000"/>
            </a:avLst>
          </a:prstGeom>
          <a:solidFill>
            <a:schemeClr val="bg2"/>
          </a:solidFill>
          <a:ln/>
        </p:spPr>
      </p:sp>
      <p:sp>
        <p:nvSpPr>
          <p:cNvPr id="24" name="h1-icon-4-circle"/>
          <p:cNvSpPr/>
          <p:nvPr/>
        </p:nvSpPr>
        <p:spPr>
          <a:xfrm>
            <a:off x="731520" y="4855464"/>
            <a:ext cx="548640" cy="548640"/>
          </a:xfrm>
          <a:prstGeom prst="ellipse">
            <a:avLst/>
          </a:prstGeom>
          <a:solidFill>
            <a:schemeClr val="tx2"/>
          </a:solidFill>
          <a:ln/>
        </p:spPr>
      </p:sp>
      <p:pic>
        <p:nvPicPr>
          <p:cNvPr id="25" name="h1-icon-4-glyph" descr="preencoded.png">    </p:cNvPr>
          <p:cNvPicPr>
            <a:picLocks noChangeAspect="1"/>
          </p:cNvPicPr>
          <p:nvPr/>
        </p:nvPicPr>
        <p:blipFill>
          <a:blip r:embed="rId5"/>
          <a:stretch>
            <a:fillRect/>
          </a:stretch>
        </p:blipFill>
        <p:spPr>
          <a:xfrm>
            <a:off x="863194" y="4987138"/>
            <a:ext cx="285293" cy="285293"/>
          </a:xfrm>
          <a:prstGeom prst="rect">
            <a:avLst/>
          </a:prstGeom>
        </p:spPr>
      </p:pic>
      <p:sp>
        <p:nvSpPr>
          <p:cNvPr id="26" name="Text 19"/>
          <p:cNvSpPr txBox="1"/>
          <p:nvPr/>
        </p:nvSpPr>
        <p:spPr>
          <a:xfrm>
            <a:off x="1417320" y="4791456"/>
            <a:ext cx="2651760" cy="59436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2.5x</a:t>
            </a:r>
            <a:endParaRPr lang="en-US" sz="2800" dirty="0"/>
          </a:p>
        </p:txBody>
      </p:sp>
      <p:sp>
        <p:nvSpPr>
          <p:cNvPr id="27" name="Text 20"/>
          <p:cNvSpPr txBox="1"/>
          <p:nvPr/>
        </p:nvSpPr>
        <p:spPr>
          <a:xfrm>
            <a:off x="1417320" y="5376672"/>
            <a:ext cx="2651760" cy="640080"/>
          </a:xfrm>
          <a:prstGeom prst="rect">
            <a:avLst/>
          </a:prstGeom>
          <a:noFill/>
          <a:ln/>
        </p:spPr>
        <p:txBody>
          <a:bodyPr wrap="square" lIns="0" tIns="0" rIns="0" bIns="0" rtlCol="0" anchor="t"/>
          <a:lstStyle/>
          <a:p>
            <a:pPr indent="0" marL="0">
              <a:buNone/>
            </a:pPr>
            <a:r>
              <a:rPr lang="en-US" sz="1300" dirty="0">
                <a:solidFill>
                  <a:schemeClr val="tx1"/>
                </a:solidFill>
              </a:rPr>
              <a:t>net debt / adjusted EBITDA after the special dividend (FY25: 1.6x)</a:t>
            </a:r>
            <a:endParaRPr lang="en-US" sz="1300" dirty="0"/>
          </a:p>
        </p:txBody>
      </p:sp>
      <p:sp>
        <p:nvSpPr>
          <p:cNvPr id="28" name="h1-card-5"/>
          <p:cNvSpPr/>
          <p:nvPr/>
        </p:nvSpPr>
        <p:spPr>
          <a:xfrm>
            <a:off x="4389120" y="4626864"/>
            <a:ext cx="3657600" cy="1463040"/>
          </a:xfrm>
          <a:prstGeom prst="roundRect">
            <a:avLst>
              <a:gd name="adj" fmla="val 5000"/>
            </a:avLst>
          </a:prstGeom>
          <a:solidFill>
            <a:schemeClr val="bg2"/>
          </a:solidFill>
          <a:ln/>
        </p:spPr>
      </p:sp>
      <p:sp>
        <p:nvSpPr>
          <p:cNvPr id="29" name="h1-icon-5-circle"/>
          <p:cNvSpPr/>
          <p:nvPr/>
        </p:nvSpPr>
        <p:spPr>
          <a:xfrm>
            <a:off x="4572000" y="4855464"/>
            <a:ext cx="548640" cy="548640"/>
          </a:xfrm>
          <a:prstGeom prst="ellipse">
            <a:avLst/>
          </a:prstGeom>
          <a:solidFill>
            <a:schemeClr val="accent5"/>
          </a:solidFill>
          <a:ln/>
        </p:spPr>
      </p:sp>
      <p:pic>
        <p:nvPicPr>
          <p:cNvPr id="30" name="h1-icon-5-glyph" descr="preencoded.png">    </p:cNvPr>
          <p:cNvPicPr>
            <a:picLocks noChangeAspect="1"/>
          </p:cNvPicPr>
          <p:nvPr/>
        </p:nvPicPr>
        <p:blipFill>
          <a:blip r:embed="rId6"/>
          <a:stretch>
            <a:fillRect/>
          </a:stretch>
        </p:blipFill>
        <p:spPr>
          <a:xfrm>
            <a:off x="4703674" y="4987138"/>
            <a:ext cx="285293" cy="285293"/>
          </a:xfrm>
          <a:prstGeom prst="rect">
            <a:avLst/>
          </a:prstGeom>
        </p:spPr>
      </p:pic>
      <p:sp>
        <p:nvSpPr>
          <p:cNvPr id="31" name="Text 23"/>
          <p:cNvSpPr txBox="1"/>
          <p:nvPr/>
        </p:nvSpPr>
        <p:spPr>
          <a:xfrm>
            <a:off x="5257800" y="4791456"/>
            <a:ext cx="2651760" cy="59436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+5%</a:t>
            </a:r>
            <a:endParaRPr lang="en-US" sz="2800" dirty="0"/>
          </a:p>
        </p:txBody>
      </p:sp>
      <p:sp>
        <p:nvSpPr>
          <p:cNvPr id="32" name="Text 24"/>
          <p:cNvSpPr txBox="1"/>
          <p:nvPr/>
        </p:nvSpPr>
        <p:spPr>
          <a:xfrm>
            <a:off x="5257800" y="5376672"/>
            <a:ext cx="2651760" cy="640080"/>
          </a:xfrm>
          <a:prstGeom prst="rect">
            <a:avLst/>
          </a:prstGeom>
          <a:noFill/>
          <a:ln/>
        </p:spPr>
        <p:txBody>
          <a:bodyPr wrap="square" lIns="0" tIns="0" rIns="0" bIns="0" rtlCol="0" anchor="t"/>
          <a:lstStyle/>
          <a:p>
            <a:pPr indent="0" marL="0">
              <a:buNone/>
            </a:pPr>
            <a:r>
              <a:rPr lang="en-US" sz="1300" dirty="0">
                <a:solidFill>
                  <a:schemeClr val="tx1"/>
                </a:solidFill>
              </a:rPr>
              <a:t>interim dividend to 88.6p, plus a new £500m buyback</a:t>
            </a:r>
            <a:endParaRPr lang="en-US" sz="1300" dirty="0"/>
          </a:p>
        </p:txBody>
      </p:sp>
      <p:sp>
        <p:nvSpPr>
          <p:cNvPr id="33" name="guidance-card"/>
          <p:cNvSpPr/>
          <p:nvPr/>
        </p:nvSpPr>
        <p:spPr>
          <a:xfrm>
            <a:off x="8321040" y="1371600"/>
            <a:ext cx="3291840" cy="4800600"/>
          </a:xfrm>
          <a:prstGeom prst="roundRect">
            <a:avLst>
              <a:gd name="adj" fmla="val 2222"/>
            </a:avLst>
          </a:prstGeom>
          <a:solidFill>
            <a:schemeClr val="tx2"/>
          </a:solidFill>
          <a:ln/>
        </p:spPr>
      </p:sp>
      <p:sp>
        <p:nvSpPr>
          <p:cNvPr id="34" name="Text 26"/>
          <p:cNvSpPr txBox="1"/>
          <p:nvPr/>
        </p:nvSpPr>
        <p:spPr>
          <a:xfrm>
            <a:off x="8549640" y="1554480"/>
            <a:ext cx="2834640" cy="685800"/>
          </a:xfrm>
          <a:prstGeom prst="rect">
            <a:avLst/>
          </a:prstGeom>
          <a:noFill/>
          <a:ln/>
        </p:spPr>
        <p:txBody>
          <a:bodyPr wrap="square" lIns="0" tIns="0" rIns="0" bIns="0" rtlCol="0" anchor="t"/>
          <a:lstStyle/>
          <a:p>
            <a:pPr indent="0" marL="0">
              <a:buNone/>
            </a:pPr>
            <a:r>
              <a:rPr lang="en-US" sz="1800" b="1" dirty="0">
                <a:solidFill>
                  <a:schemeClr val="bg1"/>
                </a:solidFill>
              </a:rPr>
              <a:t>FY2026 guidance reiterated</a:t>
            </a:r>
            <a:endParaRPr lang="en-US" sz="1800" dirty="0"/>
          </a:p>
        </p:txBody>
      </p:sp>
      <p:sp>
        <p:nvSpPr>
          <p:cNvPr id="35" name="Text 27"/>
          <p:cNvSpPr txBox="1"/>
          <p:nvPr/>
        </p:nvSpPr>
        <p:spPr>
          <a:xfrm>
            <a:off x="8549640" y="2331720"/>
            <a:ext cx="2880360" cy="365760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bg1"/>
                </a:solidFill>
              </a:rPr>
              <a:t>Core Reckitt LFL net revenue growth of +4% to +5%</a:t>
            </a:r>
            <a:endParaRPr lang="en-US" sz="1400" dirty="0"/>
          </a:p>
          <a:p>
            <a:pPr marL="342900" indent="-342900">
              <a:spcAft>
                <a:spcPts val="1000"/>
              </a:spcAft>
              <a:buSzPct val="100000"/>
              <a:buChar char="•"/>
            </a:pPr>
            <a:r>
              <a:rPr lang="en-US" sz="1400" dirty="0">
                <a:solidFill>
                  <a:schemeClr val="bg1"/>
                </a:solidFill>
              </a:rPr>
              <a:t>Core + MJN adjusted operating margin of 24.9% to 25.6%</a:t>
            </a:r>
            <a:endParaRPr lang="en-US" sz="1400" dirty="0"/>
          </a:p>
          <a:p>
            <a:pPr marL="342900" indent="-342900">
              <a:spcAft>
                <a:spcPts val="1000"/>
              </a:spcAft>
              <a:buSzPct val="100000"/>
              <a:buChar char="•"/>
            </a:pPr>
            <a:r>
              <a:rPr lang="en-US" sz="1400" dirty="0">
                <a:solidFill>
                  <a:schemeClr val="bg1"/>
                </a:solidFill>
              </a:rPr>
              <a:t>Medium term: consistent annual EPS growth</a:t>
            </a:r>
            <a:endParaRPr lang="en-US" sz="1400" dirty="0"/>
          </a:p>
          <a:p>
            <a:pPr marL="342900" indent="-342900">
              <a:spcAft>
                <a:spcPts val="1000"/>
              </a:spcAft>
              <a:buSzPct val="100000"/>
              <a:buChar char="•"/>
            </a:pPr>
            <a:r>
              <a:rPr lang="en-US" sz="1400" dirty="0">
                <a:solidFill>
                  <a:schemeClr val="bg1"/>
                </a:solidFill>
              </a:rPr>
              <a:t>Watch-points: oil-linked input costs, Europe, Russia sanctions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Relevance of the annual report to stakeholders</a:t>
            </a:r>
            <a:endParaRPr lang="en-US" sz="3400" dirty="0"/>
          </a:p>
        </p:txBody>
      </p:sp>
      <p:sp>
        <p:nvSpPr>
          <p:cNvPr id="3" name="stakeholder-0"/>
          <p:cNvSpPr/>
          <p:nvPr/>
        </p:nvSpPr>
        <p:spPr>
          <a:xfrm>
            <a:off x="548640" y="1371600"/>
            <a:ext cx="3017520" cy="1463040"/>
          </a:xfrm>
          <a:prstGeom prst="roundRect">
            <a:avLst>
              <a:gd name="adj" fmla="val 5000"/>
            </a:avLst>
          </a:prstGeom>
          <a:solidFill>
            <a:schemeClr val="bg2"/>
          </a:solidFill>
          <a:ln/>
        </p:spPr>
      </p:sp>
      <p:sp>
        <p:nvSpPr>
          <p:cNvPr id="4" name="stakeholder-icon-0-circle"/>
          <p:cNvSpPr/>
          <p:nvPr/>
        </p:nvSpPr>
        <p:spPr>
          <a:xfrm>
            <a:off x="731520" y="1572768"/>
            <a:ext cx="548640" cy="548640"/>
          </a:xfrm>
          <a:prstGeom prst="ellipse">
            <a:avLst/>
          </a:prstGeom>
          <a:solidFill>
            <a:schemeClr val="accent1"/>
          </a:solidFill>
          <a:ln/>
        </p:spPr>
      </p:sp>
      <p:pic>
        <p:nvPicPr>
          <p:cNvPr id="5" name="stakeholder-icon-0-glyph" descr="preencoded.png">    </p:cNvPr>
          <p:cNvPicPr>
            <a:picLocks noChangeAspect="1"/>
          </p:cNvPicPr>
          <p:nvPr/>
        </p:nvPicPr>
        <p:blipFill>
          <a:blip r:embed="rId1"/>
          <a:stretch>
            <a:fillRect/>
          </a:stretch>
        </p:blipFill>
        <p:spPr>
          <a:xfrm>
            <a:off x="863194" y="1704442"/>
            <a:ext cx="285293" cy="285293"/>
          </a:xfrm>
          <a:prstGeom prst="rect">
            <a:avLst/>
          </a:prstGeom>
        </p:spPr>
      </p:pic>
      <p:sp>
        <p:nvSpPr>
          <p:cNvPr id="6" name="Text 3"/>
          <p:cNvSpPr txBox="1"/>
          <p:nvPr/>
        </p:nvSpPr>
        <p:spPr>
          <a:xfrm>
            <a:off x="1417320" y="1600200"/>
            <a:ext cx="2011680" cy="411480"/>
          </a:xfrm>
          <a:prstGeom prst="rect">
            <a:avLst/>
          </a:prstGeom>
          <a:noFill/>
          <a:ln/>
        </p:spPr>
        <p:txBody>
          <a:bodyPr wrap="square" lIns="0" tIns="0" rIns="0" bIns="0" rtlCol="0" anchor="t"/>
          <a:lstStyle/>
          <a:p>
            <a:pPr indent="0" marL="0">
              <a:buNone/>
            </a:pPr>
            <a:r>
              <a:rPr lang="en-US" sz="1700" b="1" dirty="0">
                <a:solidFill>
                  <a:schemeClr val="tx2"/>
                </a:solidFill>
              </a:rPr>
              <a:t>Investors</a:t>
            </a:r>
            <a:endParaRPr lang="en-US" sz="1700" dirty="0"/>
          </a:p>
        </p:txBody>
      </p:sp>
      <p:sp>
        <p:nvSpPr>
          <p:cNvPr id="7" name="Text 4"/>
          <p:cNvSpPr txBox="1"/>
          <p:nvPr/>
        </p:nvSpPr>
        <p:spPr>
          <a:xfrm>
            <a:off x="731520" y="2194560"/>
            <a:ext cx="2697480" cy="594360"/>
          </a:xfrm>
          <a:prstGeom prst="rect">
            <a:avLst/>
          </a:prstGeom>
          <a:noFill/>
          <a:ln/>
        </p:spPr>
        <p:txBody>
          <a:bodyPr wrap="square" lIns="0" tIns="0" rIns="0" bIns="0" rtlCol="0" anchor="t"/>
          <a:lstStyle/>
          <a:p>
            <a:pPr indent="0" marL="0">
              <a:buNone/>
            </a:pPr>
            <a:r>
              <a:rPr lang="en-US" sz="1300" dirty="0">
                <a:solidFill>
                  <a:schemeClr val="tx1"/>
                </a:solidFill>
              </a:rPr>
              <a:t>Performance, value of investment, dividend capacity</a:t>
            </a:r>
            <a:endParaRPr lang="en-US" sz="1300" dirty="0"/>
          </a:p>
        </p:txBody>
      </p:sp>
      <p:sp>
        <p:nvSpPr>
          <p:cNvPr id="8" name="stakeholder-1"/>
          <p:cNvSpPr/>
          <p:nvPr/>
        </p:nvSpPr>
        <p:spPr>
          <a:xfrm>
            <a:off x="3749040" y="1371600"/>
            <a:ext cx="3017520" cy="1463040"/>
          </a:xfrm>
          <a:prstGeom prst="roundRect">
            <a:avLst>
              <a:gd name="adj" fmla="val 5000"/>
            </a:avLst>
          </a:prstGeom>
          <a:solidFill>
            <a:schemeClr val="bg2"/>
          </a:solidFill>
          <a:ln/>
        </p:spPr>
      </p:sp>
      <p:sp>
        <p:nvSpPr>
          <p:cNvPr id="9" name="stakeholder-icon-1-circle"/>
          <p:cNvSpPr/>
          <p:nvPr/>
        </p:nvSpPr>
        <p:spPr>
          <a:xfrm>
            <a:off x="3931920" y="1572768"/>
            <a:ext cx="548640" cy="548640"/>
          </a:xfrm>
          <a:prstGeom prst="ellipse">
            <a:avLst/>
          </a:prstGeom>
          <a:solidFill>
            <a:schemeClr val="accent1"/>
          </a:solidFill>
          <a:ln/>
        </p:spPr>
      </p:sp>
      <p:pic>
        <p:nvPicPr>
          <p:cNvPr id="10" name="stakeholder-icon-1-glyph" descr="preencoded.png">    </p:cNvPr>
          <p:cNvPicPr>
            <a:picLocks noChangeAspect="1"/>
          </p:cNvPicPr>
          <p:nvPr/>
        </p:nvPicPr>
        <p:blipFill>
          <a:blip r:embed="rId2"/>
          <a:stretch>
            <a:fillRect/>
          </a:stretch>
        </p:blipFill>
        <p:spPr>
          <a:xfrm>
            <a:off x="4063594" y="1704442"/>
            <a:ext cx="285293" cy="285293"/>
          </a:xfrm>
          <a:prstGeom prst="rect">
            <a:avLst/>
          </a:prstGeom>
        </p:spPr>
      </p:pic>
      <p:sp>
        <p:nvSpPr>
          <p:cNvPr id="11" name="Text 7"/>
          <p:cNvSpPr txBox="1"/>
          <p:nvPr/>
        </p:nvSpPr>
        <p:spPr>
          <a:xfrm>
            <a:off x="4617720" y="1600200"/>
            <a:ext cx="2011680" cy="411480"/>
          </a:xfrm>
          <a:prstGeom prst="rect">
            <a:avLst/>
          </a:prstGeom>
          <a:noFill/>
          <a:ln/>
        </p:spPr>
        <p:txBody>
          <a:bodyPr wrap="square" lIns="0" tIns="0" rIns="0" bIns="0" rtlCol="0" anchor="t"/>
          <a:lstStyle/>
          <a:p>
            <a:pPr indent="0" marL="0">
              <a:buNone/>
            </a:pPr>
            <a:r>
              <a:rPr lang="en-US" sz="1700" b="1" dirty="0">
                <a:solidFill>
                  <a:schemeClr val="tx2"/>
                </a:solidFill>
              </a:rPr>
              <a:t>Lenders</a:t>
            </a:r>
            <a:endParaRPr lang="en-US" sz="1700" dirty="0"/>
          </a:p>
        </p:txBody>
      </p:sp>
      <p:sp>
        <p:nvSpPr>
          <p:cNvPr id="12" name="Text 8"/>
          <p:cNvSpPr txBox="1"/>
          <p:nvPr/>
        </p:nvSpPr>
        <p:spPr>
          <a:xfrm>
            <a:off x="3931920" y="2194560"/>
            <a:ext cx="2697480" cy="594360"/>
          </a:xfrm>
          <a:prstGeom prst="rect">
            <a:avLst/>
          </a:prstGeom>
          <a:noFill/>
          <a:ln/>
        </p:spPr>
        <p:txBody>
          <a:bodyPr wrap="square" lIns="0" tIns="0" rIns="0" bIns="0" rtlCol="0" anchor="t"/>
          <a:lstStyle/>
          <a:p>
            <a:pPr indent="0" marL="0">
              <a:buNone/>
            </a:pPr>
            <a:r>
              <a:rPr lang="en-US" sz="1300" dirty="0">
                <a:solidFill>
                  <a:schemeClr val="tx1"/>
                </a:solidFill>
              </a:rPr>
              <a:t>Liquidity, leverage, viability statement</a:t>
            </a:r>
            <a:endParaRPr lang="en-US" sz="1300" dirty="0"/>
          </a:p>
        </p:txBody>
      </p:sp>
      <p:sp>
        <p:nvSpPr>
          <p:cNvPr id="13" name="stakeholder-2"/>
          <p:cNvSpPr/>
          <p:nvPr/>
        </p:nvSpPr>
        <p:spPr>
          <a:xfrm>
            <a:off x="548640" y="2999232"/>
            <a:ext cx="3017520" cy="1463040"/>
          </a:xfrm>
          <a:prstGeom prst="roundRect">
            <a:avLst>
              <a:gd name="adj" fmla="val 5000"/>
            </a:avLst>
          </a:prstGeom>
          <a:solidFill>
            <a:schemeClr val="bg2"/>
          </a:solidFill>
          <a:ln/>
        </p:spPr>
      </p:sp>
      <p:sp>
        <p:nvSpPr>
          <p:cNvPr id="14" name="stakeholder-icon-2-circle"/>
          <p:cNvSpPr/>
          <p:nvPr/>
        </p:nvSpPr>
        <p:spPr>
          <a:xfrm>
            <a:off x="731520" y="3200400"/>
            <a:ext cx="548640" cy="548640"/>
          </a:xfrm>
          <a:prstGeom prst="ellipse">
            <a:avLst/>
          </a:prstGeom>
          <a:solidFill>
            <a:schemeClr val="accent1"/>
          </a:solidFill>
          <a:ln/>
        </p:spPr>
      </p:sp>
      <p:pic>
        <p:nvPicPr>
          <p:cNvPr id="15" name="stakeholder-icon-2-glyph" descr="preencoded.png">    </p:cNvPr>
          <p:cNvPicPr>
            <a:picLocks noChangeAspect="1"/>
          </p:cNvPicPr>
          <p:nvPr/>
        </p:nvPicPr>
        <p:blipFill>
          <a:blip r:embed="rId3"/>
          <a:stretch>
            <a:fillRect/>
          </a:stretch>
        </p:blipFill>
        <p:spPr>
          <a:xfrm>
            <a:off x="863194" y="3332074"/>
            <a:ext cx="285293" cy="285293"/>
          </a:xfrm>
          <a:prstGeom prst="rect">
            <a:avLst/>
          </a:prstGeom>
        </p:spPr>
      </p:pic>
      <p:sp>
        <p:nvSpPr>
          <p:cNvPr id="16" name="Text 11"/>
          <p:cNvSpPr txBox="1"/>
          <p:nvPr/>
        </p:nvSpPr>
        <p:spPr>
          <a:xfrm>
            <a:off x="1417320" y="3227832"/>
            <a:ext cx="2011680" cy="411480"/>
          </a:xfrm>
          <a:prstGeom prst="rect">
            <a:avLst/>
          </a:prstGeom>
          <a:noFill/>
          <a:ln/>
        </p:spPr>
        <p:txBody>
          <a:bodyPr wrap="square" lIns="0" tIns="0" rIns="0" bIns="0" rtlCol="0" anchor="t"/>
          <a:lstStyle/>
          <a:p>
            <a:pPr indent="0" marL="0">
              <a:buNone/>
            </a:pPr>
            <a:r>
              <a:rPr lang="en-US" sz="1700" b="1" dirty="0">
                <a:solidFill>
                  <a:schemeClr val="tx2"/>
                </a:solidFill>
              </a:rPr>
              <a:t>Suppliers</a:t>
            </a:r>
            <a:endParaRPr lang="en-US" sz="1700" dirty="0"/>
          </a:p>
        </p:txBody>
      </p:sp>
      <p:sp>
        <p:nvSpPr>
          <p:cNvPr id="17" name="Text 12"/>
          <p:cNvSpPr txBox="1"/>
          <p:nvPr/>
        </p:nvSpPr>
        <p:spPr>
          <a:xfrm>
            <a:off x="731520" y="3822192"/>
            <a:ext cx="2697480" cy="594360"/>
          </a:xfrm>
          <a:prstGeom prst="rect">
            <a:avLst/>
          </a:prstGeom>
          <a:noFill/>
          <a:ln/>
        </p:spPr>
        <p:txBody>
          <a:bodyPr wrap="square" lIns="0" tIns="0" rIns="0" bIns="0" rtlCol="0" anchor="t"/>
          <a:lstStyle/>
          <a:p>
            <a:pPr indent="0" marL="0">
              <a:buNone/>
            </a:pPr>
            <a:r>
              <a:rPr lang="en-US" sz="1300" dirty="0">
                <a:solidFill>
                  <a:schemeClr val="tx1"/>
                </a:solidFill>
              </a:rPr>
              <a:t>Ability to pay; supplier management impact</a:t>
            </a:r>
            <a:endParaRPr lang="en-US" sz="1300" dirty="0"/>
          </a:p>
        </p:txBody>
      </p:sp>
      <p:sp>
        <p:nvSpPr>
          <p:cNvPr id="18" name="stakeholder-3"/>
          <p:cNvSpPr/>
          <p:nvPr/>
        </p:nvSpPr>
        <p:spPr>
          <a:xfrm>
            <a:off x="3749040" y="2999232"/>
            <a:ext cx="3017520" cy="1463040"/>
          </a:xfrm>
          <a:prstGeom prst="roundRect">
            <a:avLst>
              <a:gd name="adj" fmla="val 5000"/>
            </a:avLst>
          </a:prstGeom>
          <a:solidFill>
            <a:schemeClr val="bg2"/>
          </a:solidFill>
          <a:ln/>
        </p:spPr>
      </p:sp>
      <p:sp>
        <p:nvSpPr>
          <p:cNvPr id="19" name="stakeholder-icon-3-circle"/>
          <p:cNvSpPr/>
          <p:nvPr/>
        </p:nvSpPr>
        <p:spPr>
          <a:xfrm>
            <a:off x="3931920" y="3200400"/>
            <a:ext cx="548640" cy="548640"/>
          </a:xfrm>
          <a:prstGeom prst="ellipse">
            <a:avLst/>
          </a:prstGeom>
          <a:solidFill>
            <a:schemeClr val="accent1"/>
          </a:solidFill>
          <a:ln/>
        </p:spPr>
      </p:sp>
      <p:pic>
        <p:nvPicPr>
          <p:cNvPr id="20" name="stakeholder-icon-3-glyph" descr="preencoded.png">    </p:cNvPr>
          <p:cNvPicPr>
            <a:picLocks noChangeAspect="1"/>
          </p:cNvPicPr>
          <p:nvPr/>
        </p:nvPicPr>
        <p:blipFill>
          <a:blip r:embed="rId4"/>
          <a:stretch>
            <a:fillRect/>
          </a:stretch>
        </p:blipFill>
        <p:spPr>
          <a:xfrm>
            <a:off x="4063594" y="3332074"/>
            <a:ext cx="285293" cy="285293"/>
          </a:xfrm>
          <a:prstGeom prst="rect">
            <a:avLst/>
          </a:prstGeom>
        </p:spPr>
      </p:pic>
      <p:sp>
        <p:nvSpPr>
          <p:cNvPr id="21" name="Text 15"/>
          <p:cNvSpPr txBox="1"/>
          <p:nvPr/>
        </p:nvSpPr>
        <p:spPr>
          <a:xfrm>
            <a:off x="4617720" y="3227832"/>
            <a:ext cx="2011680" cy="411480"/>
          </a:xfrm>
          <a:prstGeom prst="rect">
            <a:avLst/>
          </a:prstGeom>
          <a:noFill/>
          <a:ln/>
        </p:spPr>
        <p:txBody>
          <a:bodyPr wrap="square" lIns="0" tIns="0" rIns="0" bIns="0" rtlCol="0" anchor="t"/>
          <a:lstStyle/>
          <a:p>
            <a:pPr indent="0" marL="0">
              <a:buNone/>
            </a:pPr>
            <a:r>
              <a:rPr lang="en-US" sz="1700" b="1" dirty="0">
                <a:solidFill>
                  <a:schemeClr val="tx2"/>
                </a:solidFill>
              </a:rPr>
              <a:t>Customers</a:t>
            </a:r>
            <a:endParaRPr lang="en-US" sz="1700" dirty="0"/>
          </a:p>
        </p:txBody>
      </p:sp>
      <p:sp>
        <p:nvSpPr>
          <p:cNvPr id="22" name="Text 16"/>
          <p:cNvSpPr txBox="1"/>
          <p:nvPr/>
        </p:nvSpPr>
        <p:spPr>
          <a:xfrm>
            <a:off x="3931920" y="3822192"/>
            <a:ext cx="2697480" cy="594360"/>
          </a:xfrm>
          <a:prstGeom prst="rect">
            <a:avLst/>
          </a:prstGeom>
          <a:noFill/>
          <a:ln/>
        </p:spPr>
        <p:txBody>
          <a:bodyPr wrap="square" lIns="0" tIns="0" rIns="0" bIns="0" rtlCol="0" anchor="t"/>
          <a:lstStyle/>
          <a:p>
            <a:pPr indent="0" marL="0">
              <a:buNone/>
            </a:pPr>
            <a:r>
              <a:rPr lang="en-US" sz="1300" dirty="0">
                <a:solidFill>
                  <a:schemeClr val="tx1"/>
                </a:solidFill>
              </a:rPr>
              <a:t>Customer base by area; product integrity</a:t>
            </a:r>
            <a:endParaRPr lang="en-US" sz="1300" dirty="0"/>
          </a:p>
        </p:txBody>
      </p:sp>
      <p:sp>
        <p:nvSpPr>
          <p:cNvPr id="23" name="stakeholder-4"/>
          <p:cNvSpPr/>
          <p:nvPr/>
        </p:nvSpPr>
        <p:spPr>
          <a:xfrm>
            <a:off x="548640" y="4626864"/>
            <a:ext cx="3017520" cy="1463040"/>
          </a:xfrm>
          <a:prstGeom prst="roundRect">
            <a:avLst>
              <a:gd name="adj" fmla="val 5000"/>
            </a:avLst>
          </a:prstGeom>
          <a:solidFill>
            <a:schemeClr val="bg2"/>
          </a:solidFill>
          <a:ln/>
        </p:spPr>
      </p:sp>
      <p:sp>
        <p:nvSpPr>
          <p:cNvPr id="24" name="stakeholder-icon-4-circle"/>
          <p:cNvSpPr/>
          <p:nvPr/>
        </p:nvSpPr>
        <p:spPr>
          <a:xfrm>
            <a:off x="731520" y="4828032"/>
            <a:ext cx="548640" cy="548640"/>
          </a:xfrm>
          <a:prstGeom prst="ellipse">
            <a:avLst/>
          </a:prstGeom>
          <a:solidFill>
            <a:schemeClr val="accent1"/>
          </a:solidFill>
          <a:ln/>
        </p:spPr>
      </p:sp>
      <p:pic>
        <p:nvPicPr>
          <p:cNvPr id="25" name="stakeholder-icon-4-glyph" descr="preencoded.png">    </p:cNvPr>
          <p:cNvPicPr>
            <a:picLocks noChangeAspect="1"/>
          </p:cNvPicPr>
          <p:nvPr/>
        </p:nvPicPr>
        <p:blipFill>
          <a:blip r:embed="rId5"/>
          <a:stretch>
            <a:fillRect/>
          </a:stretch>
        </p:blipFill>
        <p:spPr>
          <a:xfrm>
            <a:off x="863194" y="4959706"/>
            <a:ext cx="285293" cy="285293"/>
          </a:xfrm>
          <a:prstGeom prst="rect">
            <a:avLst/>
          </a:prstGeom>
        </p:spPr>
      </p:pic>
      <p:sp>
        <p:nvSpPr>
          <p:cNvPr id="26" name="Text 19"/>
          <p:cNvSpPr txBox="1"/>
          <p:nvPr/>
        </p:nvSpPr>
        <p:spPr>
          <a:xfrm>
            <a:off x="1417320" y="4855464"/>
            <a:ext cx="2011680" cy="411480"/>
          </a:xfrm>
          <a:prstGeom prst="rect">
            <a:avLst/>
          </a:prstGeom>
          <a:noFill/>
          <a:ln/>
        </p:spPr>
        <p:txBody>
          <a:bodyPr wrap="square" lIns="0" tIns="0" rIns="0" bIns="0" rtlCol="0" anchor="t"/>
          <a:lstStyle/>
          <a:p>
            <a:pPr indent="0" marL="0">
              <a:buNone/>
            </a:pPr>
            <a:r>
              <a:rPr lang="en-US" sz="1700" b="1" dirty="0">
                <a:solidFill>
                  <a:schemeClr val="tx2"/>
                </a:solidFill>
              </a:rPr>
              <a:t>Employees</a:t>
            </a:r>
            <a:endParaRPr lang="en-US" sz="1700" dirty="0"/>
          </a:p>
        </p:txBody>
      </p:sp>
      <p:sp>
        <p:nvSpPr>
          <p:cNvPr id="27" name="Text 20"/>
          <p:cNvSpPr txBox="1"/>
          <p:nvPr/>
        </p:nvSpPr>
        <p:spPr>
          <a:xfrm>
            <a:off x="731520" y="5449824"/>
            <a:ext cx="2697480" cy="594360"/>
          </a:xfrm>
          <a:prstGeom prst="rect">
            <a:avLst/>
          </a:prstGeom>
          <a:noFill/>
          <a:ln/>
        </p:spPr>
        <p:txBody>
          <a:bodyPr wrap="square" lIns="0" tIns="0" rIns="0" bIns="0" rtlCol="0" anchor="t"/>
          <a:lstStyle/>
          <a:p>
            <a:pPr indent="0" marL="0">
              <a:buNone/>
            </a:pPr>
            <a:r>
              <a:rPr lang="en-US" sz="1300" dirty="0">
                <a:solidFill>
                  <a:schemeClr val="tx1"/>
                </a:solidFill>
              </a:rPr>
              <a:t>Job security, pay, culture</a:t>
            </a:r>
            <a:endParaRPr lang="en-US" sz="1300" dirty="0"/>
          </a:p>
        </p:txBody>
      </p:sp>
      <p:sp>
        <p:nvSpPr>
          <p:cNvPr id="28" name="stakeholder-5"/>
          <p:cNvSpPr/>
          <p:nvPr/>
        </p:nvSpPr>
        <p:spPr>
          <a:xfrm>
            <a:off x="3749040" y="4626864"/>
            <a:ext cx="3017520" cy="1463040"/>
          </a:xfrm>
          <a:prstGeom prst="roundRect">
            <a:avLst>
              <a:gd name="adj" fmla="val 5000"/>
            </a:avLst>
          </a:prstGeom>
          <a:solidFill>
            <a:schemeClr val="bg2"/>
          </a:solidFill>
          <a:ln/>
        </p:spPr>
      </p:sp>
      <p:sp>
        <p:nvSpPr>
          <p:cNvPr id="29" name="stakeholder-icon-5-circle"/>
          <p:cNvSpPr/>
          <p:nvPr/>
        </p:nvSpPr>
        <p:spPr>
          <a:xfrm>
            <a:off x="3931920" y="4828032"/>
            <a:ext cx="548640" cy="548640"/>
          </a:xfrm>
          <a:prstGeom prst="ellipse">
            <a:avLst/>
          </a:prstGeom>
          <a:solidFill>
            <a:schemeClr val="accent1"/>
          </a:solidFill>
          <a:ln/>
        </p:spPr>
      </p:sp>
      <p:pic>
        <p:nvPicPr>
          <p:cNvPr id="30" name="stakeholder-icon-5-glyph" descr="preencoded.png">    </p:cNvPr>
          <p:cNvPicPr>
            <a:picLocks noChangeAspect="1"/>
          </p:cNvPicPr>
          <p:nvPr/>
        </p:nvPicPr>
        <p:blipFill>
          <a:blip r:embed="rId6"/>
          <a:stretch>
            <a:fillRect/>
          </a:stretch>
        </p:blipFill>
        <p:spPr>
          <a:xfrm>
            <a:off x="4063594" y="4959706"/>
            <a:ext cx="285293" cy="285293"/>
          </a:xfrm>
          <a:prstGeom prst="rect">
            <a:avLst/>
          </a:prstGeom>
        </p:spPr>
      </p:pic>
      <p:sp>
        <p:nvSpPr>
          <p:cNvPr id="31" name="Text 23"/>
          <p:cNvSpPr txBox="1"/>
          <p:nvPr/>
        </p:nvSpPr>
        <p:spPr>
          <a:xfrm>
            <a:off x="4617720" y="4855464"/>
            <a:ext cx="2011680" cy="411480"/>
          </a:xfrm>
          <a:prstGeom prst="rect">
            <a:avLst/>
          </a:prstGeom>
          <a:noFill/>
          <a:ln/>
        </p:spPr>
        <p:txBody>
          <a:bodyPr wrap="square" lIns="0" tIns="0" rIns="0" bIns="0" rtlCol="0" anchor="t"/>
          <a:lstStyle/>
          <a:p>
            <a:pPr indent="0" marL="0">
              <a:buNone/>
            </a:pPr>
            <a:r>
              <a:rPr lang="en-US" sz="1700" b="1" dirty="0">
                <a:solidFill>
                  <a:schemeClr val="tx2"/>
                </a:solidFill>
              </a:rPr>
              <a:t>Government</a:t>
            </a:r>
            <a:endParaRPr lang="en-US" sz="1700" dirty="0"/>
          </a:p>
        </p:txBody>
      </p:sp>
      <p:sp>
        <p:nvSpPr>
          <p:cNvPr id="32" name="Text 24"/>
          <p:cNvSpPr txBox="1"/>
          <p:nvPr/>
        </p:nvSpPr>
        <p:spPr>
          <a:xfrm>
            <a:off x="3931920" y="5449824"/>
            <a:ext cx="2697480" cy="594360"/>
          </a:xfrm>
          <a:prstGeom prst="rect">
            <a:avLst/>
          </a:prstGeom>
          <a:noFill/>
          <a:ln/>
        </p:spPr>
        <p:txBody>
          <a:bodyPr wrap="square" lIns="0" tIns="0" rIns="0" bIns="0" rtlCol="0" anchor="t"/>
          <a:lstStyle/>
          <a:p>
            <a:pPr indent="0" marL="0">
              <a:buNone/>
            </a:pPr>
            <a:r>
              <a:rPr lang="en-US" sz="1300" dirty="0">
                <a:solidFill>
                  <a:schemeClr val="tx1"/>
                </a:solidFill>
              </a:rPr>
              <a:t>Tax paid (£897m cash tax, 2025), compliance</a:t>
            </a:r>
            <a:endParaRPr lang="en-US" sz="1300" dirty="0"/>
          </a:p>
        </p:txBody>
      </p:sp>
      <p:sp>
        <p:nvSpPr>
          <p:cNvPr id="33" name="ar-strengths"/>
          <p:cNvSpPr/>
          <p:nvPr/>
        </p:nvSpPr>
        <p:spPr>
          <a:xfrm>
            <a:off x="7040880" y="1371600"/>
            <a:ext cx="4572000" cy="2286000"/>
          </a:xfrm>
          <a:prstGeom prst="roundRect">
            <a:avLst>
              <a:gd name="adj" fmla="val 3200"/>
            </a:avLst>
          </a:prstGeom>
          <a:solidFill>
            <a:schemeClr val="bg2"/>
          </a:solidFill>
          <a:ln/>
        </p:spPr>
      </p:sp>
      <p:sp>
        <p:nvSpPr>
          <p:cNvPr id="34" name="Text 26"/>
          <p:cNvSpPr txBox="1"/>
          <p:nvPr/>
        </p:nvSpPr>
        <p:spPr>
          <a:xfrm>
            <a:off x="7269480" y="1481328"/>
            <a:ext cx="4114800" cy="365760"/>
          </a:xfrm>
          <a:prstGeom prst="rect">
            <a:avLst/>
          </a:prstGeom>
          <a:noFill/>
          <a:ln/>
        </p:spPr>
        <p:txBody>
          <a:bodyPr wrap="square" lIns="0" tIns="0" rIns="0" bIns="0" rtlCol="0" anchor="t"/>
          <a:lstStyle/>
          <a:p>
            <a:pPr indent="0" marL="0">
              <a:buNone/>
            </a:pPr>
            <a:r>
              <a:rPr lang="en-US" sz="1700" b="1" dirty="0">
                <a:solidFill>
                  <a:schemeClr val="accent5"/>
                </a:solidFill>
              </a:rPr>
              <a:t>Strengths</a:t>
            </a:r>
            <a:endParaRPr lang="en-US" sz="1700" dirty="0"/>
          </a:p>
        </p:txBody>
      </p:sp>
      <p:sp>
        <p:nvSpPr>
          <p:cNvPr id="35" name="Text 27"/>
          <p:cNvSpPr txBox="1"/>
          <p:nvPr/>
        </p:nvSpPr>
        <p:spPr>
          <a:xfrm>
            <a:off x="7269480" y="1874520"/>
            <a:ext cx="4160520" cy="16916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Audited (KPMG) and prepared under IFRS, so comparable and faithfully represented (IASB, 2018)</a:t>
            </a:r>
            <a:endParaRPr lang="en-US" sz="1400" dirty="0"/>
          </a:p>
          <a:p>
            <a:pPr marL="342900" indent="-342900">
              <a:spcAft>
                <a:spcPts val="600"/>
              </a:spcAft>
              <a:buSzPct val="100000"/>
              <a:buChar char="•"/>
            </a:pPr>
            <a:r>
              <a:rPr lang="en-US" sz="1400" dirty="0">
                <a:solidFill>
                  <a:schemeClr val="tx1"/>
                </a:solidFill>
              </a:rPr>
              <a:t>Governance, risk and viability disclosures support stewardship (Freeman, 1984)</a:t>
            </a:r>
            <a:endParaRPr lang="en-US" sz="1400" dirty="0"/>
          </a:p>
        </p:txBody>
      </p:sp>
      <p:sp>
        <p:nvSpPr>
          <p:cNvPr id="36" name="ar-limits"/>
          <p:cNvSpPr/>
          <p:nvPr/>
        </p:nvSpPr>
        <p:spPr>
          <a:xfrm>
            <a:off x="7040880" y="3886200"/>
            <a:ext cx="4572000" cy="2286000"/>
          </a:xfrm>
          <a:prstGeom prst="roundRect">
            <a:avLst>
              <a:gd name="adj" fmla="val 3200"/>
            </a:avLst>
          </a:prstGeom>
          <a:solidFill>
            <a:schemeClr val="bg2"/>
          </a:solidFill>
          <a:ln/>
        </p:spPr>
      </p:sp>
      <p:sp>
        <p:nvSpPr>
          <p:cNvPr id="37" name="Text 29"/>
          <p:cNvSpPr txBox="1"/>
          <p:nvPr/>
        </p:nvSpPr>
        <p:spPr>
          <a:xfrm>
            <a:off x="7269480" y="3995928"/>
            <a:ext cx="4114800" cy="365760"/>
          </a:xfrm>
          <a:prstGeom prst="rect">
            <a:avLst/>
          </a:prstGeom>
          <a:noFill/>
          <a:ln/>
        </p:spPr>
        <p:txBody>
          <a:bodyPr wrap="square" lIns="0" tIns="0" rIns="0" bIns="0" rtlCol="0" anchor="t"/>
          <a:lstStyle/>
          <a:p>
            <a:pPr indent="0" marL="0">
              <a:buNone/>
            </a:pPr>
            <a:r>
              <a:rPr lang="en-US" sz="1700" b="1" dirty="0">
                <a:solidFill>
                  <a:schemeClr val="accent6"/>
                </a:solidFill>
              </a:rPr>
              <a:t>Limitations</a:t>
            </a:r>
            <a:endParaRPr lang="en-US" sz="1700" dirty="0"/>
          </a:p>
        </p:txBody>
      </p:sp>
      <p:sp>
        <p:nvSpPr>
          <p:cNvPr id="38" name="Text 30"/>
          <p:cNvSpPr txBox="1"/>
          <p:nvPr/>
        </p:nvSpPr>
        <p:spPr>
          <a:xfrm>
            <a:off x="7269480" y="4389120"/>
            <a:ext cx="416052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Historic and published two months after year end; 216 pages long</a:t>
            </a:r>
            <a:endParaRPr lang="en-US" sz="1400" dirty="0"/>
          </a:p>
          <a:p>
            <a:pPr marL="342900" indent="-342900">
              <a:spcAft>
                <a:spcPts val="600"/>
              </a:spcAft>
              <a:buSzPct val="100000"/>
              <a:buChar char="•"/>
            </a:pPr>
            <a:r>
              <a:rPr lang="en-US" sz="1400" dirty="0">
                <a:solidFill>
                  <a:schemeClr val="tx1"/>
                </a:solidFill>
              </a:rPr>
              <a:t>Heavy use of 'adjusted' measures; internally built brand value is not recognised</a:t>
            </a:r>
            <a:endParaRPr lang="en-US" sz="1400" dirty="0"/>
          </a:p>
          <a:p>
            <a:pPr marL="342900" indent="-342900">
              <a:spcAft>
                <a:spcPts val="600"/>
              </a:spcAft>
              <a:buSzPct val="100000"/>
              <a:buChar char="•"/>
            </a:pPr>
            <a:r>
              <a:rPr lang="en-US" sz="1400" dirty="0">
                <a:solidFill>
                  <a:schemeClr val="tx1"/>
                </a:solidFill>
              </a:rPr>
              <a:t>Needs supplementing with interim results and market data</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Additional management strengths for investors</a:t>
            </a:r>
            <a:endParaRPr lang="en-US" sz="3400" dirty="0"/>
          </a:p>
        </p:txBody>
      </p:sp>
      <p:sp>
        <p:nvSpPr>
          <p:cNvPr id="3" name="ms-head-0"/>
          <p:cNvSpPr/>
          <p:nvPr/>
        </p:nvSpPr>
        <p:spPr>
          <a:xfrm>
            <a:off x="548640" y="1325880"/>
            <a:ext cx="5394960" cy="640080"/>
          </a:xfrm>
          <a:prstGeom prst="roundRect">
            <a:avLst>
              <a:gd name="adj" fmla="val 11429"/>
            </a:avLst>
          </a:prstGeom>
          <a:solidFill>
            <a:schemeClr val="tx2"/>
          </a:solidFill>
          <a:ln/>
        </p:spPr>
      </p:sp>
      <p:sp>
        <p:nvSpPr>
          <p:cNvPr id="4" name="ms-head-icon-0-circle"/>
          <p:cNvSpPr/>
          <p:nvPr/>
        </p:nvSpPr>
        <p:spPr>
          <a:xfrm>
            <a:off x="685800" y="1371600"/>
            <a:ext cx="548640" cy="548640"/>
          </a:xfrm>
          <a:prstGeom prst="ellipse">
            <a:avLst/>
          </a:prstGeom>
          <a:solidFill>
            <a:schemeClr val="accent1"/>
          </a:solidFill>
          <a:ln/>
        </p:spPr>
      </p:sp>
      <p:pic>
        <p:nvPicPr>
          <p:cNvPr id="5" name="ms-head-icon-0-glyph" descr="preencoded.png">    </p:cNvPr>
          <p:cNvPicPr>
            <a:picLocks noChangeAspect="1"/>
          </p:cNvPicPr>
          <p:nvPr/>
        </p:nvPicPr>
        <p:blipFill>
          <a:blip r:embed="rId1"/>
          <a:stretch>
            <a:fillRect/>
          </a:stretch>
        </p:blipFill>
        <p:spPr>
          <a:xfrm>
            <a:off x="817474" y="1503274"/>
            <a:ext cx="285293" cy="285293"/>
          </a:xfrm>
          <a:prstGeom prst="rect">
            <a:avLst/>
          </a:prstGeom>
        </p:spPr>
      </p:pic>
      <p:sp>
        <p:nvSpPr>
          <p:cNvPr id="6" name="Text 3"/>
          <p:cNvSpPr txBox="1"/>
          <p:nvPr/>
        </p:nvSpPr>
        <p:spPr>
          <a:xfrm>
            <a:off x="1417320" y="1371600"/>
            <a:ext cx="4389120" cy="548640"/>
          </a:xfrm>
          <a:prstGeom prst="rect">
            <a:avLst/>
          </a:prstGeom>
          <a:noFill/>
          <a:ln/>
        </p:spPr>
        <p:txBody>
          <a:bodyPr wrap="square" lIns="0" tIns="0" rIns="0" bIns="0" rtlCol="0" anchor="ctr"/>
          <a:lstStyle/>
          <a:p>
            <a:pPr indent="0" marL="0">
              <a:buNone/>
            </a:pPr>
            <a:r>
              <a:rPr lang="en-US" sz="1900" b="1" dirty="0">
                <a:solidFill>
                  <a:schemeClr val="bg1"/>
                </a:solidFill>
              </a:rPr>
              <a:t>Strategy and innovation</a:t>
            </a:r>
            <a:endParaRPr lang="en-US" sz="1900" dirty="0"/>
          </a:p>
        </p:txBody>
      </p:sp>
      <p:sp>
        <p:nvSpPr>
          <p:cNvPr id="7" name="ms-row-0-0"/>
          <p:cNvSpPr/>
          <p:nvPr/>
        </p:nvSpPr>
        <p:spPr>
          <a:xfrm>
            <a:off x="548640" y="2103120"/>
            <a:ext cx="5394960" cy="786384"/>
          </a:xfrm>
          <a:prstGeom prst="roundRect">
            <a:avLst>
              <a:gd name="adj" fmla="val 9302"/>
            </a:avLst>
          </a:prstGeom>
          <a:solidFill>
            <a:schemeClr val="bg2"/>
          </a:solidFill>
          <a:ln/>
        </p:spPr>
      </p:sp>
      <p:sp>
        <p:nvSpPr>
          <p:cNvPr id="8" name="ms-icon-0-0-circle"/>
          <p:cNvSpPr/>
          <p:nvPr/>
        </p:nvSpPr>
        <p:spPr>
          <a:xfrm>
            <a:off x="685800" y="2240280"/>
            <a:ext cx="512064" cy="512064"/>
          </a:xfrm>
          <a:prstGeom prst="ellipse">
            <a:avLst/>
          </a:prstGeom>
          <a:solidFill>
            <a:schemeClr val="accent1"/>
          </a:solidFill>
          <a:ln/>
        </p:spPr>
      </p:sp>
      <p:pic>
        <p:nvPicPr>
          <p:cNvPr id="9" name="ms-icon-0-0-glyph" descr="preencoded.png">    </p:cNvPr>
          <p:cNvPicPr>
            <a:picLocks noChangeAspect="1"/>
          </p:cNvPicPr>
          <p:nvPr/>
        </p:nvPicPr>
        <p:blipFill>
          <a:blip r:embed="rId2"/>
          <a:stretch>
            <a:fillRect/>
          </a:stretch>
        </p:blipFill>
        <p:spPr>
          <a:xfrm>
            <a:off x="808695" y="2363175"/>
            <a:ext cx="266273" cy="266273"/>
          </a:xfrm>
          <a:prstGeom prst="rect">
            <a:avLst/>
          </a:prstGeom>
        </p:spPr>
      </p:pic>
      <p:sp>
        <p:nvSpPr>
          <p:cNvPr id="10" name="Text 6"/>
          <p:cNvSpPr txBox="1"/>
          <p:nvPr/>
        </p:nvSpPr>
        <p:spPr>
          <a:xfrm>
            <a:off x="1371600" y="2167128"/>
            <a:ext cx="4434840" cy="301752"/>
          </a:xfrm>
          <a:prstGeom prst="rect">
            <a:avLst/>
          </a:prstGeom>
          <a:noFill/>
          <a:ln/>
        </p:spPr>
        <p:txBody>
          <a:bodyPr wrap="square" lIns="0" tIns="0" rIns="0" bIns="0" rtlCol="0" anchor="t"/>
          <a:lstStyle/>
          <a:p>
            <a:pPr indent="0" marL="0">
              <a:buNone/>
            </a:pPr>
            <a:r>
              <a:rPr lang="en-US" sz="1500" b="1" dirty="0">
                <a:solidFill>
                  <a:schemeClr val="tx2"/>
                </a:solidFill>
              </a:rPr>
              <a:t>Sharper portfolio</a:t>
            </a:r>
            <a:endParaRPr lang="en-US" sz="1500" dirty="0"/>
          </a:p>
        </p:txBody>
      </p:sp>
      <p:sp>
        <p:nvSpPr>
          <p:cNvPr id="11" name="Text 7"/>
          <p:cNvSpPr txBox="1"/>
          <p:nvPr/>
        </p:nvSpPr>
        <p:spPr>
          <a:xfrm>
            <a:off x="1371600" y="2468880"/>
            <a:ext cx="4434840" cy="384048"/>
          </a:xfrm>
          <a:prstGeom prst="rect">
            <a:avLst/>
          </a:prstGeom>
          <a:noFill/>
          <a:ln/>
        </p:spPr>
        <p:txBody>
          <a:bodyPr wrap="square" lIns="0" tIns="0" rIns="0" bIns="0" rtlCol="0" anchor="t"/>
          <a:lstStyle/>
          <a:p>
            <a:pPr indent="0" marL="0">
              <a:buNone/>
            </a:pPr>
            <a:r>
              <a:rPr lang="en-US" sz="1300" dirty="0">
                <a:solidFill>
                  <a:schemeClr val="tx1"/>
                </a:solidFill>
              </a:rPr>
              <a:t>11 Powerbrands now the majority of revenue; Essential Home sold</a:t>
            </a:r>
            <a:endParaRPr lang="en-US" sz="1300" dirty="0"/>
          </a:p>
        </p:txBody>
      </p:sp>
      <p:sp>
        <p:nvSpPr>
          <p:cNvPr id="12" name="ms-row-0-1"/>
          <p:cNvSpPr/>
          <p:nvPr/>
        </p:nvSpPr>
        <p:spPr>
          <a:xfrm>
            <a:off x="548640" y="2999232"/>
            <a:ext cx="5394960" cy="786384"/>
          </a:xfrm>
          <a:prstGeom prst="roundRect">
            <a:avLst>
              <a:gd name="adj" fmla="val 9302"/>
            </a:avLst>
          </a:prstGeom>
          <a:solidFill>
            <a:schemeClr val="bg2"/>
          </a:solidFill>
          <a:ln/>
        </p:spPr>
      </p:sp>
      <p:sp>
        <p:nvSpPr>
          <p:cNvPr id="13" name="ms-icon-0-1-circle"/>
          <p:cNvSpPr/>
          <p:nvPr/>
        </p:nvSpPr>
        <p:spPr>
          <a:xfrm>
            <a:off x="685800" y="3136392"/>
            <a:ext cx="512064" cy="512064"/>
          </a:xfrm>
          <a:prstGeom prst="ellipse">
            <a:avLst/>
          </a:prstGeom>
          <a:solidFill>
            <a:schemeClr val="accent1"/>
          </a:solidFill>
          <a:ln/>
        </p:spPr>
      </p:sp>
      <p:pic>
        <p:nvPicPr>
          <p:cNvPr id="14" name="ms-icon-0-1-glyph" descr="preencoded.png">    </p:cNvPr>
          <p:cNvPicPr>
            <a:picLocks noChangeAspect="1"/>
          </p:cNvPicPr>
          <p:nvPr/>
        </p:nvPicPr>
        <p:blipFill>
          <a:blip r:embed="rId3"/>
          <a:stretch>
            <a:fillRect/>
          </a:stretch>
        </p:blipFill>
        <p:spPr>
          <a:xfrm>
            <a:off x="808695" y="3259287"/>
            <a:ext cx="266273" cy="266273"/>
          </a:xfrm>
          <a:prstGeom prst="rect">
            <a:avLst/>
          </a:prstGeom>
        </p:spPr>
      </p:pic>
      <p:sp>
        <p:nvSpPr>
          <p:cNvPr id="15" name="Text 10"/>
          <p:cNvSpPr txBox="1"/>
          <p:nvPr/>
        </p:nvSpPr>
        <p:spPr>
          <a:xfrm>
            <a:off x="1371600" y="3063240"/>
            <a:ext cx="4434840" cy="301752"/>
          </a:xfrm>
          <a:prstGeom prst="rect">
            <a:avLst/>
          </a:prstGeom>
          <a:noFill/>
          <a:ln/>
        </p:spPr>
        <p:txBody>
          <a:bodyPr wrap="square" lIns="0" tIns="0" rIns="0" bIns="0" rtlCol="0" anchor="t"/>
          <a:lstStyle/>
          <a:p>
            <a:pPr indent="0" marL="0">
              <a:buNone/>
            </a:pPr>
            <a:r>
              <a:rPr lang="en-US" sz="1500" b="1" dirty="0">
                <a:solidFill>
                  <a:schemeClr val="tx2"/>
                </a:solidFill>
              </a:rPr>
              <a:t>Fuel for Growth</a:t>
            </a:r>
            <a:endParaRPr lang="en-US" sz="1500" dirty="0"/>
          </a:p>
        </p:txBody>
      </p:sp>
      <p:sp>
        <p:nvSpPr>
          <p:cNvPr id="16" name="Text 11"/>
          <p:cNvSpPr txBox="1"/>
          <p:nvPr/>
        </p:nvSpPr>
        <p:spPr>
          <a:xfrm>
            <a:off x="1371600" y="3364992"/>
            <a:ext cx="4434840" cy="384048"/>
          </a:xfrm>
          <a:prstGeom prst="rect">
            <a:avLst/>
          </a:prstGeom>
          <a:noFill/>
          <a:ln/>
        </p:spPr>
        <p:txBody>
          <a:bodyPr wrap="square" lIns="0" tIns="0" rIns="0" bIns="0" rtlCol="0" anchor="t"/>
          <a:lstStyle/>
          <a:p>
            <a:pPr indent="0" marL="0">
              <a:buNone/>
            </a:pPr>
            <a:r>
              <a:rPr lang="en-US" sz="1300" dirty="0">
                <a:solidFill>
                  <a:schemeClr val="tx1"/>
                </a:solidFill>
              </a:rPr>
              <a:t>Fixed costs cut from 21.8% to 19.4% of revenue in two years</a:t>
            </a:r>
            <a:endParaRPr lang="en-US" sz="1300" dirty="0"/>
          </a:p>
        </p:txBody>
      </p:sp>
      <p:sp>
        <p:nvSpPr>
          <p:cNvPr id="17" name="ms-row-0-2"/>
          <p:cNvSpPr/>
          <p:nvPr/>
        </p:nvSpPr>
        <p:spPr>
          <a:xfrm>
            <a:off x="548640" y="3895344"/>
            <a:ext cx="5394960" cy="786384"/>
          </a:xfrm>
          <a:prstGeom prst="roundRect">
            <a:avLst>
              <a:gd name="adj" fmla="val 9302"/>
            </a:avLst>
          </a:prstGeom>
          <a:solidFill>
            <a:schemeClr val="bg2"/>
          </a:solidFill>
          <a:ln/>
        </p:spPr>
      </p:sp>
      <p:sp>
        <p:nvSpPr>
          <p:cNvPr id="18" name="ms-icon-0-2-circle"/>
          <p:cNvSpPr/>
          <p:nvPr/>
        </p:nvSpPr>
        <p:spPr>
          <a:xfrm>
            <a:off x="685800" y="4032504"/>
            <a:ext cx="512064" cy="512064"/>
          </a:xfrm>
          <a:prstGeom prst="ellipse">
            <a:avLst/>
          </a:prstGeom>
          <a:solidFill>
            <a:schemeClr val="accent1"/>
          </a:solidFill>
          <a:ln/>
        </p:spPr>
      </p:sp>
      <p:pic>
        <p:nvPicPr>
          <p:cNvPr id="19" name="ms-icon-0-2-glyph" descr="preencoded.png">    </p:cNvPr>
          <p:cNvPicPr>
            <a:picLocks noChangeAspect="1"/>
          </p:cNvPicPr>
          <p:nvPr/>
        </p:nvPicPr>
        <p:blipFill>
          <a:blip r:embed="rId4"/>
          <a:stretch>
            <a:fillRect/>
          </a:stretch>
        </p:blipFill>
        <p:spPr>
          <a:xfrm>
            <a:off x="808695" y="4155399"/>
            <a:ext cx="266273" cy="266273"/>
          </a:xfrm>
          <a:prstGeom prst="rect">
            <a:avLst/>
          </a:prstGeom>
        </p:spPr>
      </p:pic>
      <p:sp>
        <p:nvSpPr>
          <p:cNvPr id="20" name="Text 14"/>
          <p:cNvSpPr txBox="1"/>
          <p:nvPr/>
        </p:nvSpPr>
        <p:spPr>
          <a:xfrm>
            <a:off x="1371600" y="3959352"/>
            <a:ext cx="4434840" cy="301752"/>
          </a:xfrm>
          <a:prstGeom prst="rect">
            <a:avLst/>
          </a:prstGeom>
          <a:noFill/>
          <a:ln/>
        </p:spPr>
        <p:txBody>
          <a:bodyPr wrap="square" lIns="0" tIns="0" rIns="0" bIns="0" rtlCol="0" anchor="t"/>
          <a:lstStyle/>
          <a:p>
            <a:pPr indent="0" marL="0">
              <a:buNone/>
            </a:pPr>
            <a:r>
              <a:rPr lang="en-US" sz="1500" b="1" dirty="0">
                <a:solidFill>
                  <a:schemeClr val="tx2"/>
                </a:solidFill>
              </a:rPr>
              <a:t>Science-led innovation</a:t>
            </a:r>
            <a:endParaRPr lang="en-US" sz="1500" dirty="0"/>
          </a:p>
        </p:txBody>
      </p:sp>
      <p:sp>
        <p:nvSpPr>
          <p:cNvPr id="21" name="Text 15"/>
          <p:cNvSpPr txBox="1"/>
          <p:nvPr/>
        </p:nvSpPr>
        <p:spPr>
          <a:xfrm>
            <a:off x="1371600" y="4261104"/>
            <a:ext cx="4434840" cy="384048"/>
          </a:xfrm>
          <a:prstGeom prst="rect">
            <a:avLst/>
          </a:prstGeom>
          <a:noFill/>
          <a:ln/>
        </p:spPr>
        <p:txBody>
          <a:bodyPr wrap="square" lIns="0" tIns="0" rIns="0" bIns="0" rtlCol="0" anchor="t"/>
          <a:lstStyle/>
          <a:p>
            <a:pPr indent="0" marL="0">
              <a:buNone/>
            </a:pPr>
            <a:r>
              <a:rPr lang="en-US" sz="1300" dirty="0">
                <a:solidFill>
                  <a:schemeClr val="tx1"/>
                </a:solidFill>
              </a:rPr>
              <a:t>Dettol Activ Botany, Mucinex 12HR Cold &amp; Fever, Durex Intensity</a:t>
            </a:r>
            <a:endParaRPr lang="en-US" sz="1300" dirty="0"/>
          </a:p>
        </p:txBody>
      </p:sp>
      <p:sp>
        <p:nvSpPr>
          <p:cNvPr id="22" name="ms-row-0-3"/>
          <p:cNvSpPr/>
          <p:nvPr/>
        </p:nvSpPr>
        <p:spPr>
          <a:xfrm>
            <a:off x="548640" y="4791456"/>
            <a:ext cx="5394960" cy="786384"/>
          </a:xfrm>
          <a:prstGeom prst="roundRect">
            <a:avLst>
              <a:gd name="adj" fmla="val 9302"/>
            </a:avLst>
          </a:prstGeom>
          <a:solidFill>
            <a:schemeClr val="bg2"/>
          </a:solidFill>
          <a:ln/>
        </p:spPr>
      </p:sp>
      <p:sp>
        <p:nvSpPr>
          <p:cNvPr id="23" name="ms-icon-0-3-circle"/>
          <p:cNvSpPr/>
          <p:nvPr/>
        </p:nvSpPr>
        <p:spPr>
          <a:xfrm>
            <a:off x="685800" y="4928616"/>
            <a:ext cx="512064" cy="512064"/>
          </a:xfrm>
          <a:prstGeom prst="ellipse">
            <a:avLst/>
          </a:prstGeom>
          <a:solidFill>
            <a:schemeClr val="accent1"/>
          </a:solidFill>
          <a:ln/>
        </p:spPr>
      </p:sp>
      <p:pic>
        <p:nvPicPr>
          <p:cNvPr id="24" name="ms-icon-0-3-glyph" descr="preencoded.png">    </p:cNvPr>
          <p:cNvPicPr>
            <a:picLocks noChangeAspect="1"/>
          </p:cNvPicPr>
          <p:nvPr/>
        </p:nvPicPr>
        <p:blipFill>
          <a:blip r:embed="rId5"/>
          <a:stretch>
            <a:fillRect/>
          </a:stretch>
        </p:blipFill>
        <p:spPr>
          <a:xfrm>
            <a:off x="808695" y="5051511"/>
            <a:ext cx="266273" cy="266273"/>
          </a:xfrm>
          <a:prstGeom prst="rect">
            <a:avLst/>
          </a:prstGeom>
        </p:spPr>
      </p:pic>
      <p:sp>
        <p:nvSpPr>
          <p:cNvPr id="25" name="Text 18"/>
          <p:cNvSpPr txBox="1"/>
          <p:nvPr/>
        </p:nvSpPr>
        <p:spPr>
          <a:xfrm>
            <a:off x="1371600" y="4855464"/>
            <a:ext cx="4434840" cy="301752"/>
          </a:xfrm>
          <a:prstGeom prst="rect">
            <a:avLst/>
          </a:prstGeom>
          <a:noFill/>
          <a:ln/>
        </p:spPr>
        <p:txBody>
          <a:bodyPr wrap="square" lIns="0" tIns="0" rIns="0" bIns="0" rtlCol="0" anchor="t"/>
          <a:lstStyle/>
          <a:p>
            <a:pPr indent="0" marL="0">
              <a:buNone/>
            </a:pPr>
            <a:r>
              <a:rPr lang="en-US" sz="1500" b="1" dirty="0">
                <a:solidFill>
                  <a:schemeClr val="tx2"/>
                </a:solidFill>
              </a:rPr>
              <a:t>Emerging markets and AI</a:t>
            </a:r>
            <a:endParaRPr lang="en-US" sz="1500" dirty="0"/>
          </a:p>
        </p:txBody>
      </p:sp>
      <p:sp>
        <p:nvSpPr>
          <p:cNvPr id="26" name="Text 19"/>
          <p:cNvSpPr txBox="1"/>
          <p:nvPr/>
        </p:nvSpPr>
        <p:spPr>
          <a:xfrm>
            <a:off x="1371600" y="5157216"/>
            <a:ext cx="4434840" cy="384048"/>
          </a:xfrm>
          <a:prstGeom prst="rect">
            <a:avLst/>
          </a:prstGeom>
          <a:noFill/>
          <a:ln/>
        </p:spPr>
        <p:txBody>
          <a:bodyPr wrap="square" lIns="0" tIns="0" rIns="0" bIns="0" rtlCol="0" anchor="t"/>
          <a:lstStyle/>
          <a:p>
            <a:pPr indent="0" marL="0">
              <a:buNone/>
            </a:pPr>
            <a:r>
              <a:rPr lang="en-US" sz="1300" dirty="0">
                <a:solidFill>
                  <a:schemeClr val="tx1"/>
                </a:solidFill>
              </a:rPr>
              <a:t>+14.6% LFL growth in 2025; AI cuts concept time by 70%</a:t>
            </a:r>
            <a:endParaRPr lang="en-US" sz="1300" dirty="0"/>
          </a:p>
        </p:txBody>
      </p:sp>
      <p:sp>
        <p:nvSpPr>
          <p:cNvPr id="27" name="Text 20"/>
          <p:cNvSpPr txBox="1"/>
          <p:nvPr/>
        </p:nvSpPr>
        <p:spPr>
          <a:xfrm>
            <a:off x="548640" y="5715000"/>
            <a:ext cx="5394960" cy="502920"/>
          </a:xfrm>
          <a:prstGeom prst="rect">
            <a:avLst/>
          </a:prstGeom>
          <a:noFill/>
          <a:ln/>
        </p:spPr>
        <p:txBody>
          <a:bodyPr wrap="square" lIns="0" tIns="0" rIns="0" bIns="0" rtlCol="0" anchor="t"/>
          <a:lstStyle/>
          <a:p>
            <a:pPr indent="0" marL="0">
              <a:buNone/>
            </a:pPr>
            <a:r>
              <a:rPr lang="en-US" sz="1200" i="1" dirty="0">
                <a:solidFill>
                  <a:schemeClr val="accent3"/>
                </a:solidFill>
              </a:rPr>
              <a:t>Valuable, rare, hard-to-imitate brands sustain premium margins (Barney, 1991; Johnson et al., 2020)</a:t>
            </a:r>
            <a:endParaRPr lang="en-US" sz="1200" dirty="0"/>
          </a:p>
        </p:txBody>
      </p:sp>
      <p:sp>
        <p:nvSpPr>
          <p:cNvPr id="28" name="ms-head-1"/>
          <p:cNvSpPr/>
          <p:nvPr/>
        </p:nvSpPr>
        <p:spPr>
          <a:xfrm>
            <a:off x="6217920" y="1325880"/>
            <a:ext cx="5394960" cy="640080"/>
          </a:xfrm>
          <a:prstGeom prst="roundRect">
            <a:avLst>
              <a:gd name="adj" fmla="val 11429"/>
            </a:avLst>
          </a:prstGeom>
          <a:solidFill>
            <a:schemeClr val="tx2"/>
          </a:solidFill>
          <a:ln/>
        </p:spPr>
      </p:sp>
      <p:sp>
        <p:nvSpPr>
          <p:cNvPr id="29" name="ms-head-icon-1-circle"/>
          <p:cNvSpPr/>
          <p:nvPr/>
        </p:nvSpPr>
        <p:spPr>
          <a:xfrm>
            <a:off x="6355080" y="1371600"/>
            <a:ext cx="548640" cy="548640"/>
          </a:xfrm>
          <a:prstGeom prst="ellipse">
            <a:avLst/>
          </a:prstGeom>
          <a:solidFill>
            <a:schemeClr val="accent1"/>
          </a:solidFill>
          <a:ln/>
        </p:spPr>
      </p:sp>
      <p:pic>
        <p:nvPicPr>
          <p:cNvPr id="30" name="ms-head-icon-1-glyph" descr="preencoded.png">    </p:cNvPr>
          <p:cNvPicPr>
            <a:picLocks noChangeAspect="1"/>
          </p:cNvPicPr>
          <p:nvPr/>
        </p:nvPicPr>
        <p:blipFill>
          <a:blip r:embed="rId6"/>
          <a:stretch>
            <a:fillRect/>
          </a:stretch>
        </p:blipFill>
        <p:spPr>
          <a:xfrm>
            <a:off x="6486754" y="1503274"/>
            <a:ext cx="285293" cy="285293"/>
          </a:xfrm>
          <a:prstGeom prst="rect">
            <a:avLst/>
          </a:prstGeom>
        </p:spPr>
      </p:pic>
      <p:sp>
        <p:nvSpPr>
          <p:cNvPr id="31" name="Text 23"/>
          <p:cNvSpPr txBox="1"/>
          <p:nvPr/>
        </p:nvSpPr>
        <p:spPr>
          <a:xfrm>
            <a:off x="7086600" y="1371600"/>
            <a:ext cx="4389120" cy="548640"/>
          </a:xfrm>
          <a:prstGeom prst="rect">
            <a:avLst/>
          </a:prstGeom>
          <a:noFill/>
          <a:ln/>
        </p:spPr>
        <p:txBody>
          <a:bodyPr wrap="square" lIns="0" tIns="0" rIns="0" bIns="0" rtlCol="0" anchor="ctr"/>
          <a:lstStyle/>
          <a:p>
            <a:pPr indent="0" marL="0">
              <a:buNone/>
            </a:pPr>
            <a:r>
              <a:rPr lang="en-US" sz="1900" b="1" dirty="0">
                <a:solidFill>
                  <a:schemeClr val="bg1"/>
                </a:solidFill>
              </a:rPr>
              <a:t>Risk management</a:t>
            </a:r>
            <a:endParaRPr lang="en-US" sz="1900" dirty="0"/>
          </a:p>
        </p:txBody>
      </p:sp>
      <p:sp>
        <p:nvSpPr>
          <p:cNvPr id="32" name="ms-row-1-0"/>
          <p:cNvSpPr/>
          <p:nvPr/>
        </p:nvSpPr>
        <p:spPr>
          <a:xfrm>
            <a:off x="6217920" y="2103120"/>
            <a:ext cx="5394960" cy="786384"/>
          </a:xfrm>
          <a:prstGeom prst="roundRect">
            <a:avLst>
              <a:gd name="adj" fmla="val 9302"/>
            </a:avLst>
          </a:prstGeom>
          <a:solidFill>
            <a:schemeClr val="bg2"/>
          </a:solidFill>
          <a:ln/>
        </p:spPr>
      </p:sp>
      <p:sp>
        <p:nvSpPr>
          <p:cNvPr id="33" name="ms-icon-1-0-circle"/>
          <p:cNvSpPr/>
          <p:nvPr/>
        </p:nvSpPr>
        <p:spPr>
          <a:xfrm>
            <a:off x="6355080" y="2240280"/>
            <a:ext cx="512064" cy="512064"/>
          </a:xfrm>
          <a:prstGeom prst="ellipse">
            <a:avLst/>
          </a:prstGeom>
          <a:solidFill>
            <a:schemeClr val="accent1"/>
          </a:solidFill>
          <a:ln/>
        </p:spPr>
      </p:sp>
      <p:pic>
        <p:nvPicPr>
          <p:cNvPr id="34" name="ms-icon-1-0-glyph" descr="preencoded.png">    </p:cNvPr>
          <p:cNvPicPr>
            <a:picLocks noChangeAspect="1"/>
          </p:cNvPicPr>
          <p:nvPr/>
        </p:nvPicPr>
        <p:blipFill>
          <a:blip r:embed="rId7"/>
          <a:stretch>
            <a:fillRect/>
          </a:stretch>
        </p:blipFill>
        <p:spPr>
          <a:xfrm>
            <a:off x="6477975" y="2363175"/>
            <a:ext cx="266273" cy="266273"/>
          </a:xfrm>
          <a:prstGeom prst="rect">
            <a:avLst/>
          </a:prstGeom>
        </p:spPr>
      </p:pic>
      <p:sp>
        <p:nvSpPr>
          <p:cNvPr id="35" name="Text 26"/>
          <p:cNvSpPr txBox="1"/>
          <p:nvPr/>
        </p:nvSpPr>
        <p:spPr>
          <a:xfrm>
            <a:off x="7040880" y="2167128"/>
            <a:ext cx="4434840" cy="301752"/>
          </a:xfrm>
          <a:prstGeom prst="rect">
            <a:avLst/>
          </a:prstGeom>
          <a:noFill/>
          <a:ln/>
        </p:spPr>
        <p:txBody>
          <a:bodyPr wrap="square" lIns="0" tIns="0" rIns="0" bIns="0" rtlCol="0" anchor="t"/>
          <a:lstStyle/>
          <a:p>
            <a:pPr indent="0" marL="0">
              <a:buNone/>
            </a:pPr>
            <a:r>
              <a:rPr lang="en-US" sz="1500" b="1" dirty="0">
                <a:solidFill>
                  <a:schemeClr val="tx2"/>
                </a:solidFill>
              </a:rPr>
              <a:t>Clear governance</a:t>
            </a:r>
            <a:endParaRPr lang="en-US" sz="1500" dirty="0"/>
          </a:p>
        </p:txBody>
      </p:sp>
      <p:sp>
        <p:nvSpPr>
          <p:cNvPr id="36" name="Text 27"/>
          <p:cNvSpPr txBox="1"/>
          <p:nvPr/>
        </p:nvSpPr>
        <p:spPr>
          <a:xfrm>
            <a:off x="7040880" y="2468880"/>
            <a:ext cx="4434840" cy="384048"/>
          </a:xfrm>
          <a:prstGeom prst="rect">
            <a:avLst/>
          </a:prstGeom>
          <a:noFill/>
          <a:ln/>
        </p:spPr>
        <p:txBody>
          <a:bodyPr wrap="square" lIns="0" tIns="0" rIns="0" bIns="0" rtlCol="0" anchor="t"/>
          <a:lstStyle/>
          <a:p>
            <a:pPr indent="0" marL="0">
              <a:buNone/>
            </a:pPr>
            <a:r>
              <a:rPr lang="en-US" sz="1300" dirty="0">
                <a:solidFill>
                  <a:schemeClr val="tx1"/>
                </a:solidFill>
              </a:rPr>
              <a:t>Board sets appetite; Audit Committee; named executive owner per risk</a:t>
            </a:r>
            <a:endParaRPr lang="en-US" sz="1300" dirty="0"/>
          </a:p>
        </p:txBody>
      </p:sp>
      <p:sp>
        <p:nvSpPr>
          <p:cNvPr id="37" name="ms-row-1-1"/>
          <p:cNvSpPr/>
          <p:nvPr/>
        </p:nvSpPr>
        <p:spPr>
          <a:xfrm>
            <a:off x="6217920" y="2999232"/>
            <a:ext cx="5394960" cy="786384"/>
          </a:xfrm>
          <a:prstGeom prst="roundRect">
            <a:avLst>
              <a:gd name="adj" fmla="val 9302"/>
            </a:avLst>
          </a:prstGeom>
          <a:solidFill>
            <a:schemeClr val="bg2"/>
          </a:solidFill>
          <a:ln/>
        </p:spPr>
      </p:sp>
      <p:sp>
        <p:nvSpPr>
          <p:cNvPr id="38" name="ms-icon-1-1-circle"/>
          <p:cNvSpPr/>
          <p:nvPr/>
        </p:nvSpPr>
        <p:spPr>
          <a:xfrm>
            <a:off x="6355080" y="3136392"/>
            <a:ext cx="512064" cy="512064"/>
          </a:xfrm>
          <a:prstGeom prst="ellipse">
            <a:avLst/>
          </a:prstGeom>
          <a:solidFill>
            <a:schemeClr val="accent1"/>
          </a:solidFill>
          <a:ln/>
        </p:spPr>
      </p:sp>
      <p:pic>
        <p:nvPicPr>
          <p:cNvPr id="39" name="ms-icon-1-1-glyph" descr="preencoded.png">    </p:cNvPr>
          <p:cNvPicPr>
            <a:picLocks noChangeAspect="1"/>
          </p:cNvPicPr>
          <p:nvPr/>
        </p:nvPicPr>
        <p:blipFill>
          <a:blip r:embed="rId8"/>
          <a:stretch>
            <a:fillRect/>
          </a:stretch>
        </p:blipFill>
        <p:spPr>
          <a:xfrm>
            <a:off x="6477975" y="3259287"/>
            <a:ext cx="266273" cy="266273"/>
          </a:xfrm>
          <a:prstGeom prst="rect">
            <a:avLst/>
          </a:prstGeom>
        </p:spPr>
      </p:pic>
      <p:sp>
        <p:nvSpPr>
          <p:cNvPr id="40" name="Text 30"/>
          <p:cNvSpPr txBox="1"/>
          <p:nvPr/>
        </p:nvSpPr>
        <p:spPr>
          <a:xfrm>
            <a:off x="7040880" y="3063240"/>
            <a:ext cx="4434840" cy="301752"/>
          </a:xfrm>
          <a:prstGeom prst="rect">
            <a:avLst/>
          </a:prstGeom>
          <a:noFill/>
          <a:ln/>
        </p:spPr>
        <p:txBody>
          <a:bodyPr wrap="square" lIns="0" tIns="0" rIns="0" bIns="0" rtlCol="0" anchor="t"/>
          <a:lstStyle/>
          <a:p>
            <a:pPr indent="0" marL="0">
              <a:buNone/>
            </a:pPr>
            <a:r>
              <a:rPr lang="en-US" sz="1500" b="1" dirty="0">
                <a:solidFill>
                  <a:schemeClr val="tx2"/>
                </a:solidFill>
              </a:rPr>
              <a:t>Risks named openly</a:t>
            </a:r>
            <a:endParaRPr lang="en-US" sz="1500" dirty="0"/>
          </a:p>
        </p:txBody>
      </p:sp>
      <p:sp>
        <p:nvSpPr>
          <p:cNvPr id="41" name="Text 31"/>
          <p:cNvSpPr txBox="1"/>
          <p:nvPr/>
        </p:nvSpPr>
        <p:spPr>
          <a:xfrm>
            <a:off x="7040880" y="3364992"/>
            <a:ext cx="4434840" cy="384048"/>
          </a:xfrm>
          <a:prstGeom prst="rect">
            <a:avLst/>
          </a:prstGeom>
          <a:noFill/>
          <a:ln/>
        </p:spPr>
        <p:txBody>
          <a:bodyPr wrap="square" lIns="0" tIns="0" rIns="0" bIns="0" rtlCol="0" anchor="t"/>
          <a:lstStyle/>
          <a:p>
            <a:pPr indent="0" marL="0">
              <a:buNone/>
            </a:pPr>
            <a:r>
              <a:rPr lang="en-US" sz="1300" dirty="0">
                <a:solidFill>
                  <a:schemeClr val="tx1"/>
                </a:solidFill>
              </a:rPr>
              <a:t>Product integrity, supply chain, cyber security, geopolitics</a:t>
            </a:r>
            <a:endParaRPr lang="en-US" sz="1300" dirty="0"/>
          </a:p>
        </p:txBody>
      </p:sp>
      <p:sp>
        <p:nvSpPr>
          <p:cNvPr id="42" name="ms-row-1-2"/>
          <p:cNvSpPr/>
          <p:nvPr/>
        </p:nvSpPr>
        <p:spPr>
          <a:xfrm>
            <a:off x="6217920" y="3895344"/>
            <a:ext cx="5394960" cy="786384"/>
          </a:xfrm>
          <a:prstGeom prst="roundRect">
            <a:avLst>
              <a:gd name="adj" fmla="val 9302"/>
            </a:avLst>
          </a:prstGeom>
          <a:solidFill>
            <a:schemeClr val="bg2"/>
          </a:solidFill>
          <a:ln/>
        </p:spPr>
      </p:sp>
      <p:sp>
        <p:nvSpPr>
          <p:cNvPr id="43" name="ms-icon-1-2-circle"/>
          <p:cNvSpPr/>
          <p:nvPr/>
        </p:nvSpPr>
        <p:spPr>
          <a:xfrm>
            <a:off x="6355080" y="4032504"/>
            <a:ext cx="512064" cy="512064"/>
          </a:xfrm>
          <a:prstGeom prst="ellipse">
            <a:avLst/>
          </a:prstGeom>
          <a:solidFill>
            <a:schemeClr val="accent1"/>
          </a:solidFill>
          <a:ln/>
        </p:spPr>
      </p:sp>
      <p:pic>
        <p:nvPicPr>
          <p:cNvPr id="44" name="ms-icon-1-2-glyph" descr="preencoded.png">    </p:cNvPr>
          <p:cNvPicPr>
            <a:picLocks noChangeAspect="1"/>
          </p:cNvPicPr>
          <p:nvPr/>
        </p:nvPicPr>
        <p:blipFill>
          <a:blip r:embed="rId9"/>
          <a:stretch>
            <a:fillRect/>
          </a:stretch>
        </p:blipFill>
        <p:spPr>
          <a:xfrm>
            <a:off x="6477975" y="4155399"/>
            <a:ext cx="266273" cy="266273"/>
          </a:xfrm>
          <a:prstGeom prst="rect">
            <a:avLst/>
          </a:prstGeom>
        </p:spPr>
      </p:pic>
      <p:sp>
        <p:nvSpPr>
          <p:cNvPr id="45" name="Text 34"/>
          <p:cNvSpPr txBox="1"/>
          <p:nvPr/>
        </p:nvSpPr>
        <p:spPr>
          <a:xfrm>
            <a:off x="7040880" y="3959352"/>
            <a:ext cx="4434840" cy="301752"/>
          </a:xfrm>
          <a:prstGeom prst="rect">
            <a:avLst/>
          </a:prstGeom>
          <a:noFill/>
          <a:ln/>
        </p:spPr>
        <p:txBody>
          <a:bodyPr wrap="square" lIns="0" tIns="0" rIns="0" bIns="0" rtlCol="0" anchor="t"/>
          <a:lstStyle/>
          <a:p>
            <a:pPr indent="0" marL="0">
              <a:buNone/>
            </a:pPr>
            <a:r>
              <a:rPr lang="en-US" sz="1500" b="1" dirty="0">
                <a:solidFill>
                  <a:schemeClr val="tx2"/>
                </a:solidFill>
              </a:rPr>
              <a:t>Financial resilience</a:t>
            </a:r>
            <a:endParaRPr lang="en-US" sz="1500" dirty="0"/>
          </a:p>
        </p:txBody>
      </p:sp>
      <p:sp>
        <p:nvSpPr>
          <p:cNvPr id="46" name="Text 35"/>
          <p:cNvSpPr txBox="1"/>
          <p:nvPr/>
        </p:nvSpPr>
        <p:spPr>
          <a:xfrm>
            <a:off x="7040880" y="4261104"/>
            <a:ext cx="4434840" cy="384048"/>
          </a:xfrm>
          <a:prstGeom prst="rect">
            <a:avLst/>
          </a:prstGeom>
          <a:noFill/>
          <a:ln/>
        </p:spPr>
        <p:txBody>
          <a:bodyPr wrap="square" lIns="0" tIns="0" rIns="0" bIns="0" rtlCol="0" anchor="t"/>
          <a:lstStyle/>
          <a:p>
            <a:pPr indent="0" marL="0">
              <a:buNone/>
            </a:pPr>
            <a:r>
              <a:rPr lang="en-US" sz="1300" dirty="0">
                <a:solidFill>
                  <a:schemeClr val="tx1"/>
                </a:solidFill>
              </a:rPr>
              <a:t>£4.4bn undrawn facilities; three-year viability statement</a:t>
            </a:r>
            <a:endParaRPr lang="en-US" sz="1300" dirty="0"/>
          </a:p>
        </p:txBody>
      </p:sp>
      <p:sp>
        <p:nvSpPr>
          <p:cNvPr id="47" name="ms-row-1-3"/>
          <p:cNvSpPr/>
          <p:nvPr/>
        </p:nvSpPr>
        <p:spPr>
          <a:xfrm>
            <a:off x="6217920" y="4791456"/>
            <a:ext cx="5394960" cy="786384"/>
          </a:xfrm>
          <a:prstGeom prst="roundRect">
            <a:avLst>
              <a:gd name="adj" fmla="val 9302"/>
            </a:avLst>
          </a:prstGeom>
          <a:solidFill>
            <a:schemeClr val="bg2"/>
          </a:solidFill>
          <a:ln/>
        </p:spPr>
      </p:sp>
      <p:sp>
        <p:nvSpPr>
          <p:cNvPr id="48" name="ms-icon-1-3-circle"/>
          <p:cNvSpPr/>
          <p:nvPr/>
        </p:nvSpPr>
        <p:spPr>
          <a:xfrm>
            <a:off x="6355080" y="4928616"/>
            <a:ext cx="512064" cy="512064"/>
          </a:xfrm>
          <a:prstGeom prst="ellipse">
            <a:avLst/>
          </a:prstGeom>
          <a:solidFill>
            <a:schemeClr val="accent1"/>
          </a:solidFill>
          <a:ln/>
        </p:spPr>
      </p:sp>
      <p:pic>
        <p:nvPicPr>
          <p:cNvPr id="49" name="ms-icon-1-3-glyph" descr="preencoded.png">    </p:cNvPr>
          <p:cNvPicPr>
            <a:picLocks noChangeAspect="1"/>
          </p:cNvPicPr>
          <p:nvPr/>
        </p:nvPicPr>
        <p:blipFill>
          <a:blip r:embed="rId10"/>
          <a:stretch>
            <a:fillRect/>
          </a:stretch>
        </p:blipFill>
        <p:spPr>
          <a:xfrm>
            <a:off x="6477975" y="5051511"/>
            <a:ext cx="266273" cy="266273"/>
          </a:xfrm>
          <a:prstGeom prst="rect">
            <a:avLst/>
          </a:prstGeom>
        </p:spPr>
      </p:pic>
      <p:sp>
        <p:nvSpPr>
          <p:cNvPr id="50" name="Text 38"/>
          <p:cNvSpPr txBox="1"/>
          <p:nvPr/>
        </p:nvSpPr>
        <p:spPr>
          <a:xfrm>
            <a:off x="7040880" y="4855464"/>
            <a:ext cx="4434840" cy="301752"/>
          </a:xfrm>
          <a:prstGeom prst="rect">
            <a:avLst/>
          </a:prstGeom>
          <a:noFill/>
          <a:ln/>
        </p:spPr>
        <p:txBody>
          <a:bodyPr wrap="square" lIns="0" tIns="0" rIns="0" bIns="0" rtlCol="0" anchor="t"/>
          <a:lstStyle/>
          <a:p>
            <a:pPr indent="0" marL="0">
              <a:buNone/>
            </a:pPr>
            <a:r>
              <a:rPr lang="en-US" sz="1500" b="1" dirty="0">
                <a:solidFill>
                  <a:schemeClr val="tx2"/>
                </a:solidFill>
              </a:rPr>
              <a:t>Proven in practice</a:t>
            </a:r>
            <a:endParaRPr lang="en-US" sz="1500" dirty="0"/>
          </a:p>
        </p:txBody>
      </p:sp>
      <p:sp>
        <p:nvSpPr>
          <p:cNvPr id="51" name="Text 39"/>
          <p:cNvSpPr txBox="1"/>
          <p:nvPr/>
        </p:nvSpPr>
        <p:spPr>
          <a:xfrm>
            <a:off x="7040880" y="5157216"/>
            <a:ext cx="4434840" cy="384048"/>
          </a:xfrm>
          <a:prstGeom prst="rect">
            <a:avLst/>
          </a:prstGeom>
          <a:noFill/>
          <a:ln/>
        </p:spPr>
        <p:txBody>
          <a:bodyPr wrap="square" lIns="0" tIns="0" rIns="0" bIns="0" rtlCol="0" anchor="t"/>
          <a:lstStyle/>
          <a:p>
            <a:pPr indent="0" marL="0">
              <a:buNone/>
            </a:pPr>
            <a:r>
              <a:rPr lang="en-US" sz="1300" dirty="0">
                <a:solidFill>
                  <a:schemeClr val="tx1"/>
                </a:solidFill>
              </a:rPr>
              <a:t>Middle East recovery, Russia sanctions contained; NEC verdict under appeal</a:t>
            </a:r>
            <a:endParaRPr lang="en-US" sz="1300" dirty="0"/>
          </a:p>
        </p:txBody>
      </p:sp>
      <p:sp>
        <p:nvSpPr>
          <p:cNvPr id="52" name="Text 40"/>
          <p:cNvSpPr txBox="1"/>
          <p:nvPr/>
        </p:nvSpPr>
        <p:spPr>
          <a:xfrm>
            <a:off x="6217920" y="5715000"/>
            <a:ext cx="5394960" cy="502920"/>
          </a:xfrm>
          <a:prstGeom prst="rect">
            <a:avLst/>
          </a:prstGeom>
          <a:noFill/>
          <a:ln/>
        </p:spPr>
        <p:txBody>
          <a:bodyPr wrap="square" lIns="0" tIns="0" rIns="0" bIns="0" rtlCol="0" anchor="t"/>
          <a:lstStyle/>
          <a:p>
            <a:pPr indent="0" marL="0">
              <a:buNone/>
            </a:pPr>
            <a:r>
              <a:rPr lang="en-US" sz="1200" i="1" dirty="0">
                <a:solidFill>
                  <a:schemeClr val="accent3"/>
                </a:solidFill>
              </a:rPr>
              <a:t>Lower volatility of returns supports a lower cost of capital (Brealey, Myers and Allen, 2023)</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31520" y="502920"/>
            <a:ext cx="10698480" cy="777240"/>
          </a:xfrm>
          <a:prstGeom prst="rect">
            <a:avLst/>
          </a:prstGeom>
          <a:noFill/>
          <a:ln/>
        </p:spPr>
        <p:txBody>
          <a:bodyPr wrap="square" lIns="0" tIns="0" rIns="0" bIns="0" rtlCol="0" anchor="t"/>
          <a:lstStyle/>
          <a:p>
            <a:pPr indent="0" marL="0">
              <a:buNone/>
            </a:pPr>
            <a:r>
              <a:rPr lang="en-US" sz="3600" b="1" dirty="0">
                <a:solidFill>
                  <a:schemeClr val="bg1"/>
                </a:solidFill>
                <a:latin typeface="Cambria" pitchFamily="34" charset="0"/>
                <a:ea typeface="Cambria" pitchFamily="34" charset="-122"/>
                <a:cs typeface="Cambria" pitchFamily="34" charset="-120"/>
              </a:rPr>
              <a:t>Recommendation to potential investors</a:t>
            </a:r>
            <a:endParaRPr lang="en-US" sz="3600" dirty="0"/>
          </a:p>
        </p:txBody>
      </p:sp>
      <p:sp>
        <p:nvSpPr>
          <p:cNvPr id="3" name="Text 1"/>
          <p:cNvSpPr txBox="1"/>
          <p:nvPr/>
        </p:nvSpPr>
        <p:spPr>
          <a:xfrm>
            <a:off x="731520" y="1280160"/>
            <a:ext cx="10698480" cy="502920"/>
          </a:xfrm>
          <a:prstGeom prst="rect">
            <a:avLst/>
          </a:prstGeom>
          <a:noFill/>
          <a:ln/>
        </p:spPr>
        <p:txBody>
          <a:bodyPr wrap="square" lIns="0" tIns="0" rIns="0" bIns="0" rtlCol="0" anchor="t"/>
          <a:lstStyle/>
          <a:p>
            <a:pPr indent="0" marL="0">
              <a:buNone/>
            </a:pPr>
            <a:r>
              <a:rPr lang="en-US" sz="2000" dirty="0">
                <a:solidFill>
                  <a:schemeClr val="accent4"/>
                </a:solidFill>
              </a:rPr>
              <a:t>Accumulate: a quality, income-generating business at a discount to peers</a:t>
            </a:r>
            <a:endParaRPr lang="en-US" sz="2000" dirty="0"/>
          </a:p>
        </p:txBody>
      </p:sp>
      <p:sp>
        <p:nvSpPr>
          <p:cNvPr id="4" name="rec-card-0"/>
          <p:cNvSpPr/>
          <p:nvPr/>
        </p:nvSpPr>
        <p:spPr>
          <a:xfrm>
            <a:off x="731520" y="2057400"/>
            <a:ext cx="5212080" cy="3611880"/>
          </a:xfrm>
          <a:prstGeom prst="roundRect">
            <a:avLst>
              <a:gd name="adj" fmla="val 2025"/>
            </a:avLst>
          </a:prstGeom>
          <a:solidFill>
            <a:schemeClr val="bg1">
              <a:alpha val="10000"/>
            </a:schemeClr>
          </a:solidFill>
          <a:ln/>
        </p:spPr>
      </p:sp>
      <p:sp>
        <p:nvSpPr>
          <p:cNvPr id="5" name="Text 3"/>
          <p:cNvSpPr txBox="1"/>
          <p:nvPr/>
        </p:nvSpPr>
        <p:spPr>
          <a:xfrm>
            <a:off x="1691640" y="2240280"/>
            <a:ext cx="4023360" cy="548640"/>
          </a:xfrm>
          <a:prstGeom prst="rect">
            <a:avLst/>
          </a:prstGeom>
          <a:noFill/>
          <a:ln/>
        </p:spPr>
        <p:txBody>
          <a:bodyPr wrap="square" lIns="0" tIns="0" rIns="0" bIns="0" rtlCol="0" anchor="ctr"/>
          <a:lstStyle/>
          <a:p>
            <a:pPr indent="0" marL="0">
              <a:buNone/>
            </a:pPr>
            <a:r>
              <a:rPr lang="en-US" sz="2000" b="1" dirty="0">
                <a:solidFill>
                  <a:schemeClr val="bg1"/>
                </a:solidFill>
              </a:rPr>
              <a:t>Why invest</a:t>
            </a:r>
            <a:endParaRPr lang="en-US" sz="2000" dirty="0"/>
          </a:p>
        </p:txBody>
      </p:sp>
      <p:sp>
        <p:nvSpPr>
          <p:cNvPr id="6" name="Text 4"/>
          <p:cNvSpPr txBox="1"/>
          <p:nvPr/>
        </p:nvSpPr>
        <p:spPr>
          <a:xfrm>
            <a:off x="1005840" y="2971800"/>
            <a:ext cx="4709160" cy="256032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bg1"/>
                </a:solidFill>
              </a:rPr>
              <a:t>Premium margins: 61% gross margin; c.25% adjusted operating margin</a:t>
            </a:r>
            <a:endParaRPr lang="en-US" sz="1500" dirty="0"/>
          </a:p>
          <a:p>
            <a:pPr marL="342900" indent="-342900">
              <a:spcAft>
                <a:spcPts val="1200"/>
              </a:spcAft>
              <a:buSzPct val="100000"/>
              <a:buChar char="•"/>
            </a:pPr>
            <a:r>
              <a:rPr lang="en-US" sz="1500" dirty="0">
                <a:solidFill>
                  <a:schemeClr val="bg1"/>
                </a:solidFill>
              </a:rPr>
              <a:t>Progressive dividend (+5% a year), 1.7x adjusted cover, plus buybacks</a:t>
            </a:r>
            <a:endParaRPr lang="en-US" sz="1500" dirty="0"/>
          </a:p>
          <a:p>
            <a:pPr marL="342900" indent="-342900">
              <a:spcAft>
                <a:spcPts val="1200"/>
              </a:spcAft>
              <a:buSzPct val="100000"/>
              <a:buChar char="•"/>
            </a:pPr>
            <a:r>
              <a:rPr lang="en-US" sz="1500" dirty="0">
                <a:solidFill>
                  <a:schemeClr val="bg1"/>
                </a:solidFill>
              </a:rPr>
              <a:t>Adjusted P/E of c.17x against 20-22x for peers</a:t>
            </a:r>
            <a:endParaRPr lang="en-US" sz="1500" dirty="0"/>
          </a:p>
          <a:p>
            <a:pPr marL="342900" indent="-342900">
              <a:spcAft>
                <a:spcPts val="1200"/>
              </a:spcAft>
              <a:buSzPct val="100000"/>
              <a:buChar char="•"/>
            </a:pPr>
            <a:r>
              <a:rPr lang="en-US" sz="1500" dirty="0">
                <a:solidFill>
                  <a:schemeClr val="bg1"/>
                </a:solidFill>
              </a:rPr>
              <a:t>Clear strategy, cost discipline and an experienced Board</a:t>
            </a:r>
            <a:endParaRPr lang="en-US" sz="1500" dirty="0"/>
          </a:p>
        </p:txBody>
      </p:sp>
      <p:sp>
        <p:nvSpPr>
          <p:cNvPr id="7" name="rec-card-1"/>
          <p:cNvSpPr/>
          <p:nvPr/>
        </p:nvSpPr>
        <p:spPr>
          <a:xfrm>
            <a:off x="6217920" y="2057400"/>
            <a:ext cx="5212080" cy="3611880"/>
          </a:xfrm>
          <a:prstGeom prst="roundRect">
            <a:avLst>
              <a:gd name="adj" fmla="val 2025"/>
            </a:avLst>
          </a:prstGeom>
          <a:solidFill>
            <a:schemeClr val="bg1">
              <a:alpha val="10000"/>
            </a:schemeClr>
          </a:solidFill>
          <a:ln/>
        </p:spPr>
      </p:sp>
      <p:sp>
        <p:nvSpPr>
          <p:cNvPr id="8" name="Text 6"/>
          <p:cNvSpPr txBox="1"/>
          <p:nvPr/>
        </p:nvSpPr>
        <p:spPr>
          <a:xfrm>
            <a:off x="7178040" y="2240280"/>
            <a:ext cx="4023360" cy="548640"/>
          </a:xfrm>
          <a:prstGeom prst="rect">
            <a:avLst/>
          </a:prstGeom>
          <a:noFill/>
          <a:ln/>
        </p:spPr>
        <p:txBody>
          <a:bodyPr wrap="square" lIns="0" tIns="0" rIns="0" bIns="0" rtlCol="0" anchor="ctr"/>
          <a:lstStyle/>
          <a:p>
            <a:pPr indent="0" marL="0">
              <a:buNone/>
            </a:pPr>
            <a:r>
              <a:rPr lang="en-US" sz="2000" b="1" dirty="0">
                <a:solidFill>
                  <a:schemeClr val="bg1"/>
                </a:solidFill>
              </a:rPr>
              <a:t>What to monitor</a:t>
            </a:r>
            <a:endParaRPr lang="en-US" sz="2000" dirty="0"/>
          </a:p>
        </p:txBody>
      </p:sp>
      <p:sp>
        <p:nvSpPr>
          <p:cNvPr id="9" name="Text 7"/>
          <p:cNvSpPr txBox="1"/>
          <p:nvPr/>
        </p:nvSpPr>
        <p:spPr>
          <a:xfrm>
            <a:off x="6492240" y="2971800"/>
            <a:ext cx="4709160" cy="256032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chemeClr val="bg1"/>
                </a:solidFill>
              </a:rPr>
              <a:t>NEC litigation overhang at Mead Johnson</a:t>
            </a:r>
            <a:endParaRPr lang="en-US" sz="1500" dirty="0"/>
          </a:p>
          <a:p>
            <a:pPr marL="342900" indent="-342900">
              <a:spcAft>
                <a:spcPts val="1200"/>
              </a:spcAft>
              <a:buSzPct val="100000"/>
              <a:buChar char="•"/>
            </a:pPr>
            <a:r>
              <a:rPr lang="en-US" sz="1500" dirty="0">
                <a:solidFill>
                  <a:schemeClr val="bg1"/>
                </a:solidFill>
              </a:rPr>
              <a:t>Lean liquidity; leverage at 2.5x EBITDA in H1 2026</a:t>
            </a:r>
            <a:endParaRPr lang="en-US" sz="1500" dirty="0"/>
          </a:p>
          <a:p>
            <a:pPr marL="342900" indent="-342900">
              <a:spcAft>
                <a:spcPts val="1200"/>
              </a:spcAft>
              <a:buSzPct val="100000"/>
              <a:buChar char="•"/>
            </a:pPr>
            <a:r>
              <a:rPr lang="en-US" sz="1500" dirty="0">
                <a:solidFill>
                  <a:schemeClr val="bg1"/>
                </a:solidFill>
              </a:rPr>
              <a:t>2026 EPS dilution from the divestment; weakness in Europe</a:t>
            </a:r>
            <a:endParaRPr lang="en-US" sz="1500" dirty="0"/>
          </a:p>
          <a:p>
            <a:pPr marL="342900" indent="-342900">
              <a:spcAft>
                <a:spcPts val="1200"/>
              </a:spcAft>
              <a:buSzPct val="100000"/>
              <a:buChar char="•"/>
            </a:pPr>
            <a:r>
              <a:rPr lang="en-US" sz="1500" dirty="0">
                <a:solidFill>
                  <a:schemeClr val="bg1"/>
                </a:solidFill>
              </a:rPr>
              <a:t>Input-cost and geopolitical volatility</a:t>
            </a:r>
            <a:endParaRPr lang="en-US" sz="1500" dirty="0"/>
          </a:p>
        </p:txBody>
      </p:sp>
      <p:sp>
        <p:nvSpPr>
          <p:cNvPr id="10" name="why-icon-circle"/>
          <p:cNvSpPr/>
          <p:nvPr/>
        </p:nvSpPr>
        <p:spPr>
          <a:xfrm>
            <a:off x="960120" y="2240280"/>
            <a:ext cx="548640" cy="548640"/>
          </a:xfrm>
          <a:prstGeom prst="ellipse">
            <a:avLst/>
          </a:prstGeom>
          <a:solidFill>
            <a:schemeClr val="accent5"/>
          </a:solidFill>
          <a:ln/>
        </p:spPr>
      </p:sp>
      <p:pic>
        <p:nvPicPr>
          <p:cNvPr id="11" name="why-icon-glyph" descr="preencoded.png">    </p:cNvPr>
          <p:cNvPicPr>
            <a:picLocks noChangeAspect="1"/>
          </p:cNvPicPr>
          <p:nvPr/>
        </p:nvPicPr>
        <p:blipFill>
          <a:blip r:embed="rId1"/>
          <a:stretch>
            <a:fillRect/>
          </a:stretch>
        </p:blipFill>
        <p:spPr>
          <a:xfrm>
            <a:off x="1091794" y="2371954"/>
            <a:ext cx="285293" cy="285293"/>
          </a:xfrm>
          <a:prstGeom prst="rect">
            <a:avLst/>
          </a:prstGeom>
        </p:spPr>
      </p:pic>
      <p:sp>
        <p:nvSpPr>
          <p:cNvPr id="12" name="risk-icon-circle"/>
          <p:cNvSpPr/>
          <p:nvPr/>
        </p:nvSpPr>
        <p:spPr>
          <a:xfrm>
            <a:off x="6446520" y="2240280"/>
            <a:ext cx="548640" cy="548640"/>
          </a:xfrm>
          <a:prstGeom prst="ellipse">
            <a:avLst/>
          </a:prstGeom>
          <a:solidFill>
            <a:schemeClr val="accent1"/>
          </a:solidFill>
          <a:ln/>
        </p:spPr>
      </p:sp>
      <p:pic>
        <p:nvPicPr>
          <p:cNvPr id="13" name="risk-icon-glyph" descr="preencoded.png">    </p:cNvPr>
          <p:cNvPicPr>
            <a:picLocks noChangeAspect="1"/>
          </p:cNvPicPr>
          <p:nvPr/>
        </p:nvPicPr>
        <p:blipFill>
          <a:blip r:embed="rId2"/>
          <a:stretch>
            <a:fillRect/>
          </a:stretch>
        </p:blipFill>
        <p:spPr>
          <a:xfrm>
            <a:off x="6578194" y="2371954"/>
            <a:ext cx="285293" cy="285293"/>
          </a:xfrm>
          <a:prstGeom prst="rect">
            <a:avLst/>
          </a:prstGeom>
        </p:spPr>
      </p:pic>
      <p:sp>
        <p:nvSpPr>
          <p:cNvPr id="15" name="Text 0"/>
          <p:cNvSpPr/>
          <p:nvPr>
            <p:ph idx="100" type="title" hasCustomPrompt="1"/>
          </p:nvPr>
        </p:nvSpPr>
        <p:spPr>
          <a:xfrm>
            <a:off x="731520" y="1828800"/>
            <a:ext cx="10698480" cy="1737360"/>
          </a:xfrm>
          <a:prstGeom prst="rect">
            <a:avLst/>
          </a:prstGeom>
          <a:noFill/>
          <a:ln/>
        </p:spPr>
        <p:txBody>
          <a:bodyPr wrap="square" lIns="0" tIns="0" rIns="0" bIns="0" rtlCol="0" anchor="b"/>
          <a:lstStyle/>
          <a:p>
            <a:pPr indent="0" marL="0">
              <a:buNone/>
            </a:pPr>
            <a:endParaRPr lang="en-US" sz="4400" dirty="0"/>
          </a:p>
        </p:txBody>
      </p:sp>
      <p:sp>
        <p:nvSpPr>
          <p:cNvPr id="16" name="Text 0"/>
          <p:cNvSpPr/>
          <p:nvPr>
            <p:ph idx="101" type="body" hasCustomPrompt="1"/>
          </p:nvPr>
        </p:nvSpPr>
        <p:spPr>
          <a:xfrm>
            <a:off x="731520" y="3749040"/>
            <a:ext cx="10698480" cy="1463040"/>
          </a:xfrm>
          <a:prstGeom prst="rect">
            <a:avLst/>
          </a:prstGeom>
          <a:noFill/>
          <a:ln/>
        </p:spPr>
        <p:txBody>
          <a:bodyPr wrap="square" lIns="0" tIns="0" rIns="0" bIns="0" rtlCol="0" anchor="t"/>
          <a:lstStyle/>
          <a:p>
            <a:pPr indent="0" marL="0">
              <a:buNone/>
            </a:pP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References</a:t>
            </a:r>
            <a:endParaRPr lang="en-US" sz="3400" dirty="0"/>
          </a:p>
        </p:txBody>
      </p:sp>
      <p:sp>
        <p:nvSpPr>
          <p:cNvPr id="3" name="Text 1"/>
          <p:cNvSpPr txBox="1"/>
          <p:nvPr/>
        </p:nvSpPr>
        <p:spPr>
          <a:xfrm>
            <a:off x="548640" y="1280160"/>
            <a:ext cx="5440680" cy="4983480"/>
          </a:xfrm>
          <a:prstGeom prst="rect">
            <a:avLst/>
          </a:prstGeom>
          <a:noFill/>
          <a:ln/>
        </p:spPr>
        <p:txBody>
          <a:bodyPr wrap="square" lIns="0" tIns="0" rIns="0" bIns="0" rtlCol="0" anchor="t"/>
          <a:lstStyle/>
          <a:p>
            <a:pPr indent="0" marL="0">
              <a:spcAft>
                <a:spcPts val="500"/>
              </a:spcAft>
              <a:buNone/>
            </a:pPr>
            <a:r>
              <a:rPr lang="en-US" sz="1050" dirty="0">
                <a:solidFill>
                  <a:schemeClr val="tx1"/>
                </a:solidFill>
              </a:rPr>
              <a:t>Arnold, G. and Lewis, D.S. (2019) Corporate Financial Management. 6th edn. Harlow: Pearson.</a:t>
            </a:r>
            <a:endParaRPr lang="en-US" sz="1050" dirty="0"/>
          </a:p>
          <a:p>
            <a:pPr indent="0" marL="0">
              <a:spcAft>
                <a:spcPts val="500"/>
              </a:spcAft>
              <a:buNone/>
            </a:pPr>
            <a:r>
              <a:rPr lang="en-US" sz="1050" dirty="0">
                <a:solidFill>
                  <a:schemeClr val="tx1"/>
                </a:solidFill>
              </a:rPr>
              <a:t>Atrill, P. and McLaney, E. (2022) Financial Accounting for Decision Makers. 10th edn. Harlow: Pearson.</a:t>
            </a:r>
            <a:endParaRPr lang="en-US" sz="1050" dirty="0"/>
          </a:p>
          <a:p>
            <a:pPr indent="0" marL="0">
              <a:spcAft>
                <a:spcPts val="500"/>
              </a:spcAft>
              <a:buNone/>
            </a:pPr>
            <a:r>
              <a:rPr lang="en-US" sz="1050" dirty="0">
                <a:solidFill>
                  <a:schemeClr val="tx1"/>
                </a:solidFill>
              </a:rPr>
              <a:t>Barnes, P. (1987) 'The analysis and use of financial ratios: a review article', Journal of Business Finance &amp; Accounting, 14(4), pp. 449-461.</a:t>
            </a:r>
            <a:endParaRPr lang="en-US" sz="1050" dirty="0"/>
          </a:p>
          <a:p>
            <a:pPr indent="0" marL="0">
              <a:spcAft>
                <a:spcPts val="500"/>
              </a:spcAft>
              <a:buNone/>
            </a:pPr>
            <a:r>
              <a:rPr lang="en-US" sz="1050" dirty="0">
                <a:solidFill>
                  <a:schemeClr val="tx1"/>
                </a:solidFill>
              </a:rPr>
              <a:t>Barney, J. (1991) 'Firm resources and sustained competitive advantage', Journal of Management, 17(1), pp. 99-120.</a:t>
            </a:r>
            <a:endParaRPr lang="en-US" sz="1050" dirty="0"/>
          </a:p>
          <a:p>
            <a:pPr indent="0" marL="0">
              <a:spcAft>
                <a:spcPts val="500"/>
              </a:spcAft>
              <a:buNone/>
            </a:pPr>
            <a:r>
              <a:rPr lang="en-US" sz="1050" dirty="0">
                <a:solidFill>
                  <a:schemeClr val="tx1"/>
                </a:solidFill>
              </a:rPr>
              <a:t>Basu, S. (1977) 'Investment performance of common stocks in relation to their price-earnings ratios', Journal of Finance, 32(3), pp. 663-682.</a:t>
            </a:r>
            <a:endParaRPr lang="en-US" sz="1050" dirty="0"/>
          </a:p>
          <a:p>
            <a:pPr indent="0" marL="0">
              <a:spcAft>
                <a:spcPts val="500"/>
              </a:spcAft>
              <a:buNone/>
            </a:pPr>
            <a:r>
              <a:rPr lang="en-US" sz="1050" dirty="0">
                <a:solidFill>
                  <a:schemeClr val="tx1"/>
                </a:solidFill>
              </a:rPr>
              <a:t>Beaver, W.H. (1966) 'Financial ratios as predictors of failure', Journal of Accounting Research, 4, pp. 71-111.</a:t>
            </a:r>
            <a:endParaRPr lang="en-US" sz="1050" dirty="0"/>
          </a:p>
          <a:p>
            <a:pPr indent="0" marL="0">
              <a:spcAft>
                <a:spcPts val="500"/>
              </a:spcAft>
              <a:buNone/>
            </a:pPr>
            <a:r>
              <a:rPr lang="en-US" sz="1050" dirty="0">
                <a:solidFill>
                  <a:schemeClr val="tx1"/>
                </a:solidFill>
              </a:rPr>
              <a:t>Brealey, R.A., Myers, S.C. and Allen, F. (2023) Principles of Corporate Finance. 14th edn. New York: McGraw-Hill.</a:t>
            </a:r>
            <a:endParaRPr lang="en-US" sz="1050" dirty="0"/>
          </a:p>
          <a:p>
            <a:pPr indent="0" marL="0">
              <a:spcAft>
                <a:spcPts val="500"/>
              </a:spcAft>
              <a:buNone/>
            </a:pPr>
            <a:r>
              <a:rPr lang="en-US" sz="1050" dirty="0">
                <a:solidFill>
                  <a:schemeClr val="tx1"/>
                </a:solidFill>
              </a:rPr>
              <a:t>Freeman, R.E. (1984) Strategic Management: A Stakeholder Approach. Boston: Pitman.</a:t>
            </a:r>
            <a:endParaRPr lang="en-US" sz="1050" dirty="0"/>
          </a:p>
          <a:p>
            <a:pPr indent="0" marL="0">
              <a:spcAft>
                <a:spcPts val="500"/>
              </a:spcAft>
              <a:buNone/>
            </a:pPr>
            <a:r>
              <a:rPr lang="en-US" sz="1050" dirty="0">
                <a:solidFill>
                  <a:schemeClr val="tx1"/>
                </a:solidFill>
              </a:rPr>
              <a:t>Haleon plc (2026) Full Year Results 2025. Weybridge: Haleon plc.</a:t>
            </a:r>
            <a:endParaRPr lang="en-US" sz="1050" dirty="0"/>
          </a:p>
          <a:p>
            <a:pPr indent="0" marL="0">
              <a:spcAft>
                <a:spcPts val="500"/>
              </a:spcAft>
              <a:buNone/>
            </a:pPr>
            <a:r>
              <a:rPr lang="en-US" sz="1050" dirty="0">
                <a:solidFill>
                  <a:schemeClr val="tx1"/>
                </a:solidFill>
              </a:rPr>
              <a:t>Healy, P.M. and Palepu, K.G. (2001) 'Information asymmetry, corporate disclosure, and the capital markets', Journal of Accounting and Economics, 31(1-3), pp. 405-440.</a:t>
            </a:r>
            <a:endParaRPr lang="en-US" sz="1050" dirty="0"/>
          </a:p>
        </p:txBody>
      </p:sp>
      <p:sp>
        <p:nvSpPr>
          <p:cNvPr id="4" name="Text 2"/>
          <p:cNvSpPr txBox="1"/>
          <p:nvPr/>
        </p:nvSpPr>
        <p:spPr>
          <a:xfrm>
            <a:off x="6217920" y="1280160"/>
            <a:ext cx="5440680" cy="4983480"/>
          </a:xfrm>
          <a:prstGeom prst="rect">
            <a:avLst/>
          </a:prstGeom>
          <a:noFill/>
          <a:ln/>
        </p:spPr>
        <p:txBody>
          <a:bodyPr wrap="square" lIns="0" tIns="0" rIns="0" bIns="0" rtlCol="0" anchor="t"/>
          <a:lstStyle/>
          <a:p>
            <a:pPr indent="0" marL="0">
              <a:spcAft>
                <a:spcPts val="500"/>
              </a:spcAft>
              <a:buNone/>
            </a:pPr>
            <a:r>
              <a:rPr lang="en-US" sz="1050" dirty="0">
                <a:solidFill>
                  <a:schemeClr val="tx1"/>
                </a:solidFill>
              </a:rPr>
              <a:t>IASB (2018) Conceptual Framework for Financial Reporting. London: IFRS Foundation.</a:t>
            </a:r>
            <a:endParaRPr lang="en-US" sz="1050" dirty="0"/>
          </a:p>
          <a:p>
            <a:pPr indent="0" marL="0">
              <a:spcAft>
                <a:spcPts val="500"/>
              </a:spcAft>
              <a:buNone/>
            </a:pPr>
            <a:r>
              <a:rPr lang="en-US" sz="1050" dirty="0">
                <a:solidFill>
                  <a:schemeClr val="tx1"/>
                </a:solidFill>
              </a:rPr>
              <a:t>Johnson, G., Whittington, R., Regner, P., Angwin, D. and Scholes, K. (2020) Exploring Strategy: Text and Cases. 12th edn. Harlow: Pearson.</a:t>
            </a:r>
            <a:endParaRPr lang="en-US" sz="1050" dirty="0"/>
          </a:p>
          <a:p>
            <a:pPr indent="0" marL="0">
              <a:spcAft>
                <a:spcPts val="500"/>
              </a:spcAft>
              <a:buNone/>
            </a:pPr>
            <a:r>
              <a:rPr lang="en-US" sz="1050" dirty="0">
                <a:solidFill>
                  <a:schemeClr val="tx1"/>
                </a:solidFill>
              </a:rPr>
              <a:t>Lintner, J. (1956) 'Distribution of incomes of corporations among dividends, retained earnings, and taxes', American Economic Review, 46(2), pp. 97-113.</a:t>
            </a:r>
            <a:endParaRPr lang="en-US" sz="1050" dirty="0"/>
          </a:p>
          <a:p>
            <a:pPr indent="0" marL="0">
              <a:spcAft>
                <a:spcPts val="500"/>
              </a:spcAft>
              <a:buNone/>
            </a:pPr>
            <a:r>
              <a:rPr lang="en-US" sz="1050" dirty="0">
                <a:solidFill>
                  <a:schemeClr val="tx1"/>
                </a:solidFill>
              </a:rPr>
              <a:t>Miller, M.H. and Modigliani, F. (1961) 'Dividend policy, growth, and the valuation of shares', Journal of Business, 34(4), pp. 411-433.</a:t>
            </a:r>
            <a:endParaRPr lang="en-US" sz="1050" dirty="0"/>
          </a:p>
          <a:p>
            <a:pPr indent="0" marL="0">
              <a:spcAft>
                <a:spcPts val="500"/>
              </a:spcAft>
              <a:buNone/>
            </a:pPr>
            <a:r>
              <a:rPr lang="en-US" sz="1050" dirty="0">
                <a:solidFill>
                  <a:schemeClr val="tx1"/>
                </a:solidFill>
              </a:rPr>
              <a:t>Palepu, K.G., Healy, P.M. and Peek, E. (2013) Business Analysis and Valuation: IFRS Edition. 3rd edn. Andover: Cengage Learning.</a:t>
            </a:r>
            <a:endParaRPr lang="en-US" sz="1050" dirty="0"/>
          </a:p>
          <a:p>
            <a:pPr indent="0" marL="0">
              <a:spcAft>
                <a:spcPts val="500"/>
              </a:spcAft>
              <a:buNone/>
            </a:pPr>
            <a:r>
              <a:rPr lang="en-US" sz="1050" dirty="0">
                <a:solidFill>
                  <a:schemeClr val="tx1"/>
                </a:solidFill>
              </a:rPr>
              <a:t>Penman, S.H. (2013) Financial Statement Analysis and Security Valuation. 5th edn. New York: McGraw-Hill.</a:t>
            </a:r>
            <a:endParaRPr lang="en-US" sz="1050" dirty="0"/>
          </a:p>
          <a:p>
            <a:pPr indent="0" marL="0">
              <a:spcAft>
                <a:spcPts val="500"/>
              </a:spcAft>
              <a:buNone/>
            </a:pPr>
            <a:r>
              <a:rPr lang="en-US" sz="1050" dirty="0">
                <a:solidFill>
                  <a:schemeClr val="tx1"/>
                </a:solidFill>
              </a:rPr>
              <a:t>Reckitt Benckiser Group plc (2025) Annual Report and Accounts 2024. Slough: Reckitt.</a:t>
            </a:r>
            <a:endParaRPr lang="en-US" sz="1050" dirty="0"/>
          </a:p>
          <a:p>
            <a:pPr indent="0" marL="0">
              <a:spcAft>
                <a:spcPts val="500"/>
              </a:spcAft>
              <a:buNone/>
            </a:pPr>
            <a:r>
              <a:rPr lang="en-US" sz="1050" dirty="0">
                <a:solidFill>
                  <a:schemeClr val="tx1"/>
                </a:solidFill>
              </a:rPr>
              <a:t>Reckitt Benckiser Group plc (2026a) Annual Report and Accounts 2025. Slough: Reckitt.</a:t>
            </a:r>
            <a:endParaRPr lang="en-US" sz="1050" dirty="0"/>
          </a:p>
          <a:p>
            <a:pPr indent="0" marL="0">
              <a:spcAft>
                <a:spcPts val="500"/>
              </a:spcAft>
              <a:buNone/>
            </a:pPr>
            <a:r>
              <a:rPr lang="en-US" sz="1050" dirty="0">
                <a:solidFill>
                  <a:schemeClr val="tx1"/>
                </a:solidFill>
              </a:rPr>
              <a:t>Reckitt Benckiser Group plc (2026b) Results for the six months ended 30 June 2026. Slough: Reckitt.</a:t>
            </a:r>
            <a:endParaRPr lang="en-US" sz="1050" dirty="0"/>
          </a:p>
          <a:p>
            <a:pPr indent="0" marL="0">
              <a:spcAft>
                <a:spcPts val="500"/>
              </a:spcAft>
              <a:buNone/>
            </a:pPr>
            <a:r>
              <a:rPr lang="en-US" sz="1050" dirty="0">
                <a:solidFill>
                  <a:schemeClr val="tx1"/>
                </a:solidFill>
              </a:rPr>
              <a:t>Unilever PLC (2026) 2025 Full Year Results. London: Unilever PLC.</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Reckitt Investor">
  <a:themeElements>
    <a:clrScheme name="Reckitt Investor">
      <a:dk1>
        <a:srgbClr val="1F1A24"/>
      </a:dk1>
      <a:lt1>
        <a:srgbClr val="FFFFFF"/>
      </a:lt1>
      <a:dk2>
        <a:srgbClr val="3B0F35"/>
      </a:dk2>
      <a:lt2>
        <a:srgbClr val="F6F1F5"/>
      </a:lt2>
      <a:accent1>
        <a:srgbClr val="D6006E"/>
      </a:accent1>
      <a:accent2>
        <a:srgbClr val="3B0F35"/>
      </a:accent2>
      <a:accent3>
        <a:srgbClr val="8C7F96"/>
      </a:accent3>
      <a:accent4>
        <a:srgbClr val="F2A7CB"/>
      </a:accent4>
      <a:accent5>
        <a:srgbClr val="1F7A63"/>
      </a:accent5>
      <a:accent6>
        <a:srgbClr val="B3261E"/>
      </a:accent6>
      <a:hlink>
        <a:srgbClr val="D6006E"/>
      </a:hlink>
      <a:folHlink>
        <a:srgbClr val="8C7F96"/>
      </a:folHlink>
    </a:clrScheme>
    <a:fontScheme name="Reckitt Investo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Reckitt Benckiser Group plc - Financial Analysis for Potential Investors</dc:title>
  <dc:subject>MBA7060 Financial Management and Decision Making - Assessment 1</dc:subject>
  <dc:creator>Finance Manager</dc:creator>
  <cp:lastModifiedBy>Finance Manager</cp:lastModifiedBy>
  <cp:revision>1</cp:revision>
  <dcterms:created xsi:type="dcterms:W3CDTF">2026-10-22T08:40:19Z</dcterms:created>
  <dcterms:modified xsi:type="dcterms:W3CDTF">2026-10-22T08:40:19Z</dcterms:modified>
</cp:coreProperties>
</file>