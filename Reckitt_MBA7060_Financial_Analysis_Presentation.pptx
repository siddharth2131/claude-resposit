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mpany background" id="{c585ea1c-62a9-1e8d-6a7c-01e4bcd37237}">
          <p14:sldIdLst>
            <p14:sldId id="256"/>
            <p14:sldId id="257"/>
            <p14:sldId id="258"/>
            <p14:sldId id="259"/>
          </p14:sldIdLst>
        </p14:section>
        <p14:section name="Ratio analysis" id="{3259cbfe-773c-fc21-068d-fdd17b6d6efd}">
          <p14:sldIdLst>
            <p14:sldId id="260"/>
            <p14:sldId id="261"/>
            <p14:sldId id="262"/>
            <p14:sldId id="263"/>
            <p14:sldId id="264"/>
          </p14:sldIdLst>
        </p14:section>
        <p14:section name="Market ratios" id="{5ee64482-ee44-8b4a-8ea6-cb8a0d6fcd1b}">
          <p14:sldIdLst>
            <p14:sldId id="265"/>
            <p14:sldId id="266"/>
            <p14:sldId id="267"/>
          </p14:sldIdLst>
        </p14:section>
        <p14:section name="Stakeholders and strengths" id="{0b6a5ef1-8696-e922-c962-2803f2ad87dc}">
          <p14:sldIdLst>
            <p14:sldId id="268"/>
            <p14:sldId id="269"/>
          </p14:sldIdLst>
        </p14:section>
        <p14:section name="Conclusion" id="{58b244b8-9f7d-253e-ff7f-d237be63113f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B0F3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B0F35"/>
                </a:solidFill>
                <a:latin typeface="+mn-lt"/>
              </a:rPr>
              <a:t>2025 sales by area (£m)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2025 sales (£m)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6006E"/>
              </a:solidFill>
              <a:effectLst/>
            </c:spPr>
          </c:dPt>
          <c:dPt>
            <c:idx val="1"/>
            <c:bubble3D val="0"/>
            <c:spPr>
              <a:solidFill>
                <a:srgbClr val="3B0F35"/>
              </a:solidFill>
              <a:effectLst/>
            </c:spPr>
          </c:dPt>
          <c:dPt>
            <c:idx val="2"/>
            <c:bubble3D val="0"/>
            <c:spPr>
              <a:solidFill>
                <a:srgbClr val="8C7F96"/>
              </a:solidFill>
              <a:effectLst/>
            </c:spPr>
          </c:dPt>
          <c:dPt>
            <c:idx val="3"/>
            <c:bubble3D val="0"/>
            <c:spPr>
              <a:solidFill>
                <a:srgbClr val="CBC2D2"/>
              </a:solidFill>
              <a:effectLst/>
            </c:spPr>
          </c:dPt>
          <c:dPt>
            <c:idx val="4"/>
            <c:bubble3D val="0"/>
            <c:spPr>
              <a:solidFill>
                <a:srgbClr val="F2A7C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Emerging Markets 4,291</c:v>
                </c:pt>
                <c:pt idx="1">
                  <c:v>Europe 3,384</c:v>
                </c:pt>
                <c:pt idx="2">
                  <c:v>North America 2,559</c:v>
                </c:pt>
                <c:pt idx="3">
                  <c:v>Mead Johnson 2,119</c:v>
                </c:pt>
                <c:pt idx="4">
                  <c:v>Essential Home (sold) 1,852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4291</c:v>
                </c:pt>
                <c:pt idx="1">
                  <c:v>3384</c:v>
                </c:pt>
                <c:pt idx="2">
                  <c:v>2559</c:v>
                </c:pt>
                <c:pt idx="3">
                  <c:v>2119</c:v>
                </c:pt>
                <c:pt idx="4">
                  <c:v>1852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1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B0F3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B0F35"/>
                </a:solidFill>
                <a:latin typeface="+mn-lt"/>
              </a:rPr>
              <a:t>Liquidity ratios (times)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8C7F9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Current</c:v>
                  </c:pt>
                  <c:pt idx="1">
                    <c:v>Quick</c:v>
                  </c:pt>
                  <c:pt idx="2">
                    <c:v>Cash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0.58</c:v>
                </c:pt>
                <c:pt idx="1">
                  <c:v>0.39</c:v>
                </c:pt>
                <c:pt idx="2">
                  <c:v>0.11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600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Current</c:v>
                  </c:pt>
                  <c:pt idx="1">
                    <c:v>Quick</c:v>
                  </c:pt>
                  <c:pt idx="2">
                    <c:v>Cash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0.85</c:v>
                </c:pt>
                <c:pt idx="1">
                  <c:v>0.63</c:v>
                </c:pt>
                <c:pt idx="2">
                  <c:v>0.29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H1 2026</c:v>
                </c:pt>
              </c:strCache>
            </c:strRef>
          </c:tx>
          <c:spPr>
            <a:solidFill>
              <a:srgbClr val="3B0F3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Current</c:v>
                  </c:pt>
                  <c:pt idx="1">
                    <c:v>Quick</c:v>
                  </c:pt>
                  <c:pt idx="2">
                    <c:v>Cash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0.59</c:v>
                </c:pt>
                <c:pt idx="1">
                  <c:v>0.4</c:v>
                </c:pt>
                <c:pt idx="2">
                  <c:v>0.11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1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4DCE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7F9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F1A2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B0F3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B0F35"/>
                </a:solidFill>
                <a:latin typeface="+mn-lt"/>
              </a:rPr>
              <a:t>Month-end share price (pence)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price (p)</c:v>
                </c:pt>
              </c:strCache>
            </c:strRef>
          </c:tx>
          <c:spPr>
            <a:solidFill>
              <a:srgbClr val="D6006E"/>
            </a:solidFill>
            <a:ln w="38100" cap="flat">
              <a:solidFill>
                <a:srgbClr val="D6006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24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6006E"/>
              </a:solidFill>
              <a:ln w="9525" cap="flat">
                <a:solidFill>
                  <a:srgbClr val="D6006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</c:f>
              <c:multiLvlStrCache>
                <c:ptCount val="35"/>
                <c:lvl>
                  <c:pt idx="0">
                    <c:v>Dec 23</c:v>
                  </c:pt>
                  <c:pt idx="1">
                    <c:v>Jan 24</c:v>
                  </c:pt>
                  <c:pt idx="2">
                    <c:v>Feb 24</c:v>
                  </c:pt>
                  <c:pt idx="3">
                    <c:v>Mar 24</c:v>
                  </c:pt>
                  <c:pt idx="4">
                    <c:v>Apr 24</c:v>
                  </c:pt>
                  <c:pt idx="5">
                    <c:v>May 24</c:v>
                  </c:pt>
                  <c:pt idx="6">
                    <c:v>Jun 24</c:v>
                  </c:pt>
                  <c:pt idx="7">
                    <c:v>Jul 24</c:v>
                  </c:pt>
                  <c:pt idx="8">
                    <c:v>Aug 24</c:v>
                  </c:pt>
                  <c:pt idx="9">
                    <c:v>Sep 24</c:v>
                  </c:pt>
                  <c:pt idx="10">
                    <c:v>Oct 24</c:v>
                  </c:pt>
                  <c:pt idx="11">
                    <c:v>Nov 24</c:v>
                  </c:pt>
                  <c:pt idx="12">
                    <c:v>Dec 24</c:v>
                  </c:pt>
                  <c:pt idx="13">
                    <c:v>Jan 25</c:v>
                  </c:pt>
                  <c:pt idx="14">
                    <c:v>Feb 25</c:v>
                  </c:pt>
                  <c:pt idx="15">
                    <c:v>Mar 25</c:v>
                  </c:pt>
                  <c:pt idx="16">
                    <c:v>Apr 25</c:v>
                  </c:pt>
                  <c:pt idx="17">
                    <c:v>May 25</c:v>
                  </c:pt>
                  <c:pt idx="18">
                    <c:v>Jun 25</c:v>
                  </c:pt>
                  <c:pt idx="19">
                    <c:v>Jul 25</c:v>
                  </c:pt>
                  <c:pt idx="20">
                    <c:v>Aug 25</c:v>
                  </c:pt>
                  <c:pt idx="21">
                    <c:v>Sep 25</c:v>
                  </c:pt>
                  <c:pt idx="22">
                    <c:v>Oct 25</c:v>
                  </c:pt>
                  <c:pt idx="23">
                    <c:v>Nov 25</c:v>
                  </c:pt>
                  <c:pt idx="24">
                    <c:v>Dec 25</c:v>
                  </c:pt>
                  <c:pt idx="25">
                    <c:v>Jan 26</c:v>
                  </c:pt>
                  <c:pt idx="26">
                    <c:v>Feb 26</c:v>
                  </c:pt>
                  <c:pt idx="27">
                    <c:v>Mar 26</c:v>
                  </c:pt>
                  <c:pt idx="28">
                    <c:v>Apr 26</c:v>
                  </c:pt>
                  <c:pt idx="29">
                    <c:v>May 26</c:v>
                  </c:pt>
                  <c:pt idx="30">
                    <c:v>Jun 26</c:v>
                  </c:pt>
                  <c:pt idx="31">
                    <c:v>Jul 26</c:v>
                  </c:pt>
                  <c:pt idx="32">
                    <c:v>Aug 26</c:v>
                  </c:pt>
                  <c:pt idx="33">
                    <c:v>Sep 26</c:v>
                  </c:pt>
                  <c:pt idx="34">
                    <c:v>Oct 26</c:v>
                  </c:pt>
                </c:lvl>
              </c:multiLvlStrCache>
            </c:multiLvl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5420</c:v>
                </c:pt>
                <c:pt idx="1">
                  <c:v>5708</c:v>
                </c:pt>
                <c:pt idx="2">
                  <c:v>4998</c:v>
                </c:pt>
                <c:pt idx="3">
                  <c:v>4512</c:v>
                </c:pt>
                <c:pt idx="4">
                  <c:v>4468</c:v>
                </c:pt>
                <c:pt idx="5">
                  <c:v>4452</c:v>
                </c:pt>
                <c:pt idx="6">
                  <c:v>4282</c:v>
                </c:pt>
                <c:pt idx="7">
                  <c:v>4178</c:v>
                </c:pt>
                <c:pt idx="8">
                  <c:v>4366</c:v>
                </c:pt>
                <c:pt idx="9">
                  <c:v>4577</c:v>
                </c:pt>
                <c:pt idx="10">
                  <c:v>4684</c:v>
                </c:pt>
                <c:pt idx="11">
                  <c:v>4860</c:v>
                </c:pt>
                <c:pt idx="12">
                  <c:v>4833</c:v>
                </c:pt>
                <c:pt idx="13">
                  <c:v>5330</c:v>
                </c:pt>
                <c:pt idx="14">
                  <c:v>5240</c:v>
                </c:pt>
                <c:pt idx="15">
                  <c:v>5230</c:v>
                </c:pt>
                <c:pt idx="16">
                  <c:v>4838</c:v>
                </c:pt>
                <c:pt idx="17">
                  <c:v>5032</c:v>
                </c:pt>
                <c:pt idx="18">
                  <c:v>4955</c:v>
                </c:pt>
                <c:pt idx="19">
                  <c:v>5672</c:v>
                </c:pt>
                <c:pt idx="20">
                  <c:v>5530</c:v>
                </c:pt>
                <c:pt idx="21">
                  <c:v>5718</c:v>
                </c:pt>
                <c:pt idx="22">
                  <c:v>5816</c:v>
                </c:pt>
                <c:pt idx="23">
                  <c:v>5852</c:v>
                </c:pt>
                <c:pt idx="24">
                  <c:v>6002</c:v>
                </c:pt>
                <c:pt idx="25">
                  <c:v>6092</c:v>
                </c:pt>
                <c:pt idx="26">
                  <c:v>6512</c:v>
                </c:pt>
                <c:pt idx="27">
                  <c:v>5088</c:v>
                </c:pt>
                <c:pt idx="28">
                  <c:v>4678</c:v>
                </c:pt>
                <c:pt idx="29">
                  <c:v>4591</c:v>
                </c:pt>
                <c:pt idx="30">
                  <c:v>4911</c:v>
                </c:pt>
                <c:pt idx="31">
                  <c:v>5240</c:v>
                </c:pt>
                <c:pt idx="32">
                  <c:v>5132</c:v>
                </c:pt>
                <c:pt idx="33">
                  <c:v>4992</c:v>
                </c:pt>
                <c:pt idx="34">
                  <c:v>5430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1A24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1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7000"/>
          <c:min val="3500"/>
        </c:scaling>
        <c:delete val="0"/>
        <c:axPos val="l"/>
        <c:majorGridlines>
          <c:spPr>
            <a:ln w="9525" cap="flat">
              <a:solidFill>
                <a:srgbClr val="E4DCE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7F9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B0F3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B0F35"/>
                </a:solidFill>
                <a:latin typeface="+mn-lt"/>
              </a:rPr>
              <a:t>Ordinary dividend per share (pence)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Dividend per share (p)</c:v>
                </c:pt>
              </c:strCache>
            </c:strRef>
          </c:tx>
          <c:spPr>
            <a:solidFill>
              <a:srgbClr val="D6006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1A2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174.6</c:v>
                </c:pt>
                <c:pt idx="1">
                  <c:v>183.3</c:v>
                </c:pt>
                <c:pt idx="2">
                  <c:v>192.5</c:v>
                </c:pt>
                <c:pt idx="3">
                  <c:v>202.1</c:v>
                </c:pt>
                <c:pt idx="4">
                  <c:v>212.2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F1A2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1A2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0"/>
          <c:min val="0"/>
        </c:scaling>
        <c:delete val="0"/>
        <c:axPos val="l"/>
        <c:majorGridlines>
          <c:spPr>
            <a:ln w="9525" cap="flat">
              <a:solidFill>
                <a:srgbClr val="E4DCE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7F96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Reckitt Benckiser Group plc  |  MBA7060 investor presentation  |  October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Reckitt Benckiser Group plc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Is Reckitt a good investment? A ratio analysis of 2025 against 2024, with the latest 2026 results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Presented by: [Your name], Finance Manager  |  MBA7060 Financial Management and Decision Making  |  October 2026</a:t>
            </a:r>
            <a:endParaRPr lang="en-US" sz="2000" dirty="0"/>
          </a:p>
        </p:txBody>
      </p:sp>
      <p:sp>
        <p:nvSpPr>
          <p:cNvPr id="4" name="title-icon-circle"/>
          <p:cNvSpPr/>
          <p:nvPr/>
        </p:nvSpPr>
        <p:spPr>
          <a:xfrm>
            <a:off x="10241280" y="640080"/>
            <a:ext cx="1188720" cy="11887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itle-icon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26573" y="925373"/>
            <a:ext cx="618134" cy="6181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777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London Stock Exchange: RKT  |  FTSE 100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and key turning points</a:t>
            </a:r>
            <a:endParaRPr lang="en-US" sz="3200" dirty="0"/>
          </a:p>
        </p:txBody>
      </p:sp>
      <p:sp>
        <p:nvSpPr>
          <p:cNvPr id="3" name="timeline-line"/>
          <p:cNvSpPr/>
          <p:nvPr/>
        </p:nvSpPr>
        <p:spPr>
          <a:xfrm>
            <a:off x="868680" y="2743200"/>
            <a:ext cx="10040112" cy="0"/>
          </a:xfrm>
          <a:prstGeom prst="line">
            <a:avLst/>
          </a:prstGeom>
          <a:noFill/>
          <a:ln w="25400">
            <a:solidFill>
              <a:srgbClr val="CBC2D2"/>
            </a:solidFill>
            <a:prstDash val="solid"/>
          </a:ln>
        </p:spPr>
      </p:sp>
      <p:sp>
        <p:nvSpPr>
          <p:cNvPr id="4" name="timeline-dot-0"/>
          <p:cNvSpPr/>
          <p:nvPr/>
        </p:nvSpPr>
        <p:spPr>
          <a:xfrm>
            <a:off x="685800" y="2560320"/>
            <a:ext cx="365760" cy="3657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7432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1840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274320" y="310896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Reckitt's roots begin; it has grown brands for over 180 years</a:t>
            </a:r>
            <a:endParaRPr lang="en-US" sz="1400" dirty="0"/>
          </a:p>
        </p:txBody>
      </p:sp>
      <p:sp>
        <p:nvSpPr>
          <p:cNvPr id="7" name="timeline-dot-1"/>
          <p:cNvSpPr/>
          <p:nvPr/>
        </p:nvSpPr>
        <p:spPr>
          <a:xfrm>
            <a:off x="2359152" y="2560320"/>
            <a:ext cx="365760" cy="3657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47672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1999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947672" y="310896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Reckitt &amp; Colman and Benckiser join to form Reckitt Benckiser</a:t>
            </a:r>
            <a:endParaRPr lang="en-US" sz="1400" dirty="0"/>
          </a:p>
        </p:txBody>
      </p:sp>
      <p:sp>
        <p:nvSpPr>
          <p:cNvPr id="10" name="timeline-dot-2"/>
          <p:cNvSpPr/>
          <p:nvPr/>
        </p:nvSpPr>
        <p:spPr>
          <a:xfrm>
            <a:off x="4032504" y="2560320"/>
            <a:ext cx="365760" cy="3657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21024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2006-10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21024" y="310896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Buys Boots Healthcare (2006), Adams (2008, Mucinex) and SSL (2010, Durex)</a:t>
            </a:r>
            <a:endParaRPr lang="en-US" sz="1400" dirty="0"/>
          </a:p>
        </p:txBody>
      </p:sp>
      <p:sp>
        <p:nvSpPr>
          <p:cNvPr id="13" name="timeline-dot-3"/>
          <p:cNvSpPr/>
          <p:nvPr/>
        </p:nvSpPr>
        <p:spPr>
          <a:xfrm>
            <a:off x="5705856" y="2560320"/>
            <a:ext cx="365760" cy="365760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94376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2017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294376" y="310896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Buys Mead Johnson Nutrition, an infant formula maker (15 June 2017)</a:t>
            </a:r>
            <a:endParaRPr lang="en-US" sz="1400" dirty="0"/>
          </a:p>
        </p:txBody>
      </p:sp>
      <p:sp>
        <p:nvSpPr>
          <p:cNvPr id="16" name="timeline-dot-4"/>
          <p:cNvSpPr/>
          <p:nvPr/>
        </p:nvSpPr>
        <p:spPr>
          <a:xfrm>
            <a:off x="7379208" y="256032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67728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 2024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967728" y="310896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Turning point: new strategy to focus on 11 top brands and cut costs</a:t>
            </a:r>
            <a:endParaRPr lang="en-US" sz="1400" dirty="0"/>
          </a:p>
        </p:txBody>
      </p:sp>
      <p:sp>
        <p:nvSpPr>
          <p:cNvPr id="19" name="timeline-dot-5"/>
          <p:cNvSpPr/>
          <p:nvPr/>
        </p:nvSpPr>
        <p:spPr>
          <a:xfrm>
            <a:off x="9052560" y="256032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4108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 2025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310896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Sells Essential Home (Air Wick, Cillit Bang) to Advent, keeping a 30% stake</a:t>
            </a:r>
            <a:endParaRPr lang="en-US" sz="1400" dirty="0"/>
          </a:p>
        </p:txBody>
      </p:sp>
      <p:sp>
        <p:nvSpPr>
          <p:cNvPr id="22" name="timeline-dot-6"/>
          <p:cNvSpPr/>
          <p:nvPr/>
        </p:nvSpPr>
        <p:spPr>
          <a:xfrm>
            <a:off x="10725912" y="2560320"/>
            <a:ext cx="365760" cy="36576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314432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 2026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314432" y="3108960"/>
            <a:ext cx="157276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Returns £1.6bn to shareholders as a special dividend of 235p per share</a:t>
            </a:r>
            <a:endParaRPr lang="en-US" sz="1400" dirty="0"/>
          </a:p>
        </p:txBody>
      </p:sp>
      <p:sp>
        <p:nvSpPr>
          <p:cNvPr id="25" name="history-callout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10235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Why this matters for investors: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Reckitt has changed from a broad household-goods group into a focused health and hygiene company. The 2025 sale explains many of the big changes in this year's ratios.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Source: Reckitt (2025, pp. 19, 172, 189); Reckitt (2026a, pp. 33-34, 135, 177).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Reckitt sells and how big it is</a:t>
            </a:r>
            <a:endParaRPr lang="en-US" sz="3200" dirty="0"/>
          </a:p>
        </p:txBody>
      </p:sp>
      <p:sp>
        <p:nvSpPr>
          <p:cNvPr id="3" name="stat-0"/>
          <p:cNvSpPr/>
          <p:nvPr/>
        </p:nvSpPr>
        <p:spPr>
          <a:xfrm>
            <a:off x="548640" y="1325880"/>
            <a:ext cx="329184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£14.2bn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476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sales (net revenue) in 2025</a:t>
            </a:r>
            <a:endParaRPr lang="en-US" sz="1400" dirty="0"/>
          </a:p>
        </p:txBody>
      </p:sp>
      <p:sp>
        <p:nvSpPr>
          <p:cNvPr id="6" name="stat-1"/>
          <p:cNvSpPr/>
          <p:nvPr/>
        </p:nvSpPr>
        <p:spPr>
          <a:xfrm>
            <a:off x="548640" y="2514600"/>
            <a:ext cx="329184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58775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£40.4bn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363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stock market value, end of 2025</a:t>
            </a:r>
            <a:endParaRPr lang="en-US" sz="1400" dirty="0"/>
          </a:p>
        </p:txBody>
      </p:sp>
      <p:sp>
        <p:nvSpPr>
          <p:cNvPr id="9" name="stat-2"/>
          <p:cNvSpPr/>
          <p:nvPr/>
        </p:nvSpPr>
        <p:spPr>
          <a:xfrm>
            <a:off x="548640" y="3703320"/>
            <a:ext cx="329184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77647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36,000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3251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employees on average</a:t>
            </a:r>
            <a:endParaRPr lang="en-US" sz="1400" dirty="0"/>
          </a:p>
        </p:txBody>
      </p:sp>
      <p:sp>
        <p:nvSpPr>
          <p:cNvPr id="12" name="stat-3"/>
          <p:cNvSpPr/>
          <p:nvPr/>
        </p:nvSpPr>
        <p:spPr>
          <a:xfrm>
            <a:off x="548640" y="4892040"/>
            <a:ext cx="3291840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49651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5138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countries where it operates</a:t>
            </a:r>
            <a:endParaRPr lang="en-US" sz="1400" dirty="0"/>
          </a:p>
        </p:txBody>
      </p:sp>
      <p:graphicFrame>
        <p:nvGraphicFramePr>
          <p:cNvPr id="15" name="revenue-doughnut" descr=""/>
          <p:cNvGraphicFramePr/>
          <p:nvPr/>
        </p:nvGraphicFramePr>
        <p:xfrm>
          <a:off x="4069080" y="1280160"/>
          <a:ext cx="3931920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categories-card"/>
          <p:cNvSpPr/>
          <p:nvPr/>
        </p:nvSpPr>
        <p:spPr>
          <a:xfrm>
            <a:off x="8229600" y="1325880"/>
            <a:ext cx="3383280" cy="470916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412480" y="14356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 categories, 11 top brands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0" y="1920240"/>
            <a:ext cx="30175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Self Care: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Strepsils, Mucinex, Gaviscon, Nurofen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Germ Protection: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Lysol, Dettol, Harpic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Household Care: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Finish, Vanish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Intimate Wellness: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Durex, Veet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i="1" dirty="0">
                <a:solidFill>
                  <a:schemeClr val="tx1"/>
                </a:solidFill>
              </a:rPr>
              <a:t>Plus Mead Johnson (infant nutrition), which Reckitt treats as non-core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Source: Reckitt (2026a, pp. 1, 85, 204); market value = £33.2bn + £7.2bn increase in 2025 (Reckitt, 2026a, p. 85).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of directors and governance</a:t>
            </a:r>
            <a:endParaRPr lang="en-US" sz="3200" dirty="0"/>
          </a:p>
        </p:txBody>
      </p:sp>
      <p:sp>
        <p:nvSpPr>
          <p:cNvPr id="3" name="director-0"/>
          <p:cNvSpPr/>
          <p:nvPr/>
        </p:nvSpPr>
        <p:spPr>
          <a:xfrm>
            <a:off x="548640" y="1325880"/>
            <a:ext cx="53949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4" name="director-icon-0-circle"/>
          <p:cNvSpPr/>
          <p:nvPr/>
        </p:nvSpPr>
        <p:spPr>
          <a:xfrm>
            <a:off x="731520" y="160020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director-icon-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030" y="179771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4630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Sir Jeremy Darroch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8105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Chair (since May 2024)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13055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Former Executive Chair and CEO of Sky</a:t>
            </a:r>
            <a:endParaRPr lang="en-US" sz="1400" dirty="0"/>
          </a:p>
        </p:txBody>
      </p:sp>
      <p:sp>
        <p:nvSpPr>
          <p:cNvPr id="9" name="director-1"/>
          <p:cNvSpPr/>
          <p:nvPr/>
        </p:nvSpPr>
        <p:spPr>
          <a:xfrm>
            <a:off x="6126480" y="1325880"/>
            <a:ext cx="53949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0" name="director-icon-1-circle"/>
          <p:cNvSpPr/>
          <p:nvPr/>
        </p:nvSpPr>
        <p:spPr>
          <a:xfrm>
            <a:off x="6309360" y="160020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director-icon-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870" y="17977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4630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Kris Licht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18105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Chief Executive (since Oct 2023)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0" y="213055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Former President of Reckitt's Health business; PepsiCo; McKinsey</a:t>
            </a:r>
            <a:endParaRPr lang="en-US" sz="1400" dirty="0"/>
          </a:p>
        </p:txBody>
      </p:sp>
      <p:sp>
        <p:nvSpPr>
          <p:cNvPr id="15" name="director-2"/>
          <p:cNvSpPr/>
          <p:nvPr/>
        </p:nvSpPr>
        <p:spPr>
          <a:xfrm>
            <a:off x="548640" y="2926080"/>
            <a:ext cx="53949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16" name="director-icon-2-circle"/>
          <p:cNvSpPr/>
          <p:nvPr/>
        </p:nvSpPr>
        <p:spPr>
          <a:xfrm>
            <a:off x="731520" y="320040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director-icon-2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30" y="3397910"/>
            <a:ext cx="427939" cy="42793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37360" y="30632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Shannon Eisenhardt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1737360" y="34107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Chief Financial Officer (since Mar 2024)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1737360" y="373075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Former CFO of Nike North America</a:t>
            </a:r>
            <a:endParaRPr lang="en-US" sz="1400" dirty="0"/>
          </a:p>
        </p:txBody>
      </p:sp>
      <p:sp>
        <p:nvSpPr>
          <p:cNvPr id="21" name="director-3"/>
          <p:cNvSpPr/>
          <p:nvPr/>
        </p:nvSpPr>
        <p:spPr>
          <a:xfrm>
            <a:off x="6126480" y="2926080"/>
            <a:ext cx="539496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/>
        </p:spPr>
      </p:sp>
      <p:sp>
        <p:nvSpPr>
          <p:cNvPr id="22" name="director-icon-3-circle"/>
          <p:cNvSpPr/>
          <p:nvPr/>
        </p:nvSpPr>
        <p:spPr>
          <a:xfrm>
            <a:off x="6309360" y="3200400"/>
            <a:ext cx="822960" cy="82296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3" name="director-icon-3-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870" y="3397910"/>
            <a:ext cx="427939" cy="427939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315200" y="30632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Andrew Bonfield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7315200" y="34107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Senior Independent Director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7315200" y="373075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CFO of Caterpillar Inc.; former CFO of National Grid</a:t>
            </a:r>
            <a:endParaRPr lang="en-US" sz="1400" dirty="0"/>
          </a:p>
        </p:txBody>
      </p:sp>
      <p:sp>
        <p:nvSpPr>
          <p:cNvPr id="27" name="gov-stat-0"/>
          <p:cNvSpPr/>
          <p:nvPr/>
        </p:nvSpPr>
        <p:spPr>
          <a:xfrm>
            <a:off x="548640" y="4617720"/>
            <a:ext cx="2615184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31520" y="4709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29" name="Text 23"/>
          <p:cNvSpPr txBox="1"/>
          <p:nvPr/>
        </p:nvSpPr>
        <p:spPr>
          <a:xfrm>
            <a:off x="731520" y="5349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Board members</a:t>
            </a:r>
            <a:endParaRPr lang="en-US" sz="1400" dirty="0"/>
          </a:p>
        </p:txBody>
      </p:sp>
      <p:sp>
        <p:nvSpPr>
          <p:cNvPr id="30" name="gov-stat-1"/>
          <p:cNvSpPr/>
          <p:nvPr/>
        </p:nvSpPr>
        <p:spPr>
          <a:xfrm>
            <a:off x="3346704" y="4617720"/>
            <a:ext cx="2615184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3529584" y="4709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000" dirty="0"/>
          </a:p>
        </p:txBody>
      </p:sp>
      <p:sp>
        <p:nvSpPr>
          <p:cNvPr id="32" name="Text 26"/>
          <p:cNvSpPr txBox="1"/>
          <p:nvPr/>
        </p:nvSpPr>
        <p:spPr>
          <a:xfrm>
            <a:off x="3529584" y="5349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independent non-executive directors</a:t>
            </a:r>
            <a:endParaRPr lang="en-US" sz="1400" dirty="0"/>
          </a:p>
        </p:txBody>
      </p:sp>
      <p:sp>
        <p:nvSpPr>
          <p:cNvPr id="33" name="gov-stat-2"/>
          <p:cNvSpPr/>
          <p:nvPr/>
        </p:nvSpPr>
        <p:spPr>
          <a:xfrm>
            <a:off x="6144768" y="4617720"/>
            <a:ext cx="2615184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6327648" y="4709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3000" dirty="0"/>
          </a:p>
        </p:txBody>
      </p:sp>
      <p:sp>
        <p:nvSpPr>
          <p:cNvPr id="35" name="Text 29"/>
          <p:cNvSpPr txBox="1"/>
          <p:nvPr/>
        </p:nvSpPr>
        <p:spPr>
          <a:xfrm>
            <a:off x="6327648" y="5349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of the Board are women (7 of 12)</a:t>
            </a:r>
            <a:endParaRPr lang="en-US" sz="1400" dirty="0"/>
          </a:p>
        </p:txBody>
      </p:sp>
      <p:sp>
        <p:nvSpPr>
          <p:cNvPr id="36" name="gov-stat-3"/>
          <p:cNvSpPr/>
          <p:nvPr/>
        </p:nvSpPr>
        <p:spPr>
          <a:xfrm>
            <a:off x="8942832" y="4617720"/>
            <a:ext cx="2615184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9125712" y="4709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KPMG</a:t>
            </a:r>
            <a:endParaRPr lang="en-US" sz="3000" dirty="0"/>
          </a:p>
        </p:txBody>
      </p:sp>
      <p:sp>
        <p:nvSpPr>
          <p:cNvPr id="38" name="Text 32"/>
          <p:cNvSpPr txBox="1"/>
          <p:nvPr/>
        </p:nvSpPr>
        <p:spPr>
          <a:xfrm>
            <a:off x="9125712" y="53492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external auditor since 2018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Source: Reckitt (2026a, pp. 54-55, 72, 118).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analyse the numbers</a:t>
            </a:r>
            <a:endParaRPr lang="en-US" sz="3200" dirty="0"/>
          </a:p>
        </p:txBody>
      </p:sp>
      <p:sp>
        <p:nvSpPr>
          <p:cNvPr id="3" name="theory-0"/>
          <p:cNvSpPr/>
          <p:nvPr/>
        </p:nvSpPr>
        <p:spPr>
          <a:xfrm>
            <a:off x="548640" y="1325880"/>
            <a:ext cx="4937760" cy="1444752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/>
        </p:spPr>
      </p:sp>
      <p:sp>
        <p:nvSpPr>
          <p:cNvPr id="4" name="theory-icon-0-circle"/>
          <p:cNvSpPr/>
          <p:nvPr/>
        </p:nvSpPr>
        <p:spPr>
          <a:xfrm>
            <a:off x="731520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heory-icon-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7080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4173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Why analyse?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783080"/>
            <a:ext cx="3794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Investors know less than managers. Analysis closes this gap and supports buy, hold or sell decisions (Healy and Palepu, 2001).</a:t>
            </a:r>
            <a:endParaRPr lang="en-US" sz="1400" dirty="0"/>
          </a:p>
        </p:txBody>
      </p:sp>
      <p:sp>
        <p:nvSpPr>
          <p:cNvPr id="8" name="theory-1"/>
          <p:cNvSpPr/>
          <p:nvPr/>
        </p:nvSpPr>
        <p:spPr>
          <a:xfrm>
            <a:off x="548640" y="2926080"/>
            <a:ext cx="4937760" cy="1444752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/>
        </p:spPr>
      </p:sp>
      <p:sp>
        <p:nvSpPr>
          <p:cNvPr id="9" name="theory-icon-1-circle"/>
          <p:cNvSpPr/>
          <p:nvPr/>
        </p:nvSpPr>
        <p:spPr>
          <a:xfrm>
            <a:off x="731520" y="31546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theory-icon-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139" y="330829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54480" y="30175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Which methods?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1554480" y="3383280"/>
            <a:ext cx="3794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Ratios in four groups, year-on-year trends and comparison with similar firms (Palepu, Healy and Peek, 2013; Atrill and McLaney, 2022).</a:t>
            </a:r>
            <a:endParaRPr lang="en-US" sz="1400" dirty="0"/>
          </a:p>
        </p:txBody>
      </p:sp>
      <p:sp>
        <p:nvSpPr>
          <p:cNvPr id="13" name="theory-2"/>
          <p:cNvSpPr/>
          <p:nvPr/>
        </p:nvSpPr>
        <p:spPr>
          <a:xfrm>
            <a:off x="548640" y="4526280"/>
            <a:ext cx="4937760" cy="1444752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/>
        </p:spPr>
      </p:sp>
      <p:sp>
        <p:nvSpPr>
          <p:cNvPr id="14" name="theory-icon-2-circle"/>
          <p:cNvSpPr/>
          <p:nvPr/>
        </p:nvSpPr>
        <p:spPr>
          <a:xfrm>
            <a:off x="731520" y="47548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theory-icon-2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39" y="490849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46177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What are the limits?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4983480"/>
            <a:ext cx="37947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Ratios look backwards and can be distorted by one-off items and accounting choices (Beaver, 1966; Barnes, 1987).</a:t>
            </a:r>
            <a:endParaRPr lang="en-US" sz="1400" dirty="0"/>
          </a:p>
        </p:txBody>
      </p:sp>
      <p:graphicFrame>
        <p:nvGraphicFramePr>
          <p:cNvPr id="6" name="extrac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325880"/>
          <a:ext cx="58521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Data from the audited accounts (£m)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Net revenue (sales)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14,205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14,169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Cost of sales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5,571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5,574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Gross profit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8,634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8,595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Operating profit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4,217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2,425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Net profit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3,187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1,428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Total assets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25,068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25,298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assets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5,635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4,598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Current liabilities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6,650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7,943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Inventories (stock)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1,473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1,517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Trade and other receivables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2,124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2,091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Cash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1,952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880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9" name="Text 13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Source: Reckitt (2026a, pp. 133-134), Group Income Statement and Group Balance Sheet. 2023 figures used for averages: Reckitt (2025, p. 156).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Profitability: how much profit is made?</a:t>
            </a:r>
            <a:endParaRPr lang="en-US" sz="3200" dirty="0"/>
          </a:p>
        </p:txBody>
      </p:sp>
      <p:graphicFrame>
        <p:nvGraphicFramePr>
          <p:cNvPr id="7" name="profitabil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389120"/>
                <a:gridCol w="1097280"/>
                <a:gridCol w="1097280"/>
                <a:gridCol w="12801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Ratio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Formula and 2025 working (£m)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Change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Gross profit margin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Gross profit ÷ sales × 100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8,634 ÷ 14,205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60.8%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60.7%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+0.1 pts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Operating profit margin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Operating profit ÷ sales × 100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4,217 ÷ 14,205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29.7%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17.1%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+12.6 pts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Net profit margin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Net profit ÷ sales × 100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3,187 ÷ 14,205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22.4%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+12.4 pts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Return on capital employed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Operating profit ÷ (total assets − current liabilities)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4,217 ÷ 18,418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22.9%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14.0%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+8.9 pts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i="1" dirty="0">
                          <a:solidFill>
                            <a:schemeClr val="tx1"/>
                          </a:solidFill>
                        </a:rPr>
                        <a:t>Operating margin without one-off gain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(Operating profit − £1,245m gain) ÷ sales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2,972 ÷ 14,205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20.9%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17.1%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+3.8 pts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i="1" dirty="0">
                          <a:solidFill>
                            <a:schemeClr val="tx1"/>
                          </a:solidFill>
                        </a:rPr>
                        <a:t>Adjusted operating margin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Adjusted operating profit ÷ sales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3,543 ÷ 14,205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24.9%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24.5%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+0.4 pts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step-1"/>
          <p:cNvSpPr/>
          <p:nvPr/>
        </p:nvSpPr>
        <p:spPr>
          <a:xfrm>
            <a:off x="548640" y="4572000"/>
            <a:ext cx="2628900" cy="1527048"/>
          </a:xfrm>
          <a:prstGeom prst="roundRect">
            <a:avLst>
              <a:gd name="adj" fmla="val 4790"/>
            </a:avLst>
          </a:prstGeom>
          <a:solidFill>
            <a:schemeClr val="bg2"/>
          </a:solidFill>
          <a:ln/>
        </p:spPr>
      </p:sp>
      <p:sp>
        <p:nvSpPr>
          <p:cNvPr id="5" name="step-dot-1"/>
          <p:cNvSpPr/>
          <p:nvPr/>
        </p:nvSpPr>
        <p:spPr>
          <a:xfrm>
            <a:off x="685800" y="470001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4700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468172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13232" y="5120640"/>
            <a:ext cx="23271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From every £1 of sales, Reckitt kept 61p gross profit and 22p net profit. These are high margins.</a:t>
            </a:r>
            <a:endParaRPr lang="en-US" sz="1300" dirty="0"/>
          </a:p>
        </p:txBody>
      </p:sp>
      <p:sp>
        <p:nvSpPr>
          <p:cNvPr id="9" name="step-2"/>
          <p:cNvSpPr/>
          <p:nvPr/>
        </p:nvSpPr>
        <p:spPr>
          <a:xfrm>
            <a:off x="3360420" y="4572000"/>
            <a:ext cx="2628900" cy="1527048"/>
          </a:xfrm>
          <a:prstGeom prst="roundRect">
            <a:avLst>
              <a:gd name="adj" fmla="val 4790"/>
            </a:avLst>
          </a:prstGeom>
          <a:solidFill>
            <a:schemeClr val="bg2"/>
          </a:solidFill>
          <a:ln/>
        </p:spPr>
      </p:sp>
      <p:sp>
        <p:nvSpPr>
          <p:cNvPr id="10" name="step-dot-2"/>
          <p:cNvSpPr/>
          <p:nvPr/>
        </p:nvSpPr>
        <p:spPr>
          <a:xfrm>
            <a:off x="3497580" y="470001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97580" y="4700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927348" y="468172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Movement and reason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525012" y="5120640"/>
            <a:ext cx="23271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Mainly a one-off £1,245m gain on selling Essential Home, plus a smaller brand write-down (£256m vs £839m).</a:t>
            </a:r>
            <a:endParaRPr lang="en-US" sz="1300" dirty="0"/>
          </a:p>
        </p:txBody>
      </p:sp>
      <p:sp>
        <p:nvSpPr>
          <p:cNvPr id="14" name="step-3"/>
          <p:cNvSpPr/>
          <p:nvPr/>
        </p:nvSpPr>
        <p:spPr>
          <a:xfrm>
            <a:off x="6172200" y="4572000"/>
            <a:ext cx="2628900" cy="1527048"/>
          </a:xfrm>
          <a:prstGeom prst="roundRect">
            <a:avLst>
              <a:gd name="adj" fmla="val 4790"/>
            </a:avLst>
          </a:prstGeom>
          <a:solidFill>
            <a:schemeClr val="bg2"/>
          </a:solidFill>
          <a:ln/>
        </p:spPr>
      </p:sp>
      <p:sp>
        <p:nvSpPr>
          <p:cNvPr id="15" name="step-dot-3"/>
          <p:cNvSpPr/>
          <p:nvPr/>
        </p:nvSpPr>
        <p:spPr>
          <a:xfrm>
            <a:off x="6309360" y="470001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309360" y="4700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739128" y="468172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Implication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336792" y="5120640"/>
            <a:ext cx="23271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Without the gain, operating margin is still 20.9%, up 3.8 points. But the 2025 headline will not repeat.</a:t>
            </a:r>
            <a:endParaRPr lang="en-US" sz="1300" dirty="0"/>
          </a:p>
        </p:txBody>
      </p:sp>
      <p:sp>
        <p:nvSpPr>
          <p:cNvPr id="19" name="step-4"/>
          <p:cNvSpPr/>
          <p:nvPr/>
        </p:nvSpPr>
        <p:spPr>
          <a:xfrm>
            <a:off x="8983980" y="4572000"/>
            <a:ext cx="2628900" cy="1527048"/>
          </a:xfrm>
          <a:prstGeom prst="roundRect">
            <a:avLst>
              <a:gd name="adj" fmla="val 4790"/>
            </a:avLst>
          </a:prstGeom>
          <a:solidFill>
            <a:schemeClr val="bg2"/>
          </a:solidFill>
          <a:ln/>
        </p:spPr>
      </p:sp>
      <p:sp>
        <p:nvSpPr>
          <p:cNvPr id="20" name="step-dot-4"/>
          <p:cNvSpPr/>
          <p:nvPr/>
        </p:nvSpPr>
        <p:spPr>
          <a:xfrm>
            <a:off x="9121140" y="470001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9121140" y="4700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550908" y="468172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Recommendation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148572" y="5120640"/>
            <a:ext cx="232714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Judge Reckitt on underlying margins (21-25%), not the 2025 headline. Keep cutting fixed costs (19.4% of sales in 2025).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Source: Reckitt (2026a, pp. 18, 34, 133-134, 150); author's calculations. Formulas: Atrill and McLaney (2022); Arnold and Lewis (2019).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Liquidity: can it pay short-term bills?</a:t>
            </a:r>
            <a:endParaRPr lang="en-US" sz="3200" dirty="0"/>
          </a:p>
        </p:txBody>
      </p:sp>
      <p:graphicFrame>
        <p:nvGraphicFramePr>
          <p:cNvPr id="8" name="liquidit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7665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291840"/>
                <a:gridCol w="640080"/>
                <a:gridCol w="640080"/>
                <a:gridCol w="73152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Ratio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Formula and 2025 working (£m)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H1 2026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Current ratio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Current assets ÷ current liabilities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5,635 ÷ 6,650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0.85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Quick ratio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(Current assets − stock) ÷ current liabilities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4,162 ÷ 6,650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0.63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0.39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0.40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Cash ratio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Cash ÷ current liabilities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1,952 ÷ 6,650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0.29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749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Change 2024 to 2025: current +46%, quick +61%, cash +165%. H1 2026 uses the 30 June 2026 balance sheet.</a:t>
            </a:r>
            <a:endParaRPr lang="en-US" sz="1200" dirty="0"/>
          </a:p>
        </p:txBody>
      </p:sp>
      <p:graphicFrame>
        <p:nvGraphicFramePr>
          <p:cNvPr id="5" name="liquidity-chart" descr=""/>
          <p:cNvGraphicFramePr/>
          <p:nvPr/>
        </p:nvGraphicFramePr>
        <p:xfrm>
          <a:off x="7498080" y="118872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tep-1"/>
          <p:cNvSpPr/>
          <p:nvPr/>
        </p:nvSpPr>
        <p:spPr>
          <a:xfrm>
            <a:off x="548640" y="4526280"/>
            <a:ext cx="262890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7" name="step-dot-1"/>
          <p:cNvSpPr/>
          <p:nvPr/>
        </p:nvSpPr>
        <p:spPr>
          <a:xfrm>
            <a:off x="685800" y="4654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68580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1115568" y="4636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13232" y="5074920"/>
            <a:ext cx="23271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Reckitt has 85p of short-term assets for each £1 of short-term debts, below the usual 2:1 guide.</a:t>
            </a:r>
            <a:endParaRPr lang="en-US" sz="1300" dirty="0"/>
          </a:p>
        </p:txBody>
      </p:sp>
      <p:sp>
        <p:nvSpPr>
          <p:cNvPr id="11" name="step-2"/>
          <p:cNvSpPr/>
          <p:nvPr/>
        </p:nvSpPr>
        <p:spPr>
          <a:xfrm>
            <a:off x="3360420" y="4526280"/>
            <a:ext cx="262890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2" name="step-dot-2"/>
          <p:cNvSpPr/>
          <p:nvPr/>
        </p:nvSpPr>
        <p:spPr>
          <a:xfrm>
            <a:off x="3497580" y="4654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9758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927348" y="4636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Movement and reason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525012" y="5074920"/>
            <a:ext cx="23271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Ratios rose because £1,072m more cash arrived from the sale on 31 Dec 2025, and short-term borrowing fell (£810m vs £1,423m).</a:t>
            </a:r>
            <a:endParaRPr lang="en-US" sz="1300" dirty="0"/>
          </a:p>
        </p:txBody>
      </p:sp>
      <p:sp>
        <p:nvSpPr>
          <p:cNvPr id="16" name="step-3"/>
          <p:cNvSpPr/>
          <p:nvPr/>
        </p:nvSpPr>
        <p:spPr>
          <a:xfrm>
            <a:off x="6172200" y="4526280"/>
            <a:ext cx="262890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7" name="step-dot-3"/>
          <p:cNvSpPr/>
          <p:nvPr/>
        </p:nvSpPr>
        <p:spPr>
          <a:xfrm>
            <a:off x="6309360" y="4654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630936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739128" y="4636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Implication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336792" y="5074920"/>
            <a:ext cx="23271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rise is short-lived (0.59 after the £1.6bn special dividend). £4.4bn of unused bank facilities adds safety.</a:t>
            </a:r>
            <a:endParaRPr lang="en-US" sz="1300" dirty="0"/>
          </a:p>
        </p:txBody>
      </p:sp>
      <p:sp>
        <p:nvSpPr>
          <p:cNvPr id="21" name="step-4"/>
          <p:cNvSpPr/>
          <p:nvPr/>
        </p:nvSpPr>
        <p:spPr>
          <a:xfrm>
            <a:off x="8983980" y="4526280"/>
            <a:ext cx="262890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22" name="step-dot-4"/>
          <p:cNvSpPr/>
          <p:nvPr/>
        </p:nvSpPr>
        <p:spPr>
          <a:xfrm>
            <a:off x="9121140" y="4654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912114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9550908" y="4636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Recommendation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9148572" y="5074920"/>
            <a:ext cx="23271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Acceptable, but watch closely: a $2.5bn bond is due within a year and debt is 2.5 times EBITDA.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Source: Reckitt (2026a, pp. 134, 137); Reckitt (2025, p. 156); Reckitt (2026b, pp. 15, 17, 20); author's calculations.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Efficiency: how well are assets used?</a:t>
            </a:r>
            <a:endParaRPr lang="en-US" sz="3200" dirty="0"/>
          </a:p>
        </p:txBody>
      </p:sp>
      <p:graphicFrame>
        <p:nvGraphicFramePr>
          <p:cNvPr id="9" name="efficiency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029200"/>
                <a:gridCol w="1097280"/>
                <a:gridCol w="1097280"/>
                <a:gridCol w="128016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Ratio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Formula and 2025 working (£m)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Change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Asset turnover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Sales ÷ total assets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14,205 ÷ 25,068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0.57x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0.56x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+0.01x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Inventory turnover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Cost of sales ÷ average stock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5,571 ÷ 1,495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3.73x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3.53x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+0.20x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Inventory days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365 ÷ inventory turnover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365 ÷ 3.73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98 days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103 days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−5 days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Receivables turnover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Sales ÷ average receivables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14,205 ÷ 2,107.5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6.74x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6.82x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−0.08x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Receivable days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365 ÷ receivables turnover</a:t>
                      </a:r>
                      <a:endParaRPr lang="en-US" sz="1300" dirty="0"/>
                    </a:p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365 ÷ 6.74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54 days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53 days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+1 day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114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Averages use opening and closing balances. Credit sales are not disclosed, so total sales and 'trade and other receivables' are used.</a:t>
            </a:r>
            <a:endParaRPr lang="en-US" sz="1200" dirty="0"/>
          </a:p>
        </p:txBody>
      </p:sp>
      <p:sp>
        <p:nvSpPr>
          <p:cNvPr id="5" name="step-1"/>
          <p:cNvSpPr/>
          <p:nvPr/>
        </p:nvSpPr>
        <p:spPr>
          <a:xfrm>
            <a:off x="548640" y="4526280"/>
            <a:ext cx="262890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6" name="step-dot-1"/>
          <p:cNvSpPr/>
          <p:nvPr/>
        </p:nvSpPr>
        <p:spPr>
          <a:xfrm>
            <a:off x="685800" y="4654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15568" y="4636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13232" y="5074920"/>
            <a:ext cx="23271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Each £1 of assets made 57p of sales. Stock is sold about every 98 days; customers pay in about 54 days.</a:t>
            </a:r>
            <a:endParaRPr lang="en-US" sz="1300" dirty="0"/>
          </a:p>
        </p:txBody>
      </p:sp>
      <p:sp>
        <p:nvSpPr>
          <p:cNvPr id="10" name="step-2"/>
          <p:cNvSpPr/>
          <p:nvPr/>
        </p:nvSpPr>
        <p:spPr>
          <a:xfrm>
            <a:off x="3360420" y="4526280"/>
            <a:ext cx="262890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1" name="step-dot-2"/>
          <p:cNvSpPr/>
          <p:nvPr/>
        </p:nvSpPr>
        <p:spPr>
          <a:xfrm>
            <a:off x="3497580" y="4654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49758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927348" y="4636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Movement and reason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525012" y="5074920"/>
            <a:ext cx="23271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Write-downs and the sale cut brand assets (£15.8bn vs £17.6bn), so asset turnover rose. Stock days fell by 5.</a:t>
            </a:r>
            <a:endParaRPr lang="en-US" sz="1300" dirty="0"/>
          </a:p>
        </p:txBody>
      </p:sp>
      <p:sp>
        <p:nvSpPr>
          <p:cNvPr id="15" name="step-3"/>
          <p:cNvSpPr/>
          <p:nvPr/>
        </p:nvSpPr>
        <p:spPr>
          <a:xfrm>
            <a:off x="6172200" y="4526280"/>
            <a:ext cx="262890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6" name="step-dot-3"/>
          <p:cNvSpPr/>
          <p:nvPr/>
        </p:nvSpPr>
        <p:spPr>
          <a:xfrm>
            <a:off x="6309360" y="4654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30936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739128" y="4636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Implication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336792" y="5074920"/>
            <a:ext cx="23271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Asset turnover looks low because 63% of assets are bought brands and goodwill. Faster stock turnover frees cash.</a:t>
            </a:r>
            <a:endParaRPr lang="en-US" sz="1300" dirty="0"/>
          </a:p>
        </p:txBody>
      </p:sp>
      <p:sp>
        <p:nvSpPr>
          <p:cNvPr id="20" name="step-4"/>
          <p:cNvSpPr/>
          <p:nvPr/>
        </p:nvSpPr>
        <p:spPr>
          <a:xfrm>
            <a:off x="8983980" y="4526280"/>
            <a:ext cx="262890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21" name="step-dot-4"/>
          <p:cNvSpPr/>
          <p:nvPr/>
        </p:nvSpPr>
        <p:spPr>
          <a:xfrm>
            <a:off x="9121140" y="4654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12114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9550908" y="4636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Recommendation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148572" y="5074920"/>
            <a:ext cx="23271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Cut stock days towards 90 with a simpler product range and better forecasting. Keep customer terms tight.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Source: Reckitt (2026a, pp. 133-134); Reckitt (2025, p. 156); author's calculations. Formulas: Atrill and McLaney (2022).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Unilever and Haleon (2025)</a:t>
            </a:r>
            <a:endParaRPr lang="en-US" sz="3200" dirty="0"/>
          </a:p>
        </p:txBody>
      </p:sp>
      <p:graphicFrame>
        <p:nvGraphicFramePr>
          <p:cNvPr id="10" name="peer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5895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01168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Ratio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Reckitt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Unilever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Haleon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Gross profit margin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60.8%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46.9%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64.2%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Reported operating margin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29.7% (20.9% without gain)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17.9%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21.9%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Current ratio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0.85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3"/>
                          </a:solidFill>
                        </a:rPr>
                        <a:t>Not verified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Quick ratio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0.63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3"/>
                          </a:solidFill>
                        </a:rPr>
                        <a:t>Not verified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0.71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P/E on reported diluted EPS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12.8x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21.5x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20.3x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P/E on adjusted diluted EPS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17.0x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18.1x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19.9x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Dividend yield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3.5%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3.3%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98348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Prices at 31 Dec 2025: RKT 6,002p, ULVR 4,859.5p, HLN 374.8p. Unilever EPS (€2.59 reported, €3.08 underlying) and dividends (€1.8248) converted at €1 = £0.8715. Unilever current liabilities differ between sources, so its liquidity ratios are not shown.</a:t>
            </a:r>
            <a:endParaRPr lang="en-US" sz="1200" dirty="0"/>
          </a:p>
        </p:txBody>
      </p:sp>
      <p:sp>
        <p:nvSpPr>
          <p:cNvPr id="5" name="peer-takeaway"/>
          <p:cNvSpPr/>
          <p:nvPr/>
        </p:nvSpPr>
        <p:spPr>
          <a:xfrm>
            <a:off x="8412480" y="1234440"/>
            <a:ext cx="3200400" cy="4800600"/>
          </a:xfrm>
          <a:prstGeom prst="roundRect">
            <a:avLst>
              <a:gd name="adj" fmla="val 2286"/>
            </a:avLst>
          </a:prstGeom>
          <a:solidFill>
            <a:schemeClr val="tx2"/>
          </a:solidFill>
          <a:ln/>
        </p:spPr>
      </p:sp>
      <p:sp>
        <p:nvSpPr>
          <p:cNvPr id="6" name="peer-icon-circle"/>
          <p:cNvSpPr/>
          <p:nvPr/>
        </p:nvSpPr>
        <p:spPr>
          <a:xfrm>
            <a:off x="8595360" y="1417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peer-icon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8979" y="1570939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372600" y="1481328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8595360" y="2240280"/>
            <a:ext cx="2834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Reckitt's margins beat Unilever and are close to Haleon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Ratios below 1 are normal in this sector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Reckitt is the cheapest of the three on adjusted P/E, with the highest yield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Source: Unilever (2026a; 2026b); Haleon (2026); Alpha Vantage (2026); Reckitt (2026a); author's calculations.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price, EPS and P/E ratio</a:t>
            </a:r>
            <a:endParaRPr lang="en-US" sz="3200" dirty="0"/>
          </a:p>
        </p:txBody>
      </p:sp>
      <p:graphicFrame>
        <p:nvGraphicFramePr>
          <p:cNvPr id="3" name="share-price-chart" descr=""/>
          <p:cNvGraphicFramePr/>
          <p:nvPr/>
        </p:nvGraphicFramePr>
        <p:xfrm>
          <a:off x="548640" y="1188720"/>
          <a:ext cx="5394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marke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234440"/>
          <a:ext cx="544068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2468880"/>
                <a:gridCol w="73152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Measure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Formula and 2025 working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Share price growth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(End price − start price) ÷ start price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(6,002 − 4,833) ÷ 4,833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+24.2%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−10.8%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Basic EPS (reported)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Profit for shareholders ÷ average shares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As reported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468.3p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203.6p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Adjusted diluted EPS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Company's adjusted measure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As reported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352.8p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349.0p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P/E (reported)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Share price ÷ basic EPS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6,002 ÷ 468.3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12.8x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23.7x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P/E (adjusted)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Share price ÷ adjusted EPS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6,002 ÷ 352.8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17.0x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13.8x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tep-1"/>
          <p:cNvSpPr/>
          <p:nvPr/>
        </p:nvSpPr>
        <p:spPr>
          <a:xfrm>
            <a:off x="548640" y="4526280"/>
            <a:ext cx="262890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6" name="step-dot-1"/>
          <p:cNvSpPr/>
          <p:nvPr/>
        </p:nvSpPr>
        <p:spPr>
          <a:xfrm>
            <a:off x="685800" y="4654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8580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115568" y="4636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13232" y="5074920"/>
            <a:ext cx="23271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share price rose 24.2% in 2025 and market value grew from £33.2bn to £40.4bn.</a:t>
            </a:r>
            <a:endParaRPr lang="en-US" sz="1300" dirty="0"/>
          </a:p>
        </p:txBody>
      </p:sp>
      <p:sp>
        <p:nvSpPr>
          <p:cNvPr id="10" name="step-2"/>
          <p:cNvSpPr/>
          <p:nvPr/>
        </p:nvSpPr>
        <p:spPr>
          <a:xfrm>
            <a:off x="3360420" y="4526280"/>
            <a:ext cx="262890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1" name="step-dot-2"/>
          <p:cNvSpPr/>
          <p:nvPr/>
        </p:nvSpPr>
        <p:spPr>
          <a:xfrm>
            <a:off x="3497580" y="4654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49758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927348" y="4636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Movement and reason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525012" y="5074920"/>
            <a:ext cx="23271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Basic EPS doubled because of the one-off gain. Adjusted EPS rose only 1.1%. The 2024 fall came alongside the March 2024 NEC court verdict.</a:t>
            </a:r>
            <a:endParaRPr lang="en-US" sz="1300" dirty="0"/>
          </a:p>
        </p:txBody>
      </p:sp>
      <p:sp>
        <p:nvSpPr>
          <p:cNvPr id="15" name="step-3"/>
          <p:cNvSpPr/>
          <p:nvPr/>
        </p:nvSpPr>
        <p:spPr>
          <a:xfrm>
            <a:off x="6172200" y="4526280"/>
            <a:ext cx="262890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6" name="step-dot-3"/>
          <p:cNvSpPr/>
          <p:nvPr/>
        </p:nvSpPr>
        <p:spPr>
          <a:xfrm>
            <a:off x="6309360" y="4654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30936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739128" y="4636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Implication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336792" y="5074920"/>
            <a:ext cx="23271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reported P/E of 12.8x is distorted. The adjusted P/E rose from 13.8x to 17.0x: investors grew more confident.</a:t>
            </a:r>
            <a:endParaRPr lang="en-US" sz="1300" dirty="0"/>
          </a:p>
        </p:txBody>
      </p:sp>
      <p:sp>
        <p:nvSpPr>
          <p:cNvPr id="20" name="step-4"/>
          <p:cNvSpPr/>
          <p:nvPr/>
        </p:nvSpPr>
        <p:spPr>
          <a:xfrm>
            <a:off x="8983980" y="4526280"/>
            <a:ext cx="262890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21" name="step-dot-4"/>
          <p:cNvSpPr/>
          <p:nvPr/>
        </p:nvSpPr>
        <p:spPr>
          <a:xfrm>
            <a:off x="9121140" y="4654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912114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9550908" y="4636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Recommendation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9148572" y="5074920"/>
            <a:ext cx="23271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 the adjusted P/E. It is below Unilever (18.1x) and Haleon (19.9x), which suggests possible value.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Source: Alpha Vantage (2026) LSE closing prices; Reckitt (2026a, pp. 20, 85, 133, 149, 167); author's calculations.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Dividends: what shareholders receive</a:t>
            </a:r>
            <a:endParaRPr lang="en-US" sz="3200" dirty="0"/>
          </a:p>
        </p:txBody>
      </p:sp>
      <p:graphicFrame>
        <p:nvGraphicFramePr>
          <p:cNvPr id="3" name="dividend-chart" descr=""/>
          <p:cNvGraphicFramePr/>
          <p:nvPr/>
        </p:nvGraphicFramePr>
        <p:xfrm>
          <a:off x="548640" y="118872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2" name="dividend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83480" y="1234440"/>
          <a:ext cx="6629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063240"/>
                <a:gridCol w="822960"/>
                <a:gridCol w="82296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Measure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Formula and 2025 working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2025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2024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Dividend per share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Total declared for the year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127.8p final + 84.4p interim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212.2p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202.1p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Dividend yield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Dividend ÷ share price × 100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212.2 ÷ 6,002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3.5%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4.2%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Payout (reported)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Dividend ÷ basic EPS × 100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212.2 ÷ 468.3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45%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99%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Payout (adjusted)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Dividend ÷ adjusted EPS × 100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212.2 ÷ 352.8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58%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Dividend cover (adjusted)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Adjusted EPS ÷ dividend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352.8 ÷ 212.2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1.7x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1.7x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tep-1"/>
          <p:cNvSpPr/>
          <p:nvPr/>
        </p:nvSpPr>
        <p:spPr>
          <a:xfrm>
            <a:off x="548640" y="4526280"/>
            <a:ext cx="262890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6" name="step-dot-1"/>
          <p:cNvSpPr/>
          <p:nvPr/>
        </p:nvSpPr>
        <p:spPr>
          <a:xfrm>
            <a:off x="685800" y="4654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68580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1115568" y="4636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Interpretation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713232" y="5074920"/>
            <a:ext cx="23271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Shareholders received 212.2p per share for 2025, a 3.5% yield on the year-end price.</a:t>
            </a:r>
            <a:endParaRPr lang="en-US" sz="1300" dirty="0"/>
          </a:p>
        </p:txBody>
      </p:sp>
      <p:sp>
        <p:nvSpPr>
          <p:cNvPr id="10" name="step-2"/>
          <p:cNvSpPr/>
          <p:nvPr/>
        </p:nvSpPr>
        <p:spPr>
          <a:xfrm>
            <a:off x="3360420" y="4526280"/>
            <a:ext cx="262890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1" name="step-dot-2"/>
          <p:cNvSpPr/>
          <p:nvPr/>
        </p:nvSpPr>
        <p:spPr>
          <a:xfrm>
            <a:off x="3497580" y="4654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349758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927348" y="4636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Movement and reason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525012" y="5074920"/>
            <a:ext cx="23271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dividend has grown 5% every year since 2022. Reported cover rose to 2.2x only because of the one-off gain.</a:t>
            </a:r>
            <a:endParaRPr lang="en-US" sz="1300" dirty="0"/>
          </a:p>
        </p:txBody>
      </p:sp>
      <p:sp>
        <p:nvSpPr>
          <p:cNvPr id="15" name="step-3"/>
          <p:cNvSpPr/>
          <p:nvPr/>
        </p:nvSpPr>
        <p:spPr>
          <a:xfrm>
            <a:off x="6172200" y="4526280"/>
            <a:ext cx="262890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16" name="step-dot-3"/>
          <p:cNvSpPr/>
          <p:nvPr/>
        </p:nvSpPr>
        <p:spPr>
          <a:xfrm>
            <a:off x="6309360" y="4654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30936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739128" y="4636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Implication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336792" y="5074920"/>
            <a:ext cx="23271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About 60% of underlying profit is paid out and 40% kept for growth, a steady policy (Lintner, 1956).</a:t>
            </a:r>
            <a:endParaRPr lang="en-US" sz="1300" dirty="0"/>
          </a:p>
        </p:txBody>
      </p:sp>
      <p:sp>
        <p:nvSpPr>
          <p:cNvPr id="20" name="step-4"/>
          <p:cNvSpPr/>
          <p:nvPr/>
        </p:nvSpPr>
        <p:spPr>
          <a:xfrm>
            <a:off x="8983980" y="4526280"/>
            <a:ext cx="2628900" cy="1572768"/>
          </a:xfrm>
          <a:prstGeom prst="roundRect">
            <a:avLst>
              <a:gd name="adj" fmla="val 4651"/>
            </a:avLst>
          </a:prstGeom>
          <a:solidFill>
            <a:schemeClr val="bg2"/>
          </a:solidFill>
          <a:ln/>
        </p:spPr>
      </p:sp>
      <p:sp>
        <p:nvSpPr>
          <p:cNvPr id="21" name="step-dot-4"/>
          <p:cNvSpPr/>
          <p:nvPr/>
        </p:nvSpPr>
        <p:spPr>
          <a:xfrm>
            <a:off x="9121140" y="4654296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9121140" y="4654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9550908" y="4636008"/>
            <a:ext cx="19431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Recommendation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9148572" y="5074920"/>
            <a:ext cx="232714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Good for income investors, but profit growth matters more than payout policy (Miller and Modigliani, 1961).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Source: Reckitt (2026a, pp. 34, 149, 178); Alpha Vantage (2026); author's calculations. 2025 interim = 212.2p − 127.8p final.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vs adjusted results, and 2026</a:t>
            </a:r>
            <a:endParaRPr lang="en-US" sz="3200" dirty="0"/>
          </a:p>
        </p:txBody>
      </p:sp>
      <p:graphicFrame>
        <p:nvGraphicFramePr>
          <p:cNvPr id="13" name="reported-adjusted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69494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34440"/>
                <a:gridCol w="1234440"/>
                <a:gridCol w="1234440"/>
                <a:gridCol w="1234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Measure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2025 reported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2025 adjusted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H1 2026 reported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H1 2026 adjusted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Operating profit (£m)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4,217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3,543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1,166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1,469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Operating margin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29.7%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24.9%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18.2%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22.9%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Diluted EPS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467.2p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352.8p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100.6p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152.1p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why-differ"/>
          <p:cNvSpPr/>
          <p:nvPr/>
        </p:nvSpPr>
        <p:spPr>
          <a:xfrm>
            <a:off x="548640" y="3200400"/>
            <a:ext cx="6949440" cy="28346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77240" y="32918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Why the two sets of numbers differ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703320"/>
            <a:ext cx="6492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Reported (IFRS) profit includes one-off items: a £1,245m gain on sale, a £256m brand write-down and £179m of restructuring costs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Adjusted figures remove these items, so they show the ongoing business more clearly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But management chooses the adjustments, so investors should always read both</a:t>
            </a:r>
            <a:endParaRPr lang="en-US" sz="1400" dirty="0"/>
          </a:p>
        </p:txBody>
      </p:sp>
      <p:sp>
        <p:nvSpPr>
          <p:cNvPr id="7" name="h1-card"/>
          <p:cNvSpPr/>
          <p:nvPr/>
        </p:nvSpPr>
        <p:spPr>
          <a:xfrm>
            <a:off x="7772400" y="1234440"/>
            <a:ext cx="3840480" cy="4800600"/>
          </a:xfrm>
          <a:prstGeom prst="roundRect">
            <a:avLst>
              <a:gd name="adj" fmla="val 1905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0100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First half of 2026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28800"/>
            <a:ext cx="3429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Like-for-like sales +2.6% (+4.7% in Q2)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Reported sales −8.1% to £6,411m because Essential Home was sold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Debt rose to 2.5x EBITDA after the special dividend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Interim dividend +5% to 88.6p; new buyback of up to £500m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Full-year 2026 targets kept: core sales growth +4% to +5%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Source: Reckitt (2026a, pp. 20, 34, 133, 150, 177); Reckitt (2026b, pp. 1-3, 17). H1 2026 margins: author's calculations on £6,411m total sales.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useful is the annual report?</a:t>
            </a:r>
            <a:endParaRPr lang="en-US" sz="3200" dirty="0"/>
          </a:p>
        </p:txBody>
      </p:sp>
      <p:sp>
        <p:nvSpPr>
          <p:cNvPr id="3" name="stakeholder-0"/>
          <p:cNvSpPr/>
          <p:nvPr/>
        </p:nvSpPr>
        <p:spPr>
          <a:xfrm>
            <a:off x="548640" y="1280160"/>
            <a:ext cx="3017520" cy="1444752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/>
        </p:spPr>
      </p:sp>
      <p:sp>
        <p:nvSpPr>
          <p:cNvPr id="4" name="stakeholder-icon-0-circle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akeholder-icon-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3194" y="159471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Investors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031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Profit, value of their shares, dividends</a:t>
            </a:r>
            <a:endParaRPr lang="en-US" sz="1400" dirty="0"/>
          </a:p>
        </p:txBody>
      </p:sp>
      <p:sp>
        <p:nvSpPr>
          <p:cNvPr id="8" name="stakeholder-1"/>
          <p:cNvSpPr/>
          <p:nvPr/>
        </p:nvSpPr>
        <p:spPr>
          <a:xfrm>
            <a:off x="3749040" y="1280160"/>
            <a:ext cx="3017520" cy="1444752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/>
        </p:spPr>
      </p:sp>
      <p:sp>
        <p:nvSpPr>
          <p:cNvPr id="9" name="stakeholder-icon-1-circle"/>
          <p:cNvSpPr/>
          <p:nvPr/>
        </p:nvSpPr>
        <p:spPr>
          <a:xfrm>
            <a:off x="3931920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stakeholder-icon-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594" y="159471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17720" y="15087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Lenders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21031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Cash, debt and ability to repay</a:t>
            </a:r>
            <a:endParaRPr lang="en-US" sz="1400" dirty="0"/>
          </a:p>
        </p:txBody>
      </p:sp>
      <p:sp>
        <p:nvSpPr>
          <p:cNvPr id="13" name="stakeholder-2"/>
          <p:cNvSpPr/>
          <p:nvPr/>
        </p:nvSpPr>
        <p:spPr>
          <a:xfrm>
            <a:off x="548640" y="2880360"/>
            <a:ext cx="3017520" cy="1444752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/>
        </p:spPr>
      </p:sp>
      <p:sp>
        <p:nvSpPr>
          <p:cNvPr id="14" name="stakeholder-icon-2-circle"/>
          <p:cNvSpPr/>
          <p:nvPr/>
        </p:nvSpPr>
        <p:spPr>
          <a:xfrm>
            <a:off x="731520" y="3063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stakeholder-icon-2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4" y="319491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Suppliers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" y="37033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Whether Reckitt can pay its bills</a:t>
            </a:r>
            <a:endParaRPr lang="en-US" sz="1400" dirty="0"/>
          </a:p>
        </p:txBody>
      </p:sp>
      <p:sp>
        <p:nvSpPr>
          <p:cNvPr id="18" name="stakeholder-3"/>
          <p:cNvSpPr/>
          <p:nvPr/>
        </p:nvSpPr>
        <p:spPr>
          <a:xfrm>
            <a:off x="3749040" y="2880360"/>
            <a:ext cx="3017520" cy="1444752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/>
        </p:spPr>
      </p:sp>
      <p:sp>
        <p:nvSpPr>
          <p:cNvPr id="19" name="stakeholder-icon-3-circle"/>
          <p:cNvSpPr/>
          <p:nvPr/>
        </p:nvSpPr>
        <p:spPr>
          <a:xfrm>
            <a:off x="3931920" y="3063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takeholder-icon-3-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594" y="319491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617720" y="31089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Customers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3931920" y="37033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 base by area; product safety</a:t>
            </a:r>
            <a:endParaRPr lang="en-US" sz="1400" dirty="0"/>
          </a:p>
        </p:txBody>
      </p:sp>
      <p:sp>
        <p:nvSpPr>
          <p:cNvPr id="23" name="stakeholder-4"/>
          <p:cNvSpPr/>
          <p:nvPr/>
        </p:nvSpPr>
        <p:spPr>
          <a:xfrm>
            <a:off x="548640" y="4480560"/>
            <a:ext cx="3017520" cy="1444752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/>
        </p:spPr>
      </p:sp>
      <p:sp>
        <p:nvSpPr>
          <p:cNvPr id="24" name="stakeholder-icon-4-circle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stakeholder-icon-4-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194" y="479511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17320" y="4709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Employees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731520" y="53035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Job security and pay</a:t>
            </a:r>
            <a:endParaRPr lang="en-US" sz="1400" dirty="0"/>
          </a:p>
        </p:txBody>
      </p:sp>
      <p:sp>
        <p:nvSpPr>
          <p:cNvPr id="28" name="stakeholder-5"/>
          <p:cNvSpPr/>
          <p:nvPr/>
        </p:nvSpPr>
        <p:spPr>
          <a:xfrm>
            <a:off x="3749040" y="4480560"/>
            <a:ext cx="3017520" cy="1444752"/>
          </a:xfrm>
          <a:prstGeom prst="roundRect">
            <a:avLst>
              <a:gd name="adj" fmla="val 5063"/>
            </a:avLst>
          </a:prstGeom>
          <a:solidFill>
            <a:schemeClr val="bg2"/>
          </a:solidFill>
          <a:ln/>
        </p:spPr>
      </p:sp>
      <p:sp>
        <p:nvSpPr>
          <p:cNvPr id="29" name="stakeholder-icon-5-circle"/>
          <p:cNvSpPr/>
          <p:nvPr/>
        </p:nvSpPr>
        <p:spPr>
          <a:xfrm>
            <a:off x="3931920" y="4663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stakeholder-icon-5-glyph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3594" y="479511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617720" y="4709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Government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3931920" y="5303520"/>
            <a:ext cx="2697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Tax paid (£897m in 2025) and compliance</a:t>
            </a:r>
            <a:endParaRPr lang="en-US" sz="1400" dirty="0"/>
          </a:p>
        </p:txBody>
      </p:sp>
      <p:sp>
        <p:nvSpPr>
          <p:cNvPr id="33" name="ar-strengths"/>
          <p:cNvSpPr/>
          <p:nvPr/>
        </p:nvSpPr>
        <p:spPr>
          <a:xfrm>
            <a:off x="7040880" y="1280160"/>
            <a:ext cx="4572000" cy="2240280"/>
          </a:xfrm>
          <a:prstGeom prst="roundRect">
            <a:avLst>
              <a:gd name="adj" fmla="val 3265"/>
            </a:avLst>
          </a:prstGeom>
          <a:solidFill>
            <a:schemeClr val="bg2"/>
          </a:solidFill>
          <a:ln/>
        </p:spPr>
      </p:sp>
      <p:sp>
        <p:nvSpPr>
          <p:cNvPr id="34" name="Text 26"/>
          <p:cNvSpPr txBox="1"/>
          <p:nvPr/>
        </p:nvSpPr>
        <p:spPr>
          <a:xfrm>
            <a:off x="7269480" y="1371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Strengths</a:t>
            </a:r>
            <a:endParaRPr lang="en-US" sz="1700" dirty="0"/>
          </a:p>
        </p:txBody>
      </p:sp>
      <p:sp>
        <p:nvSpPr>
          <p:cNvPr id="35" name="Text 27"/>
          <p:cNvSpPr txBox="1"/>
          <p:nvPr/>
        </p:nvSpPr>
        <p:spPr>
          <a:xfrm>
            <a:off x="7269480" y="1783080"/>
            <a:ext cx="4160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Checked by an auditor (KPMG) and follows IFRS rules, so it is reliable and comparable (IASB, 2018)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Serves many groups, not only shareholders (Freeman, 1984)</a:t>
            </a:r>
            <a:endParaRPr lang="en-US" sz="1400" dirty="0"/>
          </a:p>
        </p:txBody>
      </p:sp>
      <p:sp>
        <p:nvSpPr>
          <p:cNvPr id="36" name="ar-limits"/>
          <p:cNvSpPr/>
          <p:nvPr/>
        </p:nvSpPr>
        <p:spPr>
          <a:xfrm>
            <a:off x="7040880" y="3703320"/>
            <a:ext cx="4572000" cy="2331720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7269480" y="37947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6"/>
                </a:solidFill>
              </a:rPr>
              <a:t>Limitations</a:t>
            </a:r>
            <a:endParaRPr lang="en-US" sz="1700" dirty="0"/>
          </a:p>
        </p:txBody>
      </p:sp>
      <p:sp>
        <p:nvSpPr>
          <p:cNvPr id="38" name="Text 30"/>
          <p:cNvSpPr txBox="1"/>
          <p:nvPr/>
        </p:nvSpPr>
        <p:spPr>
          <a:xfrm>
            <a:off x="7269480" y="4206240"/>
            <a:ext cx="4160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Looks backwards and came out two months after year end; 216 pages long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Many 'adjusted' figures chosen by management; home-grown brands are not shown as assets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So we also used half-year results and share prices (Healy and Palepu, 2001)</a:t>
            </a:r>
            <a:endParaRPr lang="en-US" sz="1400" dirty="0"/>
          </a:p>
        </p:txBody>
      </p:sp>
      <p:sp>
        <p:nvSpPr>
          <p:cNvPr id="39" name="Text 31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Source: Reckitt (2026a, pp. 118, 134, 136); IASB (2018); Freeman (1984); Healy and Palepu (2001).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management strengths</a:t>
            </a:r>
            <a:endParaRPr lang="en-US" sz="3200" dirty="0"/>
          </a:p>
        </p:txBody>
      </p:sp>
      <p:sp>
        <p:nvSpPr>
          <p:cNvPr id="3" name="ms-head-0"/>
          <p:cNvSpPr/>
          <p:nvPr/>
        </p:nvSpPr>
        <p:spPr>
          <a:xfrm>
            <a:off x="548640" y="1234440"/>
            <a:ext cx="539496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4" name="ms-head-icon-0-circle"/>
          <p:cNvSpPr/>
          <p:nvPr/>
        </p:nvSpPr>
        <p:spPr>
          <a:xfrm>
            <a:off x="68580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s-head-icon-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4118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2801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1. Strategy and innovation</a:t>
            </a:r>
            <a:endParaRPr lang="en-US" sz="1900" dirty="0"/>
          </a:p>
        </p:txBody>
      </p:sp>
      <p:sp>
        <p:nvSpPr>
          <p:cNvPr id="7" name="ms-row-0-0"/>
          <p:cNvSpPr/>
          <p:nvPr/>
        </p:nvSpPr>
        <p:spPr>
          <a:xfrm>
            <a:off x="548640" y="2011680"/>
            <a:ext cx="539496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8" name="ms-icon-0-0-circle"/>
          <p:cNvSpPr/>
          <p:nvPr/>
        </p:nvSpPr>
        <p:spPr>
          <a:xfrm>
            <a:off x="685800" y="21488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ms-icon-0-0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95" y="2271735"/>
            <a:ext cx="266273" cy="26627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2066544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Focused brands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71600" y="23774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11 top brands now make most of the sales; Essential Home sold</a:t>
            </a:r>
            <a:endParaRPr lang="en-US" sz="1300" dirty="0"/>
          </a:p>
        </p:txBody>
      </p:sp>
      <p:sp>
        <p:nvSpPr>
          <p:cNvPr id="12" name="ms-row-0-1"/>
          <p:cNvSpPr/>
          <p:nvPr/>
        </p:nvSpPr>
        <p:spPr>
          <a:xfrm>
            <a:off x="548640" y="2907792"/>
            <a:ext cx="539496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13" name="ms-icon-0-1-circle"/>
          <p:cNvSpPr/>
          <p:nvPr/>
        </p:nvSpPr>
        <p:spPr>
          <a:xfrm>
            <a:off x="685800" y="3044952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ms-icon-0-1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95" y="3167847"/>
            <a:ext cx="266273" cy="26627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2962656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Fuel for Growth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327355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Fixed costs cut from 21.8% (2023) to 19.4% (2025) of sales</a:t>
            </a:r>
            <a:endParaRPr lang="en-US" sz="1300" dirty="0"/>
          </a:p>
        </p:txBody>
      </p:sp>
      <p:sp>
        <p:nvSpPr>
          <p:cNvPr id="17" name="ms-row-0-2"/>
          <p:cNvSpPr/>
          <p:nvPr/>
        </p:nvSpPr>
        <p:spPr>
          <a:xfrm>
            <a:off x="548640" y="3803904"/>
            <a:ext cx="539496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18" name="ms-icon-0-2-circle"/>
          <p:cNvSpPr/>
          <p:nvPr/>
        </p:nvSpPr>
        <p:spPr>
          <a:xfrm>
            <a:off x="685800" y="394106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ms-icon-0-2-glyph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695" y="4063959"/>
            <a:ext cx="266273" cy="26627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371600" y="3858768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New products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1371600" y="416966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Dettol Activ Botany, Mucinex 12HR Cold &amp; Fever, Durex Intensity</a:t>
            </a:r>
            <a:endParaRPr lang="en-US" sz="1300" dirty="0"/>
          </a:p>
        </p:txBody>
      </p:sp>
      <p:sp>
        <p:nvSpPr>
          <p:cNvPr id="22" name="ms-row-0-3"/>
          <p:cNvSpPr/>
          <p:nvPr/>
        </p:nvSpPr>
        <p:spPr>
          <a:xfrm>
            <a:off x="548640" y="4700016"/>
            <a:ext cx="539496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23" name="ms-icon-0-3-circle"/>
          <p:cNvSpPr/>
          <p:nvPr/>
        </p:nvSpPr>
        <p:spPr>
          <a:xfrm>
            <a:off x="685800" y="4837176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ms-icon-0-3-glyph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95" y="4960071"/>
            <a:ext cx="266273" cy="266273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371600" y="4754880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Growth markets and AI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371600" y="50657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Emerging Markets +14.6%; AI cuts marketing idea time by 70%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5623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Strong brands are hard to copy, which protects profit (Barney, 1991; Whittington et al., 2020).</a:t>
            </a:r>
            <a:endParaRPr lang="en-US" sz="1200" dirty="0"/>
          </a:p>
        </p:txBody>
      </p:sp>
      <p:sp>
        <p:nvSpPr>
          <p:cNvPr id="28" name="ms-head-1"/>
          <p:cNvSpPr/>
          <p:nvPr/>
        </p:nvSpPr>
        <p:spPr>
          <a:xfrm>
            <a:off x="6217920" y="1234440"/>
            <a:ext cx="539496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9" name="ms-head-icon-1-circle"/>
          <p:cNvSpPr/>
          <p:nvPr/>
        </p:nvSpPr>
        <p:spPr>
          <a:xfrm>
            <a:off x="6355080" y="1280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ms-head-icon-1-glyph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6754" y="141183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86600" y="12801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2. Risk management</a:t>
            </a:r>
            <a:endParaRPr lang="en-US" sz="1900" dirty="0"/>
          </a:p>
        </p:txBody>
      </p:sp>
      <p:sp>
        <p:nvSpPr>
          <p:cNvPr id="32" name="ms-row-1-0"/>
          <p:cNvSpPr/>
          <p:nvPr/>
        </p:nvSpPr>
        <p:spPr>
          <a:xfrm>
            <a:off x="6217920" y="2011680"/>
            <a:ext cx="539496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33" name="ms-icon-1-0-circle"/>
          <p:cNvSpPr/>
          <p:nvPr/>
        </p:nvSpPr>
        <p:spPr>
          <a:xfrm>
            <a:off x="6355080" y="2148840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ms-icon-1-0-glyph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975" y="2271735"/>
            <a:ext cx="266273" cy="266273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040880" y="2066544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Clear structure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7040880" y="2377440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Board sets risk limits; Audit Committee checks; each risk has an owner</a:t>
            </a:r>
            <a:endParaRPr lang="en-US" sz="1300" dirty="0"/>
          </a:p>
        </p:txBody>
      </p:sp>
      <p:sp>
        <p:nvSpPr>
          <p:cNvPr id="37" name="ms-row-1-1"/>
          <p:cNvSpPr/>
          <p:nvPr/>
        </p:nvSpPr>
        <p:spPr>
          <a:xfrm>
            <a:off x="6217920" y="2907792"/>
            <a:ext cx="539496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38" name="ms-icon-1-1-circle"/>
          <p:cNvSpPr/>
          <p:nvPr/>
        </p:nvSpPr>
        <p:spPr>
          <a:xfrm>
            <a:off x="6355080" y="3044952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9" name="ms-icon-1-1-glyph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975" y="3167847"/>
            <a:ext cx="266273" cy="266273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7040880" y="2962656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Open about risks</a:t>
            </a:r>
            <a:endParaRPr lang="en-US" sz="1500" dirty="0"/>
          </a:p>
        </p:txBody>
      </p:sp>
      <p:sp>
        <p:nvSpPr>
          <p:cNvPr id="41" name="Text 31"/>
          <p:cNvSpPr txBox="1"/>
          <p:nvPr/>
        </p:nvSpPr>
        <p:spPr>
          <a:xfrm>
            <a:off x="7040880" y="327355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Names four higher risks: product safety, supply, cyber, geopolitics</a:t>
            </a:r>
            <a:endParaRPr lang="en-US" sz="1300" dirty="0"/>
          </a:p>
        </p:txBody>
      </p:sp>
      <p:sp>
        <p:nvSpPr>
          <p:cNvPr id="42" name="ms-row-1-2"/>
          <p:cNvSpPr/>
          <p:nvPr/>
        </p:nvSpPr>
        <p:spPr>
          <a:xfrm>
            <a:off x="6217920" y="3803904"/>
            <a:ext cx="539496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43" name="ms-icon-1-2-circle"/>
          <p:cNvSpPr/>
          <p:nvPr/>
        </p:nvSpPr>
        <p:spPr>
          <a:xfrm>
            <a:off x="6355080" y="3941064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4" name="ms-icon-1-2-glyph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975" y="4063959"/>
            <a:ext cx="266273" cy="266273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7040880" y="3858768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Financial safety net</a:t>
            </a:r>
            <a:endParaRPr lang="en-US" sz="1500" dirty="0"/>
          </a:p>
        </p:txBody>
      </p:sp>
      <p:sp>
        <p:nvSpPr>
          <p:cNvPr id="46" name="Text 35"/>
          <p:cNvSpPr txBox="1"/>
          <p:nvPr/>
        </p:nvSpPr>
        <p:spPr>
          <a:xfrm>
            <a:off x="7040880" y="4169664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£4.4bn of unused bank facilities; three-year viability test</a:t>
            </a:r>
            <a:endParaRPr lang="en-US" sz="1300" dirty="0"/>
          </a:p>
        </p:txBody>
      </p:sp>
      <p:sp>
        <p:nvSpPr>
          <p:cNvPr id="47" name="ms-row-1-3"/>
          <p:cNvSpPr/>
          <p:nvPr/>
        </p:nvSpPr>
        <p:spPr>
          <a:xfrm>
            <a:off x="6217920" y="4700016"/>
            <a:ext cx="539496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48" name="ms-icon-1-3-circle"/>
          <p:cNvSpPr/>
          <p:nvPr/>
        </p:nvSpPr>
        <p:spPr>
          <a:xfrm>
            <a:off x="6355080" y="4837176"/>
            <a:ext cx="512064" cy="51206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9" name="ms-icon-1-3-glyph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975" y="4960071"/>
            <a:ext cx="266273" cy="266273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7040880" y="4754880"/>
            <a:ext cx="4434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Tested in practice</a:t>
            </a:r>
            <a:endParaRPr lang="en-US" sz="1500" dirty="0"/>
          </a:p>
        </p:txBody>
      </p:sp>
      <p:sp>
        <p:nvSpPr>
          <p:cNvPr id="51" name="Text 39"/>
          <p:cNvSpPr txBox="1"/>
          <p:nvPr/>
        </p:nvSpPr>
        <p:spPr>
          <a:xfrm>
            <a:off x="7040880" y="5065776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Middle East operations improved after ceasefire; NEC verdict under appeal</a:t>
            </a:r>
            <a:endParaRPr lang="en-US" sz="1300" dirty="0"/>
          </a:p>
        </p:txBody>
      </p:sp>
      <p:sp>
        <p:nvSpPr>
          <p:cNvPr id="52" name="Text 40"/>
          <p:cNvSpPr txBox="1"/>
          <p:nvPr/>
        </p:nvSpPr>
        <p:spPr>
          <a:xfrm>
            <a:off x="6217920" y="562356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Steadier returns can lower a company's cost of capital (Brealey et al., 2023).</a:t>
            </a:r>
            <a:endParaRPr lang="en-US" sz="1200" dirty="0"/>
          </a:p>
        </p:txBody>
      </p:sp>
      <p:sp>
        <p:nvSpPr>
          <p:cNvPr id="53" name="Text 41"/>
          <p:cNvSpPr txBox="1"/>
          <p:nvPr/>
        </p:nvSpPr>
        <p:spPr>
          <a:xfrm>
            <a:off x="548640" y="614476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3"/>
                </a:solidFill>
              </a:rPr>
              <a:t>Source: Reckitt (2026a, pp. 5, 18-19, 34, 48-52, 137, 167); Reckitt (2026b, pp. 2, 8).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buy gradually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1430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For long-term investors: a high-margin, dividend-paying business at a lower P/E than its peers</a:t>
            </a:r>
            <a:endParaRPr lang="en-US" sz="1800" dirty="0"/>
          </a:p>
        </p:txBody>
      </p:sp>
      <p:sp>
        <p:nvSpPr>
          <p:cNvPr id="4" name="rec-card-0"/>
          <p:cNvSpPr/>
          <p:nvPr/>
        </p:nvSpPr>
        <p:spPr>
          <a:xfrm>
            <a:off x="731520" y="1874520"/>
            <a:ext cx="3429000" cy="3657600"/>
          </a:xfrm>
          <a:prstGeom prst="roundRect">
            <a:avLst>
              <a:gd name="adj" fmla="val 2133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5" name="rec-icon-0-circle"/>
          <p:cNvSpPr/>
          <p:nvPr/>
        </p:nvSpPr>
        <p:spPr>
          <a:xfrm>
            <a:off x="914400" y="2029968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rec-icon-0-glyph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150669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20299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Why invest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69748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61% gross margin; underlying operating margin 21-25%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Dividend up 5% a year, 1.7x covered, plus buybacks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Adjusted P/E 17.0x vs 18.1x-19.9x for peers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Strong Board and clear strategy</a:t>
            </a:r>
            <a:endParaRPr lang="en-US" sz="1400" dirty="0"/>
          </a:p>
        </p:txBody>
      </p:sp>
      <p:sp>
        <p:nvSpPr>
          <p:cNvPr id="9" name="rec-card-1"/>
          <p:cNvSpPr/>
          <p:nvPr/>
        </p:nvSpPr>
        <p:spPr>
          <a:xfrm>
            <a:off x="4343400" y="1874520"/>
            <a:ext cx="3429000" cy="3657600"/>
          </a:xfrm>
          <a:prstGeom prst="roundRect">
            <a:avLst>
              <a:gd name="adj" fmla="val 2133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0" name="rec-icon-1-circle"/>
          <p:cNvSpPr/>
          <p:nvPr/>
        </p:nvSpPr>
        <p:spPr>
          <a:xfrm>
            <a:off x="4526280" y="20299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rec-icon-1-glyph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981" y="2150669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20299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Main risks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69748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NEC baby-formula court cases in the US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Low liquidity; debt 2.5x EBITDA (June 2026)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Lower 2026 EPS after the sale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Weak Europe, input costs, sanctions</a:t>
            </a:r>
            <a:endParaRPr lang="en-US" sz="1400" dirty="0"/>
          </a:p>
        </p:txBody>
      </p:sp>
      <p:sp>
        <p:nvSpPr>
          <p:cNvPr id="14" name="rec-card-2"/>
          <p:cNvSpPr/>
          <p:nvPr/>
        </p:nvSpPr>
        <p:spPr>
          <a:xfrm>
            <a:off x="7955280" y="1874520"/>
            <a:ext cx="3429000" cy="3657600"/>
          </a:xfrm>
          <a:prstGeom prst="roundRect">
            <a:avLst>
              <a:gd name="adj" fmla="val 2133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5" name="rec-icon-2-circle"/>
          <p:cNvSpPr/>
          <p:nvPr/>
        </p:nvSpPr>
        <p:spPr>
          <a:xfrm>
            <a:off x="8138160" y="20299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rec-icon-2-glyph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861" y="215066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778240" y="20299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Limits of this analysis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138160" y="2697480"/>
            <a:ext cx="3108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Mainly two years compared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Year-end cash flattered by sale proceeds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Adjusted figures are management's own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Unilever liquidity not verified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Source: author's analysis of slides 6-14.</a:t>
            </a:r>
            <a:endParaRPr lang="en-US" sz="1000" dirty="0"/>
          </a:p>
        </p:txBody>
      </p:sp>
      <p:sp>
        <p:nvSpPr>
          <p:cNvPr id="20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4400" dirty="0"/>
          </a:p>
        </p:txBody>
      </p:sp>
      <p:sp>
        <p:nvSpPr>
          <p:cNvPr id="21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54406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Alpha Vantage (2026) Monthly share prices (RKT, ULVR, HLN on the London Stock Exchange) and EUR/GBP rates. Available at: https://www.alphavantage.co (Accessed: 22 October 2026).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Arnold, G. and Lewis, D.S. (2019) Corporate Financial Management. 6th edn. Harlow: Pearson.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Atrill, P. and McLaney, E. (2022) Financial Accounting for Decision Makers. 10th edn. Harlow: Pearson.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Barnes, P. (1987) 'The analysis and use of financial ratios: a review article', Journal of Business Finance &amp; Accounting, 14(4), pp. 449-461.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Barney, J. (1991) 'Firm resources and sustained competitive advantage', Journal of Management, 17(1), pp. 99-120.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Beaver, W.H. (1966) 'Financial ratios as predictors of failure', Journal of Accounting Research, 4, pp. 71-111.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Brealey, R.A., Myers, S.C., Allen, F. and Edmans, A. (2023) Principles of Corporate Finance. 14th edn. New York: McGraw Hill.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Freeman, R.E. (1984) Strategic Management: A Stakeholder Approach. Boston: Pitman.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Haleon plc (2026) 2025 Full Year Results: Twelve Months Ended 31 December 2025. Weybridge: Haleon plc.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Healy, P.M. and Palepu, K.G. (2001) 'Information asymmetry, corporate disclosure, and the capital markets: a review of the empirical disclosure literature', Journal of Accounting and Economics, 31(1-3), pp. 405-440.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188720"/>
            <a:ext cx="544068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IASB (2018) Conceptual Framework for Financial Reporting. London: IFRS Foundation.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Lintner, J. (1956) 'Distribution of incomes of corporations among dividends, retained earnings, and taxes', American Economic Review, 46(2), pp. 97-113.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Miller, M.H. and Modigliani, F. (1961) 'Dividend policy, growth, and the valuation of shares', Journal of Business, 34(4), pp. 411-433.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Palepu, K.G., Healy, P.M. and Peek, E. (2013) Business Analysis and Valuation: IFRS Edition. 3rd edn. Andover: Cengage Learning EMEA.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Reckitt Benckiser Group plc (2025) Annual Report and Accounts 2024. Slough: Reckitt.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Reckitt Benckiser Group plc (2026a) Annual Report and Accounts 2025. Slough: Reckitt.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Reckitt Benckiser Group plc (2026b) Results for the Six Months Ended 30 June 2026. Slough: Reckitt.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Unilever PLC (2026a) Q4 and Full Year 2025 Results. London: Unilever PLC.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Unilever PLC (2026b) Dividend Announcements and History. Available at: https://www.unilever.com/investors/investor-centre/dividends/dividend-calculator-and-history/ (Accessed: 22 October 2026).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Whittington, R., Regnér, P., Angwin, D., Johnson, G. and Scholes, K. (2020) Exploring Strategy: Text and Cases. 12th edn. Harlow: Pearson.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ckitt Investor">
  <a:themeElements>
    <a:clrScheme name="Reckitt Investor">
      <a:dk1>
        <a:srgbClr val="1F1A24"/>
      </a:dk1>
      <a:lt1>
        <a:srgbClr val="FFFFFF"/>
      </a:lt1>
      <a:dk2>
        <a:srgbClr val="3B0F35"/>
      </a:dk2>
      <a:lt2>
        <a:srgbClr val="F6F1F5"/>
      </a:lt2>
      <a:accent1>
        <a:srgbClr val="D6006E"/>
      </a:accent1>
      <a:accent2>
        <a:srgbClr val="3B0F35"/>
      </a:accent2>
      <a:accent3>
        <a:srgbClr val="8C7F96"/>
      </a:accent3>
      <a:accent4>
        <a:srgbClr val="F2A7CB"/>
      </a:accent4>
      <a:accent5>
        <a:srgbClr val="1F7A63"/>
      </a:accent5>
      <a:accent6>
        <a:srgbClr val="B3261E"/>
      </a:accent6>
      <a:hlink>
        <a:srgbClr val="D6006E"/>
      </a:hlink>
      <a:folHlink>
        <a:srgbClr val="8C7F96"/>
      </a:folHlink>
    </a:clrScheme>
    <a:fontScheme name="Reckitt Invest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Reckitt Benckiser Group plc - Financial Analysis for Potential Investors</dc:title>
  <dc:subject>MBA7060 Financial Management and Decision Making - Assessment 1</dc:subject>
  <dc:creator>Finance Manager</dc:creator>
  <cp:lastModifiedBy>Finance Manager</cp:lastModifiedBy>
  <cp:revision>1</cp:revision>
  <dcterms:created xsi:type="dcterms:W3CDTF">2026-10-22T08:49:23Z</dcterms:created>
  <dcterms:modified xsi:type="dcterms:W3CDTF">2026-10-22T08:49:23Z</dcterms:modified>
</cp:coreProperties>
</file>