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3"/>
                </a:solidFill>
                <a:latin typeface="Calibri"/>
              </a:defRPr>
            </a:pPr>
            <a:r>
              <a:rPr sz="1400" b="0" i="0" u="none" strike="noStrike">
                <a:solidFill>
                  <a:srgbClr val="1B1F23"/>
                </a:solidFill>
                <a:latin typeface="Calibri"/>
              </a:rPr>
              <a:t>Median days per year per site breaching the WHO 2021 short-term target</a:t>
            </a:r>
          </a:p>
        </c:rich>
      </c:tx>
      <c:layout/>
      <c:overlay val="0"/>
    </c:title>
    <c:autoTitleDeleted val="0"/>
    <c:plotArea>
      <c:layout/>
      <c:barChart>
        <c:barDir val="col"/>
        <c:grouping val="clustered"/>
        <c:varyColors val="0"/>
        <c:ser>
          <c:idx val="0"/>
          <c:order val="0"/>
          <c:tx>
            <c:strRef>
              <c:f>Sheet1!$B$1</c:f>
              <c:strCache>
                <c:ptCount val="1"/>
                <c:pt idx="0">
                  <c:v>2015–2016</c:v>
                </c:pt>
              </c:strCache>
            </c:strRef>
          </c:tx>
          <c:spPr>
            <a:solidFill>
              <a:srgbClr val="5B6770"/>
            </a:solidFill>
            <a:effectLst/>
          </c:spPr>
          <c:invertIfNegative val="0"/>
          <c:dLbls>
            <c:numFmt formatCode="#,##0" sourceLinked="0"/>
            <c:txPr>
              <a:bodyPr/>
              <a:lstStyle/>
              <a:p>
                <a:pPr>
                  <a:defRPr b="0" i="0" strike="noStrike" sz="1200" u="none">
                    <a:solidFill>
                      <a:srgbClr val="1B1F2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NO₂</c:v>
                  </c:pt>
                  <c:pt idx="1">
                    <c:v>PM₂.₅</c:v>
                  </c:pt>
                  <c:pt idx="2">
                    <c:v>O₃</c:v>
                  </c:pt>
                </c:lvl>
              </c:multiLvlStrCache>
            </c:multiLvlStrRef>
          </c:cat>
          <c:val>
            <c:numRef>
              <c:f>Sheet1!$B$2:$B$4</c:f>
              <c:numCache>
                <c:formatCode>General</c:formatCode>
                <c:ptCount val="3"/>
                <c:pt idx="0">
                  <c:v>136</c:v>
                </c:pt>
                <c:pt idx="1">
                  <c:v>60</c:v>
                </c:pt>
                <c:pt idx="2">
                  <c:v>7</c:v>
                </c:pt>
              </c:numCache>
            </c:numRef>
          </c:val>
        </c:ser>
        <c:ser>
          <c:idx val="1"/>
          <c:order val="1"/>
          <c:tx>
            <c:strRef>
              <c:f>Sheet1!$C$1</c:f>
              <c:strCache>
                <c:ptCount val="1"/>
                <c:pt idx="0">
                  <c:v>2023–2024</c:v>
                </c:pt>
              </c:strCache>
            </c:strRef>
          </c:tx>
          <c:spPr>
            <a:solidFill>
              <a:srgbClr val="1F7A8C"/>
            </a:solidFill>
            <a:effectLst/>
          </c:spPr>
          <c:invertIfNegative val="0"/>
          <c:dLbls>
            <c:numFmt formatCode="#,##0" sourceLinked="0"/>
            <c:txPr>
              <a:bodyPr/>
              <a:lstStyle/>
              <a:p>
                <a:pPr>
                  <a:defRPr b="0" i="0" strike="noStrike" sz="1200" u="none">
                    <a:solidFill>
                      <a:srgbClr val="1B1F2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NO₂</c:v>
                  </c:pt>
                  <c:pt idx="1">
                    <c:v>PM₂.₅</c:v>
                  </c:pt>
                  <c:pt idx="2">
                    <c:v>O₃</c:v>
                  </c:pt>
                </c:lvl>
              </c:multiLvlStrCache>
            </c:multiLvlStrRef>
          </c:cat>
          <c:val>
            <c:numRef>
              <c:f>Sheet1!$C$2:$C$4</c:f>
              <c:numCache>
                <c:formatCode>General</c:formatCode>
                <c:ptCount val="3"/>
                <c:pt idx="0">
                  <c:v>40</c:v>
                </c:pt>
                <c:pt idx="1">
                  <c:v>22</c:v>
                </c:pt>
                <c:pt idx="2">
                  <c:v>14</c:v>
                </c:pt>
              </c:numCache>
            </c:numRef>
          </c:val>
        </c:ser>
        <c:dLbls>
          <c:numFmt formatCode="#,##0" sourceLinked="0"/>
          <c:txPr>
            <a:bodyPr/>
            <a:lstStyle/>
            <a:p>
              <a:pPr>
                <a:defRPr b="0" i="0" strike="noStrike" sz="1200" u="none">
                  <a:solidFill>
                    <a:srgbClr val="1B1F23"/>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1F2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EE2"/>
              </a:solidFill>
              <a:prstDash val="solid"/>
              <a:round/>
            </a:ln>
          </c:spPr>
        </c:majorGridlines>
        <c:title>
          <c:tx>
            <c:rich>
              <a:bodyPr/>
              <a:lstStyle/>
              <a:p>
                <a:pPr>
                  <a:defRPr sz="1100" b="0" i="0" u="none" strike="noStrike">
                    <a:solidFill>
                      <a:srgbClr val="5B6770"/>
                    </a:solidFill>
                    <a:latin typeface="Calibri"/>
                  </a:defRPr>
                </a:pPr>
                <a:r>
                  <a:rPr sz="1100" b="0" i="0" u="none" strike="noStrike">
                    <a:solidFill>
                      <a:srgbClr val="5B6770"/>
                    </a:solidFill>
                    <a:latin typeface="Calibri"/>
                  </a:rPr>
                  <a:t>Days per year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1F23"/>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3"/>
                </a:solidFill>
                <a:latin typeface="Calibri"/>
              </a:defRPr>
            </a:pPr>
            <a:r>
              <a:rPr sz="1400" b="0" i="0" u="none" strike="noStrike">
                <a:solidFill>
                  <a:srgbClr val="1B1F23"/>
                </a:solidFill>
                <a:latin typeface="Calibri"/>
              </a:rPr>
              <a:t>ULEZ: estimated roadside NO₂ reduction versus a 'no ULEZ' scenario (%)</a:t>
            </a:r>
          </a:p>
        </c:rich>
      </c:tx>
      <c:layout/>
      <c:overlay val="0"/>
    </c:title>
    <c:autoTitleDeleted val="0"/>
    <c:plotArea>
      <c:layout/>
      <c:barChart>
        <c:barDir val="bar"/>
        <c:grouping val="clustered"/>
        <c:varyColors val="0"/>
        <c:ser>
          <c:idx val="0"/>
          <c:order val="0"/>
          <c:tx>
            <c:strRef>
              <c:f>Sheet1!$B$1</c:f>
              <c:strCache>
                <c:ptCount val="1"/>
                <c:pt idx="0">
                  <c:v>NO₂ lower than no-ULEZ scenario</c:v>
                </c:pt>
              </c:strCache>
            </c:strRef>
          </c:tx>
          <c:spPr>
            <a:solidFill>
              <a:srgbClr val="1F7A8C"/>
            </a:solidFill>
            <a:effectLst/>
          </c:spPr>
          <c:invertIfNegative val="0"/>
          <c:dLbls>
            <c:numFmt formatCode="0&quot;%&quot;" sourceLinked="0"/>
            <c:txPr>
              <a:bodyPr/>
              <a:lstStyle/>
              <a:p>
                <a:pPr>
                  <a:defRPr b="0" i="0" strike="noStrike" sz="1200" u="none">
                    <a:solidFill>
                      <a:srgbClr val="1B1F2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Central London</c:v>
                  </c:pt>
                  <c:pt idx="1">
                    <c:v>Inner London</c:v>
                  </c:pt>
                  <c:pt idx="2">
                    <c:v>Outer London</c:v>
                  </c:pt>
                  <c:pt idx="3">
                    <c:v>London-wide</c:v>
                  </c:pt>
                </c:lvl>
              </c:multiLvlStrCache>
            </c:multiLvlStrRef>
          </c:cat>
          <c:val>
            <c:numRef>
              <c:f>Sheet1!$B$2:$B$5</c:f>
              <c:numCache>
                <c:formatCode>General</c:formatCode>
                <c:ptCount val="4"/>
                <c:pt idx="0">
                  <c:v>54</c:v>
                </c:pt>
                <c:pt idx="1">
                  <c:v>29</c:v>
                </c:pt>
                <c:pt idx="2">
                  <c:v>24</c:v>
                </c:pt>
                <c:pt idx="3">
                  <c:v>27</c:v>
                </c:pt>
              </c:numCache>
            </c:numRef>
          </c:val>
        </c:ser>
        <c:dLbls>
          <c:numFmt formatCode="0&quot;%&quot;" sourceLinked="0"/>
          <c:txPr>
            <a:bodyPr/>
            <a:lstStyle/>
            <a:p>
              <a:pPr>
                <a:defRPr b="0" i="0" strike="noStrike" sz="1200" u="none">
                  <a:solidFill>
                    <a:srgbClr val="1B1F23"/>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3"/>
                </a:solidFill>
                <a:latin typeface="Calibri"/>
              </a:defRPr>
            </a:pPr>
            <a:endParaRPr lang="en-US"/>
          </a:p>
        </c:txPr>
        <c:crossAx val="2094734552"/>
        <c:crosses val="autoZero"/>
        <c:auto val="1"/>
        <c:lblAlgn val="ctr"/>
        <c:noMultiLvlLbl val="1"/>
      </c:catAx>
      <c:valAx>
        <c:axId val="2094734552"/>
        <c:scaling>
          <c:orientation val="minMax"/>
          <c:max val="65"/>
          <c:min val="0"/>
        </c:scaling>
        <c:delete val="0"/>
        <c:axPos val="b"/>
        <c:majorGridlines>
          <c:spPr>
            <a:ln w="6350" cap="flat">
              <a:solidFill>
                <a:srgbClr val="D9DEE2"/>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yourself and the topic. State that this is a secondary, qualitative, interpretivist study of air quality management in major UK cities. The three figures on the right preview the evidence base: pollution is falling (Weber &amp; Dacre, 2025; Gadenne et al., 2024), but the question is what role management plays in sustainable urban development. About 40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Background. The headline is progress: NO2 breach days fall from a median of 136 to 40 per site and PM2.5 from 60 to 22 (Weber &amp; Dacre, 2025), and average PM2.5 exposure in England fell 54% (Gadenne et al., 2024). But the WHO (2021) guideline is much stricter than the 10 µg/m3 legal target in the 2023 Regulations, and ozone breach days actually doubled. Health burden is from OHID. About 70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statement. Pollutant concentrations are improving, but three issues remain: guideline breaches persist, exposure is unequal, and the effects of local measures are inconsistent. London's ULEZ is estimated by TfL (2025) to have cut roadside NO2 by 27% against a no-ULEZ scenario, while Sheffield's CAZ shows no significant zone-specific effect (Williams et al., 2025). What we lack is an interpretive account of how these measures are framed and justified in terms of sustainable development. About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Literature and gap. Five recent sources cover trends, exposure inequality and the effects of the Birmingham, Sheffield and London schemes. They are valuable but quantitative and outcome-focused. I am not claiming no other work exists; I am saying the gap is a cross-city interpretive synthesis linking air quality management to sustainable-development dimensions, and the Week 1 to 2 scoping search will test this. About 70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Aim, objectives and questions. The framework on the right is my own synthesis of the sources: standards (WHO, 2021; Regulations 2023) shape city measures (e.g., ULEZ, CAZ), which are expected to contribute to sustainable urban development as framed in SDG 11.6 (UN, 2015). Because the approach is inductive, these dimensions only sensitise me; the themes themselves will be generated from the data. About 70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Onion (Saunders et al., 2023), peeled from the outside in. Philosophy: interpretivism, because I treat air quality management as a socially constructed policy field whose meaning is expressed in documents. Approach: inductive. Choice: mono-method qualitative. Strategy: archival and documentary research. Time horizon: cross-sectional. Techniques: secondary data and thematic analysis (Braun &amp; Clarke, 2021). About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sources and selection. The corpus is official: Defra and UK-AIR, DfT, ONS, and city authority Annual Status Reports and scheme evaluations, plus peer-reviewed papers. Newspapers are used only to triangulate how measures are publicly framed. Criteria: 2020 onwards, major UK city, about air quality management, official or peer-reviewed and publicly accessible. The funnel shows identify, screen, assess eligibility, include. About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follows Braun and Clarke's (2021) six phases of reflexive thematic analysis. Because the approach is inductive, coding stays close to what the documents say. Each phase produces a tangible output, which supports transparency. I acknowledge limitations: documents are institutional and silent on residents' voices. About 70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Six-week plan. Weeks 1 to 2 for scoping, protocol and literature; weeks 2 to 3 for search and screening; weeks 3 to 5 for coding and theme development per Braun and Clarke (2021); weeks 5 to 6 for synthesis, write-up and recording. The contribution is theoretical, practical, equity-focused and methodological, with the caveat that findings are interpretive and context-bound. About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sources are listed in APA 7th edition. Ten are from 2020 onwards; the UN (2015) is included for the SDG 11.6 framing and the OHID page is undated. DOIs are given where available and URLs for official publications. Close by restating the aim and inviting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92240"/>
            <a:ext cx="7315200" cy="274320"/>
          </a:xfrm>
          <a:prstGeom prst="rect">
            <a:avLst/>
          </a:prstGeom>
          <a:noFill/>
          <a:ln/>
        </p:spPr>
        <p:txBody>
          <a:bodyPr wrap="square" lIns="0" tIns="0" rIns="0" bIns="0" rtlCol="0" anchor="ctr"/>
          <a:lstStyle/>
          <a:p>
            <a:pPr indent="0" marL="0">
              <a:buNone/>
            </a:pPr>
            <a:r>
              <a:rPr lang="en-US" sz="1000" dirty="0">
                <a:solidFill>
                  <a:srgbClr val="5B6770"/>
                </a:solidFill>
                <a:latin typeface="Calibri" pitchFamily="34" charset="0"/>
                <a:ea typeface="Calibri" pitchFamily="34" charset="-122"/>
                <a:cs typeface="Calibri" pitchFamily="34" charset="-120"/>
              </a:rPr>
              <a:t>Thesis proposal | Air quality management and sustainable urban development</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2E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02920"/>
            <a:ext cx="10972800" cy="320040"/>
          </a:xfrm>
          <a:prstGeom prst="rect">
            <a:avLst/>
          </a:prstGeom>
          <a:noFill/>
          <a:ln/>
        </p:spPr>
        <p:txBody>
          <a:bodyPr wrap="square" lIns="0" tIns="0" rIns="0" bIns="0" rtlCol="0" anchor="ctr"/>
          <a:lstStyle/>
          <a:p>
            <a:pPr indent="0" marL="0">
              <a:buNone/>
            </a:pPr>
            <a:r>
              <a:rPr lang="en-US" sz="1200" b="1" spc="200" kern="0" dirty="0">
                <a:solidFill>
                  <a:srgbClr val="7FB7C2"/>
                </a:solidFill>
              </a:rPr>
              <a:t>MASTER'S THESIS PROPOSAL  |  10-MINUTE RECORDED PRESENTATION</a:t>
            </a:r>
            <a:endParaRPr lang="en-US" sz="1200" dirty="0"/>
          </a:p>
        </p:txBody>
      </p:sp>
      <p:sp>
        <p:nvSpPr>
          <p:cNvPr id="3" name="Text 1"/>
          <p:cNvSpPr txBox="1"/>
          <p:nvPr/>
        </p:nvSpPr>
        <p:spPr>
          <a:xfrm>
            <a:off x="548640" y="1005840"/>
            <a:ext cx="7498080" cy="210312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Evaluating the Role of Air Quality Management in Advancing Sustainable Urban Development</a:t>
            </a:r>
            <a:endParaRPr lang="en-US" sz="3600" dirty="0"/>
          </a:p>
        </p:txBody>
      </p:sp>
      <p:sp>
        <p:nvSpPr>
          <p:cNvPr id="4" name="Text 2"/>
          <p:cNvSpPr txBox="1"/>
          <p:nvPr/>
        </p:nvSpPr>
        <p:spPr>
          <a:xfrm>
            <a:off x="548640" y="3337560"/>
            <a:ext cx="7498080" cy="457200"/>
          </a:xfrm>
          <a:prstGeom prst="rect">
            <a:avLst/>
          </a:prstGeom>
          <a:noFill/>
          <a:ln/>
        </p:spPr>
        <p:txBody>
          <a:bodyPr wrap="square" lIns="0" tIns="0" rIns="0" bIns="0" rtlCol="0" anchor="ctr"/>
          <a:lstStyle/>
          <a:p>
            <a:pPr indent="0" marL="0">
              <a:buNone/>
            </a:pPr>
            <a:r>
              <a:rPr lang="en-US" sz="2200" i="1" dirty="0">
                <a:solidFill>
                  <a:srgbClr val="E8A33D"/>
                </a:solidFill>
                <a:latin typeface="Cambria" pitchFamily="34" charset="0"/>
                <a:ea typeface="Cambria" pitchFamily="34" charset="-122"/>
                <a:cs typeface="Cambria" pitchFamily="34" charset="-120"/>
              </a:rPr>
              <a:t>Evidence from Major UK Cities</a:t>
            </a:r>
            <a:endParaRPr lang="en-US" sz="2200" dirty="0"/>
          </a:p>
        </p:txBody>
      </p:sp>
      <p:sp>
        <p:nvSpPr>
          <p:cNvPr id="5" name="Text 3"/>
          <p:cNvSpPr txBox="1"/>
          <p:nvPr/>
        </p:nvSpPr>
        <p:spPr>
          <a:xfrm>
            <a:off x="548640" y="4114800"/>
            <a:ext cx="7498080" cy="822960"/>
          </a:xfrm>
          <a:prstGeom prst="rect">
            <a:avLst/>
          </a:prstGeom>
          <a:noFill/>
          <a:ln/>
        </p:spPr>
        <p:txBody>
          <a:bodyPr wrap="square" lIns="0" tIns="0" rIns="0" bIns="0" rtlCol="0" anchor="ctr"/>
          <a:lstStyle/>
          <a:p>
            <a:pPr indent="0" marL="0">
              <a:spcAft>
                <a:spcPts val="600"/>
              </a:spcAft>
              <a:buNone/>
            </a:pPr>
            <a:r>
              <a:rPr lang="en-US" sz="1400" dirty="0">
                <a:solidFill>
                  <a:srgbClr val="D7E6EA"/>
                </a:solidFill>
              </a:rPr>
              <a:t>Interpretivism  •  Inductive  •  Qualitative  •  Secondary data  •  Thematic analysis</a:t>
            </a:r>
            <a:endParaRPr lang="en-US" sz="1400" dirty="0"/>
          </a:p>
          <a:p>
            <a:pPr indent="0" marL="0">
              <a:spcAft>
                <a:spcPts val="600"/>
              </a:spcAft>
              <a:buNone/>
            </a:pPr>
            <a:r>
              <a:rPr lang="en-US" sz="1400" dirty="0">
                <a:solidFill>
                  <a:srgbClr val="D7E6EA"/>
                </a:solidFill>
              </a:rPr>
              <a:t>Methodology framed by Saunders et al. (2023); analysis guided by Braun and Clarke (2021)</a:t>
            </a:r>
            <a:endParaRPr lang="en-US" sz="1400" dirty="0"/>
          </a:p>
        </p:txBody>
      </p:sp>
      <p:sp>
        <p:nvSpPr>
          <p:cNvPr id="6" name="Text 4"/>
          <p:cNvSpPr txBox="1"/>
          <p:nvPr/>
        </p:nvSpPr>
        <p:spPr>
          <a:xfrm>
            <a:off x="548640" y="5852160"/>
            <a:ext cx="7498080" cy="365760"/>
          </a:xfrm>
          <a:prstGeom prst="rect">
            <a:avLst/>
          </a:prstGeom>
          <a:noFill/>
          <a:ln/>
        </p:spPr>
        <p:txBody>
          <a:bodyPr wrap="square" lIns="0" tIns="0" rIns="0" bIns="0" rtlCol="0" anchor="ctr"/>
          <a:lstStyle/>
          <a:p>
            <a:pPr indent="0" marL="0">
              <a:buNone/>
            </a:pPr>
            <a:r>
              <a:rPr lang="en-US" sz="1400" dirty="0">
                <a:solidFill>
                  <a:srgbClr val="FFFFFF"/>
                </a:solidFill>
              </a:rPr>
              <a:t>[Student name]  |  [Student ID]  |  [Module / Supervisor]</a:t>
            </a:r>
            <a:endParaRPr lang="en-US" sz="1400" dirty="0"/>
          </a:p>
        </p:txBody>
      </p:sp>
      <p:sp>
        <p:nvSpPr>
          <p:cNvPr id="7" name="Shape 5"/>
          <p:cNvSpPr/>
          <p:nvPr/>
        </p:nvSpPr>
        <p:spPr>
          <a:xfrm>
            <a:off x="8503920" y="822960"/>
            <a:ext cx="3200400" cy="1600200"/>
          </a:xfrm>
          <a:prstGeom prst="rect">
            <a:avLst/>
          </a:prstGeom>
          <a:solidFill>
            <a:srgbClr val="173F52"/>
          </a:solidFill>
          <a:ln w="12700">
            <a:solidFill>
              <a:srgbClr val="173F52"/>
            </a:solidFill>
            <a:prstDash val="solid"/>
          </a:ln>
        </p:spPr>
      </p:sp>
      <p:sp>
        <p:nvSpPr>
          <p:cNvPr id="8" name="Text 6"/>
          <p:cNvSpPr txBox="1"/>
          <p:nvPr/>
        </p:nvSpPr>
        <p:spPr>
          <a:xfrm>
            <a:off x="8686800" y="914400"/>
            <a:ext cx="2834640" cy="640080"/>
          </a:xfrm>
          <a:prstGeom prst="rect">
            <a:avLst/>
          </a:prstGeom>
          <a:noFill/>
          <a:ln/>
        </p:spPr>
        <p:txBody>
          <a:bodyPr wrap="square" lIns="0" tIns="0" rIns="0" bIns="0" rtlCol="0" anchor="ctr"/>
          <a:lstStyle/>
          <a:p>
            <a:pPr indent="0" marL="0">
              <a:buNone/>
            </a:pPr>
            <a:r>
              <a:rPr lang="en-US" sz="4000" b="1" dirty="0">
                <a:solidFill>
                  <a:srgbClr val="E8A33D"/>
                </a:solidFill>
                <a:latin typeface="Cambria" pitchFamily="34" charset="0"/>
                <a:ea typeface="Cambria" pitchFamily="34" charset="-122"/>
                <a:cs typeface="Cambria" pitchFamily="34" charset="-120"/>
              </a:rPr>
              <a:t>−70%</a:t>
            </a:r>
            <a:endParaRPr lang="en-US" sz="4000" dirty="0"/>
          </a:p>
        </p:txBody>
      </p:sp>
      <p:sp>
        <p:nvSpPr>
          <p:cNvPr id="9" name="Text 7"/>
          <p:cNvSpPr txBox="1"/>
          <p:nvPr/>
        </p:nvSpPr>
        <p:spPr>
          <a:xfrm>
            <a:off x="8686800" y="1554480"/>
            <a:ext cx="2834640" cy="822960"/>
          </a:xfrm>
          <a:prstGeom prst="rect">
            <a:avLst/>
          </a:prstGeom>
          <a:noFill/>
          <a:ln/>
        </p:spPr>
        <p:txBody>
          <a:bodyPr wrap="square" lIns="0" tIns="0" rIns="0" bIns="0" rtlCol="0" anchor="t"/>
          <a:lstStyle/>
          <a:p>
            <a:pPr indent="0" marL="0">
              <a:buNone/>
            </a:pPr>
            <a:r>
              <a:rPr lang="en-US" sz="1100" dirty="0">
                <a:solidFill>
                  <a:srgbClr val="FFFFFF"/>
                </a:solidFill>
              </a:rPr>
              <a:t>NO₂ days breaching the WHO 2021 target at monitoring sites, 2015–16 to 2023–24 (median)</a:t>
            </a:r>
            <a:endParaRPr lang="en-US" sz="1100" dirty="0"/>
          </a:p>
          <a:p>
            <a:pPr indent="0" marL="0">
              <a:buNone/>
            </a:pPr>
            <a:r>
              <a:rPr lang="en-US" sz="1100" i="1" dirty="0">
                <a:solidFill>
                  <a:srgbClr val="7FB7C2"/>
                </a:solidFill>
              </a:rPr>
              <a:t>Weber &amp; Dacre, 2025</a:t>
            </a:r>
            <a:endParaRPr lang="en-US" sz="1100" dirty="0"/>
          </a:p>
        </p:txBody>
      </p:sp>
      <p:sp>
        <p:nvSpPr>
          <p:cNvPr id="10" name="Shape 8"/>
          <p:cNvSpPr/>
          <p:nvPr/>
        </p:nvSpPr>
        <p:spPr>
          <a:xfrm>
            <a:off x="8503920" y="2606040"/>
            <a:ext cx="3200400" cy="1600200"/>
          </a:xfrm>
          <a:prstGeom prst="rect">
            <a:avLst/>
          </a:prstGeom>
          <a:solidFill>
            <a:srgbClr val="173F52"/>
          </a:solidFill>
          <a:ln w="12700">
            <a:solidFill>
              <a:srgbClr val="173F52"/>
            </a:solidFill>
            <a:prstDash val="solid"/>
          </a:ln>
        </p:spPr>
      </p:sp>
      <p:sp>
        <p:nvSpPr>
          <p:cNvPr id="11" name="Text 9"/>
          <p:cNvSpPr txBox="1"/>
          <p:nvPr/>
        </p:nvSpPr>
        <p:spPr>
          <a:xfrm>
            <a:off x="8686800" y="2697480"/>
            <a:ext cx="2834640" cy="640080"/>
          </a:xfrm>
          <a:prstGeom prst="rect">
            <a:avLst/>
          </a:prstGeom>
          <a:noFill/>
          <a:ln/>
        </p:spPr>
        <p:txBody>
          <a:bodyPr wrap="square" lIns="0" tIns="0" rIns="0" bIns="0" rtlCol="0" anchor="ctr"/>
          <a:lstStyle/>
          <a:p>
            <a:pPr indent="0" marL="0">
              <a:buNone/>
            </a:pPr>
            <a:r>
              <a:rPr lang="en-US" sz="4000" b="1" dirty="0">
                <a:solidFill>
                  <a:srgbClr val="E8A33D"/>
                </a:solidFill>
                <a:latin typeface="Cambria" pitchFamily="34" charset="0"/>
                <a:ea typeface="Cambria" pitchFamily="34" charset="-122"/>
                <a:cs typeface="Cambria" pitchFamily="34" charset="-120"/>
              </a:rPr>
              <a:t>−63%</a:t>
            </a:r>
            <a:endParaRPr lang="en-US" sz="4000" dirty="0"/>
          </a:p>
        </p:txBody>
      </p:sp>
      <p:sp>
        <p:nvSpPr>
          <p:cNvPr id="12" name="Text 10"/>
          <p:cNvSpPr txBox="1"/>
          <p:nvPr/>
        </p:nvSpPr>
        <p:spPr>
          <a:xfrm>
            <a:off x="8686800" y="3337560"/>
            <a:ext cx="2834640" cy="822960"/>
          </a:xfrm>
          <a:prstGeom prst="rect">
            <a:avLst/>
          </a:prstGeom>
          <a:noFill/>
          <a:ln/>
        </p:spPr>
        <p:txBody>
          <a:bodyPr wrap="square" lIns="0" tIns="0" rIns="0" bIns="0" rtlCol="0" anchor="t"/>
          <a:lstStyle/>
          <a:p>
            <a:pPr indent="0" marL="0">
              <a:buNone/>
            </a:pPr>
            <a:r>
              <a:rPr lang="en-US" sz="1100" dirty="0">
                <a:solidFill>
                  <a:srgbClr val="FFFFFF"/>
                </a:solidFill>
              </a:rPr>
              <a:t>PM₂.₅ days breaching the WHO 2021 target (median per site), same period</a:t>
            </a:r>
            <a:endParaRPr lang="en-US" sz="1100" dirty="0"/>
          </a:p>
          <a:p>
            <a:pPr indent="0" marL="0">
              <a:buNone/>
            </a:pPr>
            <a:r>
              <a:rPr lang="en-US" sz="1100" i="1" dirty="0">
                <a:solidFill>
                  <a:srgbClr val="7FB7C2"/>
                </a:solidFill>
              </a:rPr>
              <a:t>Weber &amp; Dacre, 2025</a:t>
            </a:r>
            <a:endParaRPr lang="en-US" sz="1100" dirty="0"/>
          </a:p>
        </p:txBody>
      </p:sp>
      <p:sp>
        <p:nvSpPr>
          <p:cNvPr id="13" name="Shape 11"/>
          <p:cNvSpPr/>
          <p:nvPr/>
        </p:nvSpPr>
        <p:spPr>
          <a:xfrm>
            <a:off x="8503920" y="4389120"/>
            <a:ext cx="3200400" cy="1600200"/>
          </a:xfrm>
          <a:prstGeom prst="rect">
            <a:avLst/>
          </a:prstGeom>
          <a:solidFill>
            <a:srgbClr val="173F52"/>
          </a:solidFill>
          <a:ln w="12700">
            <a:solidFill>
              <a:srgbClr val="173F52"/>
            </a:solidFill>
            <a:prstDash val="solid"/>
          </a:ln>
        </p:spPr>
      </p:sp>
      <p:sp>
        <p:nvSpPr>
          <p:cNvPr id="14" name="Text 12"/>
          <p:cNvSpPr txBox="1"/>
          <p:nvPr/>
        </p:nvSpPr>
        <p:spPr>
          <a:xfrm>
            <a:off x="8686800" y="4480560"/>
            <a:ext cx="2834640" cy="640080"/>
          </a:xfrm>
          <a:prstGeom prst="rect">
            <a:avLst/>
          </a:prstGeom>
          <a:noFill/>
          <a:ln/>
        </p:spPr>
        <p:txBody>
          <a:bodyPr wrap="square" lIns="0" tIns="0" rIns="0" bIns="0" rtlCol="0" anchor="ctr"/>
          <a:lstStyle/>
          <a:p>
            <a:pPr indent="0" marL="0">
              <a:buNone/>
            </a:pPr>
            <a:r>
              <a:rPr lang="en-US" sz="4000" b="1" dirty="0">
                <a:solidFill>
                  <a:srgbClr val="E8A33D"/>
                </a:solidFill>
                <a:latin typeface="Cambria" pitchFamily="34" charset="0"/>
                <a:ea typeface="Cambria" pitchFamily="34" charset="-122"/>
                <a:cs typeface="Cambria" pitchFamily="34" charset="-120"/>
              </a:rPr>
              <a:t>−54%</a:t>
            </a:r>
            <a:endParaRPr lang="en-US" sz="4000" dirty="0"/>
          </a:p>
        </p:txBody>
      </p:sp>
      <p:sp>
        <p:nvSpPr>
          <p:cNvPr id="15" name="Text 13"/>
          <p:cNvSpPr txBox="1"/>
          <p:nvPr/>
        </p:nvSpPr>
        <p:spPr>
          <a:xfrm>
            <a:off x="8686800" y="5120640"/>
            <a:ext cx="2834640" cy="822960"/>
          </a:xfrm>
          <a:prstGeom prst="rect">
            <a:avLst/>
          </a:prstGeom>
          <a:noFill/>
          <a:ln/>
        </p:spPr>
        <p:txBody>
          <a:bodyPr wrap="square" lIns="0" tIns="0" rIns="0" bIns="0" rtlCol="0" anchor="t"/>
          <a:lstStyle/>
          <a:p>
            <a:pPr indent="0" marL="0">
              <a:buNone/>
            </a:pPr>
            <a:r>
              <a:rPr lang="en-US" sz="1100" dirty="0">
                <a:solidFill>
                  <a:srgbClr val="FFFFFF"/>
                </a:solidFill>
              </a:rPr>
              <a:t>Fall in average PM₂.₅ exposure across England, 2003–2023</a:t>
            </a:r>
            <a:endParaRPr lang="en-US" sz="1100" dirty="0"/>
          </a:p>
          <a:p>
            <a:pPr indent="0" marL="0">
              <a:buNone/>
            </a:pPr>
            <a:r>
              <a:rPr lang="en-US" sz="1100" i="1" dirty="0">
                <a:solidFill>
                  <a:srgbClr val="7FB7C2"/>
                </a:solidFill>
              </a:rPr>
              <a:t>Gadenne et al., 2024</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Background: UK air quality is improving, yet WHO 2021 guideline levels are still frequently breached</a:t>
            </a:r>
            <a:endParaRPr lang="en-US" sz="2600" dirty="0"/>
          </a:p>
        </p:txBody>
      </p:sp>
      <p:sp>
        <p:nvSpPr>
          <p:cNvPr id="3" name="Shape 1"/>
          <p:cNvSpPr/>
          <p:nvPr/>
        </p:nvSpPr>
        <p:spPr>
          <a:xfrm>
            <a:off x="457200" y="1325880"/>
            <a:ext cx="4114800" cy="1417320"/>
          </a:xfrm>
          <a:prstGeom prst="rect">
            <a:avLst/>
          </a:prstGeom>
          <a:solidFill>
            <a:srgbClr val="E6F2F1"/>
          </a:solidFill>
          <a:ln w="12700">
            <a:solidFill>
              <a:srgbClr val="E6F2F1"/>
            </a:solidFill>
            <a:prstDash val="solid"/>
          </a:ln>
        </p:spPr>
      </p:sp>
      <p:sp>
        <p:nvSpPr>
          <p:cNvPr id="4" name="Text 2"/>
          <p:cNvSpPr txBox="1"/>
          <p:nvPr/>
        </p:nvSpPr>
        <p:spPr>
          <a:xfrm>
            <a:off x="640080" y="1399032"/>
            <a:ext cx="3749040" cy="502920"/>
          </a:xfrm>
          <a:prstGeom prst="rect">
            <a:avLst/>
          </a:prstGeom>
          <a:noFill/>
          <a:ln/>
        </p:spPr>
        <p:txBody>
          <a:bodyPr wrap="square" lIns="0" tIns="0" rIns="0" bIns="0" rtlCol="0" anchor="ctr"/>
          <a:lstStyle/>
          <a:p>
            <a:pPr indent="0" marL="0">
              <a:buNone/>
            </a:pPr>
            <a:r>
              <a:rPr lang="en-US" sz="2600" b="1" dirty="0">
                <a:solidFill>
                  <a:srgbClr val="1F7A8C"/>
                </a:solidFill>
                <a:latin typeface="Cambria" pitchFamily="34" charset="0"/>
                <a:ea typeface="Cambria" pitchFamily="34" charset="-122"/>
                <a:cs typeface="Cambria" pitchFamily="34" charset="-120"/>
              </a:rPr>
              <a:t>−54%</a:t>
            </a:r>
            <a:endParaRPr lang="en-US" sz="2600" dirty="0"/>
          </a:p>
        </p:txBody>
      </p:sp>
      <p:sp>
        <p:nvSpPr>
          <p:cNvPr id="5" name="Text 3"/>
          <p:cNvSpPr txBox="1"/>
          <p:nvPr/>
        </p:nvSpPr>
        <p:spPr>
          <a:xfrm>
            <a:off x="640080" y="1920240"/>
            <a:ext cx="3749040" cy="777240"/>
          </a:xfrm>
          <a:prstGeom prst="rect">
            <a:avLst/>
          </a:prstGeom>
          <a:noFill/>
          <a:ln/>
        </p:spPr>
        <p:txBody>
          <a:bodyPr wrap="square" lIns="0" tIns="0" rIns="0" bIns="0" rtlCol="0" anchor="t"/>
          <a:lstStyle/>
          <a:p>
            <a:pPr indent="0" marL="0">
              <a:buNone/>
            </a:pPr>
            <a:r>
              <a:rPr lang="en-US" sz="1150" dirty="0">
                <a:solidFill>
                  <a:srgbClr val="1B1F23"/>
                </a:solidFill>
              </a:rPr>
              <a:t>Average PM₂.₅ exposure in England fell between 2003 and 2023; 99% of people were above the 2040 target in 2003 versus &lt;0.1% in 2023 (Gadenne et al., 2024).</a:t>
            </a:r>
            <a:endParaRPr lang="en-US" sz="1150" dirty="0"/>
          </a:p>
        </p:txBody>
      </p:sp>
      <p:sp>
        <p:nvSpPr>
          <p:cNvPr id="6" name="Shape 4"/>
          <p:cNvSpPr/>
          <p:nvPr/>
        </p:nvSpPr>
        <p:spPr>
          <a:xfrm>
            <a:off x="457200" y="2880360"/>
            <a:ext cx="4114800" cy="1417320"/>
          </a:xfrm>
          <a:prstGeom prst="rect">
            <a:avLst/>
          </a:prstGeom>
          <a:solidFill>
            <a:srgbClr val="E6F2F1"/>
          </a:solidFill>
          <a:ln w="12700">
            <a:solidFill>
              <a:srgbClr val="E6F2F1"/>
            </a:solidFill>
            <a:prstDash val="solid"/>
          </a:ln>
        </p:spPr>
      </p:sp>
      <p:sp>
        <p:nvSpPr>
          <p:cNvPr id="7" name="Text 5"/>
          <p:cNvSpPr txBox="1"/>
          <p:nvPr/>
        </p:nvSpPr>
        <p:spPr>
          <a:xfrm>
            <a:off x="640080" y="2953512"/>
            <a:ext cx="3749040" cy="502920"/>
          </a:xfrm>
          <a:prstGeom prst="rect">
            <a:avLst/>
          </a:prstGeom>
          <a:noFill/>
          <a:ln/>
        </p:spPr>
        <p:txBody>
          <a:bodyPr wrap="square" lIns="0" tIns="0" rIns="0" bIns="0" rtlCol="0" anchor="ctr"/>
          <a:lstStyle/>
          <a:p>
            <a:pPr indent="0" marL="0">
              <a:buNone/>
            </a:pPr>
            <a:r>
              <a:rPr lang="en-US" sz="2600" b="1" dirty="0">
                <a:solidFill>
                  <a:srgbClr val="1F7A8C"/>
                </a:solidFill>
                <a:latin typeface="Cambria" pitchFamily="34" charset="0"/>
                <a:ea typeface="Cambria" pitchFamily="34" charset="-122"/>
                <a:cs typeface="Cambria" pitchFamily="34" charset="-120"/>
              </a:rPr>
              <a:t>10 vs 5 µg/m³</a:t>
            </a:r>
            <a:endParaRPr lang="en-US" sz="2600" dirty="0"/>
          </a:p>
        </p:txBody>
      </p:sp>
      <p:sp>
        <p:nvSpPr>
          <p:cNvPr id="8" name="Text 6"/>
          <p:cNvSpPr txBox="1"/>
          <p:nvPr/>
        </p:nvSpPr>
        <p:spPr>
          <a:xfrm>
            <a:off x="640080" y="3474720"/>
            <a:ext cx="3749040" cy="777240"/>
          </a:xfrm>
          <a:prstGeom prst="rect">
            <a:avLst/>
          </a:prstGeom>
          <a:noFill/>
          <a:ln/>
        </p:spPr>
        <p:txBody>
          <a:bodyPr wrap="square" lIns="0" tIns="0" rIns="0" bIns="0" rtlCol="0" anchor="t"/>
          <a:lstStyle/>
          <a:p>
            <a:pPr indent="0" marL="0">
              <a:buNone/>
            </a:pPr>
            <a:r>
              <a:rPr lang="en-US" sz="1150" dirty="0">
                <a:solidFill>
                  <a:srgbClr val="1B1F23"/>
                </a:solidFill>
              </a:rPr>
              <a:t>England's legal annual-mean PM₂.₅ target for 2040 is 10 µg/m³ (Environmental Targets (Fine Particulate Matter) (England) Regulations 2023, 2023); WHO (2021) now recommends 5 µg/m³.</a:t>
            </a:r>
            <a:endParaRPr lang="en-US" sz="1150" dirty="0"/>
          </a:p>
        </p:txBody>
      </p:sp>
      <p:sp>
        <p:nvSpPr>
          <p:cNvPr id="9" name="Shape 7"/>
          <p:cNvSpPr/>
          <p:nvPr/>
        </p:nvSpPr>
        <p:spPr>
          <a:xfrm>
            <a:off x="457200" y="4434840"/>
            <a:ext cx="4114800" cy="1417320"/>
          </a:xfrm>
          <a:prstGeom prst="rect">
            <a:avLst/>
          </a:prstGeom>
          <a:solidFill>
            <a:srgbClr val="E6F2F1"/>
          </a:solidFill>
          <a:ln w="12700">
            <a:solidFill>
              <a:srgbClr val="E6F2F1"/>
            </a:solidFill>
            <a:prstDash val="solid"/>
          </a:ln>
        </p:spPr>
      </p:sp>
      <p:sp>
        <p:nvSpPr>
          <p:cNvPr id="10" name="Text 8"/>
          <p:cNvSpPr txBox="1"/>
          <p:nvPr/>
        </p:nvSpPr>
        <p:spPr>
          <a:xfrm>
            <a:off x="640080" y="4507992"/>
            <a:ext cx="3749040" cy="502920"/>
          </a:xfrm>
          <a:prstGeom prst="rect">
            <a:avLst/>
          </a:prstGeom>
          <a:noFill/>
          <a:ln/>
        </p:spPr>
        <p:txBody>
          <a:bodyPr wrap="square" lIns="0" tIns="0" rIns="0" bIns="0" rtlCol="0" anchor="ctr"/>
          <a:lstStyle/>
          <a:p>
            <a:pPr indent="0" marL="0">
              <a:buNone/>
            </a:pPr>
            <a:r>
              <a:rPr lang="en-US" sz="2600" b="1" dirty="0">
                <a:solidFill>
                  <a:srgbClr val="1F7A8C"/>
                </a:solidFill>
                <a:latin typeface="Cambria" pitchFamily="34" charset="0"/>
                <a:ea typeface="Cambria" pitchFamily="34" charset="-122"/>
                <a:cs typeface="Cambria" pitchFamily="34" charset="-120"/>
              </a:rPr>
              <a:t>29,000–43,000</a:t>
            </a:r>
            <a:endParaRPr lang="en-US" sz="2600" dirty="0"/>
          </a:p>
        </p:txBody>
      </p:sp>
      <p:sp>
        <p:nvSpPr>
          <p:cNvPr id="11" name="Text 9"/>
          <p:cNvSpPr txBox="1"/>
          <p:nvPr/>
        </p:nvSpPr>
        <p:spPr>
          <a:xfrm>
            <a:off x="640080" y="5029200"/>
            <a:ext cx="3749040" cy="777240"/>
          </a:xfrm>
          <a:prstGeom prst="rect">
            <a:avLst/>
          </a:prstGeom>
          <a:noFill/>
          <a:ln/>
        </p:spPr>
        <p:txBody>
          <a:bodyPr wrap="square" lIns="0" tIns="0" rIns="0" bIns="0" rtlCol="0" anchor="t"/>
          <a:lstStyle/>
          <a:p>
            <a:pPr indent="0" marL="0">
              <a:buNone/>
            </a:pPr>
            <a:r>
              <a:rPr lang="en-US" sz="1150" dirty="0">
                <a:solidFill>
                  <a:srgbClr val="1B1F23"/>
                </a:solidFill>
              </a:rPr>
              <a:t>Estimated UK deaths per year attributable to long-term outdoor air pollution (effect-equivalent, adults) (Office for Health Improvement and Disparities [OHID], n.d.).</a:t>
            </a:r>
            <a:endParaRPr lang="en-US" sz="1150" dirty="0"/>
          </a:p>
        </p:txBody>
      </p:sp>
      <p:graphicFrame>
        <p:nvGraphicFramePr>
          <p:cNvPr id="12" name="Chart 0" descr=""/>
          <p:cNvGraphicFramePr/>
          <p:nvPr/>
        </p:nvGraphicFramePr>
        <p:xfrm>
          <a:off x="4846320" y="1280160"/>
          <a:ext cx="6885432" cy="443484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457200" y="6053328"/>
            <a:ext cx="11274552" cy="384048"/>
          </a:xfrm>
          <a:prstGeom prst="rect">
            <a:avLst/>
          </a:prstGeom>
          <a:noFill/>
          <a:ln/>
        </p:spPr>
        <p:txBody>
          <a:bodyPr wrap="square" lIns="0" tIns="0" rIns="0" bIns="0" rtlCol="0" anchor="t"/>
          <a:lstStyle/>
          <a:p>
            <a:pPr indent="0" marL="0">
              <a:buNone/>
            </a:pPr>
            <a:r>
              <a:rPr lang="en-US" sz="1000" i="1" dirty="0">
                <a:solidFill>
                  <a:srgbClr val="5B6770"/>
                </a:solidFill>
                <a:latin typeface="Calibri" pitchFamily="34" charset="0"/>
                <a:ea typeface="Calibri" pitchFamily="34" charset="-122"/>
                <a:cs typeface="Calibri" pitchFamily="34" charset="-120"/>
              </a:rPr>
              <a:t>Source: Weber and Dacre (2025), analysis of hourly data from DEFRA's Automatic Urban and Rural Network (AURN) and other UK monitoring networks. Median across monitoring sites. O₃ = ozone, which rose over the period. Defra (2024) reports all UK zones met the PM₂.₅ limit value in 2023.</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Problem statement: pollutants are falling, but evidence on what air quality management delivers for urban sustainability is fragmented</a:t>
            </a:r>
            <a:endParaRPr lang="en-US" sz="2600" dirty="0"/>
          </a:p>
        </p:txBody>
      </p:sp>
      <p:sp>
        <p:nvSpPr>
          <p:cNvPr id="3" name="Shape 1"/>
          <p:cNvSpPr/>
          <p:nvPr/>
        </p:nvSpPr>
        <p:spPr>
          <a:xfrm>
            <a:off x="457200" y="1325880"/>
            <a:ext cx="5760720" cy="1600200"/>
          </a:xfrm>
          <a:prstGeom prst="rect">
            <a:avLst/>
          </a:prstGeom>
          <a:solidFill>
            <a:srgbClr val="0F2E3D"/>
          </a:solidFill>
          <a:ln w="12700">
            <a:solidFill>
              <a:srgbClr val="0F2E3D"/>
            </a:solidFill>
            <a:prstDash val="solid"/>
          </a:ln>
        </p:spPr>
      </p:sp>
      <p:sp>
        <p:nvSpPr>
          <p:cNvPr id="4" name="Text 2"/>
          <p:cNvSpPr txBox="1"/>
          <p:nvPr/>
        </p:nvSpPr>
        <p:spPr>
          <a:xfrm>
            <a:off x="640080" y="1371600"/>
            <a:ext cx="5394960" cy="1508760"/>
          </a:xfrm>
          <a:prstGeom prst="rect">
            <a:avLst/>
          </a:prstGeom>
          <a:noFill/>
          <a:ln/>
        </p:spPr>
        <p:txBody>
          <a:bodyPr wrap="square" lIns="0" tIns="0" rIns="0" bIns="0" rtlCol="0" anchor="ctr"/>
          <a:lstStyle/>
          <a:p>
            <a:pPr indent="0" marL="0">
              <a:buNone/>
            </a:pPr>
            <a:r>
              <a:rPr lang="en-US" sz="1300" b="1" dirty="0">
                <a:solidFill>
                  <a:srgbClr val="E8A33D"/>
                </a:solidFill>
              </a:rPr>
              <a:t>Problem. </a:t>
            </a:r>
            <a:pPr indent="0" marL="0">
              <a:buNone/>
            </a:pPr>
            <a:r>
              <a:rPr lang="en-US" sz="1300" dirty="0">
                <a:solidFill>
                  <a:srgbClr val="FFFFFF"/>
                </a:solidFill>
              </a:rPr>
              <a:t>Despite sustained declines in NO₂ and PM₂.₅, UK cities still record frequent breaches of WHO (2021) guidelines, exposure remains unequal, and evaluations of city-level measures report mixed results. How air quality management is framed, implemented and justified as part of sustainable urban development is under-explained.</a:t>
            </a:r>
            <a:endParaRPr lang="en-US" sz="1300" dirty="0"/>
          </a:p>
        </p:txBody>
      </p:sp>
      <p:sp>
        <p:nvSpPr>
          <p:cNvPr id="5" name="Text 3"/>
          <p:cNvSpPr txBox="1"/>
          <p:nvPr/>
        </p:nvSpPr>
        <p:spPr>
          <a:xfrm>
            <a:off x="457200" y="3108960"/>
            <a:ext cx="5760720" cy="28346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B1F23"/>
                </a:solidFill>
              </a:rPr>
              <a:t>Still above guidelines: median 40 NO₂ and 22 PM₂.₅ breach days per site in 2023–24; ozone breach days rose from 7 to 14 (Weber &amp; Dacre, 2025).</a:t>
            </a:r>
            <a:endParaRPr lang="en-US" sz="1300" dirty="0"/>
          </a:p>
          <a:p>
            <a:pPr marL="342900" indent="-342900">
              <a:spcAft>
                <a:spcPts val="800"/>
              </a:spcAft>
              <a:buSzPct val="100000"/>
              <a:buChar char="•"/>
            </a:pPr>
            <a:r>
              <a:rPr lang="en-US" sz="1300" dirty="0">
                <a:solidFill>
                  <a:srgbClr val="1B1F23"/>
                </a:solidFill>
              </a:rPr>
              <a:t>Unequal exposure: the 20% most deprived areas of England had 8% higher average PM₂.₅ in 2023 (Gadenne et al., 2024).</a:t>
            </a:r>
            <a:endParaRPr lang="en-US" sz="1300" dirty="0"/>
          </a:p>
          <a:p>
            <a:pPr marL="342900" indent="-342900">
              <a:spcAft>
                <a:spcPts val="800"/>
              </a:spcAft>
              <a:buSzPct val="100000"/>
              <a:buChar char="•"/>
            </a:pPr>
            <a:r>
              <a:rPr lang="en-US" sz="1300" dirty="0">
                <a:solidFill>
                  <a:srgbClr val="1B1F23"/>
                </a:solidFill>
              </a:rPr>
              <a:t>Mixed local evidence: Birmingham's Clean Air Zone cut NO₂ by up to 7.3% in its first seven months (Liu et al., 2023); Sheffield's showed no significant zone-specific reduction, with fleet renewal the likely driver (Williams et al., 2025).</a:t>
            </a:r>
            <a:endParaRPr lang="en-US" sz="1300" dirty="0"/>
          </a:p>
        </p:txBody>
      </p:sp>
      <p:graphicFrame>
        <p:nvGraphicFramePr>
          <p:cNvPr id="6" name="Chart 0" descr=""/>
          <p:cNvGraphicFramePr/>
          <p:nvPr/>
        </p:nvGraphicFramePr>
        <p:xfrm>
          <a:off x="6492240" y="1280160"/>
          <a:ext cx="5239512" cy="44348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457200" y="6053328"/>
            <a:ext cx="11274552" cy="384048"/>
          </a:xfrm>
          <a:prstGeom prst="rect">
            <a:avLst/>
          </a:prstGeom>
          <a:noFill/>
          <a:ln/>
        </p:spPr>
        <p:txBody>
          <a:bodyPr wrap="square" lIns="0" tIns="0" rIns="0" bIns="0" rtlCol="0" anchor="t"/>
          <a:lstStyle/>
          <a:p>
            <a:pPr indent="0" marL="0">
              <a:buNone/>
            </a:pPr>
            <a:r>
              <a:rPr lang="en-US" sz="1000" i="1" dirty="0">
                <a:solidFill>
                  <a:srgbClr val="5B6770"/>
                </a:solidFill>
                <a:latin typeface="Calibri" pitchFamily="34" charset="0"/>
                <a:ea typeface="Calibri" pitchFamily="34" charset="-122"/>
                <a:cs typeface="Calibri" pitchFamily="34" charset="-120"/>
              </a:rPr>
              <a:t>Source: Transport for London (2025), London-wide ULEZ one year report. Estimates are modelled against a counterfactual 'no ULEZ' scenario, not observed before-and-after differences. Sheffield and Birmingham figures from peer-reviewed studies cited above.</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Literature and research gap: strong outcome measurement, limited cross-city interpretive synthesis</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1737360"/>
                <a:gridCol w="1371600"/>
                <a:gridCol w="3017520"/>
                <a:gridCol w="2743200"/>
                <a:gridCol w="2404872"/>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Study</a:t>
                      </a:r>
                      <a:endParaRPr lang="en-US" sz="1200" dirty="0">
                        <a:latin typeface="Calibri" charset="0"/>
                        <a:ea typeface="Calibri" charset="0"/>
                        <a:cs typeface="Calibri" charset="0"/>
                      </a:endParaRPr>
                    </a:p>
                  </a:txBody>
                  <a:tcPr marL="73152" marR="73152" marT="36576" marB="36576"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Scope</a:t>
                      </a:r>
                      <a:endParaRPr lang="en-US" sz="1200" dirty="0">
                        <a:latin typeface="Calibri" charset="0"/>
                        <a:ea typeface="Calibri" charset="0"/>
                        <a:cs typeface="Calibri" charset="0"/>
                      </a:endParaRPr>
                    </a:p>
                  </a:txBody>
                  <a:tcPr marL="73152" marR="73152" marT="36576" marB="36576"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Method and data</a:t>
                      </a:r>
                      <a:endParaRPr lang="en-US" sz="1200" dirty="0">
                        <a:latin typeface="Calibri" charset="0"/>
                        <a:ea typeface="Calibri" charset="0"/>
                        <a:cs typeface="Calibri" charset="0"/>
                      </a:endParaRPr>
                    </a:p>
                  </a:txBody>
                  <a:tcPr marL="73152" marR="73152" marT="36576" marB="36576"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Main finding</a:t>
                      </a:r>
                      <a:endParaRPr lang="en-US" sz="1200" dirty="0">
                        <a:latin typeface="Calibri" charset="0"/>
                        <a:ea typeface="Calibri" charset="0"/>
                        <a:cs typeface="Calibri" charset="0"/>
                      </a:endParaRPr>
                    </a:p>
                  </a:txBody>
                  <a:tcPr marL="73152" marR="73152" marT="36576" marB="36576"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Limitation for this proposal</a:t>
                      </a:r>
                      <a:endParaRPr lang="en-US" sz="1200" dirty="0">
                        <a:latin typeface="Calibri" charset="0"/>
                        <a:ea typeface="Calibri" charset="0"/>
                        <a:cs typeface="Calibri" charset="0"/>
                      </a:endParaRPr>
                    </a:p>
                  </a:txBody>
                  <a:tcPr marL="73152" marR="73152" marT="36576" marB="36576"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r>
              <a:tr h="566928">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Weber &amp; Dacre (2025)</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UK-wide</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Quantitative trend analysis of hourly data from AURN and other networks, 2015–2024</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NO₂ and PM₂.₅ falling; WHO breaches common; ozone rising</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National scale; city governance not examined</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Gadenne et al. (2024)</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England, small-area</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Statistical analysis of PM₂.₅ exposure, 2003–23</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Exposure down 54%; deprived areas remain more exposed</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Describes exposure, not management rationale</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502920">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Liu et al. (2023)</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Birmingham</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Machine learning with synthetic control</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Modest but significant NO₂ reductions after the CAZ</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Single city; pollutant outcome only</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Williams et al. (2025)</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Sheffield</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Weather normalisation with difference-in-differences</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No significant zone-specific reduction; fleet renewal likely</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Single city; quantitative only</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566928">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TfL (2025)</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London</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Official evaluation against modelled no-ULEZ scenario</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Lower roadside NO₂ in central, inner and outer London</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Institution-authored; modelled counterfactual</a:t>
                      </a:r>
                      <a:endParaRPr lang="en-US" sz="1150" dirty="0">
                        <a:latin typeface="Calibri" charset="0"/>
                        <a:ea typeface="Calibri" charset="0"/>
                        <a:cs typeface="Calibri" charset="0"/>
                      </a:endParaRPr>
                    </a:p>
                  </a:txBody>
                  <a:tcPr marL="73152" marR="73152" marT="36576" marB="36576"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bl>
          </a:graphicData>
        </a:graphic>
      </p:graphicFrame>
      <p:sp>
        <p:nvSpPr>
          <p:cNvPr id="4" name="Shape 1"/>
          <p:cNvSpPr/>
          <p:nvPr/>
        </p:nvSpPr>
        <p:spPr>
          <a:xfrm>
            <a:off x="457200" y="4572000"/>
            <a:ext cx="11274552" cy="1417320"/>
          </a:xfrm>
          <a:prstGeom prst="rect">
            <a:avLst/>
          </a:prstGeom>
          <a:solidFill>
            <a:srgbClr val="E6F2F1"/>
          </a:solidFill>
          <a:ln w="12700">
            <a:solidFill>
              <a:srgbClr val="E6F2F1"/>
            </a:solidFill>
            <a:prstDash val="solid"/>
          </a:ln>
        </p:spPr>
      </p:sp>
      <p:sp>
        <p:nvSpPr>
          <p:cNvPr id="5" name="Text 2"/>
          <p:cNvSpPr txBox="1"/>
          <p:nvPr/>
        </p:nvSpPr>
        <p:spPr>
          <a:xfrm>
            <a:off x="640080" y="4617720"/>
            <a:ext cx="10881360" cy="1325880"/>
          </a:xfrm>
          <a:prstGeom prst="rect">
            <a:avLst/>
          </a:prstGeom>
          <a:noFill/>
          <a:ln/>
        </p:spPr>
        <p:txBody>
          <a:bodyPr wrap="square" lIns="0" tIns="0" rIns="0" bIns="0" rtlCol="0" anchor="ctr"/>
          <a:lstStyle/>
          <a:p>
            <a:pPr indent="0" marL="0">
              <a:buNone/>
            </a:pPr>
            <a:r>
              <a:rPr lang="en-US" sz="1300" b="1" dirty="0">
                <a:solidFill>
                  <a:srgbClr val="1F7A8C"/>
                </a:solidFill>
              </a:rPr>
              <a:t>Research gap. </a:t>
            </a:r>
            <a:pPr indent="0" marL="0">
              <a:buNone/>
            </a:pPr>
            <a:r>
              <a:rPr lang="en-US" sz="1300" dirty="0">
                <a:solidFill>
                  <a:srgbClr val="1B1F23"/>
                </a:solidFill>
              </a:rPr>
              <a:t>The studies reviewed here are predominantly quantitative and outcome-focused, covering either the national scale or a single city. A cross-city, interpretive synthesis of how official and peer-reviewed sources frame and justify air quality management within sustainable-development dimensions (health, equity, transport, economy) is not evident in this evidence base. This proposal addresses that gap; its extent will be confirmed through the scoping search in Weeks 1–2 (Saunders et al., 2023).</a:t>
            </a:r>
            <a:endParaRPr lang="en-US" sz="1300" dirty="0"/>
          </a:p>
        </p:txBody>
      </p:sp>
      <p:sp>
        <p:nvSpPr>
          <p:cNvPr id="6" name="Text 3"/>
          <p:cNvSpPr txBox="1"/>
          <p:nvPr/>
        </p:nvSpPr>
        <p:spPr>
          <a:xfrm>
            <a:off x="457200" y="6108192"/>
            <a:ext cx="11274552" cy="320040"/>
          </a:xfrm>
          <a:prstGeom prst="rect">
            <a:avLst/>
          </a:prstGeom>
          <a:noFill/>
          <a:ln/>
        </p:spPr>
        <p:txBody>
          <a:bodyPr wrap="square" lIns="0" tIns="0" rIns="0" bIns="0" rtlCol="0" anchor="t"/>
          <a:lstStyle/>
          <a:p>
            <a:pPr indent="0" marL="0">
              <a:buNone/>
            </a:pPr>
            <a:r>
              <a:rPr lang="en-US" sz="1000" i="1" dirty="0">
                <a:solidFill>
                  <a:srgbClr val="5B6770"/>
                </a:solidFill>
                <a:latin typeface="Calibri" pitchFamily="34" charset="0"/>
                <a:ea typeface="Calibri" pitchFamily="34" charset="-122"/>
                <a:cs typeface="Calibri" pitchFamily="34" charset="-120"/>
              </a:rPr>
              <a:t>Sources: Gadenne et al. (2024); Liu et al. (2023); Transport for London (2025); Weber and Dacre (2025); Williams et al. (2025). Table compiled by the author from these sources.</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Research aim, objectives, questions and conceptual framework</a:t>
            </a:r>
            <a:endParaRPr lang="en-US" sz="2600" dirty="0"/>
          </a:p>
        </p:txBody>
      </p:sp>
      <p:sp>
        <p:nvSpPr>
          <p:cNvPr id="3" name="Shape 1"/>
          <p:cNvSpPr/>
          <p:nvPr/>
        </p:nvSpPr>
        <p:spPr>
          <a:xfrm>
            <a:off x="457200" y="1280160"/>
            <a:ext cx="6858000" cy="868680"/>
          </a:xfrm>
          <a:prstGeom prst="rect">
            <a:avLst/>
          </a:prstGeom>
          <a:solidFill>
            <a:srgbClr val="0F2E3D"/>
          </a:solidFill>
          <a:ln w="12700">
            <a:solidFill>
              <a:srgbClr val="0F2E3D"/>
            </a:solidFill>
            <a:prstDash val="solid"/>
          </a:ln>
        </p:spPr>
      </p:sp>
      <p:sp>
        <p:nvSpPr>
          <p:cNvPr id="4" name="Text 2"/>
          <p:cNvSpPr txBox="1"/>
          <p:nvPr/>
        </p:nvSpPr>
        <p:spPr>
          <a:xfrm>
            <a:off x="594360" y="1307592"/>
            <a:ext cx="6583680" cy="822960"/>
          </a:xfrm>
          <a:prstGeom prst="rect">
            <a:avLst/>
          </a:prstGeom>
          <a:noFill/>
          <a:ln/>
        </p:spPr>
        <p:txBody>
          <a:bodyPr wrap="square" lIns="0" tIns="0" rIns="0" bIns="0" rtlCol="0" anchor="ctr"/>
          <a:lstStyle/>
          <a:p>
            <a:pPr indent="0" marL="0">
              <a:buNone/>
            </a:pPr>
            <a:r>
              <a:rPr lang="en-US" sz="1300" b="1" dirty="0">
                <a:solidFill>
                  <a:srgbClr val="E8A33D"/>
                </a:solidFill>
              </a:rPr>
              <a:t>Aim: </a:t>
            </a:r>
            <a:pPr indent="0" marL="0">
              <a:buNone/>
            </a:pPr>
            <a:r>
              <a:rPr lang="en-US" sz="1300" dirty="0">
                <a:solidFill>
                  <a:srgbClr val="FFFFFF"/>
                </a:solidFill>
              </a:rPr>
              <a:t>To evaluate how air quality management is framed and implemented in major UK cities, and what role it plays in advancing sustainable urban development.</a:t>
            </a:r>
            <a:endParaRPr lang="en-US" sz="1300" dirty="0"/>
          </a:p>
        </p:txBody>
      </p:sp>
      <p:sp>
        <p:nvSpPr>
          <p:cNvPr id="5" name="Text 3"/>
          <p:cNvSpPr txBox="1"/>
          <p:nvPr/>
        </p:nvSpPr>
        <p:spPr>
          <a:xfrm>
            <a:off x="457200" y="2286000"/>
            <a:ext cx="6858000" cy="274320"/>
          </a:xfrm>
          <a:prstGeom prst="rect">
            <a:avLst/>
          </a:prstGeom>
          <a:noFill/>
          <a:ln/>
        </p:spPr>
        <p:txBody>
          <a:bodyPr wrap="square" lIns="0" tIns="0" rIns="0" bIns="0" rtlCol="0" anchor="ctr"/>
          <a:lstStyle/>
          <a:p>
            <a:pPr indent="0" marL="0">
              <a:buNone/>
            </a:pPr>
            <a:r>
              <a:rPr lang="en-US" sz="1500" b="1" dirty="0">
                <a:solidFill>
                  <a:srgbClr val="1F7A8C"/>
                </a:solidFill>
                <a:latin typeface="Cambria" pitchFamily="34" charset="0"/>
                <a:ea typeface="Cambria" pitchFamily="34" charset="-122"/>
                <a:cs typeface="Cambria" pitchFamily="34" charset="-120"/>
              </a:rPr>
              <a:t>Objectives</a:t>
            </a:r>
            <a:endParaRPr lang="en-US" sz="1500" dirty="0"/>
          </a:p>
        </p:txBody>
      </p:sp>
      <p:sp>
        <p:nvSpPr>
          <p:cNvPr id="6" name="Text 4"/>
          <p:cNvSpPr txBox="1"/>
          <p:nvPr/>
        </p:nvSpPr>
        <p:spPr>
          <a:xfrm>
            <a:off x="457200" y="2578608"/>
            <a:ext cx="6858000" cy="1600200"/>
          </a:xfrm>
          <a:prstGeom prst="rect">
            <a:avLst/>
          </a:prstGeom>
          <a:noFill/>
          <a:ln/>
        </p:spPr>
        <p:txBody>
          <a:bodyPr wrap="square" lIns="0" tIns="0" rIns="0" bIns="0" rtlCol="0" anchor="t"/>
          <a:lstStyle/>
          <a:p>
            <a:pPr marL="342900" indent="-342900">
              <a:spcAft>
                <a:spcPts val="300"/>
              </a:spcAft>
              <a:buSzPct val="100000"/>
              <a:buFont typeface="+mj-lt"/>
              <a:buAutoNum type="arabicPeriod" startAt="1"/>
            </a:pPr>
            <a:r>
              <a:rPr lang="en-US" sz="1250" dirty="0">
                <a:solidFill>
                  <a:srgbClr val="1B1F23"/>
                </a:solidFill>
              </a:rPr>
              <a:t>Review UK air quality trends, standards (WHO, 2021; Environmental Targets Regulations 2023) and management measures.</a:t>
            </a:r>
            <a:endParaRPr lang="en-US" sz="1250" dirty="0"/>
          </a:p>
          <a:p>
            <a:pPr marL="342900" indent="-342900">
              <a:spcAft>
                <a:spcPts val="300"/>
              </a:spcAft>
              <a:buSzPct val="100000"/>
              <a:buFont typeface="+mj-lt"/>
              <a:buAutoNum type="arabicPeriod" startAt="1"/>
            </a:pPr>
            <a:r>
              <a:rPr lang="en-US" sz="1250" dirty="0">
                <a:solidFill>
                  <a:srgbClr val="1B1F23"/>
                </a:solidFill>
              </a:rPr>
              <a:t>Select official and peer-reviewed secondary sources for 4–6 major UK cities.</a:t>
            </a:r>
            <a:endParaRPr lang="en-US" sz="1250" dirty="0"/>
          </a:p>
          <a:p>
            <a:pPr marL="342900" indent="-342900">
              <a:spcAft>
                <a:spcPts val="300"/>
              </a:spcAft>
              <a:buSzPct val="100000"/>
              <a:buFont typeface="+mj-lt"/>
              <a:buAutoNum type="arabicPeriod" startAt="1"/>
            </a:pPr>
            <a:r>
              <a:rPr lang="en-US" sz="1250" dirty="0">
                <a:solidFill>
                  <a:srgbClr val="1B1F23"/>
                </a:solidFill>
              </a:rPr>
              <a:t>Thematically analyse how air quality management is justified and linked to sustainability dimensions.</a:t>
            </a:r>
            <a:endParaRPr lang="en-US" sz="1250" dirty="0"/>
          </a:p>
          <a:p>
            <a:pPr marL="342900" indent="-342900">
              <a:spcAft>
                <a:spcPts val="300"/>
              </a:spcAft>
              <a:buSzPct val="100000"/>
              <a:buFont typeface="+mj-lt"/>
              <a:buAutoNum type="arabicPeriod" startAt="1"/>
            </a:pPr>
            <a:r>
              <a:rPr lang="en-US" sz="1250" dirty="0">
                <a:solidFill>
                  <a:srgbClr val="1B1F23"/>
                </a:solidFill>
              </a:rPr>
              <a:t>Interpret cross-city patterns and draw implications for policy and further research.</a:t>
            </a:r>
            <a:endParaRPr lang="en-US" sz="1250" dirty="0"/>
          </a:p>
        </p:txBody>
      </p:sp>
      <p:sp>
        <p:nvSpPr>
          <p:cNvPr id="7" name="Text 5"/>
          <p:cNvSpPr txBox="1"/>
          <p:nvPr/>
        </p:nvSpPr>
        <p:spPr>
          <a:xfrm>
            <a:off x="457200" y="4251960"/>
            <a:ext cx="6858000" cy="274320"/>
          </a:xfrm>
          <a:prstGeom prst="rect">
            <a:avLst/>
          </a:prstGeom>
          <a:noFill/>
          <a:ln/>
        </p:spPr>
        <p:txBody>
          <a:bodyPr wrap="square" lIns="0" tIns="0" rIns="0" bIns="0" rtlCol="0" anchor="ctr"/>
          <a:lstStyle/>
          <a:p>
            <a:pPr indent="0" marL="0">
              <a:buNone/>
            </a:pPr>
            <a:r>
              <a:rPr lang="en-US" sz="1500" b="1" dirty="0">
                <a:solidFill>
                  <a:srgbClr val="1F7A8C"/>
                </a:solidFill>
                <a:latin typeface="Cambria" pitchFamily="34" charset="0"/>
                <a:ea typeface="Cambria" pitchFamily="34" charset="-122"/>
                <a:cs typeface="Cambria" pitchFamily="34" charset="-120"/>
              </a:rPr>
              <a:t>Research questions</a:t>
            </a:r>
            <a:endParaRPr lang="en-US" sz="1500" dirty="0"/>
          </a:p>
        </p:txBody>
      </p:sp>
      <p:sp>
        <p:nvSpPr>
          <p:cNvPr id="8" name="Text 6"/>
          <p:cNvSpPr txBox="1"/>
          <p:nvPr/>
        </p:nvSpPr>
        <p:spPr>
          <a:xfrm>
            <a:off x="457200" y="4544568"/>
            <a:ext cx="6858000" cy="1463040"/>
          </a:xfrm>
          <a:prstGeom prst="rect">
            <a:avLst/>
          </a:prstGeom>
          <a:noFill/>
          <a:ln/>
        </p:spPr>
        <p:txBody>
          <a:bodyPr wrap="square" lIns="0" tIns="0" rIns="0" bIns="0" rtlCol="0" anchor="t"/>
          <a:lstStyle/>
          <a:p>
            <a:pPr indent="0" marL="0">
              <a:spcAft>
                <a:spcPts val="300"/>
              </a:spcAft>
              <a:buNone/>
            </a:pPr>
            <a:r>
              <a:rPr lang="en-US" sz="1250" b="1" dirty="0">
                <a:solidFill>
                  <a:srgbClr val="1B1F23"/>
                </a:solidFill>
              </a:rPr>
              <a:t>RQ1: </a:t>
            </a:r>
            <a:pPr indent="0" marL="0">
              <a:spcAft>
                <a:spcPts val="300"/>
              </a:spcAft>
              <a:buNone/>
            </a:pPr>
            <a:r>
              <a:rPr lang="en-US" sz="1250" dirty="0">
                <a:solidFill>
                  <a:srgbClr val="1B1F23"/>
                </a:solidFill>
              </a:rPr>
              <a:t>How do city authorities and official bodies frame the purpose of air quality management in relation to sustainable urban development?</a:t>
            </a:r>
            <a:endParaRPr lang="en-US" sz="1250" dirty="0"/>
          </a:p>
          <a:p>
            <a:pPr indent="0" marL="0">
              <a:spcAft>
                <a:spcPts val="300"/>
              </a:spcAft>
              <a:buNone/>
            </a:pPr>
            <a:r>
              <a:rPr lang="en-US" sz="1250" b="1" dirty="0">
                <a:solidFill>
                  <a:srgbClr val="1B1F23"/>
                </a:solidFill>
              </a:rPr>
              <a:t>RQ2: </a:t>
            </a:r>
            <a:pPr indent="0" marL="0">
              <a:spcAft>
                <a:spcPts val="300"/>
              </a:spcAft>
              <a:buNone/>
            </a:pPr>
            <a:r>
              <a:rPr lang="en-US" sz="1250" dirty="0">
                <a:solidFill>
                  <a:srgbClr val="1B1F23"/>
                </a:solidFill>
              </a:rPr>
              <a:t>What themes characterise implementation measures and reported outcomes across the selected cities?</a:t>
            </a:r>
            <a:endParaRPr lang="en-US" sz="1250" dirty="0"/>
          </a:p>
          <a:p>
            <a:pPr indent="0" marL="0">
              <a:spcAft>
                <a:spcPts val="300"/>
              </a:spcAft>
              <a:buNone/>
            </a:pPr>
            <a:r>
              <a:rPr lang="en-US" sz="1250" b="1" dirty="0">
                <a:solidFill>
                  <a:srgbClr val="1B1F23"/>
                </a:solidFill>
              </a:rPr>
              <a:t>RQ3: </a:t>
            </a:r>
            <a:pPr indent="0" marL="0">
              <a:spcAft>
                <a:spcPts val="300"/>
              </a:spcAft>
              <a:buNone/>
            </a:pPr>
            <a:r>
              <a:rPr lang="en-US" sz="1250" dirty="0">
                <a:solidFill>
                  <a:srgbClr val="1B1F23"/>
                </a:solidFill>
              </a:rPr>
              <a:t>What enablers, barriers and equity considerations appear in the documents?</a:t>
            </a:r>
            <a:endParaRPr lang="en-US" sz="1250" dirty="0"/>
          </a:p>
        </p:txBody>
      </p:sp>
      <p:sp>
        <p:nvSpPr>
          <p:cNvPr id="9" name="Text 7"/>
          <p:cNvSpPr txBox="1"/>
          <p:nvPr/>
        </p:nvSpPr>
        <p:spPr>
          <a:xfrm>
            <a:off x="7680960" y="1280160"/>
            <a:ext cx="4050792" cy="274320"/>
          </a:xfrm>
          <a:prstGeom prst="rect">
            <a:avLst/>
          </a:prstGeom>
          <a:noFill/>
          <a:ln/>
        </p:spPr>
        <p:txBody>
          <a:bodyPr wrap="square" lIns="0" tIns="0" rIns="0" bIns="0" rtlCol="0" anchor="ctr"/>
          <a:lstStyle/>
          <a:p>
            <a:pPr indent="0" marL="0">
              <a:buNone/>
            </a:pPr>
            <a:r>
              <a:rPr lang="en-US" sz="1500" b="1" dirty="0">
                <a:solidFill>
                  <a:srgbClr val="1F7A8C"/>
                </a:solidFill>
                <a:latin typeface="Cambria" pitchFamily="34" charset="0"/>
                <a:ea typeface="Cambria" pitchFamily="34" charset="-122"/>
                <a:cs typeface="Cambria" pitchFamily="34" charset="-120"/>
              </a:rPr>
              <a:t>Conceptual framework</a:t>
            </a:r>
            <a:endParaRPr lang="en-US" sz="1500" dirty="0"/>
          </a:p>
        </p:txBody>
      </p:sp>
      <p:sp>
        <p:nvSpPr>
          <p:cNvPr id="10" name="Shape 8"/>
          <p:cNvSpPr/>
          <p:nvPr/>
        </p:nvSpPr>
        <p:spPr>
          <a:xfrm>
            <a:off x="7680960" y="1691640"/>
            <a:ext cx="4050792" cy="1005840"/>
          </a:xfrm>
          <a:prstGeom prst="rect">
            <a:avLst/>
          </a:prstGeom>
          <a:solidFill>
            <a:srgbClr val="0F2E3D"/>
          </a:solidFill>
          <a:ln w="12700">
            <a:solidFill>
              <a:srgbClr val="0F2E3D"/>
            </a:solidFill>
            <a:prstDash val="solid"/>
          </a:ln>
        </p:spPr>
      </p:sp>
      <p:sp>
        <p:nvSpPr>
          <p:cNvPr id="11" name="Text 9"/>
          <p:cNvSpPr txBox="1"/>
          <p:nvPr/>
        </p:nvSpPr>
        <p:spPr>
          <a:xfrm>
            <a:off x="7818120" y="1691640"/>
            <a:ext cx="3776472" cy="1005840"/>
          </a:xfrm>
          <a:prstGeom prst="rect">
            <a:avLst/>
          </a:prstGeom>
          <a:noFill/>
          <a:ln/>
        </p:spPr>
        <p:txBody>
          <a:bodyPr wrap="square" lIns="0" tIns="0" rIns="0" bIns="0" rtlCol="0" anchor="ctr"/>
          <a:lstStyle/>
          <a:p>
            <a:pPr indent="0" marL="0">
              <a:buNone/>
            </a:pPr>
            <a:r>
              <a:rPr lang="en-US" sz="1300" b="1" dirty="0">
                <a:solidFill>
                  <a:srgbClr val="FFFFFF"/>
                </a:solidFill>
              </a:rPr>
              <a:t>Standards and targets</a:t>
            </a:r>
            <a:endParaRPr lang="en-US" sz="1300" dirty="0"/>
          </a:p>
          <a:p>
            <a:pPr indent="0" marL="0">
              <a:buNone/>
            </a:pPr>
            <a:r>
              <a:rPr lang="en-US" sz="1100" dirty="0">
                <a:solidFill>
                  <a:srgbClr val="FFFFFF"/>
                </a:solidFill>
              </a:rPr>
              <a:t>WHO (2021) guidelines; 2040 PM₂.₅ target (Regulations 2023)</a:t>
            </a:r>
            <a:endParaRPr lang="en-US" sz="1300" dirty="0"/>
          </a:p>
        </p:txBody>
      </p:sp>
      <p:sp>
        <p:nvSpPr>
          <p:cNvPr id="12" name="Shape 10"/>
          <p:cNvSpPr/>
          <p:nvPr/>
        </p:nvSpPr>
        <p:spPr>
          <a:xfrm>
            <a:off x="9464040" y="2724912"/>
            <a:ext cx="457200" cy="265176"/>
          </a:xfrm>
          <a:prstGeom prst="downArrow">
            <a:avLst/>
          </a:prstGeom>
          <a:solidFill>
            <a:srgbClr val="E8A33D"/>
          </a:solidFill>
          <a:ln w="12700">
            <a:solidFill>
              <a:srgbClr val="E8A33D"/>
            </a:solidFill>
            <a:prstDash val="solid"/>
          </a:ln>
        </p:spPr>
      </p:sp>
      <p:sp>
        <p:nvSpPr>
          <p:cNvPr id="13" name="Shape 11"/>
          <p:cNvSpPr/>
          <p:nvPr/>
        </p:nvSpPr>
        <p:spPr>
          <a:xfrm>
            <a:off x="7680960" y="3017520"/>
            <a:ext cx="4050792" cy="1005840"/>
          </a:xfrm>
          <a:prstGeom prst="rect">
            <a:avLst/>
          </a:prstGeom>
          <a:solidFill>
            <a:srgbClr val="1F7A8C"/>
          </a:solidFill>
          <a:ln w="12700">
            <a:solidFill>
              <a:srgbClr val="1F7A8C"/>
            </a:solidFill>
            <a:prstDash val="solid"/>
          </a:ln>
        </p:spPr>
      </p:sp>
      <p:sp>
        <p:nvSpPr>
          <p:cNvPr id="14" name="Text 12"/>
          <p:cNvSpPr txBox="1"/>
          <p:nvPr/>
        </p:nvSpPr>
        <p:spPr>
          <a:xfrm>
            <a:off x="7818120" y="3017520"/>
            <a:ext cx="3776472" cy="1005840"/>
          </a:xfrm>
          <a:prstGeom prst="rect">
            <a:avLst/>
          </a:prstGeom>
          <a:noFill/>
          <a:ln/>
        </p:spPr>
        <p:txBody>
          <a:bodyPr wrap="square" lIns="0" tIns="0" rIns="0" bIns="0" rtlCol="0" anchor="ctr"/>
          <a:lstStyle/>
          <a:p>
            <a:pPr indent="0" marL="0">
              <a:buNone/>
            </a:pPr>
            <a:r>
              <a:rPr lang="en-US" sz="1300" b="1" dirty="0">
                <a:solidFill>
                  <a:srgbClr val="FFFFFF"/>
                </a:solidFill>
              </a:rPr>
              <a:t>City management measures</a:t>
            </a:r>
            <a:endParaRPr lang="en-US" sz="1300" dirty="0"/>
          </a:p>
          <a:p>
            <a:pPr indent="0" marL="0">
              <a:buNone/>
            </a:pPr>
            <a:r>
              <a:rPr lang="en-US" sz="1100" dirty="0">
                <a:solidFill>
                  <a:srgbClr val="FFFFFF"/>
                </a:solidFill>
              </a:rPr>
              <a:t>ULEZ, Clean Air Zones, local action plans and monitoring (TfL, 2025; Liu et al., 2023)</a:t>
            </a:r>
            <a:endParaRPr lang="en-US" sz="1300" dirty="0"/>
          </a:p>
        </p:txBody>
      </p:sp>
      <p:sp>
        <p:nvSpPr>
          <p:cNvPr id="15" name="Shape 13"/>
          <p:cNvSpPr/>
          <p:nvPr/>
        </p:nvSpPr>
        <p:spPr>
          <a:xfrm>
            <a:off x="9464040" y="4050792"/>
            <a:ext cx="457200" cy="265176"/>
          </a:xfrm>
          <a:prstGeom prst="downArrow">
            <a:avLst/>
          </a:prstGeom>
          <a:solidFill>
            <a:srgbClr val="E8A33D"/>
          </a:solidFill>
          <a:ln w="12700">
            <a:solidFill>
              <a:srgbClr val="E8A33D"/>
            </a:solidFill>
            <a:prstDash val="solid"/>
          </a:ln>
        </p:spPr>
      </p:sp>
      <p:sp>
        <p:nvSpPr>
          <p:cNvPr id="16" name="Shape 14"/>
          <p:cNvSpPr/>
          <p:nvPr/>
        </p:nvSpPr>
        <p:spPr>
          <a:xfrm>
            <a:off x="7680960" y="4343400"/>
            <a:ext cx="4050792" cy="1005840"/>
          </a:xfrm>
          <a:prstGeom prst="rect">
            <a:avLst/>
          </a:prstGeom>
          <a:solidFill>
            <a:srgbClr val="E6F2F1"/>
          </a:solidFill>
          <a:ln w="12700">
            <a:solidFill>
              <a:srgbClr val="E6F2F1"/>
            </a:solidFill>
            <a:prstDash val="solid"/>
          </a:ln>
        </p:spPr>
      </p:sp>
      <p:sp>
        <p:nvSpPr>
          <p:cNvPr id="17" name="Text 15"/>
          <p:cNvSpPr txBox="1"/>
          <p:nvPr/>
        </p:nvSpPr>
        <p:spPr>
          <a:xfrm>
            <a:off x="7818120" y="4343400"/>
            <a:ext cx="3776472" cy="1005840"/>
          </a:xfrm>
          <a:prstGeom prst="rect">
            <a:avLst/>
          </a:prstGeom>
          <a:noFill/>
          <a:ln/>
        </p:spPr>
        <p:txBody>
          <a:bodyPr wrap="square" lIns="0" tIns="0" rIns="0" bIns="0" rtlCol="0" anchor="ctr"/>
          <a:lstStyle/>
          <a:p>
            <a:pPr indent="0" marL="0">
              <a:buNone/>
            </a:pPr>
            <a:r>
              <a:rPr lang="en-US" sz="1300" b="1" dirty="0">
                <a:solidFill>
                  <a:srgbClr val="1B1F23"/>
                </a:solidFill>
              </a:rPr>
              <a:t>Sustainable urban development</a:t>
            </a:r>
            <a:endParaRPr lang="en-US" sz="1300" dirty="0"/>
          </a:p>
          <a:p>
            <a:pPr indent="0" marL="0">
              <a:buNone/>
            </a:pPr>
            <a:r>
              <a:rPr lang="en-US" sz="1100" dirty="0">
                <a:solidFill>
                  <a:srgbClr val="1B1F23"/>
                </a:solidFill>
              </a:rPr>
              <a:t>Public health • equity • sustainable transport • economy (UN, 2015, Goal 11.6)</a:t>
            </a:r>
            <a:endParaRPr lang="en-US" sz="1300" dirty="0"/>
          </a:p>
        </p:txBody>
      </p:sp>
      <p:sp>
        <p:nvSpPr>
          <p:cNvPr id="18" name="Text 16"/>
          <p:cNvSpPr txBox="1"/>
          <p:nvPr/>
        </p:nvSpPr>
        <p:spPr>
          <a:xfrm>
            <a:off x="7680960" y="5623560"/>
            <a:ext cx="4050792" cy="685800"/>
          </a:xfrm>
          <a:prstGeom prst="rect">
            <a:avLst/>
          </a:prstGeom>
          <a:noFill/>
          <a:ln/>
        </p:spPr>
        <p:txBody>
          <a:bodyPr wrap="square" lIns="0" tIns="0" rIns="0" bIns="0" rtlCol="0" anchor="t"/>
          <a:lstStyle/>
          <a:p>
            <a:pPr indent="0" marL="0">
              <a:buNone/>
            </a:pPr>
            <a:r>
              <a:rPr lang="en-US" sz="1050" i="1" dirty="0">
                <a:solidFill>
                  <a:srgbClr val="5B6770"/>
                </a:solidFill>
              </a:rPr>
              <a:t>Feedback: monitoring and reporting (UK-AIR; Annual Status Reports) inform revised measures. Dimensions are sensitising concepts only; themes will emerge inductively.</a:t>
            </a:r>
            <a:endParaRPr lang="en-US" sz="105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Methodology: Saunders' Research Onion applied to this study</a:t>
            </a:r>
            <a:endParaRPr lang="en-US" sz="2600" dirty="0"/>
          </a:p>
        </p:txBody>
      </p:sp>
      <p:sp>
        <p:nvSpPr>
          <p:cNvPr id="3" name="Shape 1"/>
          <p:cNvSpPr/>
          <p:nvPr/>
        </p:nvSpPr>
        <p:spPr>
          <a:xfrm>
            <a:off x="731520" y="1371600"/>
            <a:ext cx="4572000" cy="4572000"/>
          </a:xfrm>
          <a:prstGeom prst="ellipse">
            <a:avLst/>
          </a:prstGeom>
          <a:solidFill>
            <a:srgbClr val="CFE5E8"/>
          </a:solidFill>
          <a:ln w="19050">
            <a:solidFill>
              <a:srgbClr val="FFFFFF"/>
            </a:solidFill>
            <a:prstDash val="solid"/>
          </a:ln>
        </p:spPr>
      </p:sp>
      <p:sp>
        <p:nvSpPr>
          <p:cNvPr id="4" name="Shape 2"/>
          <p:cNvSpPr/>
          <p:nvPr/>
        </p:nvSpPr>
        <p:spPr>
          <a:xfrm>
            <a:off x="1120140" y="1760220"/>
            <a:ext cx="3794760" cy="3794760"/>
          </a:xfrm>
          <a:prstGeom prst="ellipse">
            <a:avLst/>
          </a:prstGeom>
          <a:solidFill>
            <a:srgbClr val="A9D1D8"/>
          </a:solidFill>
          <a:ln w="19050">
            <a:solidFill>
              <a:srgbClr val="FFFFFF"/>
            </a:solidFill>
            <a:prstDash val="solid"/>
          </a:ln>
        </p:spPr>
      </p:sp>
      <p:sp>
        <p:nvSpPr>
          <p:cNvPr id="5" name="Shape 3"/>
          <p:cNvSpPr/>
          <p:nvPr/>
        </p:nvSpPr>
        <p:spPr>
          <a:xfrm>
            <a:off x="1508760" y="2148840"/>
            <a:ext cx="3017520" cy="3017520"/>
          </a:xfrm>
          <a:prstGeom prst="ellipse">
            <a:avLst/>
          </a:prstGeom>
          <a:solidFill>
            <a:srgbClr val="7FB7C2"/>
          </a:solidFill>
          <a:ln w="19050">
            <a:solidFill>
              <a:srgbClr val="FFFFFF"/>
            </a:solidFill>
            <a:prstDash val="solid"/>
          </a:ln>
        </p:spPr>
      </p:sp>
      <p:sp>
        <p:nvSpPr>
          <p:cNvPr id="6" name="Shape 4"/>
          <p:cNvSpPr/>
          <p:nvPr/>
        </p:nvSpPr>
        <p:spPr>
          <a:xfrm>
            <a:off x="1897380" y="2537460"/>
            <a:ext cx="2240280" cy="2240280"/>
          </a:xfrm>
          <a:prstGeom prst="ellipse">
            <a:avLst/>
          </a:prstGeom>
          <a:solidFill>
            <a:srgbClr val="4E9AAA"/>
          </a:solidFill>
          <a:ln w="19050">
            <a:solidFill>
              <a:srgbClr val="FFFFFF"/>
            </a:solidFill>
            <a:prstDash val="solid"/>
          </a:ln>
        </p:spPr>
      </p:sp>
      <p:sp>
        <p:nvSpPr>
          <p:cNvPr id="7" name="Shape 5"/>
          <p:cNvSpPr/>
          <p:nvPr/>
        </p:nvSpPr>
        <p:spPr>
          <a:xfrm>
            <a:off x="2286000" y="2926080"/>
            <a:ext cx="1463040" cy="1463040"/>
          </a:xfrm>
          <a:prstGeom prst="ellipse">
            <a:avLst/>
          </a:prstGeom>
          <a:solidFill>
            <a:srgbClr val="1F7A8C"/>
          </a:solidFill>
          <a:ln w="19050">
            <a:solidFill>
              <a:srgbClr val="FFFFFF"/>
            </a:solidFill>
            <a:prstDash val="solid"/>
          </a:ln>
        </p:spPr>
      </p:sp>
      <p:sp>
        <p:nvSpPr>
          <p:cNvPr id="8" name="Shape 6"/>
          <p:cNvSpPr/>
          <p:nvPr/>
        </p:nvSpPr>
        <p:spPr>
          <a:xfrm>
            <a:off x="2651760" y="3291840"/>
            <a:ext cx="731520" cy="731520"/>
          </a:xfrm>
          <a:prstGeom prst="ellipse">
            <a:avLst/>
          </a:prstGeom>
          <a:solidFill>
            <a:srgbClr val="0F2E3D"/>
          </a:solidFill>
          <a:ln w="19050">
            <a:solidFill>
              <a:srgbClr val="FFFFFF"/>
            </a:solidFill>
            <a:prstDash val="solid"/>
          </a:ln>
        </p:spPr>
      </p:sp>
      <p:sp>
        <p:nvSpPr>
          <p:cNvPr id="9" name="Shape 7"/>
          <p:cNvSpPr/>
          <p:nvPr/>
        </p:nvSpPr>
        <p:spPr>
          <a:xfrm>
            <a:off x="2862072" y="1408176"/>
            <a:ext cx="310896" cy="310896"/>
          </a:xfrm>
          <a:prstGeom prst="ellipse">
            <a:avLst/>
          </a:prstGeom>
          <a:solidFill>
            <a:srgbClr val="0F2E3D"/>
          </a:solidFill>
          <a:ln w="12700">
            <a:solidFill>
              <a:srgbClr val="0F2E3D"/>
            </a:solidFill>
            <a:prstDash val="solid"/>
          </a:ln>
        </p:spPr>
      </p:sp>
      <p:sp>
        <p:nvSpPr>
          <p:cNvPr id="10" name="Text 8"/>
          <p:cNvSpPr txBox="1"/>
          <p:nvPr/>
        </p:nvSpPr>
        <p:spPr>
          <a:xfrm>
            <a:off x="2862072" y="140817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1" name="Shape 9"/>
          <p:cNvSpPr/>
          <p:nvPr/>
        </p:nvSpPr>
        <p:spPr>
          <a:xfrm>
            <a:off x="2862072" y="1796796"/>
            <a:ext cx="310896" cy="310896"/>
          </a:xfrm>
          <a:prstGeom prst="ellipse">
            <a:avLst/>
          </a:prstGeom>
          <a:solidFill>
            <a:srgbClr val="0F2E3D"/>
          </a:solidFill>
          <a:ln w="12700">
            <a:solidFill>
              <a:srgbClr val="0F2E3D"/>
            </a:solidFill>
            <a:prstDash val="solid"/>
          </a:ln>
        </p:spPr>
      </p:sp>
      <p:sp>
        <p:nvSpPr>
          <p:cNvPr id="12" name="Text 10"/>
          <p:cNvSpPr txBox="1"/>
          <p:nvPr/>
        </p:nvSpPr>
        <p:spPr>
          <a:xfrm>
            <a:off x="2862072" y="179679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3" name="Shape 11"/>
          <p:cNvSpPr/>
          <p:nvPr/>
        </p:nvSpPr>
        <p:spPr>
          <a:xfrm>
            <a:off x="2862072" y="2185416"/>
            <a:ext cx="310896" cy="310896"/>
          </a:xfrm>
          <a:prstGeom prst="ellipse">
            <a:avLst/>
          </a:prstGeom>
          <a:solidFill>
            <a:srgbClr val="0F2E3D"/>
          </a:solidFill>
          <a:ln w="12700">
            <a:solidFill>
              <a:srgbClr val="0F2E3D"/>
            </a:solidFill>
            <a:prstDash val="solid"/>
          </a:ln>
        </p:spPr>
      </p:sp>
      <p:sp>
        <p:nvSpPr>
          <p:cNvPr id="14" name="Text 12"/>
          <p:cNvSpPr txBox="1"/>
          <p:nvPr/>
        </p:nvSpPr>
        <p:spPr>
          <a:xfrm>
            <a:off x="2862072" y="218541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5" name="Shape 13"/>
          <p:cNvSpPr/>
          <p:nvPr/>
        </p:nvSpPr>
        <p:spPr>
          <a:xfrm>
            <a:off x="2862072" y="2574036"/>
            <a:ext cx="310896" cy="310896"/>
          </a:xfrm>
          <a:prstGeom prst="ellipse">
            <a:avLst/>
          </a:prstGeom>
          <a:solidFill>
            <a:srgbClr val="FFFFFF"/>
          </a:solidFill>
          <a:ln w="12700">
            <a:solidFill>
              <a:srgbClr val="FFFFFF"/>
            </a:solidFill>
            <a:prstDash val="solid"/>
          </a:ln>
        </p:spPr>
      </p:sp>
      <p:sp>
        <p:nvSpPr>
          <p:cNvPr id="16" name="Text 14"/>
          <p:cNvSpPr txBox="1"/>
          <p:nvPr/>
        </p:nvSpPr>
        <p:spPr>
          <a:xfrm>
            <a:off x="2862072" y="2574036"/>
            <a:ext cx="310896" cy="310896"/>
          </a:xfrm>
          <a:prstGeom prst="rect">
            <a:avLst/>
          </a:prstGeom>
          <a:noFill/>
          <a:ln/>
        </p:spPr>
        <p:txBody>
          <a:bodyPr wrap="square" lIns="0" tIns="0" rIns="0" bIns="0" rtlCol="0" anchor="ctr"/>
          <a:lstStyle/>
          <a:p>
            <a:pPr algn="ctr" indent="0" marL="0">
              <a:buNone/>
            </a:pPr>
            <a:r>
              <a:rPr lang="en-US" sz="1100" b="1" dirty="0">
                <a:solidFill>
                  <a:srgbClr val="0F2E3D"/>
                </a:solidFill>
              </a:rPr>
              <a:t>4</a:t>
            </a:r>
            <a:endParaRPr lang="en-US" sz="1100" dirty="0"/>
          </a:p>
        </p:txBody>
      </p:sp>
      <p:sp>
        <p:nvSpPr>
          <p:cNvPr id="17" name="Shape 15"/>
          <p:cNvSpPr/>
          <p:nvPr/>
        </p:nvSpPr>
        <p:spPr>
          <a:xfrm>
            <a:off x="2862072" y="2962656"/>
            <a:ext cx="310896" cy="310896"/>
          </a:xfrm>
          <a:prstGeom prst="ellipse">
            <a:avLst/>
          </a:prstGeom>
          <a:solidFill>
            <a:srgbClr val="FFFFFF"/>
          </a:solidFill>
          <a:ln w="12700">
            <a:solidFill>
              <a:srgbClr val="FFFFFF"/>
            </a:solidFill>
            <a:prstDash val="solid"/>
          </a:ln>
        </p:spPr>
      </p:sp>
      <p:sp>
        <p:nvSpPr>
          <p:cNvPr id="18" name="Text 16"/>
          <p:cNvSpPr txBox="1"/>
          <p:nvPr/>
        </p:nvSpPr>
        <p:spPr>
          <a:xfrm>
            <a:off x="2862072" y="2962656"/>
            <a:ext cx="310896" cy="310896"/>
          </a:xfrm>
          <a:prstGeom prst="rect">
            <a:avLst/>
          </a:prstGeom>
          <a:noFill/>
          <a:ln/>
        </p:spPr>
        <p:txBody>
          <a:bodyPr wrap="square" lIns="0" tIns="0" rIns="0" bIns="0" rtlCol="0" anchor="ctr"/>
          <a:lstStyle/>
          <a:p>
            <a:pPr algn="ctr" indent="0" marL="0">
              <a:buNone/>
            </a:pPr>
            <a:r>
              <a:rPr lang="en-US" sz="1100" b="1" dirty="0">
                <a:solidFill>
                  <a:srgbClr val="0F2E3D"/>
                </a:solidFill>
              </a:rPr>
              <a:t>5</a:t>
            </a:r>
            <a:endParaRPr lang="en-US" sz="1100" dirty="0"/>
          </a:p>
        </p:txBody>
      </p:sp>
      <p:sp>
        <p:nvSpPr>
          <p:cNvPr id="19" name="Shape 17"/>
          <p:cNvSpPr/>
          <p:nvPr/>
        </p:nvSpPr>
        <p:spPr>
          <a:xfrm>
            <a:off x="2862072" y="3502152"/>
            <a:ext cx="310896" cy="310896"/>
          </a:xfrm>
          <a:prstGeom prst="ellipse">
            <a:avLst/>
          </a:prstGeom>
          <a:solidFill>
            <a:srgbClr val="FFFFFF"/>
          </a:solidFill>
          <a:ln w="12700">
            <a:solidFill>
              <a:srgbClr val="FFFFFF"/>
            </a:solidFill>
            <a:prstDash val="solid"/>
          </a:ln>
        </p:spPr>
      </p:sp>
      <p:sp>
        <p:nvSpPr>
          <p:cNvPr id="20" name="Text 18"/>
          <p:cNvSpPr txBox="1"/>
          <p:nvPr/>
        </p:nvSpPr>
        <p:spPr>
          <a:xfrm>
            <a:off x="2862072" y="3502152"/>
            <a:ext cx="310896" cy="310896"/>
          </a:xfrm>
          <a:prstGeom prst="rect">
            <a:avLst/>
          </a:prstGeom>
          <a:noFill/>
          <a:ln/>
        </p:spPr>
        <p:txBody>
          <a:bodyPr wrap="square" lIns="0" tIns="0" rIns="0" bIns="0" rtlCol="0" anchor="ctr"/>
          <a:lstStyle/>
          <a:p>
            <a:pPr algn="ctr" indent="0" marL="0">
              <a:buNone/>
            </a:pPr>
            <a:r>
              <a:rPr lang="en-US" sz="1100" b="1" dirty="0">
                <a:solidFill>
                  <a:srgbClr val="0F2E3D"/>
                </a:solidFill>
              </a:rPr>
              <a:t>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760720" y="1371600"/>
          <a:ext cx="5971032" cy="914400"/>
        </p:xfrm>
        <a:graphic>
          <a:graphicData uri="http://schemas.openxmlformats.org/drawingml/2006/table">
            <a:tbl>
              <a:tblPr/>
              <a:tblGrid>
                <a:gridCol w="1920240"/>
                <a:gridCol w="4050792"/>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Layer</a:t>
                      </a:r>
                      <a:endParaRPr lang="en-US" sz="1200" dirty="0">
                        <a:latin typeface="Calibri" charset="0"/>
                        <a:ea typeface="Calibri" charset="0"/>
                        <a:cs typeface="Calibri" charset="0"/>
                      </a:endParaRPr>
                    </a:p>
                  </a:txBody>
                  <a:tcPr marL="73152" marR="73152" marT="45720" marB="45720"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Choice in this study and rationale</a:t>
                      </a:r>
                      <a:endParaRPr lang="en-US" sz="1200" dirty="0">
                        <a:latin typeface="Calibri" charset="0"/>
                        <a:ea typeface="Calibri" charset="0"/>
                        <a:cs typeface="Calibri" charset="0"/>
                      </a:endParaRPr>
                    </a:p>
                  </a:txBody>
                  <a:tcPr marL="73152" marR="73152" marT="45720" marB="45720"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r>
              <a:tr h="731520">
                <a:tc>
                  <a:txBody>
                    <a:bodyPr/>
                    <a:lstStyle/>
                    <a:p>
                      <a:pPr indent="0" marL="0">
                        <a:buNone/>
                      </a:pPr>
                      <a:r>
                        <a:rPr lang="en-US" sz="1200" b="1" dirty="0">
                          <a:solidFill>
                            <a:srgbClr val="1F7A8C"/>
                          </a:solidFill>
                          <a:latin typeface="Calibri" pitchFamily="34" charset="0"/>
                          <a:ea typeface="Calibri" pitchFamily="34" charset="-122"/>
                          <a:cs typeface="Calibri" pitchFamily="34" charset="-120"/>
                        </a:rPr>
                        <a:t>1. Philosophy</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200" dirty="0">
                          <a:solidFill>
                            <a:srgbClr val="1B1F23"/>
                          </a:solidFill>
                          <a:latin typeface="Calibri" pitchFamily="34" charset="0"/>
                          <a:ea typeface="Calibri" pitchFamily="34" charset="-122"/>
                          <a:cs typeface="Calibri" pitchFamily="34" charset="-120"/>
                        </a:rPr>
                        <a:t>Interpretivism: policy meaning and sustainability framings are socially constructed in the documents</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594360">
                <a:tc>
                  <a:txBody>
                    <a:bodyPr/>
                    <a:lstStyle/>
                    <a:p>
                      <a:pPr indent="0" marL="0">
                        <a:buNone/>
                      </a:pPr>
                      <a:r>
                        <a:rPr lang="en-US" sz="1200" b="1" dirty="0">
                          <a:solidFill>
                            <a:srgbClr val="1F7A8C"/>
                          </a:solidFill>
                          <a:latin typeface="Calibri" pitchFamily="34" charset="0"/>
                          <a:ea typeface="Calibri" pitchFamily="34" charset="-122"/>
                          <a:cs typeface="Calibri" pitchFamily="34" charset="-120"/>
                        </a:rPr>
                        <a:t>2. Approach</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200" dirty="0">
                          <a:solidFill>
                            <a:srgbClr val="1B1F23"/>
                          </a:solidFill>
                          <a:latin typeface="Calibri" pitchFamily="34" charset="0"/>
                          <a:ea typeface="Calibri" pitchFamily="34" charset="-122"/>
                          <a:cs typeface="Calibri" pitchFamily="34" charset="-120"/>
                        </a:rPr>
                        <a:t>Inductive: themes are derived from the data rather than testing hypotheses</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411480">
                <a:tc>
                  <a:txBody>
                    <a:bodyPr/>
                    <a:lstStyle/>
                    <a:p>
                      <a:pPr indent="0" marL="0">
                        <a:buNone/>
                      </a:pPr>
                      <a:r>
                        <a:rPr lang="en-US" sz="1200" b="1" dirty="0">
                          <a:solidFill>
                            <a:srgbClr val="1F7A8C"/>
                          </a:solidFill>
                          <a:latin typeface="Calibri" pitchFamily="34" charset="0"/>
                          <a:ea typeface="Calibri" pitchFamily="34" charset="-122"/>
                          <a:cs typeface="Calibri" pitchFamily="34" charset="-120"/>
                        </a:rPr>
                        <a:t>3. Methodological choice</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200" dirty="0">
                          <a:solidFill>
                            <a:srgbClr val="1B1F23"/>
                          </a:solidFill>
                          <a:latin typeface="Calibri" pitchFamily="34" charset="0"/>
                          <a:ea typeface="Calibri" pitchFamily="34" charset="-122"/>
                          <a:cs typeface="Calibri" pitchFamily="34" charset="-120"/>
                        </a:rPr>
                        <a:t>Mono-method qualitative</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594360">
                <a:tc>
                  <a:txBody>
                    <a:bodyPr/>
                    <a:lstStyle/>
                    <a:p>
                      <a:pPr indent="0" marL="0">
                        <a:buNone/>
                      </a:pPr>
                      <a:r>
                        <a:rPr lang="en-US" sz="1200" b="1" dirty="0">
                          <a:solidFill>
                            <a:srgbClr val="1F7A8C"/>
                          </a:solidFill>
                          <a:latin typeface="Calibri" pitchFamily="34" charset="0"/>
                          <a:ea typeface="Calibri" pitchFamily="34" charset="-122"/>
                          <a:cs typeface="Calibri" pitchFamily="34" charset="-120"/>
                        </a:rPr>
                        <a:t>4. Strategy</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200" dirty="0">
                          <a:solidFill>
                            <a:srgbClr val="1B1F23"/>
                          </a:solidFill>
                          <a:latin typeface="Calibri" pitchFamily="34" charset="0"/>
                          <a:ea typeface="Calibri" pitchFamily="34" charset="-122"/>
                          <a:cs typeface="Calibri" pitchFamily="34" charset="-120"/>
                        </a:rPr>
                        <a:t>Archival and documentary research using secondary data</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731520">
                <a:tc>
                  <a:txBody>
                    <a:bodyPr/>
                    <a:lstStyle/>
                    <a:p>
                      <a:pPr indent="0" marL="0">
                        <a:buNone/>
                      </a:pPr>
                      <a:r>
                        <a:rPr lang="en-US" sz="1200" b="1" dirty="0">
                          <a:solidFill>
                            <a:srgbClr val="1F7A8C"/>
                          </a:solidFill>
                          <a:latin typeface="Calibri" pitchFamily="34" charset="0"/>
                          <a:ea typeface="Calibri" pitchFamily="34" charset="-122"/>
                          <a:cs typeface="Calibri" pitchFamily="34" charset="-120"/>
                        </a:rPr>
                        <a:t>5. Time horizon</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200" dirty="0">
                          <a:solidFill>
                            <a:srgbClr val="1B1F23"/>
                          </a:solidFill>
                          <a:latin typeface="Calibri" pitchFamily="34" charset="0"/>
                          <a:ea typeface="Calibri" pitchFamily="34" charset="-122"/>
                          <a:cs typeface="Calibri" pitchFamily="34" charset="-120"/>
                        </a:rPr>
                        <a:t>Cross-sectional snapshot of 2020–2025 documents, analysed within one six-week window</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731520">
                <a:tc>
                  <a:txBody>
                    <a:bodyPr/>
                    <a:lstStyle/>
                    <a:p>
                      <a:pPr indent="0" marL="0">
                        <a:buNone/>
                      </a:pPr>
                      <a:r>
                        <a:rPr lang="en-US" sz="1200" b="1" dirty="0">
                          <a:solidFill>
                            <a:srgbClr val="1F7A8C"/>
                          </a:solidFill>
                          <a:latin typeface="Calibri" pitchFamily="34" charset="0"/>
                          <a:ea typeface="Calibri" pitchFamily="34" charset="-122"/>
                          <a:cs typeface="Calibri" pitchFamily="34" charset="-120"/>
                        </a:rPr>
                        <a:t>6. Techniques and procedures</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200" dirty="0">
                          <a:solidFill>
                            <a:srgbClr val="1B1F23"/>
                          </a:solidFill>
                          <a:latin typeface="Calibri" pitchFamily="34" charset="0"/>
                          <a:ea typeface="Calibri" pitchFamily="34" charset="-122"/>
                          <a:cs typeface="Calibri" pitchFamily="34" charset="-120"/>
                        </a:rPr>
                        <a:t>Secondary data from official and peer-reviewed sources; reflexive thematic analysis</a:t>
                      </a:r>
                      <a:endParaRPr lang="en-US" sz="120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bl>
          </a:graphicData>
        </a:graphic>
      </p:graphicFrame>
      <p:sp>
        <p:nvSpPr>
          <p:cNvPr id="22" name="Text 19"/>
          <p:cNvSpPr txBox="1"/>
          <p:nvPr/>
        </p:nvSpPr>
        <p:spPr>
          <a:xfrm>
            <a:off x="5760720" y="5669280"/>
            <a:ext cx="5971032" cy="320040"/>
          </a:xfrm>
          <a:prstGeom prst="rect">
            <a:avLst/>
          </a:prstGeom>
          <a:noFill/>
          <a:ln/>
        </p:spPr>
        <p:txBody>
          <a:bodyPr wrap="square" lIns="0" tIns="0" rIns="0" bIns="0" rtlCol="0" anchor="ctr"/>
          <a:lstStyle/>
          <a:p>
            <a:pPr indent="0" marL="0">
              <a:buNone/>
            </a:pPr>
            <a:r>
              <a:rPr lang="en-US" sz="1100" i="1" dirty="0">
                <a:solidFill>
                  <a:srgbClr val="5B6770"/>
                </a:solidFill>
              </a:rPr>
              <a:t>Layers 1–6 run from the outer ring (philosophy) to the centre (techniques and procedures).</a:t>
            </a:r>
            <a:endParaRPr lang="en-US" sz="1100" dirty="0"/>
          </a:p>
        </p:txBody>
      </p:sp>
      <p:sp>
        <p:nvSpPr>
          <p:cNvPr id="23" name="Text 20"/>
          <p:cNvSpPr txBox="1"/>
          <p:nvPr/>
        </p:nvSpPr>
        <p:spPr>
          <a:xfrm>
            <a:off x="457200" y="6108192"/>
            <a:ext cx="11274552" cy="320040"/>
          </a:xfrm>
          <a:prstGeom prst="rect">
            <a:avLst/>
          </a:prstGeom>
          <a:noFill/>
          <a:ln/>
        </p:spPr>
        <p:txBody>
          <a:bodyPr wrap="square" lIns="0" tIns="0" rIns="0" bIns="0" rtlCol="0" anchor="t"/>
          <a:lstStyle/>
          <a:p>
            <a:pPr indent="0" marL="0">
              <a:buNone/>
            </a:pPr>
            <a:r>
              <a:rPr lang="en-US" sz="1000" i="1" dirty="0">
                <a:solidFill>
                  <a:srgbClr val="5B6770"/>
                </a:solidFill>
                <a:latin typeface="Calibri" pitchFamily="34" charset="0"/>
                <a:ea typeface="Calibri" pitchFamily="34" charset="-122"/>
                <a:cs typeface="Calibri" pitchFamily="34" charset="-120"/>
              </a:rPr>
              <a:t>Source: Research Onion adapted from Saunders et al. (2023); thematic analysis procedures follow Braun and Clarke (2021). Diagram redrawn by the author.</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Secondary data sources and selection criteria</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035040" cy="914400"/>
        </p:xfrm>
        <a:graphic>
          <a:graphicData uri="http://schemas.openxmlformats.org/drawingml/2006/table">
            <a:tbl>
              <a:tblPr/>
              <a:tblGrid>
                <a:gridCol w="1554480"/>
                <a:gridCol w="3383280"/>
                <a:gridCol w="109728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Source group</a:t>
                      </a:r>
                      <a:endParaRPr lang="en-US" sz="1200" dirty="0">
                        <a:latin typeface="Calibri" charset="0"/>
                        <a:ea typeface="Calibri" charset="0"/>
                        <a:cs typeface="Calibri" charset="0"/>
                      </a:endParaRPr>
                    </a:p>
                  </a:txBody>
                  <a:tcPr marL="73152" marR="73152" marT="45720" marB="45720"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Examples</a:t>
                      </a:r>
                      <a:endParaRPr lang="en-US" sz="1200" dirty="0">
                        <a:latin typeface="Calibri" charset="0"/>
                        <a:ea typeface="Calibri" charset="0"/>
                        <a:cs typeface="Calibri" charset="0"/>
                      </a:endParaRPr>
                    </a:p>
                  </a:txBody>
                  <a:tcPr marL="73152" marR="73152" marT="45720" marB="45720"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73152" marR="73152" marT="45720" marB="45720" anchor="ctr">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0F2E3D"/>
                    </a:solidFill>
                  </a:tcPr>
                </a:tc>
              </a:tr>
              <a:tr h="1005840">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Government and regulators</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Defra/UK-AIR compliance and AURN data; DfT traffic and vehicle statistics; ONS population and deprivation context; legislation.gov.uk</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Standards, context</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1005840">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City authorities</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Local Air Quality Management Annual Status Reports; air quality action plans; Mayor of London and TfL ULEZ reports; Clean Air Zone reports</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Core corpus</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777240">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Peer-reviewed literature</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Journal articles evaluating UK air quality policy (e.g., Liu et al., 2023; Williams et al., 2025)</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Evaluation evidence</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r h="777240">
                <a:tc>
                  <a:txBody>
                    <a:bodyPr/>
                    <a:lstStyle/>
                    <a:p>
                      <a:pPr indent="0" marL="0">
                        <a:buNone/>
                      </a:pPr>
                      <a:r>
                        <a:rPr lang="en-US" sz="1150" b="1" dirty="0">
                          <a:solidFill>
                            <a:srgbClr val="1B1F23"/>
                          </a:solidFill>
                          <a:latin typeface="Calibri" pitchFamily="34" charset="0"/>
                          <a:ea typeface="Calibri" pitchFamily="34" charset="-122"/>
                          <a:cs typeface="Calibri" pitchFamily="34" charset="-120"/>
                        </a:rPr>
                        <a:t>Reputable news media</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National newspapers or broadcasters, used only to triangulate public and political framing</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c>
                  <a:txBody>
                    <a:bodyPr/>
                    <a:lstStyle/>
                    <a:p>
                      <a:pPr indent="0" marL="0">
                        <a:buNone/>
                      </a:pPr>
                      <a:r>
                        <a:rPr lang="en-US" sz="1150" dirty="0">
                          <a:solidFill>
                            <a:srgbClr val="1B1F23"/>
                          </a:solidFill>
                          <a:latin typeface="Calibri" pitchFamily="34" charset="0"/>
                          <a:ea typeface="Calibri" pitchFamily="34" charset="-122"/>
                          <a:cs typeface="Calibri" pitchFamily="34" charset="-120"/>
                        </a:rPr>
                        <a:t>Triangulation</a:t>
                      </a:r>
                      <a:endParaRPr lang="en-US" sz="1150" dirty="0">
                        <a:latin typeface="Calibri" charset="0"/>
                        <a:ea typeface="Calibri" charset="0"/>
                        <a:cs typeface="Calibri" charset="0"/>
                      </a:endParaRPr>
                    </a:p>
                  </a:txBody>
                  <a:tcPr marL="73152" marR="73152" marT="45720" marB="45720" anchor="t">
                    <a:lnL w="9525" cap="flat" cmpd="sng" algn="ctr">
                      <a:solidFill>
                        <a:srgbClr val="C9D3D8"/>
                      </a:solidFill>
                      <a:prstDash val="solid"/>
                      <a:round/>
                      <a:headEnd type="none" w="med" len="med"/>
                      <a:tailEnd type="none" w="med" len="med"/>
                    </a:lnL>
                    <a:lnR w="9525" cap="flat" cmpd="sng" algn="ctr">
                      <a:solidFill>
                        <a:srgbClr val="C9D3D8"/>
                      </a:solidFill>
                      <a:prstDash val="solid"/>
                      <a:round/>
                      <a:headEnd type="none" w="med" len="med"/>
                      <a:tailEnd type="none" w="med" len="med"/>
                    </a:lnR>
                    <a:lnT w="9525" cap="flat" cmpd="sng" algn="ctr">
                      <a:solidFill>
                        <a:srgbClr val="C9D3D8"/>
                      </a:solidFill>
                      <a:prstDash val="solid"/>
                      <a:round/>
                      <a:headEnd type="none" w="med" len="med"/>
                      <a:tailEnd type="none" w="med" len="med"/>
                    </a:lnT>
                    <a:lnB w="9525" cap="flat" cmpd="sng" algn="ctr">
                      <a:solidFill>
                        <a:srgbClr val="C9D3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5349240"/>
            <a:ext cx="6035040" cy="685800"/>
          </a:xfrm>
          <a:prstGeom prst="rect">
            <a:avLst/>
          </a:prstGeom>
          <a:noFill/>
          <a:ln/>
        </p:spPr>
        <p:txBody>
          <a:bodyPr wrap="square" lIns="0" tIns="0" rIns="0" bIns="0" rtlCol="0" anchor="t"/>
          <a:lstStyle/>
          <a:p>
            <a:pPr indent="0" marL="0">
              <a:buNone/>
            </a:pPr>
            <a:r>
              <a:rPr lang="en-US" sz="1200" dirty="0">
                <a:solidFill>
                  <a:srgbClr val="1B1F23"/>
                </a:solidFill>
              </a:rPr>
              <a:t>Sampling: purposive. Candidate cities are London, Birmingham, Sheffield, Bristol, Manchester and Glasgow; the final 4–6 are confirmed in Week 1 against the criteria on the right, targeting about 30–40 documents.</a:t>
            </a:r>
            <a:endParaRPr lang="en-US" sz="1200" dirty="0"/>
          </a:p>
        </p:txBody>
      </p:sp>
      <p:sp>
        <p:nvSpPr>
          <p:cNvPr id="5" name="Shape 2"/>
          <p:cNvSpPr/>
          <p:nvPr/>
        </p:nvSpPr>
        <p:spPr>
          <a:xfrm>
            <a:off x="6766560" y="1280160"/>
            <a:ext cx="2468880" cy="2514600"/>
          </a:xfrm>
          <a:prstGeom prst="rect">
            <a:avLst/>
          </a:prstGeom>
          <a:solidFill>
            <a:srgbClr val="E6F2F1"/>
          </a:solidFill>
          <a:ln w="12700">
            <a:solidFill>
              <a:srgbClr val="E6F2F1"/>
            </a:solidFill>
            <a:prstDash val="solid"/>
          </a:ln>
        </p:spPr>
      </p:sp>
      <p:sp>
        <p:nvSpPr>
          <p:cNvPr id="6" name="Shape 3"/>
          <p:cNvSpPr/>
          <p:nvPr/>
        </p:nvSpPr>
        <p:spPr>
          <a:xfrm>
            <a:off x="9418320" y="1280160"/>
            <a:ext cx="2313432" cy="2514600"/>
          </a:xfrm>
          <a:prstGeom prst="rect">
            <a:avLst/>
          </a:prstGeom>
          <a:solidFill>
            <a:srgbClr val="F6E3E0"/>
          </a:solidFill>
          <a:ln w="12700">
            <a:solidFill>
              <a:srgbClr val="F6E3E0"/>
            </a:solidFill>
            <a:prstDash val="solid"/>
          </a:ln>
        </p:spPr>
      </p:sp>
      <p:sp>
        <p:nvSpPr>
          <p:cNvPr id="7" name="Text 4"/>
          <p:cNvSpPr txBox="1"/>
          <p:nvPr/>
        </p:nvSpPr>
        <p:spPr>
          <a:xfrm>
            <a:off x="6903720" y="1371600"/>
            <a:ext cx="2240280" cy="2377440"/>
          </a:xfrm>
          <a:prstGeom prst="rect">
            <a:avLst/>
          </a:prstGeom>
          <a:noFill/>
          <a:ln/>
        </p:spPr>
        <p:txBody>
          <a:bodyPr wrap="square" lIns="0" tIns="0" rIns="0" bIns="0" rtlCol="0" anchor="t"/>
          <a:lstStyle/>
          <a:p>
            <a:pPr indent="0" marL="0">
              <a:spcAft>
                <a:spcPts val="300"/>
              </a:spcAft>
              <a:buNone/>
            </a:pPr>
            <a:r>
              <a:rPr lang="en-US" sz="1400" b="1" dirty="0">
                <a:solidFill>
                  <a:srgbClr val="1F7A8C"/>
                </a:solidFill>
              </a:rPr>
              <a:t>Include</a:t>
            </a:r>
            <a:endParaRPr lang="en-US" sz="1150" dirty="0"/>
          </a:p>
          <a:p>
            <a:pPr marL="342900" indent="-342900">
              <a:spcAft>
                <a:spcPts val="300"/>
              </a:spcAft>
              <a:buSzPct val="100000"/>
              <a:buChar char="•"/>
            </a:pPr>
            <a:r>
              <a:rPr lang="en-US" sz="1150" dirty="0">
                <a:solidFill>
                  <a:srgbClr val="1B1F23"/>
                </a:solidFill>
              </a:rPr>
              <a:t>Published 2020 or later</a:t>
            </a:r>
            <a:endParaRPr lang="en-US" sz="1150" dirty="0"/>
          </a:p>
          <a:p>
            <a:pPr marL="342900" indent="-342900">
              <a:spcAft>
                <a:spcPts val="300"/>
              </a:spcAft>
              <a:buSzPct val="100000"/>
              <a:buChar char="•"/>
            </a:pPr>
            <a:r>
              <a:rPr lang="en-US" sz="1150" dirty="0">
                <a:solidFill>
                  <a:srgbClr val="1B1F23"/>
                </a:solidFill>
              </a:rPr>
              <a:t>Covers a major UK city</a:t>
            </a:r>
            <a:endParaRPr lang="en-US" sz="1150" dirty="0"/>
          </a:p>
          <a:p>
            <a:pPr marL="342900" indent="-342900">
              <a:spcAft>
                <a:spcPts val="300"/>
              </a:spcAft>
              <a:buSzPct val="100000"/>
              <a:buChar char="•"/>
            </a:pPr>
            <a:r>
              <a:rPr lang="en-US" sz="1150" dirty="0">
                <a:solidFill>
                  <a:srgbClr val="1B1F23"/>
                </a:solidFill>
              </a:rPr>
              <a:t>Addresses air quality management</a:t>
            </a:r>
            <a:endParaRPr lang="en-US" sz="1150" dirty="0"/>
          </a:p>
          <a:p>
            <a:pPr marL="342900" indent="-342900">
              <a:spcAft>
                <a:spcPts val="300"/>
              </a:spcAft>
              <a:buSzPct val="100000"/>
              <a:buChar char="•"/>
            </a:pPr>
            <a:r>
              <a:rPr lang="en-US" sz="1150" dirty="0">
                <a:solidFill>
                  <a:srgbClr val="1B1F23"/>
                </a:solidFill>
              </a:rPr>
              <a:t>Official or peer-reviewed</a:t>
            </a:r>
            <a:endParaRPr lang="en-US" sz="1150" dirty="0"/>
          </a:p>
          <a:p>
            <a:pPr marL="342900" indent="-342900">
              <a:spcAft>
                <a:spcPts val="300"/>
              </a:spcAft>
              <a:buSzPct val="100000"/>
              <a:buChar char="•"/>
            </a:pPr>
            <a:r>
              <a:rPr lang="en-US" sz="1150" dirty="0">
                <a:solidFill>
                  <a:srgbClr val="1B1F23"/>
                </a:solidFill>
              </a:rPr>
              <a:t>Publicly accessible</a:t>
            </a:r>
            <a:endParaRPr lang="en-US" sz="1150" dirty="0"/>
          </a:p>
        </p:txBody>
      </p:sp>
      <p:sp>
        <p:nvSpPr>
          <p:cNvPr id="8" name="Text 5"/>
          <p:cNvSpPr txBox="1"/>
          <p:nvPr/>
        </p:nvSpPr>
        <p:spPr>
          <a:xfrm>
            <a:off x="9555480" y="1371600"/>
            <a:ext cx="2103120" cy="2377440"/>
          </a:xfrm>
          <a:prstGeom prst="rect">
            <a:avLst/>
          </a:prstGeom>
          <a:noFill/>
          <a:ln/>
        </p:spPr>
        <p:txBody>
          <a:bodyPr wrap="square" lIns="0" tIns="0" rIns="0" bIns="0" rtlCol="0" anchor="t"/>
          <a:lstStyle/>
          <a:p>
            <a:pPr indent="0" marL="0">
              <a:spcAft>
                <a:spcPts val="300"/>
              </a:spcAft>
              <a:buNone/>
            </a:pPr>
            <a:r>
              <a:rPr lang="en-US" sz="1400" b="1" dirty="0">
                <a:solidFill>
                  <a:srgbClr val="C8553D"/>
                </a:solidFill>
              </a:rPr>
              <a:t>Exclude</a:t>
            </a:r>
            <a:endParaRPr lang="en-US" sz="1150" dirty="0"/>
          </a:p>
          <a:p>
            <a:pPr marL="342900" indent="-342900">
              <a:spcAft>
                <a:spcPts val="300"/>
              </a:spcAft>
              <a:buSzPct val="100000"/>
              <a:buChar char="•"/>
            </a:pPr>
            <a:r>
              <a:rPr lang="en-US" sz="1150" dirty="0">
                <a:solidFill>
                  <a:srgbClr val="1B1F23"/>
                </a:solidFill>
              </a:rPr>
              <a:t>Advocacy or unsourced blogs</a:t>
            </a:r>
            <a:endParaRPr lang="en-US" sz="1150" dirty="0"/>
          </a:p>
          <a:p>
            <a:pPr marL="342900" indent="-342900">
              <a:spcAft>
                <a:spcPts val="300"/>
              </a:spcAft>
              <a:buSzPct val="100000"/>
              <a:buChar char="•"/>
            </a:pPr>
            <a:r>
              <a:rPr lang="en-US" sz="1150" dirty="0">
                <a:solidFill>
                  <a:srgbClr val="1B1F23"/>
                </a:solidFill>
              </a:rPr>
              <a:t>Non-UK or pre-2020 material</a:t>
            </a:r>
            <a:endParaRPr lang="en-US" sz="1150" dirty="0"/>
          </a:p>
          <a:p>
            <a:pPr marL="342900" indent="-342900">
              <a:spcAft>
                <a:spcPts val="300"/>
              </a:spcAft>
              <a:buSzPct val="100000"/>
              <a:buChar char="•"/>
            </a:pPr>
            <a:r>
              <a:rPr lang="en-US" sz="1150" dirty="0">
                <a:solidFill>
                  <a:srgbClr val="1B1F23"/>
                </a:solidFill>
              </a:rPr>
              <a:t>Duplicates of the same report</a:t>
            </a:r>
            <a:endParaRPr lang="en-US" sz="1150" dirty="0"/>
          </a:p>
          <a:p>
            <a:pPr marL="342900" indent="-342900">
              <a:spcAft>
                <a:spcPts val="300"/>
              </a:spcAft>
              <a:buSzPct val="100000"/>
              <a:buChar char="•"/>
            </a:pPr>
            <a:r>
              <a:rPr lang="en-US" sz="1150" dirty="0">
                <a:solidFill>
                  <a:srgbClr val="1B1F23"/>
                </a:solidFill>
              </a:rPr>
              <a:t>No methods or authorship stated</a:t>
            </a:r>
            <a:endParaRPr lang="en-US" sz="1150" dirty="0"/>
          </a:p>
        </p:txBody>
      </p:sp>
      <p:sp>
        <p:nvSpPr>
          <p:cNvPr id="9" name="Shape 6"/>
          <p:cNvSpPr/>
          <p:nvPr/>
        </p:nvSpPr>
        <p:spPr>
          <a:xfrm>
            <a:off x="6766560" y="4023360"/>
            <a:ext cx="4965192" cy="402336"/>
          </a:xfrm>
          <a:prstGeom prst="rect">
            <a:avLst/>
          </a:prstGeom>
          <a:solidFill>
            <a:srgbClr val="7FB7C2"/>
          </a:solidFill>
          <a:ln w="12700">
            <a:solidFill>
              <a:srgbClr val="FFFFFF"/>
            </a:solidFill>
            <a:prstDash val="solid"/>
          </a:ln>
        </p:spPr>
      </p:sp>
      <p:sp>
        <p:nvSpPr>
          <p:cNvPr id="10" name="Text 7"/>
          <p:cNvSpPr txBox="1"/>
          <p:nvPr/>
        </p:nvSpPr>
        <p:spPr>
          <a:xfrm>
            <a:off x="6766560" y="4023360"/>
            <a:ext cx="4965192" cy="402336"/>
          </a:xfrm>
          <a:prstGeom prst="rect">
            <a:avLst/>
          </a:prstGeom>
          <a:noFill/>
          <a:ln/>
        </p:spPr>
        <p:txBody>
          <a:bodyPr wrap="square" lIns="0" tIns="0" rIns="0" bIns="0" rtlCol="0" anchor="ctr"/>
          <a:lstStyle/>
          <a:p>
            <a:pPr algn="ctr" indent="0" marL="0">
              <a:buNone/>
            </a:pPr>
            <a:r>
              <a:rPr lang="en-US" sz="1200" b="1" dirty="0">
                <a:solidFill>
                  <a:srgbClr val="0F2E3D"/>
                </a:solidFill>
              </a:rPr>
              <a:t>Identify</a:t>
            </a:r>
            <a:endParaRPr lang="en-US" sz="1200" dirty="0"/>
          </a:p>
        </p:txBody>
      </p:sp>
      <p:sp>
        <p:nvSpPr>
          <p:cNvPr id="11" name="Shape 8"/>
          <p:cNvSpPr/>
          <p:nvPr/>
        </p:nvSpPr>
        <p:spPr>
          <a:xfrm>
            <a:off x="7086600" y="4498848"/>
            <a:ext cx="4325112" cy="402336"/>
          </a:xfrm>
          <a:prstGeom prst="rect">
            <a:avLst/>
          </a:prstGeom>
          <a:solidFill>
            <a:srgbClr val="4E9AAA"/>
          </a:solidFill>
          <a:ln w="12700">
            <a:solidFill>
              <a:srgbClr val="FFFFFF"/>
            </a:solidFill>
            <a:prstDash val="solid"/>
          </a:ln>
        </p:spPr>
      </p:sp>
      <p:sp>
        <p:nvSpPr>
          <p:cNvPr id="12" name="Text 9"/>
          <p:cNvSpPr txBox="1"/>
          <p:nvPr/>
        </p:nvSpPr>
        <p:spPr>
          <a:xfrm>
            <a:off x="7086600" y="4498848"/>
            <a:ext cx="4325112" cy="402336"/>
          </a:xfrm>
          <a:prstGeom prst="rect">
            <a:avLst/>
          </a:prstGeom>
          <a:noFill/>
          <a:ln/>
        </p:spPr>
        <p:txBody>
          <a:bodyPr wrap="square" lIns="0" tIns="0" rIns="0" bIns="0" rtlCol="0" anchor="ctr"/>
          <a:lstStyle/>
          <a:p>
            <a:pPr algn="ctr" indent="0" marL="0">
              <a:buNone/>
            </a:pPr>
            <a:r>
              <a:rPr lang="en-US" sz="1200" b="1" dirty="0">
                <a:solidFill>
                  <a:srgbClr val="FFFFFF"/>
                </a:solidFill>
              </a:rPr>
              <a:t>Screen</a:t>
            </a:r>
            <a:endParaRPr lang="en-US" sz="1200" dirty="0"/>
          </a:p>
        </p:txBody>
      </p:sp>
      <p:sp>
        <p:nvSpPr>
          <p:cNvPr id="13" name="Shape 10"/>
          <p:cNvSpPr/>
          <p:nvPr/>
        </p:nvSpPr>
        <p:spPr>
          <a:xfrm>
            <a:off x="7406640" y="4974336"/>
            <a:ext cx="3685032" cy="402336"/>
          </a:xfrm>
          <a:prstGeom prst="rect">
            <a:avLst/>
          </a:prstGeom>
          <a:solidFill>
            <a:srgbClr val="1F7A8C"/>
          </a:solidFill>
          <a:ln w="12700">
            <a:solidFill>
              <a:srgbClr val="FFFFFF"/>
            </a:solidFill>
            <a:prstDash val="solid"/>
          </a:ln>
        </p:spPr>
      </p:sp>
      <p:sp>
        <p:nvSpPr>
          <p:cNvPr id="14" name="Text 11"/>
          <p:cNvSpPr txBox="1"/>
          <p:nvPr/>
        </p:nvSpPr>
        <p:spPr>
          <a:xfrm>
            <a:off x="7406640" y="4974336"/>
            <a:ext cx="3685032" cy="402336"/>
          </a:xfrm>
          <a:prstGeom prst="rect">
            <a:avLst/>
          </a:prstGeom>
          <a:noFill/>
          <a:ln/>
        </p:spPr>
        <p:txBody>
          <a:bodyPr wrap="square" lIns="0" tIns="0" rIns="0" bIns="0" rtlCol="0" anchor="ctr"/>
          <a:lstStyle/>
          <a:p>
            <a:pPr algn="ctr" indent="0" marL="0">
              <a:buNone/>
            </a:pPr>
            <a:r>
              <a:rPr lang="en-US" sz="1200" b="1" dirty="0">
                <a:solidFill>
                  <a:srgbClr val="FFFFFF"/>
                </a:solidFill>
              </a:rPr>
              <a:t>Assess eligibility</a:t>
            </a:r>
            <a:endParaRPr lang="en-US" sz="1200" dirty="0"/>
          </a:p>
        </p:txBody>
      </p:sp>
      <p:sp>
        <p:nvSpPr>
          <p:cNvPr id="15" name="Shape 12"/>
          <p:cNvSpPr/>
          <p:nvPr/>
        </p:nvSpPr>
        <p:spPr>
          <a:xfrm>
            <a:off x="7726680" y="5449824"/>
            <a:ext cx="3044952" cy="402336"/>
          </a:xfrm>
          <a:prstGeom prst="rect">
            <a:avLst/>
          </a:prstGeom>
          <a:solidFill>
            <a:srgbClr val="0F2E3D"/>
          </a:solidFill>
          <a:ln w="12700">
            <a:solidFill>
              <a:srgbClr val="FFFFFF"/>
            </a:solidFill>
            <a:prstDash val="solid"/>
          </a:ln>
        </p:spPr>
      </p:sp>
      <p:sp>
        <p:nvSpPr>
          <p:cNvPr id="16" name="Text 13"/>
          <p:cNvSpPr txBox="1"/>
          <p:nvPr/>
        </p:nvSpPr>
        <p:spPr>
          <a:xfrm>
            <a:off x="7726680" y="5449824"/>
            <a:ext cx="3044952" cy="402336"/>
          </a:xfrm>
          <a:prstGeom prst="rect">
            <a:avLst/>
          </a:prstGeom>
          <a:noFill/>
          <a:ln/>
        </p:spPr>
        <p:txBody>
          <a:bodyPr wrap="square" lIns="0" tIns="0" rIns="0" bIns="0" rtlCol="0" anchor="ctr"/>
          <a:lstStyle/>
          <a:p>
            <a:pPr algn="ctr" indent="0" marL="0">
              <a:buNone/>
            </a:pPr>
            <a:r>
              <a:rPr lang="en-US" sz="1200" b="1" dirty="0">
                <a:solidFill>
                  <a:srgbClr val="FFFFFF"/>
                </a:solidFill>
              </a:rPr>
              <a:t>Include</a:t>
            </a:r>
            <a:endParaRPr lang="en-US" sz="1200" dirty="0"/>
          </a:p>
        </p:txBody>
      </p:sp>
      <p:sp>
        <p:nvSpPr>
          <p:cNvPr id="17" name="Text 14"/>
          <p:cNvSpPr txBox="1"/>
          <p:nvPr/>
        </p:nvSpPr>
        <p:spPr>
          <a:xfrm>
            <a:off x="457200" y="6108192"/>
            <a:ext cx="11274552" cy="320040"/>
          </a:xfrm>
          <a:prstGeom prst="rect">
            <a:avLst/>
          </a:prstGeom>
          <a:noFill/>
          <a:ln/>
        </p:spPr>
        <p:txBody>
          <a:bodyPr wrap="square" lIns="0" tIns="0" rIns="0" bIns="0" rtlCol="0" anchor="t"/>
          <a:lstStyle/>
          <a:p>
            <a:pPr indent="0" marL="0">
              <a:buNone/>
            </a:pPr>
            <a:r>
              <a:rPr lang="en-US" sz="1000" i="1" dirty="0">
                <a:solidFill>
                  <a:srgbClr val="5B6770"/>
                </a:solidFill>
                <a:latin typeface="Calibri" pitchFamily="34" charset="0"/>
                <a:ea typeface="Calibri" pitchFamily="34" charset="-122"/>
                <a:cs typeface="Calibri" pitchFamily="34" charset="-120"/>
              </a:rPr>
              <a:t>Sources: Braun and Clarke (2021); Defra (2024); Saunders et al. (2023). Criteria designed by the author; screening stages adapted from a PRISMA-style flow (illustrative).</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Thematic analysis process: Braun and Clarke's six phases applied to the document corpus</a:t>
            </a:r>
            <a:endParaRPr lang="en-US" sz="2600" dirty="0"/>
          </a:p>
        </p:txBody>
      </p:sp>
      <p:sp>
        <p:nvSpPr>
          <p:cNvPr id="3" name="Shape 1"/>
          <p:cNvSpPr/>
          <p:nvPr/>
        </p:nvSpPr>
        <p:spPr>
          <a:xfrm>
            <a:off x="457200" y="1325880"/>
            <a:ext cx="3611880" cy="1828800"/>
          </a:xfrm>
          <a:prstGeom prst="rect">
            <a:avLst/>
          </a:prstGeom>
          <a:solidFill>
            <a:srgbClr val="E6F2F1"/>
          </a:solidFill>
          <a:ln w="12700">
            <a:solidFill>
              <a:srgbClr val="E6F2F1"/>
            </a:solidFill>
            <a:prstDash val="solid"/>
          </a:ln>
        </p:spPr>
      </p:sp>
      <p:sp>
        <p:nvSpPr>
          <p:cNvPr id="4" name="Shape 2"/>
          <p:cNvSpPr/>
          <p:nvPr/>
        </p:nvSpPr>
        <p:spPr>
          <a:xfrm>
            <a:off x="594360" y="1463040"/>
            <a:ext cx="457200" cy="457200"/>
          </a:xfrm>
          <a:prstGeom prst="ellipse">
            <a:avLst/>
          </a:prstGeom>
          <a:solidFill>
            <a:srgbClr val="1F7A8C"/>
          </a:solidFill>
          <a:ln w="12700">
            <a:solidFill>
              <a:srgbClr val="1F7A8C"/>
            </a:solidFill>
            <a:prstDash val="solid"/>
          </a:ln>
        </p:spPr>
      </p:sp>
      <p:sp>
        <p:nvSpPr>
          <p:cNvPr id="5" name="Text 3"/>
          <p:cNvSpPr txBox="1"/>
          <p:nvPr/>
        </p:nvSpPr>
        <p:spPr>
          <a:xfrm>
            <a:off x="594360"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188720" y="1463040"/>
            <a:ext cx="2743200" cy="457200"/>
          </a:xfrm>
          <a:prstGeom prst="rect">
            <a:avLst/>
          </a:prstGeom>
          <a:noFill/>
          <a:ln/>
        </p:spPr>
        <p:txBody>
          <a:bodyPr wrap="square" lIns="0" tIns="0" rIns="0" bIns="0" rtlCol="0" anchor="ctr"/>
          <a:lstStyle/>
          <a:p>
            <a:pPr indent="0" marL="0">
              <a:buNone/>
            </a:pPr>
            <a:r>
              <a:rPr lang="en-US" sz="1500" b="1" dirty="0">
                <a:solidFill>
                  <a:srgbClr val="0F2E3D"/>
                </a:solidFill>
                <a:latin typeface="Cambria" pitchFamily="34" charset="0"/>
                <a:ea typeface="Cambria" pitchFamily="34" charset="-122"/>
                <a:cs typeface="Cambria" pitchFamily="34" charset="-120"/>
              </a:rPr>
              <a:t>Familiarisation</a:t>
            </a:r>
            <a:endParaRPr lang="en-US" sz="1500" dirty="0"/>
          </a:p>
        </p:txBody>
      </p:sp>
      <p:sp>
        <p:nvSpPr>
          <p:cNvPr id="7" name="Text 5"/>
          <p:cNvSpPr txBox="1"/>
          <p:nvPr/>
        </p:nvSpPr>
        <p:spPr>
          <a:xfrm>
            <a:off x="594360" y="2011680"/>
            <a:ext cx="3337560" cy="731520"/>
          </a:xfrm>
          <a:prstGeom prst="rect">
            <a:avLst/>
          </a:prstGeom>
          <a:noFill/>
          <a:ln/>
        </p:spPr>
        <p:txBody>
          <a:bodyPr wrap="square" lIns="0" tIns="0" rIns="0" bIns="0" rtlCol="0" anchor="t"/>
          <a:lstStyle/>
          <a:p>
            <a:pPr indent="0" marL="0">
              <a:buNone/>
            </a:pPr>
            <a:r>
              <a:rPr lang="en-US" sz="1200" dirty="0">
                <a:solidFill>
                  <a:srgbClr val="1B1F23"/>
                </a:solidFill>
              </a:rPr>
              <a:t>Read and re-read each document; note first impressions in a reflexive journal.</a:t>
            </a:r>
            <a:endParaRPr lang="en-US" sz="1200" dirty="0"/>
          </a:p>
        </p:txBody>
      </p:sp>
      <p:sp>
        <p:nvSpPr>
          <p:cNvPr id="8" name="Text 6"/>
          <p:cNvSpPr txBox="1"/>
          <p:nvPr/>
        </p:nvSpPr>
        <p:spPr>
          <a:xfrm>
            <a:off x="594360" y="2788920"/>
            <a:ext cx="3337560" cy="274320"/>
          </a:xfrm>
          <a:prstGeom prst="rect">
            <a:avLst/>
          </a:prstGeom>
          <a:noFill/>
          <a:ln/>
        </p:spPr>
        <p:txBody>
          <a:bodyPr wrap="square" lIns="0" tIns="0" rIns="0" bIns="0" rtlCol="0" anchor="ctr"/>
          <a:lstStyle/>
          <a:p>
            <a:pPr indent="0" marL="0">
              <a:buNone/>
            </a:pPr>
            <a:r>
              <a:rPr lang="en-US" sz="1150" b="1" dirty="0">
                <a:solidFill>
                  <a:srgbClr val="1F7A8C"/>
                </a:solidFill>
              </a:rPr>
              <a:t>Output: </a:t>
            </a:r>
            <a:pPr indent="0" marL="0">
              <a:buNone/>
            </a:pPr>
            <a:r>
              <a:rPr lang="en-US" sz="1150" dirty="0">
                <a:solidFill>
                  <a:srgbClr val="1B1F23"/>
                </a:solidFill>
              </a:rPr>
              <a:t>Annotated corpus</a:t>
            </a:r>
            <a:endParaRPr lang="en-US" sz="1150" dirty="0"/>
          </a:p>
        </p:txBody>
      </p:sp>
      <p:sp>
        <p:nvSpPr>
          <p:cNvPr id="9" name="Shape 7"/>
          <p:cNvSpPr/>
          <p:nvPr/>
        </p:nvSpPr>
        <p:spPr>
          <a:xfrm>
            <a:off x="4297680" y="1325880"/>
            <a:ext cx="3611880" cy="1828800"/>
          </a:xfrm>
          <a:prstGeom prst="rect">
            <a:avLst/>
          </a:prstGeom>
          <a:solidFill>
            <a:srgbClr val="E6F2F1"/>
          </a:solidFill>
          <a:ln w="12700">
            <a:solidFill>
              <a:srgbClr val="E6F2F1"/>
            </a:solidFill>
            <a:prstDash val="solid"/>
          </a:ln>
        </p:spPr>
      </p:sp>
      <p:sp>
        <p:nvSpPr>
          <p:cNvPr id="10" name="Shape 8"/>
          <p:cNvSpPr/>
          <p:nvPr/>
        </p:nvSpPr>
        <p:spPr>
          <a:xfrm>
            <a:off x="4434840" y="1463040"/>
            <a:ext cx="457200" cy="457200"/>
          </a:xfrm>
          <a:prstGeom prst="ellipse">
            <a:avLst/>
          </a:prstGeom>
          <a:solidFill>
            <a:srgbClr val="1F7A8C"/>
          </a:solidFill>
          <a:ln w="12700">
            <a:solidFill>
              <a:srgbClr val="1F7A8C"/>
            </a:solidFill>
            <a:prstDash val="solid"/>
          </a:ln>
        </p:spPr>
      </p:sp>
      <p:sp>
        <p:nvSpPr>
          <p:cNvPr id="11" name="Text 9"/>
          <p:cNvSpPr txBox="1"/>
          <p:nvPr/>
        </p:nvSpPr>
        <p:spPr>
          <a:xfrm>
            <a:off x="4434840"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2" name="Text 10"/>
          <p:cNvSpPr txBox="1"/>
          <p:nvPr/>
        </p:nvSpPr>
        <p:spPr>
          <a:xfrm>
            <a:off x="5029200" y="1463040"/>
            <a:ext cx="2743200" cy="457200"/>
          </a:xfrm>
          <a:prstGeom prst="rect">
            <a:avLst/>
          </a:prstGeom>
          <a:noFill/>
          <a:ln/>
        </p:spPr>
        <p:txBody>
          <a:bodyPr wrap="square" lIns="0" tIns="0" rIns="0" bIns="0" rtlCol="0" anchor="ctr"/>
          <a:lstStyle/>
          <a:p>
            <a:pPr indent="0" marL="0">
              <a:buNone/>
            </a:pPr>
            <a:r>
              <a:rPr lang="en-US" sz="1500" b="1" dirty="0">
                <a:solidFill>
                  <a:srgbClr val="0F2E3D"/>
                </a:solidFill>
                <a:latin typeface="Cambria" pitchFamily="34" charset="0"/>
                <a:ea typeface="Cambria" pitchFamily="34" charset="-122"/>
                <a:cs typeface="Cambria" pitchFamily="34" charset="-120"/>
              </a:rPr>
              <a:t>Coding</a:t>
            </a:r>
            <a:endParaRPr lang="en-US" sz="1500" dirty="0"/>
          </a:p>
        </p:txBody>
      </p:sp>
      <p:sp>
        <p:nvSpPr>
          <p:cNvPr id="13" name="Text 11"/>
          <p:cNvSpPr txBox="1"/>
          <p:nvPr/>
        </p:nvSpPr>
        <p:spPr>
          <a:xfrm>
            <a:off x="4434840" y="2011680"/>
            <a:ext cx="3337560" cy="731520"/>
          </a:xfrm>
          <a:prstGeom prst="rect">
            <a:avLst/>
          </a:prstGeom>
          <a:noFill/>
          <a:ln/>
        </p:spPr>
        <p:txBody>
          <a:bodyPr wrap="square" lIns="0" tIns="0" rIns="0" bIns="0" rtlCol="0" anchor="t"/>
          <a:lstStyle/>
          <a:p>
            <a:pPr indent="0" marL="0">
              <a:buNone/>
            </a:pPr>
            <a:r>
              <a:rPr lang="en-US" sz="1200" dirty="0">
                <a:solidFill>
                  <a:srgbClr val="1B1F23"/>
                </a:solidFill>
              </a:rPr>
              <a:t>Inductive, line-by-line coding of how purposes, measures, outcomes and equity are described.</a:t>
            </a:r>
            <a:endParaRPr lang="en-US" sz="1200" dirty="0"/>
          </a:p>
        </p:txBody>
      </p:sp>
      <p:sp>
        <p:nvSpPr>
          <p:cNvPr id="14" name="Text 12"/>
          <p:cNvSpPr txBox="1"/>
          <p:nvPr/>
        </p:nvSpPr>
        <p:spPr>
          <a:xfrm>
            <a:off x="4434840" y="2788920"/>
            <a:ext cx="3337560" cy="274320"/>
          </a:xfrm>
          <a:prstGeom prst="rect">
            <a:avLst/>
          </a:prstGeom>
          <a:noFill/>
          <a:ln/>
        </p:spPr>
        <p:txBody>
          <a:bodyPr wrap="square" lIns="0" tIns="0" rIns="0" bIns="0" rtlCol="0" anchor="ctr"/>
          <a:lstStyle/>
          <a:p>
            <a:pPr indent="0" marL="0">
              <a:buNone/>
            </a:pPr>
            <a:r>
              <a:rPr lang="en-US" sz="1150" b="1" dirty="0">
                <a:solidFill>
                  <a:srgbClr val="1F7A8C"/>
                </a:solidFill>
              </a:rPr>
              <a:t>Output: </a:t>
            </a:r>
            <a:pPr indent="0" marL="0">
              <a:buNone/>
            </a:pPr>
            <a:r>
              <a:rPr lang="en-US" sz="1150" dirty="0">
                <a:solidFill>
                  <a:srgbClr val="1B1F23"/>
                </a:solidFill>
              </a:rPr>
              <a:t>Code book</a:t>
            </a:r>
            <a:endParaRPr lang="en-US" sz="1150" dirty="0"/>
          </a:p>
        </p:txBody>
      </p:sp>
      <p:sp>
        <p:nvSpPr>
          <p:cNvPr id="15" name="Shape 13"/>
          <p:cNvSpPr/>
          <p:nvPr/>
        </p:nvSpPr>
        <p:spPr>
          <a:xfrm>
            <a:off x="8138160" y="1325880"/>
            <a:ext cx="3611880" cy="1828800"/>
          </a:xfrm>
          <a:prstGeom prst="rect">
            <a:avLst/>
          </a:prstGeom>
          <a:solidFill>
            <a:srgbClr val="E6F2F1"/>
          </a:solidFill>
          <a:ln w="12700">
            <a:solidFill>
              <a:srgbClr val="E6F2F1"/>
            </a:solidFill>
            <a:prstDash val="solid"/>
          </a:ln>
        </p:spPr>
      </p:sp>
      <p:sp>
        <p:nvSpPr>
          <p:cNvPr id="16" name="Shape 14"/>
          <p:cNvSpPr/>
          <p:nvPr/>
        </p:nvSpPr>
        <p:spPr>
          <a:xfrm>
            <a:off x="8275320" y="1463040"/>
            <a:ext cx="457200" cy="457200"/>
          </a:xfrm>
          <a:prstGeom prst="ellipse">
            <a:avLst/>
          </a:prstGeom>
          <a:solidFill>
            <a:srgbClr val="1F7A8C"/>
          </a:solidFill>
          <a:ln w="12700">
            <a:solidFill>
              <a:srgbClr val="1F7A8C"/>
            </a:solidFill>
            <a:prstDash val="solid"/>
          </a:ln>
        </p:spPr>
      </p:sp>
      <p:sp>
        <p:nvSpPr>
          <p:cNvPr id="17" name="Text 15"/>
          <p:cNvSpPr txBox="1"/>
          <p:nvPr/>
        </p:nvSpPr>
        <p:spPr>
          <a:xfrm>
            <a:off x="8275320" y="1463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Text 16"/>
          <p:cNvSpPr txBox="1"/>
          <p:nvPr/>
        </p:nvSpPr>
        <p:spPr>
          <a:xfrm>
            <a:off x="8869680" y="1463040"/>
            <a:ext cx="2743200" cy="457200"/>
          </a:xfrm>
          <a:prstGeom prst="rect">
            <a:avLst/>
          </a:prstGeom>
          <a:noFill/>
          <a:ln/>
        </p:spPr>
        <p:txBody>
          <a:bodyPr wrap="square" lIns="0" tIns="0" rIns="0" bIns="0" rtlCol="0" anchor="ctr"/>
          <a:lstStyle/>
          <a:p>
            <a:pPr indent="0" marL="0">
              <a:buNone/>
            </a:pPr>
            <a:r>
              <a:rPr lang="en-US" sz="1500" b="1" dirty="0">
                <a:solidFill>
                  <a:srgbClr val="0F2E3D"/>
                </a:solidFill>
                <a:latin typeface="Cambria" pitchFamily="34" charset="0"/>
                <a:ea typeface="Cambria" pitchFamily="34" charset="-122"/>
                <a:cs typeface="Cambria" pitchFamily="34" charset="-120"/>
              </a:rPr>
              <a:t>Generating themes</a:t>
            </a:r>
            <a:endParaRPr lang="en-US" sz="1500" dirty="0"/>
          </a:p>
        </p:txBody>
      </p:sp>
      <p:sp>
        <p:nvSpPr>
          <p:cNvPr id="19" name="Text 17"/>
          <p:cNvSpPr txBox="1"/>
          <p:nvPr/>
        </p:nvSpPr>
        <p:spPr>
          <a:xfrm>
            <a:off x="8275320" y="2011680"/>
            <a:ext cx="3337560" cy="731520"/>
          </a:xfrm>
          <a:prstGeom prst="rect">
            <a:avLst/>
          </a:prstGeom>
          <a:noFill/>
          <a:ln/>
        </p:spPr>
        <p:txBody>
          <a:bodyPr wrap="square" lIns="0" tIns="0" rIns="0" bIns="0" rtlCol="0" anchor="t"/>
          <a:lstStyle/>
          <a:p>
            <a:pPr indent="0" marL="0">
              <a:buNone/>
            </a:pPr>
            <a:r>
              <a:rPr lang="en-US" sz="1200" dirty="0">
                <a:solidFill>
                  <a:srgbClr val="1B1F23"/>
                </a:solidFill>
              </a:rPr>
              <a:t>Cluster codes into candidate themes within and across cities.</a:t>
            </a:r>
            <a:endParaRPr lang="en-US" sz="1200" dirty="0"/>
          </a:p>
        </p:txBody>
      </p:sp>
      <p:sp>
        <p:nvSpPr>
          <p:cNvPr id="20" name="Text 18"/>
          <p:cNvSpPr txBox="1"/>
          <p:nvPr/>
        </p:nvSpPr>
        <p:spPr>
          <a:xfrm>
            <a:off x="8275320" y="2788920"/>
            <a:ext cx="3337560" cy="274320"/>
          </a:xfrm>
          <a:prstGeom prst="rect">
            <a:avLst/>
          </a:prstGeom>
          <a:noFill/>
          <a:ln/>
        </p:spPr>
        <p:txBody>
          <a:bodyPr wrap="square" lIns="0" tIns="0" rIns="0" bIns="0" rtlCol="0" anchor="ctr"/>
          <a:lstStyle/>
          <a:p>
            <a:pPr indent="0" marL="0">
              <a:buNone/>
            </a:pPr>
            <a:r>
              <a:rPr lang="en-US" sz="1150" b="1" dirty="0">
                <a:solidFill>
                  <a:srgbClr val="1F7A8C"/>
                </a:solidFill>
              </a:rPr>
              <a:t>Output: </a:t>
            </a:r>
            <a:pPr indent="0" marL="0">
              <a:buNone/>
            </a:pPr>
            <a:r>
              <a:rPr lang="en-US" sz="1150" dirty="0">
                <a:solidFill>
                  <a:srgbClr val="1B1F23"/>
                </a:solidFill>
              </a:rPr>
              <a:t>Initial theme map</a:t>
            </a:r>
            <a:endParaRPr lang="en-US" sz="1150" dirty="0"/>
          </a:p>
        </p:txBody>
      </p:sp>
      <p:sp>
        <p:nvSpPr>
          <p:cNvPr id="21" name="Shape 19"/>
          <p:cNvSpPr/>
          <p:nvPr/>
        </p:nvSpPr>
        <p:spPr>
          <a:xfrm>
            <a:off x="457200" y="3337560"/>
            <a:ext cx="3611880" cy="1828800"/>
          </a:xfrm>
          <a:prstGeom prst="rect">
            <a:avLst/>
          </a:prstGeom>
          <a:solidFill>
            <a:srgbClr val="E6F2F1"/>
          </a:solidFill>
          <a:ln w="12700">
            <a:solidFill>
              <a:srgbClr val="E6F2F1"/>
            </a:solidFill>
            <a:prstDash val="solid"/>
          </a:ln>
        </p:spPr>
      </p:sp>
      <p:sp>
        <p:nvSpPr>
          <p:cNvPr id="22" name="Shape 20"/>
          <p:cNvSpPr/>
          <p:nvPr/>
        </p:nvSpPr>
        <p:spPr>
          <a:xfrm>
            <a:off x="594360" y="3474720"/>
            <a:ext cx="457200" cy="457200"/>
          </a:xfrm>
          <a:prstGeom prst="ellipse">
            <a:avLst/>
          </a:prstGeom>
          <a:solidFill>
            <a:srgbClr val="1F7A8C"/>
          </a:solidFill>
          <a:ln w="12700">
            <a:solidFill>
              <a:srgbClr val="1F7A8C"/>
            </a:solidFill>
            <a:prstDash val="solid"/>
          </a:ln>
        </p:spPr>
      </p:sp>
      <p:sp>
        <p:nvSpPr>
          <p:cNvPr id="23" name="Text 21"/>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4" name="Text 22"/>
          <p:cNvSpPr txBox="1"/>
          <p:nvPr/>
        </p:nvSpPr>
        <p:spPr>
          <a:xfrm>
            <a:off x="1188720" y="3474720"/>
            <a:ext cx="2743200" cy="457200"/>
          </a:xfrm>
          <a:prstGeom prst="rect">
            <a:avLst/>
          </a:prstGeom>
          <a:noFill/>
          <a:ln/>
        </p:spPr>
        <p:txBody>
          <a:bodyPr wrap="square" lIns="0" tIns="0" rIns="0" bIns="0" rtlCol="0" anchor="ctr"/>
          <a:lstStyle/>
          <a:p>
            <a:pPr indent="0" marL="0">
              <a:buNone/>
            </a:pPr>
            <a:r>
              <a:rPr lang="en-US" sz="1500" b="1" dirty="0">
                <a:solidFill>
                  <a:srgbClr val="0F2E3D"/>
                </a:solidFill>
                <a:latin typeface="Cambria" pitchFamily="34" charset="0"/>
                <a:ea typeface="Cambria" pitchFamily="34" charset="-122"/>
                <a:cs typeface="Cambria" pitchFamily="34" charset="-120"/>
              </a:rPr>
              <a:t>Reviewing themes</a:t>
            </a:r>
            <a:endParaRPr lang="en-US" sz="1500" dirty="0"/>
          </a:p>
        </p:txBody>
      </p:sp>
      <p:sp>
        <p:nvSpPr>
          <p:cNvPr id="25" name="Text 23"/>
          <p:cNvSpPr txBox="1"/>
          <p:nvPr/>
        </p:nvSpPr>
        <p:spPr>
          <a:xfrm>
            <a:off x="594360" y="4023360"/>
            <a:ext cx="3337560" cy="731520"/>
          </a:xfrm>
          <a:prstGeom prst="rect">
            <a:avLst/>
          </a:prstGeom>
          <a:noFill/>
          <a:ln/>
        </p:spPr>
        <p:txBody>
          <a:bodyPr wrap="square" lIns="0" tIns="0" rIns="0" bIns="0" rtlCol="0" anchor="t"/>
          <a:lstStyle/>
          <a:p>
            <a:pPr indent="0" marL="0">
              <a:buNone/>
            </a:pPr>
            <a:r>
              <a:rPr lang="en-US" sz="1200" dirty="0">
                <a:solidFill>
                  <a:srgbClr val="1B1F23"/>
                </a:solidFill>
              </a:rPr>
              <a:t>Check themes against coded extracts and the full dataset; merge, split or drop.</a:t>
            </a:r>
            <a:endParaRPr lang="en-US" sz="1200" dirty="0"/>
          </a:p>
        </p:txBody>
      </p:sp>
      <p:sp>
        <p:nvSpPr>
          <p:cNvPr id="26" name="Text 24"/>
          <p:cNvSpPr txBox="1"/>
          <p:nvPr/>
        </p:nvSpPr>
        <p:spPr>
          <a:xfrm>
            <a:off x="594360" y="4800600"/>
            <a:ext cx="3337560" cy="274320"/>
          </a:xfrm>
          <a:prstGeom prst="rect">
            <a:avLst/>
          </a:prstGeom>
          <a:noFill/>
          <a:ln/>
        </p:spPr>
        <p:txBody>
          <a:bodyPr wrap="square" lIns="0" tIns="0" rIns="0" bIns="0" rtlCol="0" anchor="ctr"/>
          <a:lstStyle/>
          <a:p>
            <a:pPr indent="0" marL="0">
              <a:buNone/>
            </a:pPr>
            <a:r>
              <a:rPr lang="en-US" sz="1150" b="1" dirty="0">
                <a:solidFill>
                  <a:srgbClr val="1F7A8C"/>
                </a:solidFill>
              </a:rPr>
              <a:t>Output: </a:t>
            </a:r>
            <a:pPr indent="0" marL="0">
              <a:buNone/>
            </a:pPr>
            <a:r>
              <a:rPr lang="en-US" sz="1150" dirty="0">
                <a:solidFill>
                  <a:srgbClr val="1B1F23"/>
                </a:solidFill>
              </a:rPr>
              <a:t>Refined theme map</a:t>
            </a:r>
            <a:endParaRPr lang="en-US" sz="1150" dirty="0"/>
          </a:p>
        </p:txBody>
      </p:sp>
      <p:sp>
        <p:nvSpPr>
          <p:cNvPr id="27" name="Shape 25"/>
          <p:cNvSpPr/>
          <p:nvPr/>
        </p:nvSpPr>
        <p:spPr>
          <a:xfrm>
            <a:off x="4297680" y="3337560"/>
            <a:ext cx="3611880" cy="1828800"/>
          </a:xfrm>
          <a:prstGeom prst="rect">
            <a:avLst/>
          </a:prstGeom>
          <a:solidFill>
            <a:srgbClr val="E6F2F1"/>
          </a:solidFill>
          <a:ln w="12700">
            <a:solidFill>
              <a:srgbClr val="E6F2F1"/>
            </a:solidFill>
            <a:prstDash val="solid"/>
          </a:ln>
        </p:spPr>
      </p:sp>
      <p:sp>
        <p:nvSpPr>
          <p:cNvPr id="28" name="Shape 26"/>
          <p:cNvSpPr/>
          <p:nvPr/>
        </p:nvSpPr>
        <p:spPr>
          <a:xfrm>
            <a:off x="4434840" y="3474720"/>
            <a:ext cx="457200" cy="457200"/>
          </a:xfrm>
          <a:prstGeom prst="ellipse">
            <a:avLst/>
          </a:prstGeom>
          <a:solidFill>
            <a:srgbClr val="1F7A8C"/>
          </a:solidFill>
          <a:ln w="12700">
            <a:solidFill>
              <a:srgbClr val="1F7A8C"/>
            </a:solidFill>
            <a:prstDash val="solid"/>
          </a:ln>
        </p:spPr>
      </p:sp>
      <p:sp>
        <p:nvSpPr>
          <p:cNvPr id="29" name="Text 27"/>
          <p:cNvSpPr txBox="1"/>
          <p:nvPr/>
        </p:nvSpPr>
        <p:spPr>
          <a:xfrm>
            <a:off x="443484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30" name="Text 28"/>
          <p:cNvSpPr txBox="1"/>
          <p:nvPr/>
        </p:nvSpPr>
        <p:spPr>
          <a:xfrm>
            <a:off x="5029200" y="3474720"/>
            <a:ext cx="2743200" cy="457200"/>
          </a:xfrm>
          <a:prstGeom prst="rect">
            <a:avLst/>
          </a:prstGeom>
          <a:noFill/>
          <a:ln/>
        </p:spPr>
        <p:txBody>
          <a:bodyPr wrap="square" lIns="0" tIns="0" rIns="0" bIns="0" rtlCol="0" anchor="ctr"/>
          <a:lstStyle/>
          <a:p>
            <a:pPr indent="0" marL="0">
              <a:buNone/>
            </a:pPr>
            <a:r>
              <a:rPr lang="en-US" sz="1500" b="1" dirty="0">
                <a:solidFill>
                  <a:srgbClr val="0F2E3D"/>
                </a:solidFill>
                <a:latin typeface="Cambria" pitchFamily="34" charset="0"/>
                <a:ea typeface="Cambria" pitchFamily="34" charset="-122"/>
                <a:cs typeface="Cambria" pitchFamily="34" charset="-120"/>
              </a:rPr>
              <a:t>Defining and naming</a:t>
            </a:r>
            <a:endParaRPr lang="en-US" sz="1500" dirty="0"/>
          </a:p>
        </p:txBody>
      </p:sp>
      <p:sp>
        <p:nvSpPr>
          <p:cNvPr id="31" name="Text 29"/>
          <p:cNvSpPr txBox="1"/>
          <p:nvPr/>
        </p:nvSpPr>
        <p:spPr>
          <a:xfrm>
            <a:off x="4434840" y="4023360"/>
            <a:ext cx="3337560" cy="731520"/>
          </a:xfrm>
          <a:prstGeom prst="rect">
            <a:avLst/>
          </a:prstGeom>
          <a:noFill/>
          <a:ln/>
        </p:spPr>
        <p:txBody>
          <a:bodyPr wrap="square" lIns="0" tIns="0" rIns="0" bIns="0" rtlCol="0" anchor="t"/>
          <a:lstStyle/>
          <a:p>
            <a:pPr indent="0" marL="0">
              <a:buNone/>
            </a:pPr>
            <a:r>
              <a:rPr lang="en-US" sz="1200" dirty="0">
                <a:solidFill>
                  <a:srgbClr val="1B1F23"/>
                </a:solidFill>
              </a:rPr>
              <a:t>Write a definition and scope for each theme; link themes to RQ1–RQ3.</a:t>
            </a:r>
            <a:endParaRPr lang="en-US" sz="1200" dirty="0"/>
          </a:p>
        </p:txBody>
      </p:sp>
      <p:sp>
        <p:nvSpPr>
          <p:cNvPr id="32" name="Text 30"/>
          <p:cNvSpPr txBox="1"/>
          <p:nvPr/>
        </p:nvSpPr>
        <p:spPr>
          <a:xfrm>
            <a:off x="4434840" y="4800600"/>
            <a:ext cx="3337560" cy="274320"/>
          </a:xfrm>
          <a:prstGeom prst="rect">
            <a:avLst/>
          </a:prstGeom>
          <a:noFill/>
          <a:ln/>
        </p:spPr>
        <p:txBody>
          <a:bodyPr wrap="square" lIns="0" tIns="0" rIns="0" bIns="0" rtlCol="0" anchor="ctr"/>
          <a:lstStyle/>
          <a:p>
            <a:pPr indent="0" marL="0">
              <a:buNone/>
            </a:pPr>
            <a:r>
              <a:rPr lang="en-US" sz="1150" b="1" dirty="0">
                <a:solidFill>
                  <a:srgbClr val="1F7A8C"/>
                </a:solidFill>
              </a:rPr>
              <a:t>Output: </a:t>
            </a:r>
            <a:pPr indent="0" marL="0">
              <a:buNone/>
            </a:pPr>
            <a:r>
              <a:rPr lang="en-US" sz="1150" dirty="0">
                <a:solidFill>
                  <a:srgbClr val="1B1F23"/>
                </a:solidFill>
              </a:rPr>
              <a:t>Theme definitions</a:t>
            </a:r>
            <a:endParaRPr lang="en-US" sz="1150" dirty="0"/>
          </a:p>
        </p:txBody>
      </p:sp>
      <p:sp>
        <p:nvSpPr>
          <p:cNvPr id="33" name="Shape 31"/>
          <p:cNvSpPr/>
          <p:nvPr/>
        </p:nvSpPr>
        <p:spPr>
          <a:xfrm>
            <a:off x="8138160" y="3337560"/>
            <a:ext cx="3611880" cy="1828800"/>
          </a:xfrm>
          <a:prstGeom prst="rect">
            <a:avLst/>
          </a:prstGeom>
          <a:solidFill>
            <a:srgbClr val="E6F2F1"/>
          </a:solidFill>
          <a:ln w="12700">
            <a:solidFill>
              <a:srgbClr val="E6F2F1"/>
            </a:solidFill>
            <a:prstDash val="solid"/>
          </a:ln>
        </p:spPr>
      </p:sp>
      <p:sp>
        <p:nvSpPr>
          <p:cNvPr id="34" name="Shape 32"/>
          <p:cNvSpPr/>
          <p:nvPr/>
        </p:nvSpPr>
        <p:spPr>
          <a:xfrm>
            <a:off x="8275320" y="3474720"/>
            <a:ext cx="457200" cy="457200"/>
          </a:xfrm>
          <a:prstGeom prst="ellipse">
            <a:avLst/>
          </a:prstGeom>
          <a:solidFill>
            <a:srgbClr val="1F7A8C"/>
          </a:solidFill>
          <a:ln w="12700">
            <a:solidFill>
              <a:srgbClr val="1F7A8C"/>
            </a:solidFill>
            <a:prstDash val="solid"/>
          </a:ln>
        </p:spPr>
      </p:sp>
      <p:sp>
        <p:nvSpPr>
          <p:cNvPr id="35" name="Text 33"/>
          <p:cNvSpPr txBox="1"/>
          <p:nvPr/>
        </p:nvSpPr>
        <p:spPr>
          <a:xfrm>
            <a:off x="827532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6" name="Text 34"/>
          <p:cNvSpPr txBox="1"/>
          <p:nvPr/>
        </p:nvSpPr>
        <p:spPr>
          <a:xfrm>
            <a:off x="8869680" y="3474720"/>
            <a:ext cx="2743200" cy="457200"/>
          </a:xfrm>
          <a:prstGeom prst="rect">
            <a:avLst/>
          </a:prstGeom>
          <a:noFill/>
          <a:ln/>
        </p:spPr>
        <p:txBody>
          <a:bodyPr wrap="square" lIns="0" tIns="0" rIns="0" bIns="0" rtlCol="0" anchor="ctr"/>
          <a:lstStyle/>
          <a:p>
            <a:pPr indent="0" marL="0">
              <a:buNone/>
            </a:pPr>
            <a:r>
              <a:rPr lang="en-US" sz="1500" b="1" dirty="0">
                <a:solidFill>
                  <a:srgbClr val="0F2E3D"/>
                </a:solidFill>
                <a:latin typeface="Cambria" pitchFamily="34" charset="0"/>
                <a:ea typeface="Cambria" pitchFamily="34" charset="-122"/>
                <a:cs typeface="Cambria" pitchFamily="34" charset="-120"/>
              </a:rPr>
              <a:t>Writing up</a:t>
            </a:r>
            <a:endParaRPr lang="en-US" sz="1500" dirty="0"/>
          </a:p>
        </p:txBody>
      </p:sp>
      <p:sp>
        <p:nvSpPr>
          <p:cNvPr id="37" name="Text 35"/>
          <p:cNvSpPr txBox="1"/>
          <p:nvPr/>
        </p:nvSpPr>
        <p:spPr>
          <a:xfrm>
            <a:off x="8275320" y="4023360"/>
            <a:ext cx="3337560" cy="731520"/>
          </a:xfrm>
          <a:prstGeom prst="rect">
            <a:avLst/>
          </a:prstGeom>
          <a:noFill/>
          <a:ln/>
        </p:spPr>
        <p:txBody>
          <a:bodyPr wrap="square" lIns="0" tIns="0" rIns="0" bIns="0" rtlCol="0" anchor="t"/>
          <a:lstStyle/>
          <a:p>
            <a:pPr indent="0" marL="0">
              <a:buNone/>
            </a:pPr>
            <a:r>
              <a:rPr lang="en-US" sz="1200" dirty="0">
                <a:solidFill>
                  <a:srgbClr val="1B1F23"/>
                </a:solidFill>
              </a:rPr>
              <a:t>Select vivid extracts; interpret themes against the literature and framework.</a:t>
            </a:r>
            <a:endParaRPr lang="en-US" sz="1200" dirty="0"/>
          </a:p>
        </p:txBody>
      </p:sp>
      <p:sp>
        <p:nvSpPr>
          <p:cNvPr id="38" name="Text 36"/>
          <p:cNvSpPr txBox="1"/>
          <p:nvPr/>
        </p:nvSpPr>
        <p:spPr>
          <a:xfrm>
            <a:off x="8275320" y="4800600"/>
            <a:ext cx="3337560" cy="274320"/>
          </a:xfrm>
          <a:prstGeom prst="rect">
            <a:avLst/>
          </a:prstGeom>
          <a:noFill/>
          <a:ln/>
        </p:spPr>
        <p:txBody>
          <a:bodyPr wrap="square" lIns="0" tIns="0" rIns="0" bIns="0" rtlCol="0" anchor="ctr"/>
          <a:lstStyle/>
          <a:p>
            <a:pPr indent="0" marL="0">
              <a:buNone/>
            </a:pPr>
            <a:r>
              <a:rPr lang="en-US" sz="1150" b="1" dirty="0">
                <a:solidFill>
                  <a:srgbClr val="1F7A8C"/>
                </a:solidFill>
              </a:rPr>
              <a:t>Output: </a:t>
            </a:r>
            <a:pPr indent="0" marL="0">
              <a:buNone/>
            </a:pPr>
            <a:r>
              <a:rPr lang="en-US" sz="1150" dirty="0">
                <a:solidFill>
                  <a:srgbClr val="1B1F23"/>
                </a:solidFill>
              </a:rPr>
              <a:t>Findings chapter</a:t>
            </a:r>
            <a:endParaRPr lang="en-US" sz="1150" dirty="0"/>
          </a:p>
        </p:txBody>
      </p:sp>
      <p:sp>
        <p:nvSpPr>
          <p:cNvPr id="39" name="Text 37"/>
          <p:cNvSpPr txBox="1"/>
          <p:nvPr/>
        </p:nvSpPr>
        <p:spPr>
          <a:xfrm>
            <a:off x="457200" y="5394960"/>
            <a:ext cx="11274552" cy="640080"/>
          </a:xfrm>
          <a:prstGeom prst="rect">
            <a:avLst/>
          </a:prstGeom>
          <a:noFill/>
          <a:ln/>
        </p:spPr>
        <p:txBody>
          <a:bodyPr wrap="square" lIns="0" tIns="0" rIns="0" bIns="0" rtlCol="0" anchor="t"/>
          <a:lstStyle/>
          <a:p>
            <a:pPr indent="0" marL="0">
              <a:buNone/>
            </a:pPr>
            <a:r>
              <a:rPr lang="en-US" sz="1200" b="1" dirty="0">
                <a:solidFill>
                  <a:srgbClr val="1F7A8C"/>
                </a:solidFill>
              </a:rPr>
              <a:t>Rigour and limits. </a:t>
            </a:r>
            <a:pPr indent="0" marL="0">
              <a:buNone/>
            </a:pPr>
            <a:r>
              <a:rPr lang="en-US" sz="1200" dirty="0">
                <a:solidFill>
                  <a:srgbClr val="1B1F23"/>
                </a:solidFill>
              </a:rPr>
              <a:t>Reflexive journal and audit trail of codes; triangulation of official and peer-reviewed sources; negative-case checks. Limitations: documents are written for institutional purposes and carry no stakeholder voice; interpretations are the researcher's and are made transparent rather than treated as objective.</a:t>
            </a:r>
            <a:endParaRPr lang="en-US" sz="1200" dirty="0"/>
          </a:p>
        </p:txBody>
      </p:sp>
      <p:sp>
        <p:nvSpPr>
          <p:cNvPr id="40" name="Text 38"/>
          <p:cNvSpPr txBox="1"/>
          <p:nvPr/>
        </p:nvSpPr>
        <p:spPr>
          <a:xfrm>
            <a:off x="457200" y="6108192"/>
            <a:ext cx="11274552" cy="320040"/>
          </a:xfrm>
          <a:prstGeom prst="rect">
            <a:avLst/>
          </a:prstGeom>
          <a:noFill/>
          <a:ln/>
        </p:spPr>
        <p:txBody>
          <a:bodyPr wrap="square" lIns="0" tIns="0" rIns="0" bIns="0" rtlCol="0" anchor="t"/>
          <a:lstStyle/>
          <a:p>
            <a:pPr indent="0" marL="0">
              <a:buNone/>
            </a:pPr>
            <a:r>
              <a:rPr lang="en-US" sz="1000" i="1" dirty="0">
                <a:solidFill>
                  <a:srgbClr val="5B6770"/>
                </a:solidFill>
                <a:latin typeface="Calibri" pitchFamily="34" charset="0"/>
                <a:ea typeface="Calibri" pitchFamily="34" charset="-122"/>
                <a:cs typeface="Calibri" pitchFamily="34" charset="-120"/>
              </a:rPr>
              <a:t>Source: Phases adapted from Braun and Clarke (2021); research design aligned with Saunders et al. (2023). Software: NVivo or a structured spreadsheet for code management.</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Six-week timeline and expected contribution</a:t>
            </a:r>
            <a:endParaRPr lang="en-US" sz="2600" dirty="0"/>
          </a:p>
        </p:txBody>
      </p:sp>
      <p:sp>
        <p:nvSpPr>
          <p:cNvPr id="3" name="Shape 1"/>
          <p:cNvSpPr/>
          <p:nvPr/>
        </p:nvSpPr>
        <p:spPr>
          <a:xfrm>
            <a:off x="457200" y="1325880"/>
            <a:ext cx="2926080" cy="411480"/>
          </a:xfrm>
          <a:prstGeom prst="rect">
            <a:avLst/>
          </a:prstGeom>
          <a:solidFill>
            <a:srgbClr val="0F2E3D"/>
          </a:solidFill>
          <a:ln w="12700">
            <a:solidFill>
              <a:srgbClr val="0F2E3D"/>
            </a:solidFill>
            <a:prstDash val="solid"/>
          </a:ln>
        </p:spPr>
      </p:sp>
      <p:sp>
        <p:nvSpPr>
          <p:cNvPr id="4" name="Text 2"/>
          <p:cNvSpPr txBox="1"/>
          <p:nvPr/>
        </p:nvSpPr>
        <p:spPr>
          <a:xfrm>
            <a:off x="548640" y="1325880"/>
            <a:ext cx="2834640" cy="411480"/>
          </a:xfrm>
          <a:prstGeom prst="rect">
            <a:avLst/>
          </a:prstGeom>
          <a:noFill/>
          <a:ln/>
        </p:spPr>
        <p:txBody>
          <a:bodyPr wrap="square" lIns="0" tIns="0" rIns="0" bIns="0" rtlCol="0" anchor="ctr"/>
          <a:lstStyle/>
          <a:p>
            <a:pPr indent="0" marL="0">
              <a:buNone/>
            </a:pPr>
            <a:r>
              <a:rPr lang="en-US" sz="1200" b="1" dirty="0">
                <a:solidFill>
                  <a:srgbClr val="FFFFFF"/>
                </a:solidFill>
              </a:rPr>
              <a:t>Task</a:t>
            </a:r>
            <a:endParaRPr lang="en-US" sz="1200" dirty="0"/>
          </a:p>
        </p:txBody>
      </p:sp>
      <p:sp>
        <p:nvSpPr>
          <p:cNvPr id="5" name="Shape 3"/>
          <p:cNvSpPr/>
          <p:nvPr/>
        </p:nvSpPr>
        <p:spPr>
          <a:xfrm>
            <a:off x="3383280" y="1325880"/>
            <a:ext cx="777240" cy="411480"/>
          </a:xfrm>
          <a:prstGeom prst="rect">
            <a:avLst/>
          </a:prstGeom>
          <a:solidFill>
            <a:srgbClr val="0F2E3D"/>
          </a:solidFill>
          <a:ln w="9525">
            <a:solidFill>
              <a:srgbClr val="FFFFFF"/>
            </a:solidFill>
            <a:prstDash val="solid"/>
          </a:ln>
        </p:spPr>
      </p:sp>
      <p:sp>
        <p:nvSpPr>
          <p:cNvPr id="6" name="Text 4"/>
          <p:cNvSpPr txBox="1"/>
          <p:nvPr/>
        </p:nvSpPr>
        <p:spPr>
          <a:xfrm>
            <a:off x="3383280" y="1325880"/>
            <a:ext cx="777240" cy="411480"/>
          </a:xfrm>
          <a:prstGeom prst="rect">
            <a:avLst/>
          </a:prstGeom>
          <a:noFill/>
          <a:ln/>
        </p:spPr>
        <p:txBody>
          <a:bodyPr wrap="square" lIns="0" tIns="0" rIns="0" bIns="0" rtlCol="0" anchor="ctr"/>
          <a:lstStyle/>
          <a:p>
            <a:pPr algn="ctr" indent="0" marL="0">
              <a:buNone/>
            </a:pPr>
            <a:r>
              <a:rPr lang="en-US" sz="1200" b="1" dirty="0">
                <a:solidFill>
                  <a:srgbClr val="FFFFFF"/>
                </a:solidFill>
              </a:rPr>
              <a:t>Wk 1</a:t>
            </a:r>
            <a:endParaRPr lang="en-US" sz="1200" dirty="0"/>
          </a:p>
        </p:txBody>
      </p:sp>
      <p:sp>
        <p:nvSpPr>
          <p:cNvPr id="7" name="Shape 5"/>
          <p:cNvSpPr/>
          <p:nvPr/>
        </p:nvSpPr>
        <p:spPr>
          <a:xfrm>
            <a:off x="4160520" y="1325880"/>
            <a:ext cx="777240" cy="411480"/>
          </a:xfrm>
          <a:prstGeom prst="rect">
            <a:avLst/>
          </a:prstGeom>
          <a:solidFill>
            <a:srgbClr val="0F2E3D"/>
          </a:solidFill>
          <a:ln w="9525">
            <a:solidFill>
              <a:srgbClr val="FFFFFF"/>
            </a:solidFill>
            <a:prstDash val="solid"/>
          </a:ln>
        </p:spPr>
      </p:sp>
      <p:sp>
        <p:nvSpPr>
          <p:cNvPr id="8" name="Text 6"/>
          <p:cNvSpPr txBox="1"/>
          <p:nvPr/>
        </p:nvSpPr>
        <p:spPr>
          <a:xfrm>
            <a:off x="4160520" y="1325880"/>
            <a:ext cx="777240" cy="411480"/>
          </a:xfrm>
          <a:prstGeom prst="rect">
            <a:avLst/>
          </a:prstGeom>
          <a:noFill/>
          <a:ln/>
        </p:spPr>
        <p:txBody>
          <a:bodyPr wrap="square" lIns="0" tIns="0" rIns="0" bIns="0" rtlCol="0" anchor="ctr"/>
          <a:lstStyle/>
          <a:p>
            <a:pPr algn="ctr" indent="0" marL="0">
              <a:buNone/>
            </a:pPr>
            <a:r>
              <a:rPr lang="en-US" sz="1200" b="1" dirty="0">
                <a:solidFill>
                  <a:srgbClr val="FFFFFF"/>
                </a:solidFill>
              </a:rPr>
              <a:t>Wk 2</a:t>
            </a:r>
            <a:endParaRPr lang="en-US" sz="1200" dirty="0"/>
          </a:p>
        </p:txBody>
      </p:sp>
      <p:sp>
        <p:nvSpPr>
          <p:cNvPr id="9" name="Shape 7"/>
          <p:cNvSpPr/>
          <p:nvPr/>
        </p:nvSpPr>
        <p:spPr>
          <a:xfrm>
            <a:off x="4937760" y="1325880"/>
            <a:ext cx="777240" cy="411480"/>
          </a:xfrm>
          <a:prstGeom prst="rect">
            <a:avLst/>
          </a:prstGeom>
          <a:solidFill>
            <a:srgbClr val="0F2E3D"/>
          </a:solidFill>
          <a:ln w="9525">
            <a:solidFill>
              <a:srgbClr val="FFFFFF"/>
            </a:solidFill>
            <a:prstDash val="solid"/>
          </a:ln>
        </p:spPr>
      </p:sp>
      <p:sp>
        <p:nvSpPr>
          <p:cNvPr id="10" name="Text 8"/>
          <p:cNvSpPr txBox="1"/>
          <p:nvPr/>
        </p:nvSpPr>
        <p:spPr>
          <a:xfrm>
            <a:off x="4937760" y="1325880"/>
            <a:ext cx="777240" cy="411480"/>
          </a:xfrm>
          <a:prstGeom prst="rect">
            <a:avLst/>
          </a:prstGeom>
          <a:noFill/>
          <a:ln/>
        </p:spPr>
        <p:txBody>
          <a:bodyPr wrap="square" lIns="0" tIns="0" rIns="0" bIns="0" rtlCol="0" anchor="ctr"/>
          <a:lstStyle/>
          <a:p>
            <a:pPr algn="ctr" indent="0" marL="0">
              <a:buNone/>
            </a:pPr>
            <a:r>
              <a:rPr lang="en-US" sz="1200" b="1" dirty="0">
                <a:solidFill>
                  <a:srgbClr val="FFFFFF"/>
                </a:solidFill>
              </a:rPr>
              <a:t>Wk 3</a:t>
            </a:r>
            <a:endParaRPr lang="en-US" sz="1200" dirty="0"/>
          </a:p>
        </p:txBody>
      </p:sp>
      <p:sp>
        <p:nvSpPr>
          <p:cNvPr id="11" name="Shape 9"/>
          <p:cNvSpPr/>
          <p:nvPr/>
        </p:nvSpPr>
        <p:spPr>
          <a:xfrm>
            <a:off x="5715000" y="1325880"/>
            <a:ext cx="777240" cy="411480"/>
          </a:xfrm>
          <a:prstGeom prst="rect">
            <a:avLst/>
          </a:prstGeom>
          <a:solidFill>
            <a:srgbClr val="0F2E3D"/>
          </a:solidFill>
          <a:ln w="9525">
            <a:solidFill>
              <a:srgbClr val="FFFFFF"/>
            </a:solidFill>
            <a:prstDash val="solid"/>
          </a:ln>
        </p:spPr>
      </p:sp>
      <p:sp>
        <p:nvSpPr>
          <p:cNvPr id="12" name="Text 10"/>
          <p:cNvSpPr txBox="1"/>
          <p:nvPr/>
        </p:nvSpPr>
        <p:spPr>
          <a:xfrm>
            <a:off x="5715000" y="1325880"/>
            <a:ext cx="777240" cy="411480"/>
          </a:xfrm>
          <a:prstGeom prst="rect">
            <a:avLst/>
          </a:prstGeom>
          <a:noFill/>
          <a:ln/>
        </p:spPr>
        <p:txBody>
          <a:bodyPr wrap="square" lIns="0" tIns="0" rIns="0" bIns="0" rtlCol="0" anchor="ctr"/>
          <a:lstStyle/>
          <a:p>
            <a:pPr algn="ctr" indent="0" marL="0">
              <a:buNone/>
            </a:pPr>
            <a:r>
              <a:rPr lang="en-US" sz="1200" b="1" dirty="0">
                <a:solidFill>
                  <a:srgbClr val="FFFFFF"/>
                </a:solidFill>
              </a:rPr>
              <a:t>Wk 4</a:t>
            </a:r>
            <a:endParaRPr lang="en-US" sz="1200" dirty="0"/>
          </a:p>
        </p:txBody>
      </p:sp>
      <p:sp>
        <p:nvSpPr>
          <p:cNvPr id="13" name="Shape 11"/>
          <p:cNvSpPr/>
          <p:nvPr/>
        </p:nvSpPr>
        <p:spPr>
          <a:xfrm>
            <a:off x="6492240" y="1325880"/>
            <a:ext cx="777240" cy="411480"/>
          </a:xfrm>
          <a:prstGeom prst="rect">
            <a:avLst/>
          </a:prstGeom>
          <a:solidFill>
            <a:srgbClr val="0F2E3D"/>
          </a:solidFill>
          <a:ln w="9525">
            <a:solidFill>
              <a:srgbClr val="FFFFFF"/>
            </a:solidFill>
            <a:prstDash val="solid"/>
          </a:ln>
        </p:spPr>
      </p:sp>
      <p:sp>
        <p:nvSpPr>
          <p:cNvPr id="14" name="Text 12"/>
          <p:cNvSpPr txBox="1"/>
          <p:nvPr/>
        </p:nvSpPr>
        <p:spPr>
          <a:xfrm>
            <a:off x="6492240" y="1325880"/>
            <a:ext cx="777240" cy="411480"/>
          </a:xfrm>
          <a:prstGeom prst="rect">
            <a:avLst/>
          </a:prstGeom>
          <a:noFill/>
          <a:ln/>
        </p:spPr>
        <p:txBody>
          <a:bodyPr wrap="square" lIns="0" tIns="0" rIns="0" bIns="0" rtlCol="0" anchor="ctr"/>
          <a:lstStyle/>
          <a:p>
            <a:pPr algn="ctr" indent="0" marL="0">
              <a:buNone/>
            </a:pPr>
            <a:r>
              <a:rPr lang="en-US" sz="1200" b="1" dirty="0">
                <a:solidFill>
                  <a:srgbClr val="FFFFFF"/>
                </a:solidFill>
              </a:rPr>
              <a:t>Wk 5</a:t>
            </a:r>
            <a:endParaRPr lang="en-US" sz="1200" dirty="0"/>
          </a:p>
        </p:txBody>
      </p:sp>
      <p:sp>
        <p:nvSpPr>
          <p:cNvPr id="15" name="Shape 13"/>
          <p:cNvSpPr/>
          <p:nvPr/>
        </p:nvSpPr>
        <p:spPr>
          <a:xfrm>
            <a:off x="7269480" y="1325880"/>
            <a:ext cx="777240" cy="411480"/>
          </a:xfrm>
          <a:prstGeom prst="rect">
            <a:avLst/>
          </a:prstGeom>
          <a:solidFill>
            <a:srgbClr val="0F2E3D"/>
          </a:solidFill>
          <a:ln w="9525">
            <a:solidFill>
              <a:srgbClr val="FFFFFF"/>
            </a:solidFill>
            <a:prstDash val="solid"/>
          </a:ln>
        </p:spPr>
      </p:sp>
      <p:sp>
        <p:nvSpPr>
          <p:cNvPr id="16" name="Text 14"/>
          <p:cNvSpPr txBox="1"/>
          <p:nvPr/>
        </p:nvSpPr>
        <p:spPr>
          <a:xfrm>
            <a:off x="7269480" y="1325880"/>
            <a:ext cx="777240" cy="411480"/>
          </a:xfrm>
          <a:prstGeom prst="rect">
            <a:avLst/>
          </a:prstGeom>
          <a:noFill/>
          <a:ln/>
        </p:spPr>
        <p:txBody>
          <a:bodyPr wrap="square" lIns="0" tIns="0" rIns="0" bIns="0" rtlCol="0" anchor="ctr"/>
          <a:lstStyle/>
          <a:p>
            <a:pPr algn="ctr" indent="0" marL="0">
              <a:buNone/>
            </a:pPr>
            <a:r>
              <a:rPr lang="en-US" sz="1200" b="1" dirty="0">
                <a:solidFill>
                  <a:srgbClr val="FFFFFF"/>
                </a:solidFill>
              </a:rPr>
              <a:t>Wk 6</a:t>
            </a:r>
            <a:endParaRPr lang="en-US" sz="1200" dirty="0"/>
          </a:p>
        </p:txBody>
      </p:sp>
      <p:sp>
        <p:nvSpPr>
          <p:cNvPr id="17" name="Shape 15"/>
          <p:cNvSpPr/>
          <p:nvPr/>
        </p:nvSpPr>
        <p:spPr>
          <a:xfrm>
            <a:off x="457200" y="1737360"/>
            <a:ext cx="7589520" cy="512064"/>
          </a:xfrm>
          <a:prstGeom prst="rect">
            <a:avLst/>
          </a:prstGeom>
          <a:solidFill>
            <a:srgbClr val="FFFFFF"/>
          </a:solidFill>
          <a:ln w="6350">
            <a:solidFill>
              <a:srgbClr val="D9DEE2"/>
            </a:solidFill>
            <a:prstDash val="solid"/>
          </a:ln>
        </p:spPr>
      </p:sp>
      <p:sp>
        <p:nvSpPr>
          <p:cNvPr id="18" name="Text 16"/>
          <p:cNvSpPr txBox="1"/>
          <p:nvPr/>
        </p:nvSpPr>
        <p:spPr>
          <a:xfrm>
            <a:off x="548640" y="1737360"/>
            <a:ext cx="2788920" cy="512064"/>
          </a:xfrm>
          <a:prstGeom prst="rect">
            <a:avLst/>
          </a:prstGeom>
          <a:noFill/>
          <a:ln/>
        </p:spPr>
        <p:txBody>
          <a:bodyPr wrap="square" lIns="0" tIns="0" rIns="0" bIns="0" rtlCol="0" anchor="ctr"/>
          <a:lstStyle/>
          <a:p>
            <a:pPr indent="0" marL="0">
              <a:buNone/>
            </a:pPr>
            <a:r>
              <a:rPr lang="en-US" sz="1150" dirty="0">
                <a:solidFill>
                  <a:srgbClr val="1B1F23"/>
                </a:solidFill>
              </a:rPr>
              <a:t>Scoping, protocol, criteria</a:t>
            </a:r>
            <a:endParaRPr lang="en-US" sz="1150" dirty="0"/>
          </a:p>
        </p:txBody>
      </p:sp>
      <p:sp>
        <p:nvSpPr>
          <p:cNvPr id="19" name="Shape 17"/>
          <p:cNvSpPr/>
          <p:nvPr/>
        </p:nvSpPr>
        <p:spPr>
          <a:xfrm>
            <a:off x="4160520" y="1737360"/>
            <a:ext cx="0" cy="512064"/>
          </a:xfrm>
          <a:prstGeom prst="line">
            <a:avLst/>
          </a:prstGeom>
          <a:noFill/>
          <a:ln w="6350">
            <a:solidFill>
              <a:srgbClr val="D9DEE2"/>
            </a:solidFill>
            <a:prstDash val="solid"/>
          </a:ln>
        </p:spPr>
      </p:sp>
      <p:sp>
        <p:nvSpPr>
          <p:cNvPr id="20" name="Shape 18"/>
          <p:cNvSpPr/>
          <p:nvPr/>
        </p:nvSpPr>
        <p:spPr>
          <a:xfrm>
            <a:off x="4937760" y="1737360"/>
            <a:ext cx="0" cy="512064"/>
          </a:xfrm>
          <a:prstGeom prst="line">
            <a:avLst/>
          </a:prstGeom>
          <a:noFill/>
          <a:ln w="6350">
            <a:solidFill>
              <a:srgbClr val="D9DEE2"/>
            </a:solidFill>
            <a:prstDash val="solid"/>
          </a:ln>
        </p:spPr>
      </p:sp>
      <p:sp>
        <p:nvSpPr>
          <p:cNvPr id="21" name="Shape 19"/>
          <p:cNvSpPr/>
          <p:nvPr/>
        </p:nvSpPr>
        <p:spPr>
          <a:xfrm>
            <a:off x="5715000" y="1737360"/>
            <a:ext cx="0" cy="512064"/>
          </a:xfrm>
          <a:prstGeom prst="line">
            <a:avLst/>
          </a:prstGeom>
          <a:noFill/>
          <a:ln w="6350">
            <a:solidFill>
              <a:srgbClr val="D9DEE2"/>
            </a:solidFill>
            <a:prstDash val="solid"/>
          </a:ln>
        </p:spPr>
      </p:sp>
      <p:sp>
        <p:nvSpPr>
          <p:cNvPr id="22" name="Shape 20"/>
          <p:cNvSpPr/>
          <p:nvPr/>
        </p:nvSpPr>
        <p:spPr>
          <a:xfrm>
            <a:off x="6492240" y="1737360"/>
            <a:ext cx="0" cy="512064"/>
          </a:xfrm>
          <a:prstGeom prst="line">
            <a:avLst/>
          </a:prstGeom>
          <a:noFill/>
          <a:ln w="6350">
            <a:solidFill>
              <a:srgbClr val="D9DEE2"/>
            </a:solidFill>
            <a:prstDash val="solid"/>
          </a:ln>
        </p:spPr>
      </p:sp>
      <p:sp>
        <p:nvSpPr>
          <p:cNvPr id="23" name="Shape 21"/>
          <p:cNvSpPr/>
          <p:nvPr/>
        </p:nvSpPr>
        <p:spPr>
          <a:xfrm>
            <a:off x="7269480" y="1737360"/>
            <a:ext cx="0" cy="512064"/>
          </a:xfrm>
          <a:prstGeom prst="line">
            <a:avLst/>
          </a:prstGeom>
          <a:noFill/>
          <a:ln w="6350">
            <a:solidFill>
              <a:srgbClr val="D9DEE2"/>
            </a:solidFill>
            <a:prstDash val="solid"/>
          </a:ln>
        </p:spPr>
      </p:sp>
      <p:sp>
        <p:nvSpPr>
          <p:cNvPr id="24" name="Shape 22"/>
          <p:cNvSpPr/>
          <p:nvPr/>
        </p:nvSpPr>
        <p:spPr>
          <a:xfrm>
            <a:off x="3438144" y="1847088"/>
            <a:ext cx="667512" cy="292608"/>
          </a:xfrm>
          <a:prstGeom prst="roundRect">
            <a:avLst>
              <a:gd name="adj" fmla="val 18750"/>
            </a:avLst>
          </a:prstGeom>
          <a:solidFill>
            <a:srgbClr val="1F7A8C"/>
          </a:solidFill>
          <a:ln w="12700">
            <a:solidFill>
              <a:srgbClr val="FFFFFF"/>
            </a:solidFill>
            <a:prstDash val="solid"/>
          </a:ln>
        </p:spPr>
      </p:sp>
      <p:sp>
        <p:nvSpPr>
          <p:cNvPr id="25" name="Shape 23"/>
          <p:cNvSpPr/>
          <p:nvPr/>
        </p:nvSpPr>
        <p:spPr>
          <a:xfrm>
            <a:off x="457200" y="2249424"/>
            <a:ext cx="7589520" cy="512064"/>
          </a:xfrm>
          <a:prstGeom prst="rect">
            <a:avLst/>
          </a:prstGeom>
          <a:solidFill>
            <a:srgbClr val="F4F8F8"/>
          </a:solidFill>
          <a:ln w="6350">
            <a:solidFill>
              <a:srgbClr val="D9DEE2"/>
            </a:solidFill>
            <a:prstDash val="solid"/>
          </a:ln>
        </p:spPr>
      </p:sp>
      <p:sp>
        <p:nvSpPr>
          <p:cNvPr id="26" name="Text 24"/>
          <p:cNvSpPr txBox="1"/>
          <p:nvPr/>
        </p:nvSpPr>
        <p:spPr>
          <a:xfrm>
            <a:off x="548640" y="2249424"/>
            <a:ext cx="2788920" cy="512064"/>
          </a:xfrm>
          <a:prstGeom prst="rect">
            <a:avLst/>
          </a:prstGeom>
          <a:noFill/>
          <a:ln/>
        </p:spPr>
        <p:txBody>
          <a:bodyPr wrap="square" lIns="0" tIns="0" rIns="0" bIns="0" rtlCol="0" anchor="ctr"/>
          <a:lstStyle/>
          <a:p>
            <a:pPr indent="0" marL="0">
              <a:buNone/>
            </a:pPr>
            <a:r>
              <a:rPr lang="en-US" sz="1150" dirty="0">
                <a:solidFill>
                  <a:srgbClr val="1B1F23"/>
                </a:solidFill>
              </a:rPr>
              <a:t>Literature review</a:t>
            </a:r>
            <a:endParaRPr lang="en-US" sz="1150" dirty="0"/>
          </a:p>
        </p:txBody>
      </p:sp>
      <p:sp>
        <p:nvSpPr>
          <p:cNvPr id="27" name="Shape 25"/>
          <p:cNvSpPr/>
          <p:nvPr/>
        </p:nvSpPr>
        <p:spPr>
          <a:xfrm>
            <a:off x="4160520" y="2249424"/>
            <a:ext cx="0" cy="512064"/>
          </a:xfrm>
          <a:prstGeom prst="line">
            <a:avLst/>
          </a:prstGeom>
          <a:noFill/>
          <a:ln w="6350">
            <a:solidFill>
              <a:srgbClr val="D9DEE2"/>
            </a:solidFill>
            <a:prstDash val="solid"/>
          </a:ln>
        </p:spPr>
      </p:sp>
      <p:sp>
        <p:nvSpPr>
          <p:cNvPr id="28" name="Shape 26"/>
          <p:cNvSpPr/>
          <p:nvPr/>
        </p:nvSpPr>
        <p:spPr>
          <a:xfrm>
            <a:off x="4937760" y="2249424"/>
            <a:ext cx="0" cy="512064"/>
          </a:xfrm>
          <a:prstGeom prst="line">
            <a:avLst/>
          </a:prstGeom>
          <a:noFill/>
          <a:ln w="6350">
            <a:solidFill>
              <a:srgbClr val="D9DEE2"/>
            </a:solidFill>
            <a:prstDash val="solid"/>
          </a:ln>
        </p:spPr>
      </p:sp>
      <p:sp>
        <p:nvSpPr>
          <p:cNvPr id="29" name="Shape 27"/>
          <p:cNvSpPr/>
          <p:nvPr/>
        </p:nvSpPr>
        <p:spPr>
          <a:xfrm>
            <a:off x="5715000" y="2249424"/>
            <a:ext cx="0" cy="512064"/>
          </a:xfrm>
          <a:prstGeom prst="line">
            <a:avLst/>
          </a:prstGeom>
          <a:noFill/>
          <a:ln w="6350">
            <a:solidFill>
              <a:srgbClr val="D9DEE2"/>
            </a:solidFill>
            <a:prstDash val="solid"/>
          </a:ln>
        </p:spPr>
      </p:sp>
      <p:sp>
        <p:nvSpPr>
          <p:cNvPr id="30" name="Shape 28"/>
          <p:cNvSpPr/>
          <p:nvPr/>
        </p:nvSpPr>
        <p:spPr>
          <a:xfrm>
            <a:off x="6492240" y="2249424"/>
            <a:ext cx="0" cy="512064"/>
          </a:xfrm>
          <a:prstGeom prst="line">
            <a:avLst/>
          </a:prstGeom>
          <a:noFill/>
          <a:ln w="6350">
            <a:solidFill>
              <a:srgbClr val="D9DEE2"/>
            </a:solidFill>
            <a:prstDash val="solid"/>
          </a:ln>
        </p:spPr>
      </p:sp>
      <p:sp>
        <p:nvSpPr>
          <p:cNvPr id="31" name="Shape 29"/>
          <p:cNvSpPr/>
          <p:nvPr/>
        </p:nvSpPr>
        <p:spPr>
          <a:xfrm>
            <a:off x="7269480" y="2249424"/>
            <a:ext cx="0" cy="512064"/>
          </a:xfrm>
          <a:prstGeom prst="line">
            <a:avLst/>
          </a:prstGeom>
          <a:noFill/>
          <a:ln w="6350">
            <a:solidFill>
              <a:srgbClr val="D9DEE2"/>
            </a:solidFill>
            <a:prstDash val="solid"/>
          </a:ln>
        </p:spPr>
      </p:sp>
      <p:sp>
        <p:nvSpPr>
          <p:cNvPr id="32" name="Shape 30"/>
          <p:cNvSpPr/>
          <p:nvPr/>
        </p:nvSpPr>
        <p:spPr>
          <a:xfrm>
            <a:off x="3438144" y="2359152"/>
            <a:ext cx="1444752" cy="292608"/>
          </a:xfrm>
          <a:prstGeom prst="roundRect">
            <a:avLst>
              <a:gd name="adj" fmla="val 18750"/>
            </a:avLst>
          </a:prstGeom>
          <a:solidFill>
            <a:srgbClr val="1F7A8C"/>
          </a:solidFill>
          <a:ln w="12700">
            <a:solidFill>
              <a:srgbClr val="FFFFFF"/>
            </a:solidFill>
            <a:prstDash val="solid"/>
          </a:ln>
        </p:spPr>
      </p:sp>
      <p:sp>
        <p:nvSpPr>
          <p:cNvPr id="33" name="Shape 31"/>
          <p:cNvSpPr/>
          <p:nvPr/>
        </p:nvSpPr>
        <p:spPr>
          <a:xfrm>
            <a:off x="457200" y="2761488"/>
            <a:ext cx="7589520" cy="512064"/>
          </a:xfrm>
          <a:prstGeom prst="rect">
            <a:avLst/>
          </a:prstGeom>
          <a:solidFill>
            <a:srgbClr val="FFFFFF"/>
          </a:solidFill>
          <a:ln w="6350">
            <a:solidFill>
              <a:srgbClr val="D9DEE2"/>
            </a:solidFill>
            <a:prstDash val="solid"/>
          </a:ln>
        </p:spPr>
      </p:sp>
      <p:sp>
        <p:nvSpPr>
          <p:cNvPr id="34" name="Text 32"/>
          <p:cNvSpPr txBox="1"/>
          <p:nvPr/>
        </p:nvSpPr>
        <p:spPr>
          <a:xfrm>
            <a:off x="548640" y="2761488"/>
            <a:ext cx="2788920" cy="512064"/>
          </a:xfrm>
          <a:prstGeom prst="rect">
            <a:avLst/>
          </a:prstGeom>
          <a:noFill/>
          <a:ln/>
        </p:spPr>
        <p:txBody>
          <a:bodyPr wrap="square" lIns="0" tIns="0" rIns="0" bIns="0" rtlCol="0" anchor="ctr"/>
          <a:lstStyle/>
          <a:p>
            <a:pPr indent="0" marL="0">
              <a:buNone/>
            </a:pPr>
            <a:r>
              <a:rPr lang="en-US" sz="1150" dirty="0">
                <a:solidFill>
                  <a:srgbClr val="1B1F23"/>
                </a:solidFill>
              </a:rPr>
              <a:t>Document search and screening</a:t>
            </a:r>
            <a:endParaRPr lang="en-US" sz="1150" dirty="0"/>
          </a:p>
        </p:txBody>
      </p:sp>
      <p:sp>
        <p:nvSpPr>
          <p:cNvPr id="35" name="Shape 33"/>
          <p:cNvSpPr/>
          <p:nvPr/>
        </p:nvSpPr>
        <p:spPr>
          <a:xfrm>
            <a:off x="4160520" y="2761488"/>
            <a:ext cx="0" cy="512064"/>
          </a:xfrm>
          <a:prstGeom prst="line">
            <a:avLst/>
          </a:prstGeom>
          <a:noFill/>
          <a:ln w="6350">
            <a:solidFill>
              <a:srgbClr val="D9DEE2"/>
            </a:solidFill>
            <a:prstDash val="solid"/>
          </a:ln>
        </p:spPr>
      </p:sp>
      <p:sp>
        <p:nvSpPr>
          <p:cNvPr id="36" name="Shape 34"/>
          <p:cNvSpPr/>
          <p:nvPr/>
        </p:nvSpPr>
        <p:spPr>
          <a:xfrm>
            <a:off x="4937760" y="2761488"/>
            <a:ext cx="0" cy="512064"/>
          </a:xfrm>
          <a:prstGeom prst="line">
            <a:avLst/>
          </a:prstGeom>
          <a:noFill/>
          <a:ln w="6350">
            <a:solidFill>
              <a:srgbClr val="D9DEE2"/>
            </a:solidFill>
            <a:prstDash val="solid"/>
          </a:ln>
        </p:spPr>
      </p:sp>
      <p:sp>
        <p:nvSpPr>
          <p:cNvPr id="37" name="Shape 35"/>
          <p:cNvSpPr/>
          <p:nvPr/>
        </p:nvSpPr>
        <p:spPr>
          <a:xfrm>
            <a:off x="5715000" y="2761488"/>
            <a:ext cx="0" cy="512064"/>
          </a:xfrm>
          <a:prstGeom prst="line">
            <a:avLst/>
          </a:prstGeom>
          <a:noFill/>
          <a:ln w="6350">
            <a:solidFill>
              <a:srgbClr val="D9DEE2"/>
            </a:solidFill>
            <a:prstDash val="solid"/>
          </a:ln>
        </p:spPr>
      </p:sp>
      <p:sp>
        <p:nvSpPr>
          <p:cNvPr id="38" name="Shape 36"/>
          <p:cNvSpPr/>
          <p:nvPr/>
        </p:nvSpPr>
        <p:spPr>
          <a:xfrm>
            <a:off x="6492240" y="2761488"/>
            <a:ext cx="0" cy="512064"/>
          </a:xfrm>
          <a:prstGeom prst="line">
            <a:avLst/>
          </a:prstGeom>
          <a:noFill/>
          <a:ln w="6350">
            <a:solidFill>
              <a:srgbClr val="D9DEE2"/>
            </a:solidFill>
            <a:prstDash val="solid"/>
          </a:ln>
        </p:spPr>
      </p:sp>
      <p:sp>
        <p:nvSpPr>
          <p:cNvPr id="39" name="Shape 37"/>
          <p:cNvSpPr/>
          <p:nvPr/>
        </p:nvSpPr>
        <p:spPr>
          <a:xfrm>
            <a:off x="7269480" y="2761488"/>
            <a:ext cx="0" cy="512064"/>
          </a:xfrm>
          <a:prstGeom prst="line">
            <a:avLst/>
          </a:prstGeom>
          <a:noFill/>
          <a:ln w="6350">
            <a:solidFill>
              <a:srgbClr val="D9DEE2"/>
            </a:solidFill>
            <a:prstDash val="solid"/>
          </a:ln>
        </p:spPr>
      </p:sp>
      <p:sp>
        <p:nvSpPr>
          <p:cNvPr id="40" name="Shape 38"/>
          <p:cNvSpPr/>
          <p:nvPr/>
        </p:nvSpPr>
        <p:spPr>
          <a:xfrm>
            <a:off x="4215384" y="2871216"/>
            <a:ext cx="1444752" cy="292608"/>
          </a:xfrm>
          <a:prstGeom prst="roundRect">
            <a:avLst>
              <a:gd name="adj" fmla="val 18750"/>
            </a:avLst>
          </a:prstGeom>
          <a:solidFill>
            <a:srgbClr val="1F7A8C"/>
          </a:solidFill>
          <a:ln w="12700">
            <a:solidFill>
              <a:srgbClr val="FFFFFF"/>
            </a:solidFill>
            <a:prstDash val="solid"/>
          </a:ln>
        </p:spPr>
      </p:sp>
      <p:sp>
        <p:nvSpPr>
          <p:cNvPr id="41" name="Shape 39"/>
          <p:cNvSpPr/>
          <p:nvPr/>
        </p:nvSpPr>
        <p:spPr>
          <a:xfrm>
            <a:off x="457200" y="3273552"/>
            <a:ext cx="7589520" cy="512064"/>
          </a:xfrm>
          <a:prstGeom prst="rect">
            <a:avLst/>
          </a:prstGeom>
          <a:solidFill>
            <a:srgbClr val="F4F8F8"/>
          </a:solidFill>
          <a:ln w="6350">
            <a:solidFill>
              <a:srgbClr val="D9DEE2"/>
            </a:solidFill>
            <a:prstDash val="solid"/>
          </a:ln>
        </p:spPr>
      </p:sp>
      <p:sp>
        <p:nvSpPr>
          <p:cNvPr id="42" name="Text 40"/>
          <p:cNvSpPr txBox="1"/>
          <p:nvPr/>
        </p:nvSpPr>
        <p:spPr>
          <a:xfrm>
            <a:off x="548640" y="3273552"/>
            <a:ext cx="2788920" cy="512064"/>
          </a:xfrm>
          <a:prstGeom prst="rect">
            <a:avLst/>
          </a:prstGeom>
          <a:noFill/>
          <a:ln/>
        </p:spPr>
        <p:txBody>
          <a:bodyPr wrap="square" lIns="0" tIns="0" rIns="0" bIns="0" rtlCol="0" anchor="ctr"/>
          <a:lstStyle/>
          <a:p>
            <a:pPr indent="0" marL="0">
              <a:buNone/>
            </a:pPr>
            <a:r>
              <a:rPr lang="en-US" sz="1150" dirty="0">
                <a:solidFill>
                  <a:srgbClr val="1B1F23"/>
                </a:solidFill>
              </a:rPr>
              <a:t>Familiarisation and coding (P1–2)</a:t>
            </a:r>
            <a:endParaRPr lang="en-US" sz="1150" dirty="0"/>
          </a:p>
        </p:txBody>
      </p:sp>
      <p:sp>
        <p:nvSpPr>
          <p:cNvPr id="43" name="Shape 41"/>
          <p:cNvSpPr/>
          <p:nvPr/>
        </p:nvSpPr>
        <p:spPr>
          <a:xfrm>
            <a:off x="4160520" y="3273552"/>
            <a:ext cx="0" cy="512064"/>
          </a:xfrm>
          <a:prstGeom prst="line">
            <a:avLst/>
          </a:prstGeom>
          <a:noFill/>
          <a:ln w="6350">
            <a:solidFill>
              <a:srgbClr val="D9DEE2"/>
            </a:solidFill>
            <a:prstDash val="solid"/>
          </a:ln>
        </p:spPr>
      </p:sp>
      <p:sp>
        <p:nvSpPr>
          <p:cNvPr id="44" name="Shape 42"/>
          <p:cNvSpPr/>
          <p:nvPr/>
        </p:nvSpPr>
        <p:spPr>
          <a:xfrm>
            <a:off x="4937760" y="3273552"/>
            <a:ext cx="0" cy="512064"/>
          </a:xfrm>
          <a:prstGeom prst="line">
            <a:avLst/>
          </a:prstGeom>
          <a:noFill/>
          <a:ln w="6350">
            <a:solidFill>
              <a:srgbClr val="D9DEE2"/>
            </a:solidFill>
            <a:prstDash val="solid"/>
          </a:ln>
        </p:spPr>
      </p:sp>
      <p:sp>
        <p:nvSpPr>
          <p:cNvPr id="45" name="Shape 43"/>
          <p:cNvSpPr/>
          <p:nvPr/>
        </p:nvSpPr>
        <p:spPr>
          <a:xfrm>
            <a:off x="5715000" y="3273552"/>
            <a:ext cx="0" cy="512064"/>
          </a:xfrm>
          <a:prstGeom prst="line">
            <a:avLst/>
          </a:prstGeom>
          <a:noFill/>
          <a:ln w="6350">
            <a:solidFill>
              <a:srgbClr val="D9DEE2"/>
            </a:solidFill>
            <a:prstDash val="solid"/>
          </a:ln>
        </p:spPr>
      </p:sp>
      <p:sp>
        <p:nvSpPr>
          <p:cNvPr id="46" name="Shape 44"/>
          <p:cNvSpPr/>
          <p:nvPr/>
        </p:nvSpPr>
        <p:spPr>
          <a:xfrm>
            <a:off x="6492240" y="3273552"/>
            <a:ext cx="0" cy="512064"/>
          </a:xfrm>
          <a:prstGeom prst="line">
            <a:avLst/>
          </a:prstGeom>
          <a:noFill/>
          <a:ln w="6350">
            <a:solidFill>
              <a:srgbClr val="D9DEE2"/>
            </a:solidFill>
            <a:prstDash val="solid"/>
          </a:ln>
        </p:spPr>
      </p:sp>
      <p:sp>
        <p:nvSpPr>
          <p:cNvPr id="47" name="Shape 45"/>
          <p:cNvSpPr/>
          <p:nvPr/>
        </p:nvSpPr>
        <p:spPr>
          <a:xfrm>
            <a:off x="7269480" y="3273552"/>
            <a:ext cx="0" cy="512064"/>
          </a:xfrm>
          <a:prstGeom prst="line">
            <a:avLst/>
          </a:prstGeom>
          <a:noFill/>
          <a:ln w="6350">
            <a:solidFill>
              <a:srgbClr val="D9DEE2"/>
            </a:solidFill>
            <a:prstDash val="solid"/>
          </a:ln>
        </p:spPr>
      </p:sp>
      <p:sp>
        <p:nvSpPr>
          <p:cNvPr id="48" name="Shape 46"/>
          <p:cNvSpPr/>
          <p:nvPr/>
        </p:nvSpPr>
        <p:spPr>
          <a:xfrm>
            <a:off x="4992624" y="3383280"/>
            <a:ext cx="1444752" cy="292608"/>
          </a:xfrm>
          <a:prstGeom prst="roundRect">
            <a:avLst>
              <a:gd name="adj" fmla="val 18750"/>
            </a:avLst>
          </a:prstGeom>
          <a:solidFill>
            <a:srgbClr val="2A9D8F"/>
          </a:solidFill>
          <a:ln w="12700">
            <a:solidFill>
              <a:srgbClr val="FFFFFF"/>
            </a:solidFill>
            <a:prstDash val="solid"/>
          </a:ln>
        </p:spPr>
      </p:sp>
      <p:sp>
        <p:nvSpPr>
          <p:cNvPr id="49" name="Shape 47"/>
          <p:cNvSpPr/>
          <p:nvPr/>
        </p:nvSpPr>
        <p:spPr>
          <a:xfrm>
            <a:off x="457200" y="3785616"/>
            <a:ext cx="7589520" cy="512064"/>
          </a:xfrm>
          <a:prstGeom prst="rect">
            <a:avLst/>
          </a:prstGeom>
          <a:solidFill>
            <a:srgbClr val="FFFFFF"/>
          </a:solidFill>
          <a:ln w="6350">
            <a:solidFill>
              <a:srgbClr val="D9DEE2"/>
            </a:solidFill>
            <a:prstDash val="solid"/>
          </a:ln>
        </p:spPr>
      </p:sp>
      <p:sp>
        <p:nvSpPr>
          <p:cNvPr id="50" name="Text 48"/>
          <p:cNvSpPr txBox="1"/>
          <p:nvPr/>
        </p:nvSpPr>
        <p:spPr>
          <a:xfrm>
            <a:off x="548640" y="3785616"/>
            <a:ext cx="2788920" cy="512064"/>
          </a:xfrm>
          <a:prstGeom prst="rect">
            <a:avLst/>
          </a:prstGeom>
          <a:noFill/>
          <a:ln/>
        </p:spPr>
        <p:txBody>
          <a:bodyPr wrap="square" lIns="0" tIns="0" rIns="0" bIns="0" rtlCol="0" anchor="ctr"/>
          <a:lstStyle/>
          <a:p>
            <a:pPr indent="0" marL="0">
              <a:buNone/>
            </a:pPr>
            <a:r>
              <a:rPr lang="en-US" sz="1150" dirty="0">
                <a:solidFill>
                  <a:srgbClr val="1B1F23"/>
                </a:solidFill>
              </a:rPr>
              <a:t>Theme development and review (P3–4)</a:t>
            </a:r>
            <a:endParaRPr lang="en-US" sz="1150" dirty="0"/>
          </a:p>
        </p:txBody>
      </p:sp>
      <p:sp>
        <p:nvSpPr>
          <p:cNvPr id="51" name="Shape 49"/>
          <p:cNvSpPr/>
          <p:nvPr/>
        </p:nvSpPr>
        <p:spPr>
          <a:xfrm>
            <a:off x="4160520" y="3785616"/>
            <a:ext cx="0" cy="512064"/>
          </a:xfrm>
          <a:prstGeom prst="line">
            <a:avLst/>
          </a:prstGeom>
          <a:noFill/>
          <a:ln w="6350">
            <a:solidFill>
              <a:srgbClr val="D9DEE2"/>
            </a:solidFill>
            <a:prstDash val="solid"/>
          </a:ln>
        </p:spPr>
      </p:sp>
      <p:sp>
        <p:nvSpPr>
          <p:cNvPr id="52" name="Shape 50"/>
          <p:cNvSpPr/>
          <p:nvPr/>
        </p:nvSpPr>
        <p:spPr>
          <a:xfrm>
            <a:off x="4937760" y="3785616"/>
            <a:ext cx="0" cy="512064"/>
          </a:xfrm>
          <a:prstGeom prst="line">
            <a:avLst/>
          </a:prstGeom>
          <a:noFill/>
          <a:ln w="6350">
            <a:solidFill>
              <a:srgbClr val="D9DEE2"/>
            </a:solidFill>
            <a:prstDash val="solid"/>
          </a:ln>
        </p:spPr>
      </p:sp>
      <p:sp>
        <p:nvSpPr>
          <p:cNvPr id="53" name="Shape 51"/>
          <p:cNvSpPr/>
          <p:nvPr/>
        </p:nvSpPr>
        <p:spPr>
          <a:xfrm>
            <a:off x="5715000" y="3785616"/>
            <a:ext cx="0" cy="512064"/>
          </a:xfrm>
          <a:prstGeom prst="line">
            <a:avLst/>
          </a:prstGeom>
          <a:noFill/>
          <a:ln w="6350">
            <a:solidFill>
              <a:srgbClr val="D9DEE2"/>
            </a:solidFill>
            <a:prstDash val="solid"/>
          </a:ln>
        </p:spPr>
      </p:sp>
      <p:sp>
        <p:nvSpPr>
          <p:cNvPr id="54" name="Shape 52"/>
          <p:cNvSpPr/>
          <p:nvPr/>
        </p:nvSpPr>
        <p:spPr>
          <a:xfrm>
            <a:off x="6492240" y="3785616"/>
            <a:ext cx="0" cy="512064"/>
          </a:xfrm>
          <a:prstGeom prst="line">
            <a:avLst/>
          </a:prstGeom>
          <a:noFill/>
          <a:ln w="6350">
            <a:solidFill>
              <a:srgbClr val="D9DEE2"/>
            </a:solidFill>
            <a:prstDash val="solid"/>
          </a:ln>
        </p:spPr>
      </p:sp>
      <p:sp>
        <p:nvSpPr>
          <p:cNvPr id="55" name="Shape 53"/>
          <p:cNvSpPr/>
          <p:nvPr/>
        </p:nvSpPr>
        <p:spPr>
          <a:xfrm>
            <a:off x="7269480" y="3785616"/>
            <a:ext cx="0" cy="512064"/>
          </a:xfrm>
          <a:prstGeom prst="line">
            <a:avLst/>
          </a:prstGeom>
          <a:noFill/>
          <a:ln w="6350">
            <a:solidFill>
              <a:srgbClr val="D9DEE2"/>
            </a:solidFill>
            <a:prstDash val="solid"/>
          </a:ln>
        </p:spPr>
      </p:sp>
      <p:sp>
        <p:nvSpPr>
          <p:cNvPr id="56" name="Shape 54"/>
          <p:cNvSpPr/>
          <p:nvPr/>
        </p:nvSpPr>
        <p:spPr>
          <a:xfrm>
            <a:off x="5769864" y="3895344"/>
            <a:ext cx="1444752" cy="292608"/>
          </a:xfrm>
          <a:prstGeom prst="roundRect">
            <a:avLst>
              <a:gd name="adj" fmla="val 18750"/>
            </a:avLst>
          </a:prstGeom>
          <a:solidFill>
            <a:srgbClr val="2A9D8F"/>
          </a:solidFill>
          <a:ln w="12700">
            <a:solidFill>
              <a:srgbClr val="FFFFFF"/>
            </a:solidFill>
            <a:prstDash val="solid"/>
          </a:ln>
        </p:spPr>
      </p:sp>
      <p:sp>
        <p:nvSpPr>
          <p:cNvPr id="57" name="Shape 55"/>
          <p:cNvSpPr/>
          <p:nvPr/>
        </p:nvSpPr>
        <p:spPr>
          <a:xfrm>
            <a:off x="457200" y="4297680"/>
            <a:ext cx="7589520" cy="512064"/>
          </a:xfrm>
          <a:prstGeom prst="rect">
            <a:avLst/>
          </a:prstGeom>
          <a:solidFill>
            <a:srgbClr val="F4F8F8"/>
          </a:solidFill>
          <a:ln w="6350">
            <a:solidFill>
              <a:srgbClr val="D9DEE2"/>
            </a:solidFill>
            <a:prstDash val="solid"/>
          </a:ln>
        </p:spPr>
      </p:sp>
      <p:sp>
        <p:nvSpPr>
          <p:cNvPr id="58" name="Text 56"/>
          <p:cNvSpPr txBox="1"/>
          <p:nvPr/>
        </p:nvSpPr>
        <p:spPr>
          <a:xfrm>
            <a:off x="548640" y="4297680"/>
            <a:ext cx="2788920" cy="512064"/>
          </a:xfrm>
          <a:prstGeom prst="rect">
            <a:avLst/>
          </a:prstGeom>
          <a:noFill/>
          <a:ln/>
        </p:spPr>
        <p:txBody>
          <a:bodyPr wrap="square" lIns="0" tIns="0" rIns="0" bIns="0" rtlCol="0" anchor="ctr"/>
          <a:lstStyle/>
          <a:p>
            <a:pPr indent="0" marL="0">
              <a:buNone/>
            </a:pPr>
            <a:r>
              <a:rPr lang="en-US" sz="1150" dirty="0">
                <a:solidFill>
                  <a:srgbClr val="1B1F23"/>
                </a:solidFill>
              </a:rPr>
              <a:t>Define themes, cross-city synthesis (P5)</a:t>
            </a:r>
            <a:endParaRPr lang="en-US" sz="1150" dirty="0"/>
          </a:p>
        </p:txBody>
      </p:sp>
      <p:sp>
        <p:nvSpPr>
          <p:cNvPr id="59" name="Shape 57"/>
          <p:cNvSpPr/>
          <p:nvPr/>
        </p:nvSpPr>
        <p:spPr>
          <a:xfrm>
            <a:off x="4160520" y="4297680"/>
            <a:ext cx="0" cy="512064"/>
          </a:xfrm>
          <a:prstGeom prst="line">
            <a:avLst/>
          </a:prstGeom>
          <a:noFill/>
          <a:ln w="6350">
            <a:solidFill>
              <a:srgbClr val="D9DEE2"/>
            </a:solidFill>
            <a:prstDash val="solid"/>
          </a:ln>
        </p:spPr>
      </p:sp>
      <p:sp>
        <p:nvSpPr>
          <p:cNvPr id="60" name="Shape 58"/>
          <p:cNvSpPr/>
          <p:nvPr/>
        </p:nvSpPr>
        <p:spPr>
          <a:xfrm>
            <a:off x="4937760" y="4297680"/>
            <a:ext cx="0" cy="512064"/>
          </a:xfrm>
          <a:prstGeom prst="line">
            <a:avLst/>
          </a:prstGeom>
          <a:noFill/>
          <a:ln w="6350">
            <a:solidFill>
              <a:srgbClr val="D9DEE2"/>
            </a:solidFill>
            <a:prstDash val="solid"/>
          </a:ln>
        </p:spPr>
      </p:sp>
      <p:sp>
        <p:nvSpPr>
          <p:cNvPr id="61" name="Shape 59"/>
          <p:cNvSpPr/>
          <p:nvPr/>
        </p:nvSpPr>
        <p:spPr>
          <a:xfrm>
            <a:off x="5715000" y="4297680"/>
            <a:ext cx="0" cy="512064"/>
          </a:xfrm>
          <a:prstGeom prst="line">
            <a:avLst/>
          </a:prstGeom>
          <a:noFill/>
          <a:ln w="6350">
            <a:solidFill>
              <a:srgbClr val="D9DEE2"/>
            </a:solidFill>
            <a:prstDash val="solid"/>
          </a:ln>
        </p:spPr>
      </p:sp>
      <p:sp>
        <p:nvSpPr>
          <p:cNvPr id="62" name="Shape 60"/>
          <p:cNvSpPr/>
          <p:nvPr/>
        </p:nvSpPr>
        <p:spPr>
          <a:xfrm>
            <a:off x="6492240" y="4297680"/>
            <a:ext cx="0" cy="512064"/>
          </a:xfrm>
          <a:prstGeom prst="line">
            <a:avLst/>
          </a:prstGeom>
          <a:noFill/>
          <a:ln w="6350">
            <a:solidFill>
              <a:srgbClr val="D9DEE2"/>
            </a:solidFill>
            <a:prstDash val="solid"/>
          </a:ln>
        </p:spPr>
      </p:sp>
      <p:sp>
        <p:nvSpPr>
          <p:cNvPr id="63" name="Shape 61"/>
          <p:cNvSpPr/>
          <p:nvPr/>
        </p:nvSpPr>
        <p:spPr>
          <a:xfrm>
            <a:off x="7269480" y="4297680"/>
            <a:ext cx="0" cy="512064"/>
          </a:xfrm>
          <a:prstGeom prst="line">
            <a:avLst/>
          </a:prstGeom>
          <a:noFill/>
          <a:ln w="6350">
            <a:solidFill>
              <a:srgbClr val="D9DEE2"/>
            </a:solidFill>
            <a:prstDash val="solid"/>
          </a:ln>
        </p:spPr>
      </p:sp>
      <p:sp>
        <p:nvSpPr>
          <p:cNvPr id="64" name="Shape 62"/>
          <p:cNvSpPr/>
          <p:nvPr/>
        </p:nvSpPr>
        <p:spPr>
          <a:xfrm>
            <a:off x="6547104" y="4407408"/>
            <a:ext cx="1444752" cy="292608"/>
          </a:xfrm>
          <a:prstGeom prst="roundRect">
            <a:avLst>
              <a:gd name="adj" fmla="val 18750"/>
            </a:avLst>
          </a:prstGeom>
          <a:solidFill>
            <a:srgbClr val="2A9D8F"/>
          </a:solidFill>
          <a:ln w="12700">
            <a:solidFill>
              <a:srgbClr val="FFFFFF"/>
            </a:solidFill>
            <a:prstDash val="solid"/>
          </a:ln>
        </p:spPr>
      </p:sp>
      <p:sp>
        <p:nvSpPr>
          <p:cNvPr id="65" name="Shape 63"/>
          <p:cNvSpPr/>
          <p:nvPr/>
        </p:nvSpPr>
        <p:spPr>
          <a:xfrm>
            <a:off x="457200" y="4809744"/>
            <a:ext cx="7589520" cy="512064"/>
          </a:xfrm>
          <a:prstGeom prst="rect">
            <a:avLst/>
          </a:prstGeom>
          <a:solidFill>
            <a:srgbClr val="FFFFFF"/>
          </a:solidFill>
          <a:ln w="6350">
            <a:solidFill>
              <a:srgbClr val="D9DEE2"/>
            </a:solidFill>
            <a:prstDash val="solid"/>
          </a:ln>
        </p:spPr>
      </p:sp>
      <p:sp>
        <p:nvSpPr>
          <p:cNvPr id="66" name="Text 64"/>
          <p:cNvSpPr txBox="1"/>
          <p:nvPr/>
        </p:nvSpPr>
        <p:spPr>
          <a:xfrm>
            <a:off x="548640" y="4809744"/>
            <a:ext cx="2788920" cy="512064"/>
          </a:xfrm>
          <a:prstGeom prst="rect">
            <a:avLst/>
          </a:prstGeom>
          <a:noFill/>
          <a:ln/>
        </p:spPr>
        <p:txBody>
          <a:bodyPr wrap="square" lIns="0" tIns="0" rIns="0" bIns="0" rtlCol="0" anchor="ctr"/>
          <a:lstStyle/>
          <a:p>
            <a:pPr indent="0" marL="0">
              <a:buNone/>
            </a:pPr>
            <a:r>
              <a:rPr lang="en-US" sz="1150" dirty="0">
                <a:solidFill>
                  <a:srgbClr val="1B1F23"/>
                </a:solidFill>
              </a:rPr>
              <a:t>Write-up, referencing, recording</a:t>
            </a:r>
            <a:endParaRPr lang="en-US" sz="1150" dirty="0"/>
          </a:p>
        </p:txBody>
      </p:sp>
      <p:sp>
        <p:nvSpPr>
          <p:cNvPr id="67" name="Shape 65"/>
          <p:cNvSpPr/>
          <p:nvPr/>
        </p:nvSpPr>
        <p:spPr>
          <a:xfrm>
            <a:off x="4160520" y="4809744"/>
            <a:ext cx="0" cy="512064"/>
          </a:xfrm>
          <a:prstGeom prst="line">
            <a:avLst/>
          </a:prstGeom>
          <a:noFill/>
          <a:ln w="6350">
            <a:solidFill>
              <a:srgbClr val="D9DEE2"/>
            </a:solidFill>
            <a:prstDash val="solid"/>
          </a:ln>
        </p:spPr>
      </p:sp>
      <p:sp>
        <p:nvSpPr>
          <p:cNvPr id="68" name="Shape 66"/>
          <p:cNvSpPr/>
          <p:nvPr/>
        </p:nvSpPr>
        <p:spPr>
          <a:xfrm>
            <a:off x="4937760" y="4809744"/>
            <a:ext cx="0" cy="512064"/>
          </a:xfrm>
          <a:prstGeom prst="line">
            <a:avLst/>
          </a:prstGeom>
          <a:noFill/>
          <a:ln w="6350">
            <a:solidFill>
              <a:srgbClr val="D9DEE2"/>
            </a:solidFill>
            <a:prstDash val="solid"/>
          </a:ln>
        </p:spPr>
      </p:sp>
      <p:sp>
        <p:nvSpPr>
          <p:cNvPr id="69" name="Shape 67"/>
          <p:cNvSpPr/>
          <p:nvPr/>
        </p:nvSpPr>
        <p:spPr>
          <a:xfrm>
            <a:off x="5715000" y="4809744"/>
            <a:ext cx="0" cy="512064"/>
          </a:xfrm>
          <a:prstGeom prst="line">
            <a:avLst/>
          </a:prstGeom>
          <a:noFill/>
          <a:ln w="6350">
            <a:solidFill>
              <a:srgbClr val="D9DEE2"/>
            </a:solidFill>
            <a:prstDash val="solid"/>
          </a:ln>
        </p:spPr>
      </p:sp>
      <p:sp>
        <p:nvSpPr>
          <p:cNvPr id="70" name="Shape 68"/>
          <p:cNvSpPr/>
          <p:nvPr/>
        </p:nvSpPr>
        <p:spPr>
          <a:xfrm>
            <a:off x="6492240" y="4809744"/>
            <a:ext cx="0" cy="512064"/>
          </a:xfrm>
          <a:prstGeom prst="line">
            <a:avLst/>
          </a:prstGeom>
          <a:noFill/>
          <a:ln w="6350">
            <a:solidFill>
              <a:srgbClr val="D9DEE2"/>
            </a:solidFill>
            <a:prstDash val="solid"/>
          </a:ln>
        </p:spPr>
      </p:sp>
      <p:sp>
        <p:nvSpPr>
          <p:cNvPr id="71" name="Shape 69"/>
          <p:cNvSpPr/>
          <p:nvPr/>
        </p:nvSpPr>
        <p:spPr>
          <a:xfrm>
            <a:off x="7269480" y="4809744"/>
            <a:ext cx="0" cy="512064"/>
          </a:xfrm>
          <a:prstGeom prst="line">
            <a:avLst/>
          </a:prstGeom>
          <a:noFill/>
          <a:ln w="6350">
            <a:solidFill>
              <a:srgbClr val="D9DEE2"/>
            </a:solidFill>
            <a:prstDash val="solid"/>
          </a:ln>
        </p:spPr>
      </p:sp>
      <p:sp>
        <p:nvSpPr>
          <p:cNvPr id="72" name="Shape 70"/>
          <p:cNvSpPr/>
          <p:nvPr/>
        </p:nvSpPr>
        <p:spPr>
          <a:xfrm>
            <a:off x="6547104" y="4919472"/>
            <a:ext cx="1444752" cy="292608"/>
          </a:xfrm>
          <a:prstGeom prst="roundRect">
            <a:avLst>
              <a:gd name="adj" fmla="val 18750"/>
            </a:avLst>
          </a:prstGeom>
          <a:solidFill>
            <a:srgbClr val="E8A33D"/>
          </a:solidFill>
          <a:ln w="12700">
            <a:solidFill>
              <a:srgbClr val="FFFFFF"/>
            </a:solidFill>
            <a:prstDash val="solid"/>
          </a:ln>
        </p:spPr>
      </p:sp>
      <p:sp>
        <p:nvSpPr>
          <p:cNvPr id="73" name="Text 71"/>
          <p:cNvSpPr txBox="1"/>
          <p:nvPr/>
        </p:nvSpPr>
        <p:spPr>
          <a:xfrm>
            <a:off x="457200" y="5458968"/>
            <a:ext cx="7589520" cy="548640"/>
          </a:xfrm>
          <a:prstGeom prst="rect">
            <a:avLst/>
          </a:prstGeom>
          <a:noFill/>
          <a:ln/>
        </p:spPr>
        <p:txBody>
          <a:bodyPr wrap="square" lIns="0" tIns="0" rIns="0" bIns="0" rtlCol="0" anchor="t"/>
          <a:lstStyle/>
          <a:p>
            <a:pPr indent="0" marL="0">
              <a:buNone/>
            </a:pPr>
            <a:r>
              <a:rPr lang="en-US" sz="1150" b="1" dirty="0">
                <a:solidFill>
                  <a:srgbClr val="1F7A8C"/>
                </a:solidFill>
              </a:rPr>
              <a:t>Milestones: </a:t>
            </a:r>
            <a:pPr indent="0" marL="0">
              <a:buNone/>
            </a:pPr>
            <a:r>
              <a:rPr lang="en-US" sz="1150" dirty="0">
                <a:solidFill>
                  <a:srgbClr val="1B1F23"/>
                </a:solidFill>
              </a:rPr>
              <a:t>Wk 2 final source set confirmed  •  Wk 4 coding complete, initial theme map  •  Wk 6 submission and presentation recorded</a:t>
            </a:r>
            <a:endParaRPr lang="en-US" sz="1150" dirty="0"/>
          </a:p>
        </p:txBody>
      </p:sp>
      <p:sp>
        <p:nvSpPr>
          <p:cNvPr id="74" name="Shape 72"/>
          <p:cNvSpPr/>
          <p:nvPr/>
        </p:nvSpPr>
        <p:spPr>
          <a:xfrm>
            <a:off x="8321040" y="1325880"/>
            <a:ext cx="3410712" cy="4617720"/>
          </a:xfrm>
          <a:prstGeom prst="rect">
            <a:avLst/>
          </a:prstGeom>
          <a:solidFill>
            <a:srgbClr val="E6F2F1"/>
          </a:solidFill>
          <a:ln w="12700">
            <a:solidFill>
              <a:srgbClr val="E6F2F1"/>
            </a:solidFill>
            <a:prstDash val="solid"/>
          </a:ln>
        </p:spPr>
      </p:sp>
      <p:sp>
        <p:nvSpPr>
          <p:cNvPr id="75" name="Text 73"/>
          <p:cNvSpPr txBox="1"/>
          <p:nvPr/>
        </p:nvSpPr>
        <p:spPr>
          <a:xfrm>
            <a:off x="8503920" y="1417320"/>
            <a:ext cx="3063240" cy="365760"/>
          </a:xfrm>
          <a:prstGeom prst="rect">
            <a:avLst/>
          </a:prstGeom>
          <a:noFill/>
          <a:ln/>
        </p:spPr>
        <p:txBody>
          <a:bodyPr wrap="square" lIns="0" tIns="0" rIns="0" bIns="0" rtlCol="0" anchor="ctr"/>
          <a:lstStyle/>
          <a:p>
            <a:pPr indent="0" marL="0">
              <a:buNone/>
            </a:pPr>
            <a:r>
              <a:rPr lang="en-US" sz="1600" b="1" dirty="0">
                <a:solidFill>
                  <a:srgbClr val="0F2E3D"/>
                </a:solidFill>
                <a:latin typeface="Cambria" pitchFamily="34" charset="0"/>
                <a:ea typeface="Cambria" pitchFamily="34" charset="-122"/>
                <a:cs typeface="Cambria" pitchFamily="34" charset="-120"/>
              </a:rPr>
              <a:t>Expected contribution</a:t>
            </a:r>
            <a:endParaRPr lang="en-US" sz="1600" dirty="0"/>
          </a:p>
        </p:txBody>
      </p:sp>
      <p:sp>
        <p:nvSpPr>
          <p:cNvPr id="76" name="Text 74"/>
          <p:cNvSpPr txBox="1"/>
          <p:nvPr/>
        </p:nvSpPr>
        <p:spPr>
          <a:xfrm>
            <a:off x="8503920" y="1828800"/>
            <a:ext cx="3063240" cy="4023360"/>
          </a:xfrm>
          <a:prstGeom prst="rect">
            <a:avLst/>
          </a:prstGeom>
          <a:noFill/>
          <a:ln/>
        </p:spPr>
        <p:txBody>
          <a:bodyPr wrap="square" lIns="0" tIns="0" rIns="0" bIns="0" rtlCol="0" anchor="t"/>
          <a:lstStyle/>
          <a:p>
            <a:pPr indent="0" marL="0">
              <a:spcAft>
                <a:spcPts val="800"/>
              </a:spcAft>
              <a:buNone/>
            </a:pPr>
            <a:r>
              <a:rPr lang="en-US" sz="1200" b="1" dirty="0">
                <a:solidFill>
                  <a:srgbClr val="1F7A8C"/>
                </a:solidFill>
              </a:rPr>
              <a:t>Theoretical: </a:t>
            </a:r>
            <a:pPr indent="0" marL="0">
              <a:spcAft>
                <a:spcPts val="800"/>
              </a:spcAft>
              <a:buNone/>
            </a:pPr>
            <a:r>
              <a:rPr lang="en-US" sz="1200" dirty="0">
                <a:solidFill>
                  <a:srgbClr val="1B1F23"/>
                </a:solidFill>
              </a:rPr>
              <a:t>an interpretive account linking air quality management to sustainable-development dimensions (UN, 2015).</a:t>
            </a:r>
            <a:endParaRPr lang="en-US" sz="1200" dirty="0"/>
          </a:p>
          <a:p>
            <a:pPr indent="0" marL="0">
              <a:spcAft>
                <a:spcPts val="800"/>
              </a:spcAft>
              <a:buNone/>
            </a:pPr>
            <a:r>
              <a:rPr lang="en-US" sz="1200" b="1" dirty="0">
                <a:solidFill>
                  <a:srgbClr val="1F7A8C"/>
                </a:solidFill>
              </a:rPr>
              <a:t>Practical: </a:t>
            </a:r>
            <a:pPr indent="0" marL="0">
              <a:spcAft>
                <a:spcPts val="800"/>
              </a:spcAft>
              <a:buNone/>
            </a:pPr>
            <a:r>
              <a:rPr lang="en-US" sz="1200" dirty="0">
                <a:solidFill>
                  <a:srgbClr val="1B1F23"/>
                </a:solidFill>
              </a:rPr>
              <a:t>cross-city lessons for authorities where measures have produced mixed outcomes (Liu et al., 2023; Williams et al., 2025).</a:t>
            </a:r>
            <a:endParaRPr lang="en-US" sz="1200" dirty="0"/>
          </a:p>
          <a:p>
            <a:pPr indent="0" marL="0">
              <a:spcAft>
                <a:spcPts val="800"/>
              </a:spcAft>
              <a:buNone/>
            </a:pPr>
            <a:r>
              <a:rPr lang="en-US" sz="1200" b="1" dirty="0">
                <a:solidFill>
                  <a:srgbClr val="1F7A8C"/>
                </a:solidFill>
              </a:rPr>
              <a:t>Equity: </a:t>
            </a:r>
            <a:pPr indent="0" marL="0">
              <a:spcAft>
                <a:spcPts val="800"/>
              </a:spcAft>
              <a:buNone/>
            </a:pPr>
            <a:r>
              <a:rPr lang="en-US" sz="1200" dirty="0">
                <a:solidFill>
                  <a:srgbClr val="1B1F23"/>
                </a:solidFill>
              </a:rPr>
              <a:t>evidence on how exposure inequalities (Gadenne et al., 2024) feature in policy framing.</a:t>
            </a:r>
            <a:endParaRPr lang="en-US" sz="1200" dirty="0"/>
          </a:p>
          <a:p>
            <a:pPr indent="0" marL="0">
              <a:spcAft>
                <a:spcPts val="800"/>
              </a:spcAft>
              <a:buNone/>
            </a:pPr>
            <a:r>
              <a:rPr lang="en-US" sz="1200" b="1" dirty="0">
                <a:solidFill>
                  <a:srgbClr val="1F7A8C"/>
                </a:solidFill>
              </a:rPr>
              <a:t>Methodological: </a:t>
            </a:r>
            <a:pPr indent="0" marL="0">
              <a:spcAft>
                <a:spcPts val="800"/>
              </a:spcAft>
              <a:buNone/>
            </a:pPr>
            <a:r>
              <a:rPr lang="en-US" sz="1200" dirty="0">
                <a:solidFill>
                  <a:srgbClr val="1B1F23"/>
                </a:solidFill>
              </a:rPr>
              <a:t>a transparent, replicable documentary thematic analysis (Braun &amp; Clarke, 2021).</a:t>
            </a:r>
            <a:endParaRPr lang="en-US" sz="1200" dirty="0"/>
          </a:p>
        </p:txBody>
      </p:sp>
      <p:sp>
        <p:nvSpPr>
          <p:cNvPr id="77" name="Text 75"/>
          <p:cNvSpPr txBox="1"/>
          <p:nvPr/>
        </p:nvSpPr>
        <p:spPr>
          <a:xfrm>
            <a:off x="457200" y="6108192"/>
            <a:ext cx="11274552" cy="320040"/>
          </a:xfrm>
          <a:prstGeom prst="rect">
            <a:avLst/>
          </a:prstGeom>
          <a:noFill/>
          <a:ln/>
        </p:spPr>
        <p:txBody>
          <a:bodyPr wrap="square" lIns="0" tIns="0" rIns="0" bIns="0" rtlCol="0" anchor="t"/>
          <a:lstStyle/>
          <a:p>
            <a:pPr indent="0" marL="0">
              <a:buNone/>
            </a:pPr>
            <a:r>
              <a:rPr lang="en-US" sz="1000" i="1" dirty="0">
                <a:solidFill>
                  <a:srgbClr val="5B6770"/>
                </a:solidFill>
                <a:latin typeface="Calibri" pitchFamily="34" charset="0"/>
                <a:ea typeface="Calibri" pitchFamily="34" charset="-122"/>
                <a:cs typeface="Calibri" pitchFamily="34" charset="-120"/>
              </a:rPr>
              <a:t>Source: Timeline designed by the author around Braun and Clarke's (2021) phases (P1–P6) and Saunders et al. (2023). Amber bar = final write-up stage.</a:t>
            </a:r>
            <a:endParaRPr lang="en-US" sz="10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11274552" cy="868680"/>
          </a:xfrm>
          <a:prstGeom prst="rect">
            <a:avLst/>
          </a:prstGeom>
          <a:noFill/>
          <a:ln/>
        </p:spPr>
        <p:txBody>
          <a:bodyPr wrap="square" lIns="0" tIns="0" rIns="0" bIns="0" rtlCol="0" anchor="ctr"/>
          <a:lstStyle/>
          <a:p>
            <a:pPr indent="0" marL="0">
              <a:buNone/>
            </a:pPr>
            <a:r>
              <a:rPr lang="en-US" sz="2600" b="1" dirty="0">
                <a:solidFill>
                  <a:srgbClr val="0F2E3D"/>
                </a:solidFill>
                <a:latin typeface="Cambria" pitchFamily="34" charset="0"/>
                <a:ea typeface="Cambria" pitchFamily="34" charset="-122"/>
                <a:cs typeface="Cambria" pitchFamily="34" charset="-120"/>
              </a:rPr>
              <a:t>Reference list (APA 7th edition)</a:t>
            </a:r>
            <a:endParaRPr lang="en-US" sz="2600" dirty="0"/>
          </a:p>
        </p:txBody>
      </p:sp>
      <p:sp>
        <p:nvSpPr>
          <p:cNvPr id="3" name="Text 1"/>
          <p:cNvSpPr txBox="1"/>
          <p:nvPr/>
        </p:nvSpPr>
        <p:spPr>
          <a:xfrm>
            <a:off x="457200" y="1280160"/>
            <a:ext cx="5486400" cy="4754880"/>
          </a:xfrm>
          <a:prstGeom prst="rect">
            <a:avLst/>
          </a:prstGeom>
          <a:noFill/>
          <a:ln/>
        </p:spPr>
        <p:txBody>
          <a:bodyPr wrap="square" lIns="0" tIns="0" rIns="0" bIns="0" rtlCol="0" anchor="t"/>
          <a:lstStyle/>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Braun, V., &amp; Clarke, V. (2021).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Thematic analysis: A practical guide</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SAGE Publications.</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Department for Environment, Food &amp; Rural Affairs. (2024).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Air pollution in the UK 2023: Compliance assessment summary</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UK-AIR. https://uk-air.defra.gov.uk/library/annualreport/assets/documents/annualreport/air_pollution_uk_2023_Compliance_Assessment_Summary_Issue1.pdf</a:t>
            </a:r>
            <a:endParaRPr lang="en-US" sz="1200" dirty="0"/>
          </a:p>
          <a:p>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Environmental Targets (Fine Particulate Matter) (England) Regulations 2023</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(SI 2023/96). https://www.legislation.gov.uk/uksi/2023/96/contents</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Gadenne, L., Leroutier, M., Toneto, R., &amp; Upton, B. (2024).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Exposure to air pollution in England, 2003–23</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[Report]. Institute for Fiscal Studies. https://ifs.org.uk/publications/exposure-air-pollution-england-2003-23</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Liu, B., Bryson, J. R., Sevinc, D., Cole, M., Elliott, R., Bartington, S., Bloss, W., &amp; Shi, Z. (2023). Assessing the impacts of Birmingham's Clean Air Zone on air quality: Estimates from a machine learning and synthetic control approach.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Environmental and Resource Economics, 86</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(1–2), 203–231. https://doi.org/10.1007/s10640-023-00794-2</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Office for Health Improvement and Disparities. (n.d.).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Air pollution: Applying All Our Health</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GOV.UK. https://www.gov.uk/government/publications/air-pollution-applying-all-our-health/air-pollution-applying-all-our-health</a:t>
            </a:r>
            <a:endParaRPr lang="en-US" sz="1200" dirty="0"/>
          </a:p>
        </p:txBody>
      </p:sp>
      <p:sp>
        <p:nvSpPr>
          <p:cNvPr id="4" name="Text 2"/>
          <p:cNvSpPr txBox="1"/>
          <p:nvPr/>
        </p:nvSpPr>
        <p:spPr>
          <a:xfrm>
            <a:off x="6263640" y="1280160"/>
            <a:ext cx="5468112" cy="4754880"/>
          </a:xfrm>
          <a:prstGeom prst="rect">
            <a:avLst/>
          </a:prstGeom>
          <a:noFill/>
          <a:ln/>
        </p:spPr>
        <p:txBody>
          <a:bodyPr wrap="square" lIns="0" tIns="0" rIns="0" bIns="0" rtlCol="0" anchor="t"/>
          <a:lstStyle/>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Saunders, M. N. K., Lewis, P., &amp; Thornhill, A. (2023).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Research methods for business students</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(9th ed.). Pearson.</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Transport for London. (2025).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London-wide ULEZ one year report</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https://content.tfl.gov.uk/london-wide-ulez-one-year-report.pdf</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United Nations. (2015).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Transforming our world: The 2030 Agenda for Sustainable Development</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(A/RES/70/1). https://sdgs.un.org/2030agenda</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Weber, J., &amp; Dacre, H. F. (2025). UK air quality showed clear improvement from 2015 to 2024 but breaching of targets remains very common.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Environmental Science: Atmospheres</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https://doi.org/10.1039/d5ea00055f</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Williams, G., Chan, H. K.-H., &amp; Ortiz, P. F. (2025). Exploring the effects of Sheffield's clean air zone on air quality and traffic volume.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Environmental Research Communications, 7</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(8). https://doi.org/10.1088/2515-7620/adf52f</a:t>
            </a:r>
            <a:endParaRPr lang="en-US" sz="1200" dirty="0"/>
          </a:p>
          <a:p>
            <a:pPr indent="0" marL="0">
              <a:spcAft>
                <a:spcPts val="500"/>
              </a:spcAft>
              <a:buNone/>
            </a:pPr>
            <a:r>
              <a:rPr lang="en-US" sz="1200" dirty="0">
                <a:solidFill>
                  <a:srgbClr val="1B1F23"/>
                </a:solidFill>
                <a:latin typeface="Calibri" pitchFamily="34" charset="0"/>
                <a:ea typeface="Calibri" pitchFamily="34" charset="-122"/>
                <a:cs typeface="Calibri" pitchFamily="34" charset="-120"/>
              </a:rPr>
              <a:t>World Health Organization. (2021). </a:t>
            </a:r>
            <a:pPr indent="0" marL="0">
              <a:spcAft>
                <a:spcPts val="500"/>
              </a:spcAft>
              <a:buNone/>
            </a:pPr>
            <a:r>
              <a:rPr lang="en-US" sz="1200" i="1" dirty="0">
                <a:solidFill>
                  <a:srgbClr val="1B1F23"/>
                </a:solidFill>
                <a:latin typeface="Calibri" pitchFamily="34" charset="0"/>
                <a:ea typeface="Calibri" pitchFamily="34" charset="-122"/>
                <a:cs typeface="Calibri" pitchFamily="34" charset="-120"/>
              </a:rPr>
              <a:t>WHO global air quality guidelines: Particulate matter (PM2.5 and PM10), ozone, nitrogen dioxide, sulfur dioxide and carbon monoxide</a:t>
            </a:r>
            <a:pPr indent="0" marL="0">
              <a:spcAft>
                <a:spcPts val="500"/>
              </a:spcAft>
              <a:buNone/>
            </a:pPr>
            <a:r>
              <a:rPr lang="en-US" sz="1200" dirty="0">
                <a:solidFill>
                  <a:srgbClr val="1B1F23"/>
                </a:solidFill>
                <a:latin typeface="Calibri" pitchFamily="34" charset="0"/>
                <a:ea typeface="Calibri" pitchFamily="34" charset="-122"/>
                <a:cs typeface="Calibri" pitchFamily="34" charset="-120"/>
              </a:rPr>
              <a:t>. https://www.who.int/publications/i/item/9789240034228</a:t>
            </a:r>
            <a:endParaRPr lang="en-US" sz="1200" dirty="0"/>
          </a:p>
        </p:txBody>
      </p:sp>
      <p:sp>
        <p:nvSpPr>
          <p:cNvPr id="25" name="Slide Number Placeholder 0"/>
          <p:cNvSpPr>
            <a:spLocks noGrp="1"/>
          </p:cNvSpPr>
          <p:nvPr>
            <p:ph type="sldNum" sz="quarter" idx="4294967295"/>
          </p:nvPr>
        </p:nvSpPr>
        <p:spPr>
          <a:xfrm>
            <a:off x="11247120" y="649224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77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ir Quality">
  <a:themeElements>
    <a:clrScheme name="Air Quality">
      <a:dk1>
        <a:srgbClr val="1B1F23"/>
      </a:dk1>
      <a:lt1>
        <a:srgbClr val="FFFFFF"/>
      </a:lt1>
      <a:dk2>
        <a:srgbClr val="0F2E3D"/>
      </a:dk2>
      <a:lt2>
        <a:srgbClr val="E6F2F1"/>
      </a:lt2>
      <a:accent1>
        <a:srgbClr val="1F7A8C"/>
      </a:accent1>
      <a:accent2>
        <a:srgbClr val="E8A33D"/>
      </a:accent2>
      <a:accent3>
        <a:srgbClr val="C8553D"/>
      </a:accent3>
      <a:accent4>
        <a:srgbClr val="7FB7C2"/>
      </a:accent4>
      <a:accent5>
        <a:srgbClr val="5B6770"/>
      </a:accent5>
      <a:accent6>
        <a:srgbClr val="2A9D8F"/>
      </a:accent6>
      <a:hlink>
        <a:srgbClr val="1F7A8C"/>
      </a:hlink>
      <a:folHlink>
        <a:srgbClr val="5B6770"/>
      </a:folHlink>
    </a:clrScheme>
    <a:fontScheme name="Air Qual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the Role of Air Quality Management in Advancing Sustainable Urban Development</dc:title>
  <dc:subject>PptxGenJS Presentation</dc:subject>
  <dc:creator>PptxGenJS</dc:creator>
  <cp:lastModifiedBy>PptxGenJS</cp:lastModifiedBy>
  <cp:revision>1</cp:revision>
  <dcterms:created xsi:type="dcterms:W3CDTF">2026-10-03T06:22:42Z</dcterms:created>
  <dcterms:modified xsi:type="dcterms:W3CDTF">2026-10-03T06:22:42Z</dcterms:modified>
</cp:coreProperties>
</file>