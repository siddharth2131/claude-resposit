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3"/>
                </a:solidFill>
                <a:latin typeface="Calibri"/>
              </a:defRPr>
            </a:pPr>
            <a:r>
              <a:rPr sz="1400" b="0" i="0" u="none" strike="noStrike">
                <a:solidFill>
                  <a:srgbClr val="1B1F23"/>
                </a:solidFill>
                <a:latin typeface="Calibri"/>
              </a:rPr>
              <a:t>Median days per year per site breaching the WHO 2021 short-term target</a:t>
            </a:r>
          </a:p>
        </c:rich>
      </c:tx>
      <c:layout/>
      <c:overlay val="0"/>
    </c:title>
    <c:autoTitleDeleted val="0"/>
    <c:plotArea>
      <c:layout/>
      <c:barChart>
        <c:barDir val="col"/>
        <c:grouping val="clustered"/>
        <c:varyColors val="0"/>
        <c:ser>
          <c:idx val="0"/>
          <c:order val="0"/>
          <c:tx>
            <c:strRef>
              <c:f>Sheet1!$B$1</c:f>
              <c:strCache>
                <c:ptCount val="1"/>
                <c:pt idx="0">
                  <c:v>2015–2016</c:v>
                </c:pt>
              </c:strCache>
            </c:strRef>
          </c:tx>
          <c:spPr>
            <a:solidFill>
              <a:srgbClr val="5B6770"/>
            </a:solidFill>
            <a:effectLst/>
          </c:spPr>
          <c:invertIfNegative val="0"/>
          <c:dLbls>
            <c:numFmt formatCode="#,##0" sourceLinked="0"/>
            <c:txPr>
              <a:bodyPr/>
              <a:lstStyle/>
              <a:p>
                <a:pPr>
                  <a:defRPr b="0" i="0" strike="noStrike" sz="1200" u="none">
                    <a:solidFill>
                      <a:srgbClr val="1B1F2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NO₂</c:v>
                  </c:pt>
                  <c:pt idx="1">
                    <c:v>PM₂.₅</c:v>
                  </c:pt>
                  <c:pt idx="2">
                    <c:v>O₃</c:v>
                  </c:pt>
                </c:lvl>
              </c:multiLvlStrCache>
            </c:multiLvlStrRef>
          </c:cat>
          <c:val>
            <c:numRef>
              <c:f>Sheet1!$B$2:$B$4</c:f>
              <c:numCache>
                <c:formatCode>General</c:formatCode>
                <c:ptCount val="3"/>
                <c:pt idx="0">
                  <c:v>136</c:v>
                </c:pt>
                <c:pt idx="1">
                  <c:v>60</c:v>
                </c:pt>
                <c:pt idx="2">
                  <c:v>7</c:v>
                </c:pt>
              </c:numCache>
            </c:numRef>
          </c:val>
        </c:ser>
        <c:ser>
          <c:idx val="1"/>
          <c:order val="1"/>
          <c:tx>
            <c:strRef>
              <c:f>Sheet1!$C$1</c:f>
              <c:strCache>
                <c:ptCount val="1"/>
                <c:pt idx="0">
                  <c:v>2023–2024</c:v>
                </c:pt>
              </c:strCache>
            </c:strRef>
          </c:tx>
          <c:spPr>
            <a:solidFill>
              <a:srgbClr val="1F7A8C"/>
            </a:solidFill>
            <a:effectLst/>
          </c:spPr>
          <c:invertIfNegative val="0"/>
          <c:dLbls>
            <c:numFmt formatCode="#,##0" sourceLinked="0"/>
            <c:txPr>
              <a:bodyPr/>
              <a:lstStyle/>
              <a:p>
                <a:pPr>
                  <a:defRPr b="0" i="0" strike="noStrike" sz="1200" u="none">
                    <a:solidFill>
                      <a:srgbClr val="1B1F2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NO₂</c:v>
                  </c:pt>
                  <c:pt idx="1">
                    <c:v>PM₂.₅</c:v>
                  </c:pt>
                  <c:pt idx="2">
                    <c:v>O₃</c:v>
                  </c:pt>
                </c:lvl>
              </c:multiLvlStrCache>
            </c:multiLvlStrRef>
          </c:cat>
          <c:val>
            <c:numRef>
              <c:f>Sheet1!$C$2:$C$4</c:f>
              <c:numCache>
                <c:formatCode>General</c:formatCode>
                <c:ptCount val="3"/>
                <c:pt idx="0">
                  <c:v>40</c:v>
                </c:pt>
                <c:pt idx="1">
                  <c:v>22</c:v>
                </c:pt>
                <c:pt idx="2">
                  <c:v>14</c:v>
                </c:pt>
              </c:numCache>
            </c:numRef>
          </c:val>
        </c:ser>
        <c:dLbls>
          <c:numFmt formatCode="#,##0" sourceLinked="0"/>
          <c:txPr>
            <a:bodyPr/>
            <a:lstStyle/>
            <a:p>
              <a:pPr>
                <a:defRPr b="0" i="0" strike="noStrike" sz="1200" u="none">
                  <a:solidFill>
                    <a:srgbClr val="1B1F2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EE2"/>
              </a:solidFill>
              <a:prstDash val="solid"/>
              <a:round/>
            </a:ln>
          </c:spPr>
        </c:majorGridlines>
        <c:title>
          <c:tx>
            <c:rich>
              <a:bodyPr/>
              <a:lstStyle/>
              <a:p>
                <a:pPr>
                  <a:defRPr sz="1100" b="0" i="0" u="none" strike="noStrike">
                    <a:solidFill>
                      <a:srgbClr val="5B6770"/>
                    </a:solidFill>
                    <a:latin typeface="Calibri"/>
                  </a:defRPr>
                </a:pPr>
                <a:r>
                  <a:rPr sz="1100" b="0" i="0" u="none" strike="noStrike">
                    <a:solidFill>
                      <a:srgbClr val="5B6770"/>
                    </a:solidFill>
                    <a:latin typeface="Calibri"/>
                  </a:rPr>
                  <a:t>Days per year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F2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3"/>
                </a:solidFill>
                <a:latin typeface="Calibri"/>
              </a:defRPr>
            </a:pPr>
            <a:r>
              <a:rPr sz="1400" b="0" i="0" u="none" strike="noStrike">
                <a:solidFill>
                  <a:srgbClr val="1B1F23"/>
                </a:solidFill>
                <a:latin typeface="Calibri"/>
              </a:rPr>
              <a:t>ULEZ: estimated roadside NO₂ reduction versus a 'no ULEZ' scenario (%)</a:t>
            </a:r>
          </a:p>
        </c:rich>
      </c:tx>
      <c:layout/>
      <c:overlay val="0"/>
    </c:title>
    <c:autoTitleDeleted val="0"/>
    <c:plotArea>
      <c:layout/>
      <c:barChart>
        <c:barDir val="bar"/>
        <c:grouping val="clustered"/>
        <c:varyColors val="0"/>
        <c:ser>
          <c:idx val="0"/>
          <c:order val="0"/>
          <c:tx>
            <c:strRef>
              <c:f>Sheet1!$B$1</c:f>
              <c:strCache>
                <c:ptCount val="1"/>
                <c:pt idx="0">
                  <c:v>NO₂ lower than no-ULEZ scenario</c:v>
                </c:pt>
              </c:strCache>
            </c:strRef>
          </c:tx>
          <c:spPr>
            <a:solidFill>
              <a:srgbClr val="1F7A8C"/>
            </a:solidFill>
            <a:effectLst/>
          </c:spPr>
          <c:invertIfNegative val="0"/>
          <c:dLbls>
            <c:numFmt formatCode="0&quot;%&quot;" sourceLinked="0"/>
            <c:txPr>
              <a:bodyPr/>
              <a:lstStyle/>
              <a:p>
                <a:pPr>
                  <a:defRPr b="0" i="0" strike="noStrike" sz="1200" u="none">
                    <a:solidFill>
                      <a:srgbClr val="1B1F2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Central London</c:v>
                  </c:pt>
                  <c:pt idx="1">
                    <c:v>Inner London</c:v>
                  </c:pt>
                  <c:pt idx="2">
                    <c:v>Outer London</c:v>
                  </c:pt>
                  <c:pt idx="3">
                    <c:v>London-wide</c:v>
                  </c:pt>
                </c:lvl>
              </c:multiLvlStrCache>
            </c:multiLvlStrRef>
          </c:cat>
          <c:val>
            <c:numRef>
              <c:f>Sheet1!$B$2:$B$5</c:f>
              <c:numCache>
                <c:formatCode>General</c:formatCode>
                <c:ptCount val="4"/>
                <c:pt idx="0">
                  <c:v>54</c:v>
                </c:pt>
                <c:pt idx="1">
                  <c:v>29</c:v>
                </c:pt>
                <c:pt idx="2">
                  <c:v>24</c:v>
                </c:pt>
                <c:pt idx="3">
                  <c:v>27</c:v>
                </c:pt>
              </c:numCache>
            </c:numRef>
          </c:val>
        </c:ser>
        <c:dLbls>
          <c:numFmt formatCode="0&quot;%&quot;" sourceLinked="0"/>
          <c:txPr>
            <a:bodyPr/>
            <a:lstStyle/>
            <a:p>
              <a:pPr>
                <a:defRPr b="0" i="0" strike="noStrike" sz="1200" u="none">
                  <a:solidFill>
                    <a:srgbClr val="1B1F23"/>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3"/>
                </a:solidFill>
                <a:latin typeface="Calibri"/>
              </a:defRPr>
            </a:pPr>
            <a:endParaRPr lang="en-US"/>
          </a:p>
        </c:txPr>
        <c:crossAx val="2094734552"/>
        <c:crosses val="autoZero"/>
        <c:auto val="1"/>
        <c:lblAlgn val="ctr"/>
        <c:noMultiLvlLbl val="1"/>
      </c:catAx>
      <c:valAx>
        <c:axId val="2094734552"/>
        <c:scaling>
          <c:orientation val="minMax"/>
          <c:max val="65"/>
          <c:min val="0"/>
        </c:scaling>
        <c:delete val="0"/>
        <c:axPos val="b"/>
        <c:majorGridlines>
          <c:spPr>
            <a:ln w="6350" cap="flat">
              <a:solidFill>
                <a:srgbClr val="D9DE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7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thank you for watching. My proposal is titled Evaluating the Role of Air Quality Management in Advancing Sustainable Urban Development, with evidence from major UK cities. My central research question asks how major UK cities frame and implement air quality management, and what role it plays in sustainable urban development. I will answer it through a qualitative, interpretivist study based entirely on secondary data. The figures on screen preview the context: pollution has fallen markedly, but that is only part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begin with the background. UK air quality has improved. Weber and Dacre, in 2025, found that the median number of days per year on which monitoring sites breached the World Health Organization's 2021 target fell from 136 to 40 for nitrogen dioxide, and from 60 to 22 for fine particulate matter. Average fine-particle exposure in England fell by 54 percent between 2003 and 2023, according to Gadenne and colleagues, 2024. However, England's legal PM2.5 target of 10 micrograms per cubic metre is double the WHO guideline of 5, and ozone breach days doubled. Outdoor pollution is still estimated to contribute to 29,000 to 43,000 UK deaths a year, according to the Office for Health Improvement and Disparities.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that falling pollution has not settled how air quality management contributes to sustainable cities. Guideline breaches persist, and the most deprived fifth of areas in England had eight percent higher fine-particle levels in 2023, Gadenne and colleagues, 2024. Evidence on local schemes is mixed. Transport for London, 2025, estimates that London's ULEZ cut roadside nitrogen dioxide by twenty-seven percent against a no-ULEZ scenario. Liu and colleagues, 2023, found modest reductions after Birmingham's Clean Air Zone, whereas Williams and colleagues, 2025, found no significant zone-specific reduction in Sheffield. So what is known is largely quantitative and outcome-focused. What is not yet evident is a cross-city, interpretive synthesis of how official sources frame air quality management within sustainable development. That is the gap I will test through a scoping search in the first two weeks, rather than assume. The research matters to local authorities, Defra, public health bodies and residents, and can contribute to knowledge, practice and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aim is to evaluate how air quality management is framed and implemented in major UK cities, and what role it plays in sustainable urban development. Four objectives guide this: review trends, standards and measures; select official and peer-reviewed sources; analyse them thematically; and interpret cross-city patterns. Three research questions ask how cities frame the purpose of management, which themes characterise implementation and outcomes, and which enablers, barriers and equity issues appear. The framework links standards, city measures and sustainability outcomes, drawing on the United Nations,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Methodologically, I follow the Research Onion of Saunders and colleagues, 2023. My philosophy is interpretivism, because policy meaning and sustainability framings are socially constructed in documents, so I must interpret them rather than simply count them. The approach is inductive: themes will come from the data, not from testing hypotheses. The choice is mono-method qualitative, and the strategy is archival and documentary research using secondary data. The time horizon is cross-sectional, a snapshot of documents from 2020 to 2025. At the centre, my technique is reflexive thematic analysis. Each layer fits because my question asks how and why, not how much, and existing quantitative studies already measure outcomes. A qualitative, documentary design also lets me compare cities consistently, using sources that are public, citable and checkable, which suits a realistic six-week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data, I will use official and peer-reviewed secondary sources: Defra and UK-AIR, the Department for Transport, the Office for National Statistics, city authority annual status reports, scheme evaluations and journal articles. Newspapers only help triangulate public framing. Selection is purposive: four to six major cities, with London, Birmingham, Sheffield, Bristol, Manchester and Glasgow as candidates, and about thirty to forty documents from 2020 onwards. I exclude unsourced, non-UK and duplicate material, and I will keep a screening log recording the author, date, city and type of every document, so the selection is transparent and repeatable. Analysis follows Braun and Clarke's six phases, 2021, supported by a reflexive journal. It is appropriate because it is flexible, inductive and suited to documents, and public secondary data fits a six-week scope. The phases are familiarisation, coding, generating themes, reviewing them, defining and naming them, and writing up. Ethically, I use only public documents and no participants, so risk is low, and I will confirm exemption with my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expected results. I want to separate what is known from what I expect to find. Known: pollutants are falling, inequalities persist and scheme effects vary. Anticipated, but not yet established: I expect cities to justify management mainly through health, with equity and economic benefits less visible, and to describe barriers such as fleet compliance, enforcement and public acceptance. I also expect differences between ULEZ and Clean Air Zone framing. The key outcomes will be a set of defined themes, a cross-city interpretation, and practical recommendations. These are anticipated findings, not results I have already established, and I will report any evidence that contradicts them. That offers academics new interpretive evidence, local authorities transferable lessons, policymakers insight into equity, and the public clearer accountability for clean-air measures. For the field, it links air quality management to sustainable development, which existing outcome-focused studies do 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resources required are modest because the study uses secondary data. There are no participant payments, travel or transcription costs. Journals and reports are open access or available through the university library. Analysis software, such as NVivo or a spreadsheet, is covered by a university licence or a free alternative, and Zotero is free. These costs are indicative, and I will confirm them with the university. For personnel, I will conduct the research. My supervisor reviews the protocol, theme maps and draft, and confirms the ethics exemption. A librarian may advise on search strategy. Because the design avoids participants, equipment and travel, the main resource is time, and the six-week plan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is six weeks. Week one covers scoping, protocol and the ethics check, with the literature review running into week two. Weeks two and three are for searching and screening documents. Coding runs in weeks three and four, themes are developed in weeks four and five, and interpretation and report writing finish in week six, when I record this presentation. The timeline includes the literature review, ethics check, data collection, analysis, interpretation, report preparation and dissemination. Milestones are the final source set in week two, an initial theme map in week four, and submission in week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propose to investigate how air quality management is framed and implemented in major UK cities, and what it contributes to sustainable urban development. It matters because pollution is falling, yet guideline breaches, unequal exposure and mixed scheme results remain, Weber and Dacre, 2025. I will use interpretivist, inductive, documentary research with reflexive thematic analysis, Braun and Clarke, 2021. I expect to provide transferable, evidence-based insight for policy and practice. Together, these steps make the study realistic, justified and achievable within the time available.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APA seventh edition reference list is shown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Thesis proposal | Air quality management and sustainable urban development</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E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10972800" cy="320040"/>
          </a:xfrm>
          <a:prstGeom prst="rect">
            <a:avLst/>
          </a:prstGeom>
          <a:noFill/>
          <a:ln/>
        </p:spPr>
        <p:txBody>
          <a:bodyPr wrap="square" lIns="0" tIns="0" rIns="0" bIns="0" rtlCol="0" anchor="ctr"/>
          <a:lstStyle/>
          <a:p>
            <a:pPr indent="0" marL="0">
              <a:buNone/>
            </a:pPr>
            <a:r>
              <a:rPr lang="en-US" sz="1200" b="1" spc="200" kern="0" dirty="0">
                <a:solidFill>
                  <a:srgbClr val="7FB7C2"/>
                </a:solidFill>
              </a:rPr>
              <a:t>THESIS PROPOSAL  |  10-MINUTE RECORDED PRESENTATION</a:t>
            </a:r>
            <a:endParaRPr lang="en-US" sz="1200" dirty="0"/>
          </a:p>
        </p:txBody>
      </p:sp>
      <p:sp>
        <p:nvSpPr>
          <p:cNvPr id="3" name="Text 1"/>
          <p:cNvSpPr txBox="1"/>
          <p:nvPr/>
        </p:nvSpPr>
        <p:spPr>
          <a:xfrm>
            <a:off x="548640" y="1005840"/>
            <a:ext cx="7498080" cy="21031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Evaluating the Role of Air Quality Management in Advancing Sustainable Urban Development</a:t>
            </a:r>
            <a:endParaRPr lang="en-US" sz="3600" dirty="0"/>
          </a:p>
        </p:txBody>
      </p:sp>
      <p:sp>
        <p:nvSpPr>
          <p:cNvPr id="4" name="Text 2"/>
          <p:cNvSpPr txBox="1"/>
          <p:nvPr/>
        </p:nvSpPr>
        <p:spPr>
          <a:xfrm>
            <a:off x="548640" y="3246120"/>
            <a:ext cx="7498080" cy="457200"/>
          </a:xfrm>
          <a:prstGeom prst="rect">
            <a:avLst/>
          </a:prstGeom>
          <a:noFill/>
          <a:ln/>
        </p:spPr>
        <p:txBody>
          <a:bodyPr wrap="square" lIns="0" tIns="0" rIns="0" bIns="0" rtlCol="0" anchor="ctr"/>
          <a:lstStyle/>
          <a:p>
            <a:pPr indent="0" marL="0">
              <a:buNone/>
            </a:pPr>
            <a:r>
              <a:rPr lang="en-US" sz="2200" i="1" dirty="0">
                <a:solidFill>
                  <a:srgbClr val="E8A33D"/>
                </a:solidFill>
                <a:latin typeface="Cambria" pitchFamily="34" charset="0"/>
                <a:ea typeface="Cambria" pitchFamily="34" charset="-122"/>
                <a:cs typeface="Cambria" pitchFamily="34" charset="-120"/>
              </a:rPr>
              <a:t>Evidence from Major UK Cities</a:t>
            </a:r>
            <a:endParaRPr lang="en-US" sz="2200" dirty="0"/>
          </a:p>
        </p:txBody>
      </p:sp>
      <p:sp>
        <p:nvSpPr>
          <p:cNvPr id="5" name="Text 3"/>
          <p:cNvSpPr txBox="1"/>
          <p:nvPr/>
        </p:nvSpPr>
        <p:spPr>
          <a:xfrm>
            <a:off x="548640" y="3931920"/>
            <a:ext cx="7498080" cy="1554480"/>
          </a:xfrm>
          <a:prstGeom prst="rect">
            <a:avLst/>
          </a:prstGeom>
          <a:noFill/>
          <a:ln/>
        </p:spPr>
        <p:txBody>
          <a:bodyPr wrap="square" lIns="0" tIns="0" rIns="0" bIns="0" rtlCol="0" anchor="t"/>
          <a:lstStyle/>
          <a:p>
            <a:pPr indent="0" marL="0">
              <a:spcAft>
                <a:spcPts val="600"/>
              </a:spcAft>
              <a:buNone/>
            </a:pPr>
            <a:r>
              <a:rPr lang="en-US" sz="1500" b="1" dirty="0">
                <a:solidFill>
                  <a:srgbClr val="E8A33D"/>
                </a:solidFill>
              </a:rPr>
              <a:t>Central research question</a:t>
            </a:r>
            <a:endParaRPr lang="en-US" sz="1500" dirty="0"/>
          </a:p>
          <a:p>
            <a:pPr indent="0" marL="0">
              <a:spcAft>
                <a:spcPts val="600"/>
              </a:spcAft>
              <a:buNone/>
            </a:pPr>
            <a:r>
              <a:rPr lang="en-US" sz="1500" dirty="0">
                <a:solidFill>
                  <a:srgbClr val="D7E6EA"/>
                </a:solidFill>
              </a:rPr>
              <a:t>How do major UK cities frame and implement air quality management, and what role does it play in advancing sustainable urban development?</a:t>
            </a:r>
            <a:endParaRPr lang="en-US" sz="1500" dirty="0"/>
          </a:p>
          <a:p>
            <a:pPr indent="0" marL="0">
              <a:spcAft>
                <a:spcPts val="600"/>
              </a:spcAft>
              <a:buNone/>
            </a:pPr>
            <a:r>
              <a:rPr lang="en-US" sz="1200" dirty="0">
                <a:solidFill>
                  <a:srgbClr val="7FB7C2"/>
                </a:solidFill>
              </a:rPr>
              <a:t>Interpretivist  •  Inductive  •  Qualitative  •  Secondary data  •  Thematic analysis (Saunders et al., 2023)</a:t>
            </a:r>
            <a:endParaRPr lang="en-US" sz="1500" dirty="0"/>
          </a:p>
        </p:txBody>
      </p:sp>
      <p:sp>
        <p:nvSpPr>
          <p:cNvPr id="6" name="Text 4"/>
          <p:cNvSpPr txBox="1"/>
          <p:nvPr/>
        </p:nvSpPr>
        <p:spPr>
          <a:xfrm>
            <a:off x="548640" y="5852160"/>
            <a:ext cx="7498080" cy="365760"/>
          </a:xfrm>
          <a:prstGeom prst="rect">
            <a:avLst/>
          </a:prstGeom>
          <a:noFill/>
          <a:ln/>
        </p:spPr>
        <p:txBody>
          <a:bodyPr wrap="square" lIns="0" tIns="0" rIns="0" bIns="0" rtlCol="0" anchor="ctr"/>
          <a:lstStyle/>
          <a:p>
            <a:pPr indent="0" marL="0">
              <a:buNone/>
            </a:pPr>
            <a:r>
              <a:rPr lang="en-US" sz="1400" dirty="0">
                <a:solidFill>
                  <a:srgbClr val="FFFFFF"/>
                </a:solidFill>
              </a:rPr>
              <a:t>[Student name]  |  [Student ID]  |  [Module / Supervisor]</a:t>
            </a:r>
            <a:endParaRPr lang="en-US" sz="1400" dirty="0"/>
          </a:p>
        </p:txBody>
      </p:sp>
      <p:sp>
        <p:nvSpPr>
          <p:cNvPr id="7" name="Shape 5"/>
          <p:cNvSpPr/>
          <p:nvPr/>
        </p:nvSpPr>
        <p:spPr>
          <a:xfrm>
            <a:off x="8503920" y="822960"/>
            <a:ext cx="3200400" cy="1600200"/>
          </a:xfrm>
          <a:prstGeom prst="rect">
            <a:avLst/>
          </a:prstGeom>
          <a:solidFill>
            <a:srgbClr val="173F52"/>
          </a:solidFill>
          <a:ln w="12700">
            <a:solidFill>
              <a:srgbClr val="173F52"/>
            </a:solidFill>
            <a:prstDash val="solid"/>
          </a:ln>
        </p:spPr>
      </p:sp>
      <p:sp>
        <p:nvSpPr>
          <p:cNvPr id="8" name="Text 6"/>
          <p:cNvSpPr txBox="1"/>
          <p:nvPr/>
        </p:nvSpPr>
        <p:spPr>
          <a:xfrm>
            <a:off x="8686800" y="914400"/>
            <a:ext cx="2834640" cy="64008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−70%</a:t>
            </a:r>
            <a:endParaRPr lang="en-US" sz="4000" dirty="0"/>
          </a:p>
        </p:txBody>
      </p:sp>
      <p:sp>
        <p:nvSpPr>
          <p:cNvPr id="9" name="Text 7"/>
          <p:cNvSpPr txBox="1"/>
          <p:nvPr/>
        </p:nvSpPr>
        <p:spPr>
          <a:xfrm>
            <a:off x="8686800" y="1554480"/>
            <a:ext cx="2834640" cy="822960"/>
          </a:xfrm>
          <a:prstGeom prst="rect">
            <a:avLst/>
          </a:prstGeom>
          <a:noFill/>
          <a:ln/>
        </p:spPr>
        <p:txBody>
          <a:bodyPr wrap="square" lIns="0" tIns="0" rIns="0" bIns="0" rtlCol="0" anchor="t"/>
          <a:lstStyle/>
          <a:p>
            <a:pPr indent="0" marL="0">
              <a:buNone/>
            </a:pPr>
            <a:r>
              <a:rPr lang="en-US" sz="1100" dirty="0">
                <a:solidFill>
                  <a:srgbClr val="FFFFFF"/>
                </a:solidFill>
              </a:rPr>
              <a:t>NO₂ days breaching the WHO 2021 target at monitoring sites, 2015–16 to 2023–24 (median)</a:t>
            </a:r>
            <a:endParaRPr lang="en-US" sz="1100" dirty="0"/>
          </a:p>
          <a:p>
            <a:pPr indent="0" marL="0">
              <a:buNone/>
            </a:pPr>
            <a:r>
              <a:rPr lang="en-US" sz="1100" i="1" dirty="0">
                <a:solidFill>
                  <a:srgbClr val="7FB7C2"/>
                </a:solidFill>
              </a:rPr>
              <a:t>Weber &amp; Dacre, 2025</a:t>
            </a:r>
            <a:endParaRPr lang="en-US" sz="1100" dirty="0"/>
          </a:p>
        </p:txBody>
      </p:sp>
      <p:sp>
        <p:nvSpPr>
          <p:cNvPr id="10" name="Shape 8"/>
          <p:cNvSpPr/>
          <p:nvPr/>
        </p:nvSpPr>
        <p:spPr>
          <a:xfrm>
            <a:off x="8503920" y="2606040"/>
            <a:ext cx="3200400" cy="1600200"/>
          </a:xfrm>
          <a:prstGeom prst="rect">
            <a:avLst/>
          </a:prstGeom>
          <a:solidFill>
            <a:srgbClr val="173F52"/>
          </a:solidFill>
          <a:ln w="12700">
            <a:solidFill>
              <a:srgbClr val="173F52"/>
            </a:solidFill>
            <a:prstDash val="solid"/>
          </a:ln>
        </p:spPr>
      </p:sp>
      <p:sp>
        <p:nvSpPr>
          <p:cNvPr id="11" name="Text 9"/>
          <p:cNvSpPr txBox="1"/>
          <p:nvPr/>
        </p:nvSpPr>
        <p:spPr>
          <a:xfrm>
            <a:off x="8686800" y="2697480"/>
            <a:ext cx="2834640" cy="64008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−63%</a:t>
            </a:r>
            <a:endParaRPr lang="en-US" sz="4000" dirty="0"/>
          </a:p>
        </p:txBody>
      </p:sp>
      <p:sp>
        <p:nvSpPr>
          <p:cNvPr id="12" name="Text 10"/>
          <p:cNvSpPr txBox="1"/>
          <p:nvPr/>
        </p:nvSpPr>
        <p:spPr>
          <a:xfrm>
            <a:off x="8686800" y="3337560"/>
            <a:ext cx="2834640" cy="822960"/>
          </a:xfrm>
          <a:prstGeom prst="rect">
            <a:avLst/>
          </a:prstGeom>
          <a:noFill/>
          <a:ln/>
        </p:spPr>
        <p:txBody>
          <a:bodyPr wrap="square" lIns="0" tIns="0" rIns="0" bIns="0" rtlCol="0" anchor="t"/>
          <a:lstStyle/>
          <a:p>
            <a:pPr indent="0" marL="0">
              <a:buNone/>
            </a:pPr>
            <a:r>
              <a:rPr lang="en-US" sz="1100" dirty="0">
                <a:solidFill>
                  <a:srgbClr val="FFFFFF"/>
                </a:solidFill>
              </a:rPr>
              <a:t>PM₂.₅ days breaching the WHO 2021 target (median per site), same period</a:t>
            </a:r>
            <a:endParaRPr lang="en-US" sz="1100" dirty="0"/>
          </a:p>
          <a:p>
            <a:pPr indent="0" marL="0">
              <a:buNone/>
            </a:pPr>
            <a:r>
              <a:rPr lang="en-US" sz="1100" i="1" dirty="0">
                <a:solidFill>
                  <a:srgbClr val="7FB7C2"/>
                </a:solidFill>
              </a:rPr>
              <a:t>Weber &amp; Dacre, 2025</a:t>
            </a:r>
            <a:endParaRPr lang="en-US" sz="1100" dirty="0"/>
          </a:p>
        </p:txBody>
      </p:sp>
      <p:sp>
        <p:nvSpPr>
          <p:cNvPr id="13" name="Shape 11"/>
          <p:cNvSpPr/>
          <p:nvPr/>
        </p:nvSpPr>
        <p:spPr>
          <a:xfrm>
            <a:off x="8503920" y="4389120"/>
            <a:ext cx="3200400" cy="1600200"/>
          </a:xfrm>
          <a:prstGeom prst="rect">
            <a:avLst/>
          </a:prstGeom>
          <a:solidFill>
            <a:srgbClr val="173F52"/>
          </a:solidFill>
          <a:ln w="12700">
            <a:solidFill>
              <a:srgbClr val="173F52"/>
            </a:solidFill>
            <a:prstDash val="solid"/>
          </a:ln>
        </p:spPr>
      </p:sp>
      <p:sp>
        <p:nvSpPr>
          <p:cNvPr id="14" name="Text 12"/>
          <p:cNvSpPr txBox="1"/>
          <p:nvPr/>
        </p:nvSpPr>
        <p:spPr>
          <a:xfrm>
            <a:off x="8686800" y="4480560"/>
            <a:ext cx="2834640" cy="64008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−54%</a:t>
            </a:r>
            <a:endParaRPr lang="en-US" sz="4000" dirty="0"/>
          </a:p>
        </p:txBody>
      </p:sp>
      <p:sp>
        <p:nvSpPr>
          <p:cNvPr id="15" name="Text 13"/>
          <p:cNvSpPr txBox="1"/>
          <p:nvPr/>
        </p:nvSpPr>
        <p:spPr>
          <a:xfrm>
            <a:off x="8686800" y="5120640"/>
            <a:ext cx="2834640" cy="822960"/>
          </a:xfrm>
          <a:prstGeom prst="rect">
            <a:avLst/>
          </a:prstGeom>
          <a:noFill/>
          <a:ln/>
        </p:spPr>
        <p:txBody>
          <a:bodyPr wrap="square" lIns="0" tIns="0" rIns="0" bIns="0" rtlCol="0" anchor="t"/>
          <a:lstStyle/>
          <a:p>
            <a:pPr indent="0" marL="0">
              <a:buNone/>
            </a:pPr>
            <a:r>
              <a:rPr lang="en-US" sz="1100" dirty="0">
                <a:solidFill>
                  <a:srgbClr val="FFFFFF"/>
                </a:solidFill>
              </a:rPr>
              <a:t>Fall in average PM₂.₅ exposure across England, 2003–2023</a:t>
            </a:r>
            <a:endParaRPr lang="en-US" sz="1100" dirty="0"/>
          </a:p>
          <a:p>
            <a:pPr indent="0" marL="0">
              <a:buNone/>
            </a:pPr>
            <a:r>
              <a:rPr lang="en-US" sz="1100" i="1" dirty="0">
                <a:solidFill>
                  <a:srgbClr val="7FB7C2"/>
                </a:solidFill>
              </a:rPr>
              <a:t>Gadenne et al., 2024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Background: UK air quality is improving, yet WHO 2021 guideline levels are still frequently breached</a:t>
            </a:r>
            <a:endParaRPr lang="en-US" sz="2600" dirty="0"/>
          </a:p>
        </p:txBody>
      </p:sp>
      <p:sp>
        <p:nvSpPr>
          <p:cNvPr id="3" name="Shape 1"/>
          <p:cNvSpPr/>
          <p:nvPr/>
        </p:nvSpPr>
        <p:spPr>
          <a:xfrm>
            <a:off x="457200" y="1325880"/>
            <a:ext cx="4114800" cy="1417320"/>
          </a:xfrm>
          <a:prstGeom prst="rect">
            <a:avLst/>
          </a:prstGeom>
          <a:solidFill>
            <a:srgbClr val="E6F2F1"/>
          </a:solidFill>
          <a:ln w="12700">
            <a:solidFill>
              <a:srgbClr val="E6F2F1"/>
            </a:solidFill>
            <a:prstDash val="solid"/>
          </a:ln>
        </p:spPr>
      </p:sp>
      <p:sp>
        <p:nvSpPr>
          <p:cNvPr id="4" name="Text 2"/>
          <p:cNvSpPr txBox="1"/>
          <p:nvPr/>
        </p:nvSpPr>
        <p:spPr>
          <a:xfrm>
            <a:off x="640080" y="1399032"/>
            <a:ext cx="3749040" cy="502920"/>
          </a:xfrm>
          <a:prstGeom prst="rect">
            <a:avLst/>
          </a:prstGeom>
          <a:noFill/>
          <a:ln/>
        </p:spPr>
        <p:txBody>
          <a:bodyPr wrap="square" lIns="0" tIns="0" rIns="0" bIns="0" rtlCol="0" anchor="ctr"/>
          <a:lstStyle/>
          <a:p>
            <a:pPr indent="0" marL="0">
              <a:buNone/>
            </a:pPr>
            <a:r>
              <a:rPr lang="en-US" sz="2600" b="1" dirty="0">
                <a:solidFill>
                  <a:srgbClr val="1F7A8C"/>
                </a:solidFill>
                <a:latin typeface="Cambria" pitchFamily="34" charset="0"/>
                <a:ea typeface="Cambria" pitchFamily="34" charset="-122"/>
                <a:cs typeface="Cambria" pitchFamily="34" charset="-120"/>
              </a:rPr>
              <a:t>−54%</a:t>
            </a:r>
            <a:endParaRPr lang="en-US" sz="2600" dirty="0"/>
          </a:p>
        </p:txBody>
      </p:sp>
      <p:sp>
        <p:nvSpPr>
          <p:cNvPr id="5" name="Text 3"/>
          <p:cNvSpPr txBox="1"/>
          <p:nvPr/>
        </p:nvSpPr>
        <p:spPr>
          <a:xfrm>
            <a:off x="640080" y="1920240"/>
            <a:ext cx="3749040" cy="777240"/>
          </a:xfrm>
          <a:prstGeom prst="rect">
            <a:avLst/>
          </a:prstGeom>
          <a:noFill/>
          <a:ln/>
        </p:spPr>
        <p:txBody>
          <a:bodyPr wrap="square" lIns="0" tIns="0" rIns="0" bIns="0" rtlCol="0" anchor="t"/>
          <a:lstStyle/>
          <a:p>
            <a:pPr indent="0" marL="0">
              <a:buNone/>
            </a:pPr>
            <a:r>
              <a:rPr lang="en-US" sz="1150" dirty="0">
                <a:solidFill>
                  <a:srgbClr val="1B1F23"/>
                </a:solidFill>
              </a:rPr>
              <a:t>Average PM₂.₅ exposure in England fell between 2003 and 2023; 99% of people were above the 2040 target in 2003 versus &lt;0.1% in 2023 (Gadenne et al., 2024).</a:t>
            </a:r>
            <a:endParaRPr lang="en-US" sz="1150" dirty="0"/>
          </a:p>
        </p:txBody>
      </p:sp>
      <p:sp>
        <p:nvSpPr>
          <p:cNvPr id="6" name="Shape 4"/>
          <p:cNvSpPr/>
          <p:nvPr/>
        </p:nvSpPr>
        <p:spPr>
          <a:xfrm>
            <a:off x="457200" y="2880360"/>
            <a:ext cx="4114800" cy="1417320"/>
          </a:xfrm>
          <a:prstGeom prst="rect">
            <a:avLst/>
          </a:prstGeom>
          <a:solidFill>
            <a:srgbClr val="E6F2F1"/>
          </a:solidFill>
          <a:ln w="12700">
            <a:solidFill>
              <a:srgbClr val="E6F2F1"/>
            </a:solidFill>
            <a:prstDash val="solid"/>
          </a:ln>
        </p:spPr>
      </p:sp>
      <p:sp>
        <p:nvSpPr>
          <p:cNvPr id="7" name="Text 5"/>
          <p:cNvSpPr txBox="1"/>
          <p:nvPr/>
        </p:nvSpPr>
        <p:spPr>
          <a:xfrm>
            <a:off x="640080" y="2953512"/>
            <a:ext cx="3749040" cy="502920"/>
          </a:xfrm>
          <a:prstGeom prst="rect">
            <a:avLst/>
          </a:prstGeom>
          <a:noFill/>
          <a:ln/>
        </p:spPr>
        <p:txBody>
          <a:bodyPr wrap="square" lIns="0" tIns="0" rIns="0" bIns="0" rtlCol="0" anchor="ctr"/>
          <a:lstStyle/>
          <a:p>
            <a:pPr indent="0" marL="0">
              <a:buNone/>
            </a:pPr>
            <a:r>
              <a:rPr lang="en-US" sz="2600" b="1" dirty="0">
                <a:solidFill>
                  <a:srgbClr val="1F7A8C"/>
                </a:solidFill>
                <a:latin typeface="Cambria" pitchFamily="34" charset="0"/>
                <a:ea typeface="Cambria" pitchFamily="34" charset="-122"/>
                <a:cs typeface="Cambria" pitchFamily="34" charset="-120"/>
              </a:rPr>
              <a:t>10 vs 5 µg/m³</a:t>
            </a:r>
            <a:endParaRPr lang="en-US" sz="2600" dirty="0"/>
          </a:p>
        </p:txBody>
      </p:sp>
      <p:sp>
        <p:nvSpPr>
          <p:cNvPr id="8" name="Text 6"/>
          <p:cNvSpPr txBox="1"/>
          <p:nvPr/>
        </p:nvSpPr>
        <p:spPr>
          <a:xfrm>
            <a:off x="640080" y="3474720"/>
            <a:ext cx="3749040" cy="777240"/>
          </a:xfrm>
          <a:prstGeom prst="rect">
            <a:avLst/>
          </a:prstGeom>
          <a:noFill/>
          <a:ln/>
        </p:spPr>
        <p:txBody>
          <a:bodyPr wrap="square" lIns="0" tIns="0" rIns="0" bIns="0" rtlCol="0" anchor="t"/>
          <a:lstStyle/>
          <a:p>
            <a:pPr indent="0" marL="0">
              <a:buNone/>
            </a:pPr>
            <a:r>
              <a:rPr lang="en-US" sz="1150" dirty="0">
                <a:solidFill>
                  <a:srgbClr val="1B1F23"/>
                </a:solidFill>
              </a:rPr>
              <a:t>England's legal annual-mean PM₂.₅ target for 2040 is 10 µg/m³ (Environmental Targets (Fine Particulate Matter) (England) Regulations 2023, 2023); WHO (2021) now recommends 5 µg/m³.</a:t>
            </a:r>
            <a:endParaRPr lang="en-US" sz="1150" dirty="0"/>
          </a:p>
        </p:txBody>
      </p:sp>
      <p:sp>
        <p:nvSpPr>
          <p:cNvPr id="9" name="Shape 7"/>
          <p:cNvSpPr/>
          <p:nvPr/>
        </p:nvSpPr>
        <p:spPr>
          <a:xfrm>
            <a:off x="457200" y="4434840"/>
            <a:ext cx="4114800" cy="1417320"/>
          </a:xfrm>
          <a:prstGeom prst="rect">
            <a:avLst/>
          </a:prstGeom>
          <a:solidFill>
            <a:srgbClr val="E6F2F1"/>
          </a:solidFill>
          <a:ln w="12700">
            <a:solidFill>
              <a:srgbClr val="E6F2F1"/>
            </a:solidFill>
            <a:prstDash val="solid"/>
          </a:ln>
        </p:spPr>
      </p:sp>
      <p:sp>
        <p:nvSpPr>
          <p:cNvPr id="10" name="Text 8"/>
          <p:cNvSpPr txBox="1"/>
          <p:nvPr/>
        </p:nvSpPr>
        <p:spPr>
          <a:xfrm>
            <a:off x="640080" y="4507992"/>
            <a:ext cx="3749040" cy="502920"/>
          </a:xfrm>
          <a:prstGeom prst="rect">
            <a:avLst/>
          </a:prstGeom>
          <a:noFill/>
          <a:ln/>
        </p:spPr>
        <p:txBody>
          <a:bodyPr wrap="square" lIns="0" tIns="0" rIns="0" bIns="0" rtlCol="0" anchor="ctr"/>
          <a:lstStyle/>
          <a:p>
            <a:pPr indent="0" marL="0">
              <a:buNone/>
            </a:pPr>
            <a:r>
              <a:rPr lang="en-US" sz="2600" b="1" dirty="0">
                <a:solidFill>
                  <a:srgbClr val="1F7A8C"/>
                </a:solidFill>
                <a:latin typeface="Cambria" pitchFamily="34" charset="0"/>
                <a:ea typeface="Cambria" pitchFamily="34" charset="-122"/>
                <a:cs typeface="Cambria" pitchFamily="34" charset="-120"/>
              </a:rPr>
              <a:t>29,000–43,000</a:t>
            </a:r>
            <a:endParaRPr lang="en-US" sz="2600" dirty="0"/>
          </a:p>
        </p:txBody>
      </p:sp>
      <p:sp>
        <p:nvSpPr>
          <p:cNvPr id="11" name="Text 9"/>
          <p:cNvSpPr txBox="1"/>
          <p:nvPr/>
        </p:nvSpPr>
        <p:spPr>
          <a:xfrm>
            <a:off x="640080" y="5029200"/>
            <a:ext cx="3749040" cy="777240"/>
          </a:xfrm>
          <a:prstGeom prst="rect">
            <a:avLst/>
          </a:prstGeom>
          <a:noFill/>
          <a:ln/>
        </p:spPr>
        <p:txBody>
          <a:bodyPr wrap="square" lIns="0" tIns="0" rIns="0" bIns="0" rtlCol="0" anchor="t"/>
          <a:lstStyle/>
          <a:p>
            <a:pPr indent="0" marL="0">
              <a:buNone/>
            </a:pPr>
            <a:r>
              <a:rPr lang="en-US" sz="1150" dirty="0">
                <a:solidFill>
                  <a:srgbClr val="1B1F23"/>
                </a:solidFill>
              </a:rPr>
              <a:t>Estimated UK deaths per year attributable to long-term outdoor air pollution (effect-equivalent, adults) (Office for Health Improvement and Disparities [OHID], n.d.).</a:t>
            </a:r>
            <a:endParaRPr lang="en-US" sz="1150" dirty="0"/>
          </a:p>
        </p:txBody>
      </p:sp>
      <p:graphicFrame>
        <p:nvGraphicFramePr>
          <p:cNvPr id="12" name="Chart 0" descr=""/>
          <p:cNvGraphicFramePr/>
          <p:nvPr/>
        </p:nvGraphicFramePr>
        <p:xfrm>
          <a:off x="4846320" y="1280160"/>
          <a:ext cx="6885432" cy="44348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6053328"/>
            <a:ext cx="11274552" cy="384048"/>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 Weber and Dacre (2025), analysis of hourly data from DEFRA's Automatic Urban and Rural Network (AURN) and other UK monitoring networks. Median across monitoring sites. O₃ = ozone, which rose over the period. Defra (2024) reports all UK zones met the PM₂.₅ limit value in 2023.</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Problem, gap and rationale: why this research is needed and who benefits</a:t>
            </a:r>
            <a:endParaRPr lang="en-US" sz="2600" dirty="0"/>
          </a:p>
        </p:txBody>
      </p:sp>
      <p:sp>
        <p:nvSpPr>
          <p:cNvPr id="3" name="Shape 1"/>
          <p:cNvSpPr/>
          <p:nvPr/>
        </p:nvSpPr>
        <p:spPr>
          <a:xfrm>
            <a:off x="457200" y="1280160"/>
            <a:ext cx="5852160" cy="1051560"/>
          </a:xfrm>
          <a:prstGeom prst="rect">
            <a:avLst/>
          </a:prstGeom>
          <a:solidFill>
            <a:srgbClr val="0F2E3D"/>
          </a:solidFill>
          <a:ln w="12700">
            <a:solidFill>
              <a:srgbClr val="0F2E3D"/>
            </a:solidFill>
            <a:prstDash val="solid"/>
          </a:ln>
        </p:spPr>
      </p:sp>
      <p:sp>
        <p:nvSpPr>
          <p:cNvPr id="4" name="Text 2"/>
          <p:cNvSpPr txBox="1"/>
          <p:nvPr/>
        </p:nvSpPr>
        <p:spPr>
          <a:xfrm>
            <a:off x="594360" y="1307592"/>
            <a:ext cx="5577840" cy="1005840"/>
          </a:xfrm>
          <a:prstGeom prst="rect">
            <a:avLst/>
          </a:prstGeom>
          <a:noFill/>
          <a:ln/>
        </p:spPr>
        <p:txBody>
          <a:bodyPr wrap="square" lIns="0" tIns="0" rIns="0" bIns="0" rtlCol="0" anchor="ctr"/>
          <a:lstStyle/>
          <a:p>
            <a:pPr indent="0" marL="0">
              <a:buNone/>
            </a:pPr>
            <a:r>
              <a:rPr lang="en-US" sz="1250" b="1" dirty="0">
                <a:solidFill>
                  <a:srgbClr val="E8A33D"/>
                </a:solidFill>
              </a:rPr>
              <a:t>Problem. </a:t>
            </a:r>
            <a:pPr indent="0" marL="0">
              <a:buNone/>
            </a:pPr>
            <a:r>
              <a:rPr lang="en-US" sz="1250" dirty="0">
                <a:solidFill>
                  <a:srgbClr val="FFFFFF"/>
                </a:solidFill>
              </a:rPr>
              <a:t>Pollution is falling, but WHO (2021) guideline breaches persist, exposure is unequal (Gadenne et al., 2024) and local measures show mixed results (Liu et al., 2023; Williams et al., 2025).</a:t>
            </a:r>
            <a:endParaRPr lang="en-US" sz="1250" dirty="0"/>
          </a:p>
        </p:txBody>
      </p:sp>
      <p:sp>
        <p:nvSpPr>
          <p:cNvPr id="5" name="Shape 3"/>
          <p:cNvSpPr/>
          <p:nvPr/>
        </p:nvSpPr>
        <p:spPr>
          <a:xfrm>
            <a:off x="457200" y="2468880"/>
            <a:ext cx="2834640" cy="2331720"/>
          </a:xfrm>
          <a:prstGeom prst="rect">
            <a:avLst/>
          </a:prstGeom>
          <a:solidFill>
            <a:srgbClr val="E6F2F1"/>
          </a:solidFill>
          <a:ln w="12700">
            <a:solidFill>
              <a:srgbClr val="E6F2F1"/>
            </a:solidFill>
            <a:prstDash val="solid"/>
          </a:ln>
        </p:spPr>
      </p:sp>
      <p:sp>
        <p:nvSpPr>
          <p:cNvPr id="6" name="Shape 4"/>
          <p:cNvSpPr/>
          <p:nvPr/>
        </p:nvSpPr>
        <p:spPr>
          <a:xfrm>
            <a:off x="3474720" y="2468880"/>
            <a:ext cx="2834640" cy="2331720"/>
          </a:xfrm>
          <a:prstGeom prst="rect">
            <a:avLst/>
          </a:prstGeom>
          <a:solidFill>
            <a:srgbClr val="FBEFD9"/>
          </a:solidFill>
          <a:ln w="12700">
            <a:solidFill>
              <a:srgbClr val="FBEFD9"/>
            </a:solidFill>
            <a:prstDash val="solid"/>
          </a:ln>
        </p:spPr>
      </p:sp>
      <p:sp>
        <p:nvSpPr>
          <p:cNvPr id="7" name="Text 5"/>
          <p:cNvSpPr txBox="1"/>
          <p:nvPr/>
        </p:nvSpPr>
        <p:spPr>
          <a:xfrm>
            <a:off x="566928" y="2542032"/>
            <a:ext cx="2633472" cy="2194560"/>
          </a:xfrm>
          <a:prstGeom prst="rect">
            <a:avLst/>
          </a:prstGeom>
          <a:noFill/>
          <a:ln/>
        </p:spPr>
        <p:txBody>
          <a:bodyPr wrap="square" lIns="0" tIns="0" rIns="0" bIns="0" rtlCol="0" anchor="t"/>
          <a:lstStyle/>
          <a:p>
            <a:pPr indent="0" marL="0">
              <a:spcAft>
                <a:spcPts val="400"/>
              </a:spcAft>
              <a:buNone/>
            </a:pPr>
            <a:r>
              <a:rPr lang="en-US" sz="1300" b="1" dirty="0">
                <a:solidFill>
                  <a:srgbClr val="1F7A8C"/>
                </a:solidFill>
              </a:rPr>
              <a:t>Known from research</a:t>
            </a:r>
            <a:endParaRPr lang="en-US" sz="1150" dirty="0"/>
          </a:p>
          <a:p>
            <a:pPr marL="342900" indent="-342900">
              <a:spcAft>
                <a:spcPts val="400"/>
              </a:spcAft>
              <a:buSzPct val="100000"/>
              <a:buChar char="•"/>
            </a:pPr>
            <a:r>
              <a:rPr lang="en-US" sz="1150" dirty="0">
                <a:solidFill>
                  <a:srgbClr val="1B1F23"/>
                </a:solidFill>
              </a:rPr>
              <a:t>NO₂ and PM₂.₅ breach days falling (Weber &amp; Dacre, 2025)</a:t>
            </a:r>
            <a:endParaRPr lang="en-US" sz="1150" dirty="0"/>
          </a:p>
          <a:p>
            <a:pPr marL="342900" indent="-342900">
              <a:spcAft>
                <a:spcPts val="400"/>
              </a:spcAft>
              <a:buSzPct val="100000"/>
              <a:buChar char="•"/>
            </a:pPr>
            <a:r>
              <a:rPr lang="en-US" sz="1150" dirty="0">
                <a:solidFill>
                  <a:srgbClr val="1B1F23"/>
                </a:solidFill>
              </a:rPr>
              <a:t>Deprived areas still more exposed (Gadenne et al., 2024)</a:t>
            </a:r>
            <a:endParaRPr lang="en-US" sz="1150" dirty="0"/>
          </a:p>
          <a:p>
            <a:pPr marL="342900" indent="-342900">
              <a:spcAft>
                <a:spcPts val="400"/>
              </a:spcAft>
              <a:buSzPct val="100000"/>
              <a:buChar char="•"/>
            </a:pPr>
            <a:r>
              <a:rPr lang="en-US" sz="1150" dirty="0">
                <a:solidFill>
                  <a:srgbClr val="1B1F23"/>
                </a:solidFill>
              </a:rPr>
              <a:t>Scheme effects vary by city (TfL, 2025; Liu et al., 2023; Williams et al., 2025)</a:t>
            </a:r>
            <a:endParaRPr lang="en-US" sz="1150" dirty="0"/>
          </a:p>
        </p:txBody>
      </p:sp>
      <p:sp>
        <p:nvSpPr>
          <p:cNvPr id="8" name="Text 6"/>
          <p:cNvSpPr txBox="1"/>
          <p:nvPr/>
        </p:nvSpPr>
        <p:spPr>
          <a:xfrm>
            <a:off x="3584448" y="2542032"/>
            <a:ext cx="2633472" cy="2194560"/>
          </a:xfrm>
          <a:prstGeom prst="rect">
            <a:avLst/>
          </a:prstGeom>
          <a:noFill/>
          <a:ln/>
        </p:spPr>
        <p:txBody>
          <a:bodyPr wrap="square" lIns="0" tIns="0" rIns="0" bIns="0" rtlCol="0" anchor="t"/>
          <a:lstStyle/>
          <a:p>
            <a:pPr indent="0" marL="0">
              <a:buNone/>
            </a:pPr>
            <a:r>
              <a:rPr lang="en-US" sz="1300" b="1" dirty="0">
                <a:solidFill>
                  <a:srgbClr val="A86A0E"/>
                </a:solidFill>
              </a:rPr>
              <a:t>Research gap</a:t>
            </a:r>
            <a:endParaRPr lang="en-US" sz="1150" dirty="0"/>
          </a:p>
          <a:p>
            <a:pPr indent="0" marL="0">
              <a:buNone/>
            </a:pPr>
            <a:r>
              <a:rPr lang="en-US" sz="1150" dirty="0">
                <a:solidFill>
                  <a:srgbClr val="1B1F23"/>
                </a:solidFill>
              </a:rPr>
              <a:t>Evidence is mostly quantitative and outcome-focused, national or single-city. A cross-city interpretive synthesis of how air quality management is framed within sustainable development is not evident here; Weeks 1–2 scoping will test this.</a:t>
            </a:r>
            <a:endParaRPr lang="en-US" sz="1150" dirty="0"/>
          </a:p>
        </p:txBody>
      </p:sp>
      <p:sp>
        <p:nvSpPr>
          <p:cNvPr id="9" name="Shape 7"/>
          <p:cNvSpPr/>
          <p:nvPr/>
        </p:nvSpPr>
        <p:spPr>
          <a:xfrm>
            <a:off x="457200" y="4937760"/>
            <a:ext cx="5852160" cy="1051560"/>
          </a:xfrm>
          <a:prstGeom prst="rect">
            <a:avLst/>
          </a:prstGeom>
          <a:solidFill>
            <a:srgbClr val="E6F2F1"/>
          </a:solidFill>
          <a:ln w="12700">
            <a:solidFill>
              <a:srgbClr val="E6F2F1"/>
            </a:solidFill>
            <a:prstDash val="solid"/>
          </a:ln>
        </p:spPr>
      </p:sp>
      <p:sp>
        <p:nvSpPr>
          <p:cNvPr id="10" name="Text 8"/>
          <p:cNvSpPr txBox="1"/>
          <p:nvPr/>
        </p:nvSpPr>
        <p:spPr>
          <a:xfrm>
            <a:off x="594360" y="4965192"/>
            <a:ext cx="5577840" cy="1005840"/>
          </a:xfrm>
          <a:prstGeom prst="rect">
            <a:avLst/>
          </a:prstGeom>
          <a:noFill/>
          <a:ln/>
        </p:spPr>
        <p:txBody>
          <a:bodyPr wrap="square" lIns="0" tIns="0" rIns="0" bIns="0" rtlCol="0" anchor="ctr"/>
          <a:lstStyle/>
          <a:p>
            <a:pPr indent="0" marL="0">
              <a:buNone/>
            </a:pPr>
            <a:r>
              <a:rPr lang="en-US" sz="1200" b="1" dirty="0">
                <a:solidFill>
                  <a:srgbClr val="1F7A8C"/>
                </a:solidFill>
              </a:rPr>
              <a:t>Who benefits and how. </a:t>
            </a:r>
            <a:pPr indent="0" marL="0">
              <a:buNone/>
            </a:pPr>
            <a:r>
              <a:rPr lang="en-US" sz="1200" dirty="0">
                <a:solidFill>
                  <a:srgbClr val="1B1F23"/>
                </a:solidFill>
              </a:rPr>
              <a:t>City authorities and Defra (policy design), public-health bodies and residents in more exposed areas, and researchers. Contribution to knowledge, practice and policy (UN, 2015).</a:t>
            </a:r>
            <a:endParaRPr lang="en-US" sz="1200" dirty="0"/>
          </a:p>
        </p:txBody>
      </p:sp>
      <p:graphicFrame>
        <p:nvGraphicFramePr>
          <p:cNvPr id="11" name="Chart 0" descr=""/>
          <p:cNvGraphicFramePr/>
          <p:nvPr/>
        </p:nvGraphicFramePr>
        <p:xfrm>
          <a:off x="6583680" y="1280160"/>
          <a:ext cx="5148072" cy="470916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57200" y="6108192"/>
            <a:ext cx="11274552" cy="32004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 Transport for London (2025), London-wide ULEZ one year report. Modelled against a counterfactual 'no ULEZ' scenario, not observed before-and-after differences.</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Research aim, objectives, questions and conceptual framework</a:t>
            </a:r>
            <a:endParaRPr lang="en-US" sz="2600" dirty="0"/>
          </a:p>
        </p:txBody>
      </p:sp>
      <p:sp>
        <p:nvSpPr>
          <p:cNvPr id="3" name="Shape 1"/>
          <p:cNvSpPr/>
          <p:nvPr/>
        </p:nvSpPr>
        <p:spPr>
          <a:xfrm>
            <a:off x="457200" y="1280160"/>
            <a:ext cx="6858000" cy="868680"/>
          </a:xfrm>
          <a:prstGeom prst="rect">
            <a:avLst/>
          </a:prstGeom>
          <a:solidFill>
            <a:srgbClr val="0F2E3D"/>
          </a:solidFill>
          <a:ln w="12700">
            <a:solidFill>
              <a:srgbClr val="0F2E3D"/>
            </a:solidFill>
            <a:prstDash val="solid"/>
          </a:ln>
        </p:spPr>
      </p:sp>
      <p:sp>
        <p:nvSpPr>
          <p:cNvPr id="4" name="Text 2"/>
          <p:cNvSpPr txBox="1"/>
          <p:nvPr/>
        </p:nvSpPr>
        <p:spPr>
          <a:xfrm>
            <a:off x="594360" y="1307592"/>
            <a:ext cx="6583680" cy="822960"/>
          </a:xfrm>
          <a:prstGeom prst="rect">
            <a:avLst/>
          </a:prstGeom>
          <a:noFill/>
          <a:ln/>
        </p:spPr>
        <p:txBody>
          <a:bodyPr wrap="square" lIns="0" tIns="0" rIns="0" bIns="0" rtlCol="0" anchor="ctr"/>
          <a:lstStyle/>
          <a:p>
            <a:pPr indent="0" marL="0">
              <a:buNone/>
            </a:pPr>
            <a:r>
              <a:rPr lang="en-US" sz="1300" b="1" dirty="0">
                <a:solidFill>
                  <a:srgbClr val="E8A33D"/>
                </a:solidFill>
              </a:rPr>
              <a:t>Aim: </a:t>
            </a:r>
            <a:pPr indent="0" marL="0">
              <a:buNone/>
            </a:pPr>
            <a:r>
              <a:rPr lang="en-US" sz="1300" dirty="0">
                <a:solidFill>
                  <a:srgbClr val="FFFFFF"/>
                </a:solidFill>
              </a:rPr>
              <a:t>To evaluate how air quality management is framed and implemented in major UK cities, and what role it plays in advancing sustainable urban development.</a:t>
            </a:r>
            <a:endParaRPr lang="en-US" sz="1300" dirty="0"/>
          </a:p>
        </p:txBody>
      </p:sp>
      <p:sp>
        <p:nvSpPr>
          <p:cNvPr id="5" name="Text 3"/>
          <p:cNvSpPr txBox="1"/>
          <p:nvPr/>
        </p:nvSpPr>
        <p:spPr>
          <a:xfrm>
            <a:off x="457200" y="2286000"/>
            <a:ext cx="6858000" cy="274320"/>
          </a:xfrm>
          <a:prstGeom prst="rect">
            <a:avLst/>
          </a:prstGeom>
          <a:noFill/>
          <a:ln/>
        </p:spPr>
        <p:txBody>
          <a:bodyPr wrap="square" lIns="0" tIns="0" rIns="0" bIns="0" rtlCol="0" anchor="ctr"/>
          <a:lstStyle/>
          <a:p>
            <a:pPr indent="0" marL="0">
              <a:buNone/>
            </a:pPr>
            <a:r>
              <a:rPr lang="en-US" sz="1500" b="1" dirty="0">
                <a:solidFill>
                  <a:srgbClr val="1F7A8C"/>
                </a:solidFill>
                <a:latin typeface="Cambria" pitchFamily="34" charset="0"/>
                <a:ea typeface="Cambria" pitchFamily="34" charset="-122"/>
                <a:cs typeface="Cambria" pitchFamily="34" charset="-120"/>
              </a:rPr>
              <a:t>Objectives</a:t>
            </a:r>
            <a:endParaRPr lang="en-US" sz="1500" dirty="0"/>
          </a:p>
        </p:txBody>
      </p:sp>
      <p:sp>
        <p:nvSpPr>
          <p:cNvPr id="6" name="Text 4"/>
          <p:cNvSpPr txBox="1"/>
          <p:nvPr/>
        </p:nvSpPr>
        <p:spPr>
          <a:xfrm>
            <a:off x="457200" y="2578608"/>
            <a:ext cx="6858000" cy="160020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250" dirty="0">
                <a:solidFill>
                  <a:srgbClr val="1B1F23"/>
                </a:solidFill>
              </a:rPr>
              <a:t>Review UK air quality trends, standards (WHO, 2021; Environmental Targets Regulations 2023) and management measures.</a:t>
            </a:r>
            <a:endParaRPr lang="en-US" sz="1250" dirty="0"/>
          </a:p>
          <a:p>
            <a:pPr marL="342900" indent="-342900">
              <a:spcAft>
                <a:spcPts val="300"/>
              </a:spcAft>
              <a:buSzPct val="100000"/>
              <a:buFont typeface="+mj-lt"/>
              <a:buAutoNum type="arabicPeriod" startAt="1"/>
            </a:pPr>
            <a:r>
              <a:rPr lang="en-US" sz="1250" dirty="0">
                <a:solidFill>
                  <a:srgbClr val="1B1F23"/>
                </a:solidFill>
              </a:rPr>
              <a:t>Select official and peer-reviewed secondary sources for 4–6 major UK cities.</a:t>
            </a:r>
            <a:endParaRPr lang="en-US" sz="1250" dirty="0"/>
          </a:p>
          <a:p>
            <a:pPr marL="342900" indent="-342900">
              <a:spcAft>
                <a:spcPts val="300"/>
              </a:spcAft>
              <a:buSzPct val="100000"/>
              <a:buFont typeface="+mj-lt"/>
              <a:buAutoNum type="arabicPeriod" startAt="1"/>
            </a:pPr>
            <a:r>
              <a:rPr lang="en-US" sz="1250" dirty="0">
                <a:solidFill>
                  <a:srgbClr val="1B1F23"/>
                </a:solidFill>
              </a:rPr>
              <a:t>Thematically analyse how air quality management is justified and linked to sustainability dimensions.</a:t>
            </a:r>
            <a:endParaRPr lang="en-US" sz="1250" dirty="0"/>
          </a:p>
          <a:p>
            <a:pPr marL="342900" indent="-342900">
              <a:spcAft>
                <a:spcPts val="300"/>
              </a:spcAft>
              <a:buSzPct val="100000"/>
              <a:buFont typeface="+mj-lt"/>
              <a:buAutoNum type="arabicPeriod" startAt="1"/>
            </a:pPr>
            <a:r>
              <a:rPr lang="en-US" sz="1250" dirty="0">
                <a:solidFill>
                  <a:srgbClr val="1B1F23"/>
                </a:solidFill>
              </a:rPr>
              <a:t>Interpret cross-city patterns and draw implications for policy and further research.</a:t>
            </a:r>
            <a:endParaRPr lang="en-US" sz="1250" dirty="0"/>
          </a:p>
        </p:txBody>
      </p:sp>
      <p:sp>
        <p:nvSpPr>
          <p:cNvPr id="7" name="Text 5"/>
          <p:cNvSpPr txBox="1"/>
          <p:nvPr/>
        </p:nvSpPr>
        <p:spPr>
          <a:xfrm>
            <a:off x="457200" y="4251960"/>
            <a:ext cx="6858000" cy="274320"/>
          </a:xfrm>
          <a:prstGeom prst="rect">
            <a:avLst/>
          </a:prstGeom>
          <a:noFill/>
          <a:ln/>
        </p:spPr>
        <p:txBody>
          <a:bodyPr wrap="square" lIns="0" tIns="0" rIns="0" bIns="0" rtlCol="0" anchor="ctr"/>
          <a:lstStyle/>
          <a:p>
            <a:pPr indent="0" marL="0">
              <a:buNone/>
            </a:pPr>
            <a:r>
              <a:rPr lang="en-US" sz="1500" b="1" dirty="0">
                <a:solidFill>
                  <a:srgbClr val="1F7A8C"/>
                </a:solidFill>
                <a:latin typeface="Cambria" pitchFamily="34" charset="0"/>
                <a:ea typeface="Cambria" pitchFamily="34" charset="-122"/>
                <a:cs typeface="Cambria" pitchFamily="34" charset="-120"/>
              </a:rPr>
              <a:t>Research questions</a:t>
            </a:r>
            <a:endParaRPr lang="en-US" sz="1500" dirty="0"/>
          </a:p>
        </p:txBody>
      </p:sp>
      <p:sp>
        <p:nvSpPr>
          <p:cNvPr id="8" name="Text 6"/>
          <p:cNvSpPr txBox="1"/>
          <p:nvPr/>
        </p:nvSpPr>
        <p:spPr>
          <a:xfrm>
            <a:off x="457200" y="4544568"/>
            <a:ext cx="6858000" cy="1463040"/>
          </a:xfrm>
          <a:prstGeom prst="rect">
            <a:avLst/>
          </a:prstGeom>
          <a:noFill/>
          <a:ln/>
        </p:spPr>
        <p:txBody>
          <a:bodyPr wrap="square" lIns="0" tIns="0" rIns="0" bIns="0" rtlCol="0" anchor="t"/>
          <a:lstStyle/>
          <a:p>
            <a:pPr indent="0" marL="0">
              <a:spcAft>
                <a:spcPts val="300"/>
              </a:spcAft>
              <a:buNone/>
            </a:pPr>
            <a:r>
              <a:rPr lang="en-US" sz="1250" b="1" dirty="0">
                <a:solidFill>
                  <a:srgbClr val="1B1F23"/>
                </a:solidFill>
              </a:rPr>
              <a:t>RQ1: </a:t>
            </a:r>
            <a:pPr indent="0" marL="0">
              <a:spcAft>
                <a:spcPts val="300"/>
              </a:spcAft>
              <a:buNone/>
            </a:pPr>
            <a:r>
              <a:rPr lang="en-US" sz="1250" dirty="0">
                <a:solidFill>
                  <a:srgbClr val="1B1F23"/>
                </a:solidFill>
              </a:rPr>
              <a:t>How do city authorities and official bodies frame the purpose of air quality management in relation to sustainable urban development?</a:t>
            </a:r>
            <a:endParaRPr lang="en-US" sz="1250" dirty="0"/>
          </a:p>
          <a:p>
            <a:pPr indent="0" marL="0">
              <a:spcAft>
                <a:spcPts val="300"/>
              </a:spcAft>
              <a:buNone/>
            </a:pPr>
            <a:r>
              <a:rPr lang="en-US" sz="1250" b="1" dirty="0">
                <a:solidFill>
                  <a:srgbClr val="1B1F23"/>
                </a:solidFill>
              </a:rPr>
              <a:t>RQ2: </a:t>
            </a:r>
            <a:pPr indent="0" marL="0">
              <a:spcAft>
                <a:spcPts val="300"/>
              </a:spcAft>
              <a:buNone/>
            </a:pPr>
            <a:r>
              <a:rPr lang="en-US" sz="1250" dirty="0">
                <a:solidFill>
                  <a:srgbClr val="1B1F23"/>
                </a:solidFill>
              </a:rPr>
              <a:t>What themes characterise implementation measures and reported outcomes across the selected cities?</a:t>
            </a:r>
            <a:endParaRPr lang="en-US" sz="1250" dirty="0"/>
          </a:p>
          <a:p>
            <a:pPr indent="0" marL="0">
              <a:spcAft>
                <a:spcPts val="300"/>
              </a:spcAft>
              <a:buNone/>
            </a:pPr>
            <a:r>
              <a:rPr lang="en-US" sz="1250" b="1" dirty="0">
                <a:solidFill>
                  <a:srgbClr val="1B1F23"/>
                </a:solidFill>
              </a:rPr>
              <a:t>RQ3: </a:t>
            </a:r>
            <a:pPr indent="0" marL="0">
              <a:spcAft>
                <a:spcPts val="300"/>
              </a:spcAft>
              <a:buNone/>
            </a:pPr>
            <a:r>
              <a:rPr lang="en-US" sz="1250" dirty="0">
                <a:solidFill>
                  <a:srgbClr val="1B1F23"/>
                </a:solidFill>
              </a:rPr>
              <a:t>What enablers, barriers and equity considerations appear in the documents?</a:t>
            </a:r>
            <a:endParaRPr lang="en-US" sz="1250" dirty="0"/>
          </a:p>
        </p:txBody>
      </p:sp>
      <p:sp>
        <p:nvSpPr>
          <p:cNvPr id="9" name="Text 7"/>
          <p:cNvSpPr txBox="1"/>
          <p:nvPr/>
        </p:nvSpPr>
        <p:spPr>
          <a:xfrm>
            <a:off x="7680960" y="1280160"/>
            <a:ext cx="4050792" cy="274320"/>
          </a:xfrm>
          <a:prstGeom prst="rect">
            <a:avLst/>
          </a:prstGeom>
          <a:noFill/>
          <a:ln/>
        </p:spPr>
        <p:txBody>
          <a:bodyPr wrap="square" lIns="0" tIns="0" rIns="0" bIns="0" rtlCol="0" anchor="ctr"/>
          <a:lstStyle/>
          <a:p>
            <a:pPr indent="0" marL="0">
              <a:buNone/>
            </a:pPr>
            <a:r>
              <a:rPr lang="en-US" sz="1500" b="1" dirty="0">
                <a:solidFill>
                  <a:srgbClr val="1F7A8C"/>
                </a:solidFill>
                <a:latin typeface="Cambria" pitchFamily="34" charset="0"/>
                <a:ea typeface="Cambria" pitchFamily="34" charset="-122"/>
                <a:cs typeface="Cambria" pitchFamily="34" charset="-120"/>
              </a:rPr>
              <a:t>Conceptual framework</a:t>
            </a:r>
            <a:endParaRPr lang="en-US" sz="1500" dirty="0"/>
          </a:p>
        </p:txBody>
      </p:sp>
      <p:sp>
        <p:nvSpPr>
          <p:cNvPr id="10" name="Shape 8"/>
          <p:cNvSpPr/>
          <p:nvPr/>
        </p:nvSpPr>
        <p:spPr>
          <a:xfrm>
            <a:off x="7680960" y="1691640"/>
            <a:ext cx="4050792" cy="1005840"/>
          </a:xfrm>
          <a:prstGeom prst="rect">
            <a:avLst/>
          </a:prstGeom>
          <a:solidFill>
            <a:srgbClr val="0F2E3D"/>
          </a:solidFill>
          <a:ln w="12700">
            <a:solidFill>
              <a:srgbClr val="0F2E3D"/>
            </a:solidFill>
            <a:prstDash val="solid"/>
          </a:ln>
        </p:spPr>
      </p:sp>
      <p:sp>
        <p:nvSpPr>
          <p:cNvPr id="11" name="Text 9"/>
          <p:cNvSpPr txBox="1"/>
          <p:nvPr/>
        </p:nvSpPr>
        <p:spPr>
          <a:xfrm>
            <a:off x="7818120" y="1691640"/>
            <a:ext cx="3776472" cy="1005840"/>
          </a:xfrm>
          <a:prstGeom prst="rect">
            <a:avLst/>
          </a:prstGeom>
          <a:noFill/>
          <a:ln/>
        </p:spPr>
        <p:txBody>
          <a:bodyPr wrap="square" lIns="0" tIns="0" rIns="0" bIns="0" rtlCol="0" anchor="ctr"/>
          <a:lstStyle/>
          <a:p>
            <a:pPr indent="0" marL="0">
              <a:buNone/>
            </a:pPr>
            <a:r>
              <a:rPr lang="en-US" sz="1300" b="1" dirty="0">
                <a:solidFill>
                  <a:srgbClr val="FFFFFF"/>
                </a:solidFill>
              </a:rPr>
              <a:t>Standards and targets</a:t>
            </a:r>
            <a:endParaRPr lang="en-US" sz="1300" dirty="0"/>
          </a:p>
          <a:p>
            <a:pPr indent="0" marL="0">
              <a:buNone/>
            </a:pPr>
            <a:r>
              <a:rPr lang="en-US" sz="1100" dirty="0">
                <a:solidFill>
                  <a:srgbClr val="FFFFFF"/>
                </a:solidFill>
              </a:rPr>
              <a:t>WHO (2021) guidelines; 2040 PM₂.₅ target (Regulations 2023)</a:t>
            </a:r>
            <a:endParaRPr lang="en-US" sz="1300" dirty="0"/>
          </a:p>
        </p:txBody>
      </p:sp>
      <p:sp>
        <p:nvSpPr>
          <p:cNvPr id="12" name="Shape 10"/>
          <p:cNvSpPr/>
          <p:nvPr/>
        </p:nvSpPr>
        <p:spPr>
          <a:xfrm>
            <a:off x="9464040" y="2724912"/>
            <a:ext cx="457200" cy="265176"/>
          </a:xfrm>
          <a:prstGeom prst="downArrow">
            <a:avLst/>
          </a:prstGeom>
          <a:solidFill>
            <a:srgbClr val="E8A33D"/>
          </a:solidFill>
          <a:ln w="12700">
            <a:solidFill>
              <a:srgbClr val="E8A33D"/>
            </a:solidFill>
            <a:prstDash val="solid"/>
          </a:ln>
        </p:spPr>
      </p:sp>
      <p:sp>
        <p:nvSpPr>
          <p:cNvPr id="13" name="Shape 11"/>
          <p:cNvSpPr/>
          <p:nvPr/>
        </p:nvSpPr>
        <p:spPr>
          <a:xfrm>
            <a:off x="7680960" y="3017520"/>
            <a:ext cx="4050792" cy="1005840"/>
          </a:xfrm>
          <a:prstGeom prst="rect">
            <a:avLst/>
          </a:prstGeom>
          <a:solidFill>
            <a:srgbClr val="1F7A8C"/>
          </a:solidFill>
          <a:ln w="12700">
            <a:solidFill>
              <a:srgbClr val="1F7A8C"/>
            </a:solidFill>
            <a:prstDash val="solid"/>
          </a:ln>
        </p:spPr>
      </p:sp>
      <p:sp>
        <p:nvSpPr>
          <p:cNvPr id="14" name="Text 12"/>
          <p:cNvSpPr txBox="1"/>
          <p:nvPr/>
        </p:nvSpPr>
        <p:spPr>
          <a:xfrm>
            <a:off x="7818120" y="3017520"/>
            <a:ext cx="3776472" cy="1005840"/>
          </a:xfrm>
          <a:prstGeom prst="rect">
            <a:avLst/>
          </a:prstGeom>
          <a:noFill/>
          <a:ln/>
        </p:spPr>
        <p:txBody>
          <a:bodyPr wrap="square" lIns="0" tIns="0" rIns="0" bIns="0" rtlCol="0" anchor="ctr"/>
          <a:lstStyle/>
          <a:p>
            <a:pPr indent="0" marL="0">
              <a:buNone/>
            </a:pPr>
            <a:r>
              <a:rPr lang="en-US" sz="1300" b="1" dirty="0">
                <a:solidFill>
                  <a:srgbClr val="FFFFFF"/>
                </a:solidFill>
              </a:rPr>
              <a:t>City management measures</a:t>
            </a:r>
            <a:endParaRPr lang="en-US" sz="1300" dirty="0"/>
          </a:p>
          <a:p>
            <a:pPr indent="0" marL="0">
              <a:buNone/>
            </a:pPr>
            <a:r>
              <a:rPr lang="en-US" sz="1100" dirty="0">
                <a:solidFill>
                  <a:srgbClr val="FFFFFF"/>
                </a:solidFill>
              </a:rPr>
              <a:t>ULEZ, Clean Air Zones, local action plans and monitoring (TfL, 2025; Liu et al., 2023)</a:t>
            </a:r>
            <a:endParaRPr lang="en-US" sz="1300" dirty="0"/>
          </a:p>
        </p:txBody>
      </p:sp>
      <p:sp>
        <p:nvSpPr>
          <p:cNvPr id="15" name="Shape 13"/>
          <p:cNvSpPr/>
          <p:nvPr/>
        </p:nvSpPr>
        <p:spPr>
          <a:xfrm>
            <a:off x="9464040" y="4050792"/>
            <a:ext cx="457200" cy="265176"/>
          </a:xfrm>
          <a:prstGeom prst="downArrow">
            <a:avLst/>
          </a:prstGeom>
          <a:solidFill>
            <a:srgbClr val="E8A33D"/>
          </a:solidFill>
          <a:ln w="12700">
            <a:solidFill>
              <a:srgbClr val="E8A33D"/>
            </a:solidFill>
            <a:prstDash val="solid"/>
          </a:ln>
        </p:spPr>
      </p:sp>
      <p:sp>
        <p:nvSpPr>
          <p:cNvPr id="16" name="Shape 14"/>
          <p:cNvSpPr/>
          <p:nvPr/>
        </p:nvSpPr>
        <p:spPr>
          <a:xfrm>
            <a:off x="7680960" y="4343400"/>
            <a:ext cx="4050792" cy="1005840"/>
          </a:xfrm>
          <a:prstGeom prst="rect">
            <a:avLst/>
          </a:prstGeom>
          <a:solidFill>
            <a:srgbClr val="E6F2F1"/>
          </a:solidFill>
          <a:ln w="12700">
            <a:solidFill>
              <a:srgbClr val="E6F2F1"/>
            </a:solidFill>
            <a:prstDash val="solid"/>
          </a:ln>
        </p:spPr>
      </p:sp>
      <p:sp>
        <p:nvSpPr>
          <p:cNvPr id="17" name="Text 15"/>
          <p:cNvSpPr txBox="1"/>
          <p:nvPr/>
        </p:nvSpPr>
        <p:spPr>
          <a:xfrm>
            <a:off x="7818120" y="4343400"/>
            <a:ext cx="3776472" cy="1005840"/>
          </a:xfrm>
          <a:prstGeom prst="rect">
            <a:avLst/>
          </a:prstGeom>
          <a:noFill/>
          <a:ln/>
        </p:spPr>
        <p:txBody>
          <a:bodyPr wrap="square" lIns="0" tIns="0" rIns="0" bIns="0" rtlCol="0" anchor="ctr"/>
          <a:lstStyle/>
          <a:p>
            <a:pPr indent="0" marL="0">
              <a:buNone/>
            </a:pPr>
            <a:r>
              <a:rPr lang="en-US" sz="1300" b="1" dirty="0">
                <a:solidFill>
                  <a:srgbClr val="1B1F23"/>
                </a:solidFill>
              </a:rPr>
              <a:t>Sustainable urban development</a:t>
            </a:r>
            <a:endParaRPr lang="en-US" sz="1300" dirty="0"/>
          </a:p>
          <a:p>
            <a:pPr indent="0" marL="0">
              <a:buNone/>
            </a:pPr>
            <a:r>
              <a:rPr lang="en-US" sz="1100" dirty="0">
                <a:solidFill>
                  <a:srgbClr val="1B1F23"/>
                </a:solidFill>
              </a:rPr>
              <a:t>Public health • equity • sustainable transport • economy (UN, 2015, Goal 11.6)</a:t>
            </a:r>
            <a:endParaRPr lang="en-US" sz="1300" dirty="0"/>
          </a:p>
        </p:txBody>
      </p:sp>
      <p:sp>
        <p:nvSpPr>
          <p:cNvPr id="18" name="Text 16"/>
          <p:cNvSpPr txBox="1"/>
          <p:nvPr/>
        </p:nvSpPr>
        <p:spPr>
          <a:xfrm>
            <a:off x="7680960" y="5623560"/>
            <a:ext cx="4050792" cy="685800"/>
          </a:xfrm>
          <a:prstGeom prst="rect">
            <a:avLst/>
          </a:prstGeom>
          <a:noFill/>
          <a:ln/>
        </p:spPr>
        <p:txBody>
          <a:bodyPr wrap="square" lIns="0" tIns="0" rIns="0" bIns="0" rtlCol="0" anchor="t"/>
          <a:lstStyle/>
          <a:p>
            <a:pPr indent="0" marL="0">
              <a:buNone/>
            </a:pPr>
            <a:r>
              <a:rPr lang="en-US" sz="1050" i="1" dirty="0">
                <a:solidFill>
                  <a:srgbClr val="5B6770"/>
                </a:solidFill>
              </a:rPr>
              <a:t>Feedback: monitoring and reporting (UK-AIR; Annual Status Reports) inform revised measures. Dimensions are sensitising concepts only; themes will emerge inductively.</a:t>
            </a:r>
            <a:endParaRPr lang="en-US" sz="105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Methodology: Saunders' Research Onion applied to this study</a:t>
            </a:r>
            <a:endParaRPr lang="en-US" sz="2600" dirty="0"/>
          </a:p>
        </p:txBody>
      </p:sp>
      <p:sp>
        <p:nvSpPr>
          <p:cNvPr id="3" name="Shape 1"/>
          <p:cNvSpPr/>
          <p:nvPr/>
        </p:nvSpPr>
        <p:spPr>
          <a:xfrm>
            <a:off x="731520" y="1371600"/>
            <a:ext cx="4572000" cy="4572000"/>
          </a:xfrm>
          <a:prstGeom prst="ellipse">
            <a:avLst/>
          </a:prstGeom>
          <a:solidFill>
            <a:srgbClr val="CFE5E8"/>
          </a:solidFill>
          <a:ln w="19050">
            <a:solidFill>
              <a:srgbClr val="FFFFFF"/>
            </a:solidFill>
            <a:prstDash val="solid"/>
          </a:ln>
        </p:spPr>
      </p:sp>
      <p:sp>
        <p:nvSpPr>
          <p:cNvPr id="4" name="Shape 2"/>
          <p:cNvSpPr/>
          <p:nvPr/>
        </p:nvSpPr>
        <p:spPr>
          <a:xfrm>
            <a:off x="1120140" y="1760220"/>
            <a:ext cx="3794760" cy="3794760"/>
          </a:xfrm>
          <a:prstGeom prst="ellipse">
            <a:avLst/>
          </a:prstGeom>
          <a:solidFill>
            <a:srgbClr val="A9D1D8"/>
          </a:solidFill>
          <a:ln w="19050">
            <a:solidFill>
              <a:srgbClr val="FFFFFF"/>
            </a:solidFill>
            <a:prstDash val="solid"/>
          </a:ln>
        </p:spPr>
      </p:sp>
      <p:sp>
        <p:nvSpPr>
          <p:cNvPr id="5" name="Shape 3"/>
          <p:cNvSpPr/>
          <p:nvPr/>
        </p:nvSpPr>
        <p:spPr>
          <a:xfrm>
            <a:off x="1508760" y="2148840"/>
            <a:ext cx="3017520" cy="3017520"/>
          </a:xfrm>
          <a:prstGeom prst="ellipse">
            <a:avLst/>
          </a:prstGeom>
          <a:solidFill>
            <a:srgbClr val="7FB7C2"/>
          </a:solidFill>
          <a:ln w="19050">
            <a:solidFill>
              <a:srgbClr val="FFFFFF"/>
            </a:solidFill>
            <a:prstDash val="solid"/>
          </a:ln>
        </p:spPr>
      </p:sp>
      <p:sp>
        <p:nvSpPr>
          <p:cNvPr id="6" name="Shape 4"/>
          <p:cNvSpPr/>
          <p:nvPr/>
        </p:nvSpPr>
        <p:spPr>
          <a:xfrm>
            <a:off x="1897380" y="2537460"/>
            <a:ext cx="2240280" cy="2240280"/>
          </a:xfrm>
          <a:prstGeom prst="ellipse">
            <a:avLst/>
          </a:prstGeom>
          <a:solidFill>
            <a:srgbClr val="4E9AAA"/>
          </a:solidFill>
          <a:ln w="19050">
            <a:solidFill>
              <a:srgbClr val="FFFFFF"/>
            </a:solidFill>
            <a:prstDash val="solid"/>
          </a:ln>
        </p:spPr>
      </p:sp>
      <p:sp>
        <p:nvSpPr>
          <p:cNvPr id="7" name="Shape 5"/>
          <p:cNvSpPr/>
          <p:nvPr/>
        </p:nvSpPr>
        <p:spPr>
          <a:xfrm>
            <a:off x="2286000" y="2926080"/>
            <a:ext cx="1463040" cy="1463040"/>
          </a:xfrm>
          <a:prstGeom prst="ellipse">
            <a:avLst/>
          </a:prstGeom>
          <a:solidFill>
            <a:srgbClr val="1F7A8C"/>
          </a:solidFill>
          <a:ln w="19050">
            <a:solidFill>
              <a:srgbClr val="FFFFFF"/>
            </a:solidFill>
            <a:prstDash val="solid"/>
          </a:ln>
        </p:spPr>
      </p:sp>
      <p:sp>
        <p:nvSpPr>
          <p:cNvPr id="8" name="Shape 6"/>
          <p:cNvSpPr/>
          <p:nvPr/>
        </p:nvSpPr>
        <p:spPr>
          <a:xfrm>
            <a:off x="2651760" y="3291840"/>
            <a:ext cx="731520" cy="731520"/>
          </a:xfrm>
          <a:prstGeom prst="ellipse">
            <a:avLst/>
          </a:prstGeom>
          <a:solidFill>
            <a:srgbClr val="0F2E3D"/>
          </a:solidFill>
          <a:ln w="19050">
            <a:solidFill>
              <a:srgbClr val="FFFFFF"/>
            </a:solidFill>
            <a:prstDash val="solid"/>
          </a:ln>
        </p:spPr>
      </p:sp>
      <p:sp>
        <p:nvSpPr>
          <p:cNvPr id="9" name="Shape 7"/>
          <p:cNvSpPr/>
          <p:nvPr/>
        </p:nvSpPr>
        <p:spPr>
          <a:xfrm>
            <a:off x="2862072" y="1408176"/>
            <a:ext cx="310896" cy="310896"/>
          </a:xfrm>
          <a:prstGeom prst="ellipse">
            <a:avLst/>
          </a:prstGeom>
          <a:solidFill>
            <a:srgbClr val="0F2E3D"/>
          </a:solidFill>
          <a:ln w="12700">
            <a:solidFill>
              <a:srgbClr val="0F2E3D"/>
            </a:solidFill>
            <a:prstDash val="solid"/>
          </a:ln>
        </p:spPr>
      </p:sp>
      <p:sp>
        <p:nvSpPr>
          <p:cNvPr id="10" name="Text 8"/>
          <p:cNvSpPr txBox="1"/>
          <p:nvPr/>
        </p:nvSpPr>
        <p:spPr>
          <a:xfrm>
            <a:off x="2862072" y="14081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9"/>
          <p:cNvSpPr/>
          <p:nvPr/>
        </p:nvSpPr>
        <p:spPr>
          <a:xfrm>
            <a:off x="2862072" y="1796796"/>
            <a:ext cx="310896" cy="310896"/>
          </a:xfrm>
          <a:prstGeom prst="ellipse">
            <a:avLst/>
          </a:prstGeom>
          <a:solidFill>
            <a:srgbClr val="0F2E3D"/>
          </a:solidFill>
          <a:ln w="12700">
            <a:solidFill>
              <a:srgbClr val="0F2E3D"/>
            </a:solidFill>
            <a:prstDash val="solid"/>
          </a:ln>
        </p:spPr>
      </p:sp>
      <p:sp>
        <p:nvSpPr>
          <p:cNvPr id="12" name="Text 10"/>
          <p:cNvSpPr txBox="1"/>
          <p:nvPr/>
        </p:nvSpPr>
        <p:spPr>
          <a:xfrm>
            <a:off x="2862072" y="17967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Shape 11"/>
          <p:cNvSpPr/>
          <p:nvPr/>
        </p:nvSpPr>
        <p:spPr>
          <a:xfrm>
            <a:off x="2862072" y="2185416"/>
            <a:ext cx="310896" cy="310896"/>
          </a:xfrm>
          <a:prstGeom prst="ellipse">
            <a:avLst/>
          </a:prstGeom>
          <a:solidFill>
            <a:srgbClr val="0F2E3D"/>
          </a:solidFill>
          <a:ln w="12700">
            <a:solidFill>
              <a:srgbClr val="0F2E3D"/>
            </a:solidFill>
            <a:prstDash val="solid"/>
          </a:ln>
        </p:spPr>
      </p:sp>
      <p:sp>
        <p:nvSpPr>
          <p:cNvPr id="14" name="Text 12"/>
          <p:cNvSpPr txBox="1"/>
          <p:nvPr/>
        </p:nvSpPr>
        <p:spPr>
          <a:xfrm>
            <a:off x="2862072" y="21854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5" name="Shape 13"/>
          <p:cNvSpPr/>
          <p:nvPr/>
        </p:nvSpPr>
        <p:spPr>
          <a:xfrm>
            <a:off x="2862072" y="2574036"/>
            <a:ext cx="310896" cy="310896"/>
          </a:xfrm>
          <a:prstGeom prst="ellipse">
            <a:avLst/>
          </a:prstGeom>
          <a:solidFill>
            <a:srgbClr val="FFFFFF"/>
          </a:solidFill>
          <a:ln w="12700">
            <a:solidFill>
              <a:srgbClr val="FFFFFF"/>
            </a:solidFill>
            <a:prstDash val="solid"/>
          </a:ln>
        </p:spPr>
      </p:sp>
      <p:sp>
        <p:nvSpPr>
          <p:cNvPr id="16" name="Text 14"/>
          <p:cNvSpPr txBox="1"/>
          <p:nvPr/>
        </p:nvSpPr>
        <p:spPr>
          <a:xfrm>
            <a:off x="2862072" y="2574036"/>
            <a:ext cx="310896" cy="310896"/>
          </a:xfrm>
          <a:prstGeom prst="rect">
            <a:avLst/>
          </a:prstGeom>
          <a:noFill/>
          <a:ln/>
        </p:spPr>
        <p:txBody>
          <a:bodyPr wrap="square" lIns="0" tIns="0" rIns="0" bIns="0" rtlCol="0" anchor="ctr"/>
          <a:lstStyle/>
          <a:p>
            <a:pPr algn="ctr" indent="0" marL="0">
              <a:buNone/>
            </a:pPr>
            <a:r>
              <a:rPr lang="en-US" sz="1100" b="1" dirty="0">
                <a:solidFill>
                  <a:srgbClr val="0F2E3D"/>
                </a:solidFill>
              </a:rPr>
              <a:t>4</a:t>
            </a:r>
            <a:endParaRPr lang="en-US" sz="1100" dirty="0"/>
          </a:p>
        </p:txBody>
      </p:sp>
      <p:sp>
        <p:nvSpPr>
          <p:cNvPr id="17" name="Shape 15"/>
          <p:cNvSpPr/>
          <p:nvPr/>
        </p:nvSpPr>
        <p:spPr>
          <a:xfrm>
            <a:off x="2862072" y="2962656"/>
            <a:ext cx="310896" cy="310896"/>
          </a:xfrm>
          <a:prstGeom prst="ellipse">
            <a:avLst/>
          </a:prstGeom>
          <a:solidFill>
            <a:srgbClr val="FFFFFF"/>
          </a:solidFill>
          <a:ln w="12700">
            <a:solidFill>
              <a:srgbClr val="FFFFFF"/>
            </a:solidFill>
            <a:prstDash val="solid"/>
          </a:ln>
        </p:spPr>
      </p:sp>
      <p:sp>
        <p:nvSpPr>
          <p:cNvPr id="18" name="Text 16"/>
          <p:cNvSpPr txBox="1"/>
          <p:nvPr/>
        </p:nvSpPr>
        <p:spPr>
          <a:xfrm>
            <a:off x="2862072" y="2962656"/>
            <a:ext cx="310896" cy="310896"/>
          </a:xfrm>
          <a:prstGeom prst="rect">
            <a:avLst/>
          </a:prstGeom>
          <a:noFill/>
          <a:ln/>
        </p:spPr>
        <p:txBody>
          <a:bodyPr wrap="square" lIns="0" tIns="0" rIns="0" bIns="0" rtlCol="0" anchor="ctr"/>
          <a:lstStyle/>
          <a:p>
            <a:pPr algn="ctr" indent="0" marL="0">
              <a:buNone/>
            </a:pPr>
            <a:r>
              <a:rPr lang="en-US" sz="1100" b="1" dirty="0">
                <a:solidFill>
                  <a:srgbClr val="0F2E3D"/>
                </a:solidFill>
              </a:rPr>
              <a:t>5</a:t>
            </a:r>
            <a:endParaRPr lang="en-US" sz="1100" dirty="0"/>
          </a:p>
        </p:txBody>
      </p:sp>
      <p:sp>
        <p:nvSpPr>
          <p:cNvPr id="19" name="Shape 17"/>
          <p:cNvSpPr/>
          <p:nvPr/>
        </p:nvSpPr>
        <p:spPr>
          <a:xfrm>
            <a:off x="2862072" y="3502152"/>
            <a:ext cx="310896" cy="310896"/>
          </a:xfrm>
          <a:prstGeom prst="ellipse">
            <a:avLst/>
          </a:prstGeom>
          <a:solidFill>
            <a:srgbClr val="FFFFFF"/>
          </a:solidFill>
          <a:ln w="12700">
            <a:solidFill>
              <a:srgbClr val="FFFFFF"/>
            </a:solidFill>
            <a:prstDash val="solid"/>
          </a:ln>
        </p:spPr>
      </p:sp>
      <p:sp>
        <p:nvSpPr>
          <p:cNvPr id="20" name="Text 18"/>
          <p:cNvSpPr txBox="1"/>
          <p:nvPr/>
        </p:nvSpPr>
        <p:spPr>
          <a:xfrm>
            <a:off x="2862072" y="3502152"/>
            <a:ext cx="310896" cy="310896"/>
          </a:xfrm>
          <a:prstGeom prst="rect">
            <a:avLst/>
          </a:prstGeom>
          <a:noFill/>
          <a:ln/>
        </p:spPr>
        <p:txBody>
          <a:bodyPr wrap="square" lIns="0" tIns="0" rIns="0" bIns="0" rtlCol="0" anchor="ctr"/>
          <a:lstStyle/>
          <a:p>
            <a:pPr algn="ctr" indent="0" marL="0">
              <a:buNone/>
            </a:pPr>
            <a:r>
              <a:rPr lang="en-US" sz="1100" b="1" dirty="0">
                <a:solidFill>
                  <a:srgbClr val="0F2E3D"/>
                </a:solidFill>
              </a:rPr>
              <a:t>6</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760720" y="1371600"/>
          <a:ext cx="5971032" cy="914400"/>
        </p:xfrm>
        <a:graphic>
          <a:graphicData uri="http://schemas.openxmlformats.org/drawingml/2006/table">
            <a:tbl>
              <a:tblPr/>
              <a:tblGrid>
                <a:gridCol w="1920240"/>
                <a:gridCol w="4050792"/>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73152" marR="73152" marT="45720" marB="45720"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Choice in this study and rationale</a:t>
                      </a:r>
                      <a:endParaRPr lang="en-US" sz="1200" dirty="0">
                        <a:latin typeface="Calibri" charset="0"/>
                        <a:ea typeface="Calibri" charset="0"/>
                        <a:cs typeface="Calibri" charset="0"/>
                      </a:endParaRPr>
                    </a:p>
                  </a:txBody>
                  <a:tcPr marL="73152" marR="73152" marT="45720" marB="45720"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r>
              <a:tr h="731520">
                <a:tc>
                  <a:txBody>
                    <a:bodyPr/>
                    <a:lstStyle/>
                    <a:p>
                      <a:pPr indent="0" marL="0">
                        <a:buNone/>
                      </a:pPr>
                      <a:r>
                        <a:rPr lang="en-US" sz="1200" b="1" dirty="0">
                          <a:solidFill>
                            <a:srgbClr val="1F7A8C"/>
                          </a:solidFill>
                          <a:latin typeface="Calibri" pitchFamily="34" charset="0"/>
                          <a:ea typeface="Calibri" pitchFamily="34" charset="-122"/>
                          <a:cs typeface="Calibri" pitchFamily="34" charset="-120"/>
                        </a:rPr>
                        <a:t>1. Philosophy</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200" dirty="0">
                          <a:solidFill>
                            <a:srgbClr val="1B1F23"/>
                          </a:solidFill>
                          <a:latin typeface="Calibri" pitchFamily="34" charset="0"/>
                          <a:ea typeface="Calibri" pitchFamily="34" charset="-122"/>
                          <a:cs typeface="Calibri" pitchFamily="34" charset="-120"/>
                        </a:rPr>
                        <a:t>Interpretivism: policy meaning and sustainability framings are socially constructed in the documents</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594360">
                <a:tc>
                  <a:txBody>
                    <a:bodyPr/>
                    <a:lstStyle/>
                    <a:p>
                      <a:pPr indent="0" marL="0">
                        <a:buNone/>
                      </a:pPr>
                      <a:r>
                        <a:rPr lang="en-US" sz="1200" b="1" dirty="0">
                          <a:solidFill>
                            <a:srgbClr val="1F7A8C"/>
                          </a:solidFill>
                          <a:latin typeface="Calibri" pitchFamily="34" charset="0"/>
                          <a:ea typeface="Calibri" pitchFamily="34" charset="-122"/>
                          <a:cs typeface="Calibri" pitchFamily="34" charset="-120"/>
                        </a:rPr>
                        <a:t>2. Approach</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200" dirty="0">
                          <a:solidFill>
                            <a:srgbClr val="1B1F23"/>
                          </a:solidFill>
                          <a:latin typeface="Calibri" pitchFamily="34" charset="0"/>
                          <a:ea typeface="Calibri" pitchFamily="34" charset="-122"/>
                          <a:cs typeface="Calibri" pitchFamily="34" charset="-120"/>
                        </a:rPr>
                        <a:t>Inductive: themes are derived from the data rather than testing hypotheses</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7A8C"/>
                          </a:solidFill>
                          <a:latin typeface="Calibri" pitchFamily="34" charset="0"/>
                          <a:ea typeface="Calibri" pitchFamily="34" charset="-122"/>
                          <a:cs typeface="Calibri" pitchFamily="34" charset="-120"/>
                        </a:rPr>
                        <a:t>3. Methodological choice</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200" dirty="0">
                          <a:solidFill>
                            <a:srgbClr val="1B1F23"/>
                          </a:solidFill>
                          <a:latin typeface="Calibri" pitchFamily="34" charset="0"/>
                          <a:ea typeface="Calibri" pitchFamily="34" charset="-122"/>
                          <a:cs typeface="Calibri" pitchFamily="34" charset="-120"/>
                        </a:rPr>
                        <a:t>Mono-method qualitative</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594360">
                <a:tc>
                  <a:txBody>
                    <a:bodyPr/>
                    <a:lstStyle/>
                    <a:p>
                      <a:pPr indent="0" marL="0">
                        <a:buNone/>
                      </a:pPr>
                      <a:r>
                        <a:rPr lang="en-US" sz="1200" b="1" dirty="0">
                          <a:solidFill>
                            <a:srgbClr val="1F7A8C"/>
                          </a:solidFill>
                          <a:latin typeface="Calibri" pitchFamily="34" charset="0"/>
                          <a:ea typeface="Calibri" pitchFamily="34" charset="-122"/>
                          <a:cs typeface="Calibri" pitchFamily="34" charset="-120"/>
                        </a:rPr>
                        <a:t>4. Strategy</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200" dirty="0">
                          <a:solidFill>
                            <a:srgbClr val="1B1F23"/>
                          </a:solidFill>
                          <a:latin typeface="Calibri" pitchFamily="34" charset="0"/>
                          <a:ea typeface="Calibri" pitchFamily="34" charset="-122"/>
                          <a:cs typeface="Calibri" pitchFamily="34" charset="-120"/>
                        </a:rPr>
                        <a:t>Archival and documentary research using secondary data</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F7A8C"/>
                          </a:solidFill>
                          <a:latin typeface="Calibri" pitchFamily="34" charset="0"/>
                          <a:ea typeface="Calibri" pitchFamily="34" charset="-122"/>
                          <a:cs typeface="Calibri" pitchFamily="34" charset="-120"/>
                        </a:rPr>
                        <a:t>5. Time horizon</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200" dirty="0">
                          <a:solidFill>
                            <a:srgbClr val="1B1F23"/>
                          </a:solidFill>
                          <a:latin typeface="Calibri" pitchFamily="34" charset="0"/>
                          <a:ea typeface="Calibri" pitchFamily="34" charset="-122"/>
                          <a:cs typeface="Calibri" pitchFamily="34" charset="-120"/>
                        </a:rPr>
                        <a:t>Cross-sectional snapshot of 2020–2025 documents, analysed within one six-week window</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F7A8C"/>
                          </a:solidFill>
                          <a:latin typeface="Calibri" pitchFamily="34" charset="0"/>
                          <a:ea typeface="Calibri" pitchFamily="34" charset="-122"/>
                          <a:cs typeface="Calibri" pitchFamily="34" charset="-120"/>
                        </a:rPr>
                        <a:t>6. Techniques and procedures</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200" dirty="0">
                          <a:solidFill>
                            <a:srgbClr val="1B1F23"/>
                          </a:solidFill>
                          <a:latin typeface="Calibri" pitchFamily="34" charset="0"/>
                          <a:ea typeface="Calibri" pitchFamily="34" charset="-122"/>
                          <a:cs typeface="Calibri" pitchFamily="34" charset="-120"/>
                        </a:rPr>
                        <a:t>Secondary data from official and peer-reviewed sources; reflexive thematic analysis</a:t>
                      </a:r>
                      <a:endParaRPr lang="en-US" sz="120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5760720" y="5669280"/>
            <a:ext cx="5971032" cy="320040"/>
          </a:xfrm>
          <a:prstGeom prst="rect">
            <a:avLst/>
          </a:prstGeom>
          <a:noFill/>
          <a:ln/>
        </p:spPr>
        <p:txBody>
          <a:bodyPr wrap="square" lIns="0" tIns="0" rIns="0" bIns="0" rtlCol="0" anchor="ctr"/>
          <a:lstStyle/>
          <a:p>
            <a:pPr indent="0" marL="0">
              <a:buNone/>
            </a:pPr>
            <a:r>
              <a:rPr lang="en-US" sz="1100" i="1" dirty="0">
                <a:solidFill>
                  <a:srgbClr val="5B6770"/>
                </a:solidFill>
              </a:rPr>
              <a:t>Layers 1–6 run from the outer ring (philosophy) to the centre (techniques and procedures).</a:t>
            </a:r>
            <a:endParaRPr lang="en-US" sz="1100" dirty="0"/>
          </a:p>
        </p:txBody>
      </p:sp>
      <p:sp>
        <p:nvSpPr>
          <p:cNvPr id="23" name="Text 20"/>
          <p:cNvSpPr txBox="1"/>
          <p:nvPr/>
        </p:nvSpPr>
        <p:spPr>
          <a:xfrm>
            <a:off x="457200" y="6108192"/>
            <a:ext cx="11274552" cy="32004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 Research Onion adapted from Saunders et al. (2023); thematic analysis procedures follow Braun and Clarke (2021). Diagram redrawn by the author.</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Methods: data selection, thematic analysis and ethics, and why they fit</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760720" cy="914400"/>
        </p:xfrm>
        <a:graphic>
          <a:graphicData uri="http://schemas.openxmlformats.org/drawingml/2006/table">
            <a:tbl>
              <a:tblPr/>
              <a:tblGrid>
                <a:gridCol w="1463040"/>
                <a:gridCol w="4297680"/>
              </a:tblGrid>
              <a:tr h="3200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 group</a:t>
                      </a:r>
                      <a:endParaRPr lang="en-US" sz="1200" dirty="0">
                        <a:latin typeface="Calibri" charset="0"/>
                        <a:ea typeface="Calibri" charset="0"/>
                        <a:cs typeface="Calibri" charset="0"/>
                      </a:endParaRPr>
                    </a:p>
                  </a:txBody>
                  <a:tcPr marL="73152" marR="73152"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marL="73152" marR="73152"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r>
              <a:tr h="457200">
                <a:tc>
                  <a:txBody>
                    <a:bodyPr/>
                    <a:lstStyle/>
                    <a:p>
                      <a:pPr indent="0" marL="0">
                        <a:buNone/>
                      </a:pPr>
                      <a:r>
                        <a:rPr lang="en-US" sz="1100" b="1" dirty="0">
                          <a:solidFill>
                            <a:srgbClr val="1B1F23"/>
                          </a:solidFill>
                          <a:latin typeface="Calibri" pitchFamily="34" charset="0"/>
                          <a:ea typeface="Calibri" pitchFamily="34" charset="-122"/>
                          <a:cs typeface="Calibri" pitchFamily="34" charset="-120"/>
                        </a:rPr>
                        <a:t>Government</a:t>
                      </a:r>
                      <a:endParaRPr lang="en-US" sz="110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00" dirty="0">
                          <a:solidFill>
                            <a:srgbClr val="1B1F23"/>
                          </a:solidFill>
                          <a:latin typeface="Calibri" pitchFamily="34" charset="0"/>
                          <a:ea typeface="Calibri" pitchFamily="34" charset="-122"/>
                          <a:cs typeface="Calibri" pitchFamily="34" charset="-120"/>
                        </a:rPr>
                        <a:t>Defra/UK-AIR, DfT, ONS, legislation.gov.uk (standards, context)</a:t>
                      </a:r>
                      <a:endParaRPr lang="en-US" sz="110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B1F23"/>
                          </a:solidFill>
                          <a:latin typeface="Calibri" pitchFamily="34" charset="0"/>
                          <a:ea typeface="Calibri" pitchFamily="34" charset="-122"/>
                          <a:cs typeface="Calibri" pitchFamily="34" charset="-120"/>
                        </a:rPr>
                        <a:t>City authorities</a:t>
                      </a:r>
                      <a:endParaRPr lang="en-US" sz="110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00" dirty="0">
                          <a:solidFill>
                            <a:srgbClr val="1B1F23"/>
                          </a:solidFill>
                          <a:latin typeface="Calibri" pitchFamily="34" charset="0"/>
                          <a:ea typeface="Calibri" pitchFamily="34" charset="-122"/>
                          <a:cs typeface="Calibri" pitchFamily="34" charset="-120"/>
                        </a:rPr>
                        <a:t>Annual Status Reports, action plans, TfL and Clean Air Zone reports (core corpus)</a:t>
                      </a:r>
                      <a:endParaRPr lang="en-US" sz="110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B1F23"/>
                          </a:solidFill>
                          <a:latin typeface="Calibri" pitchFamily="34" charset="0"/>
                          <a:ea typeface="Calibri" pitchFamily="34" charset="-122"/>
                          <a:cs typeface="Calibri" pitchFamily="34" charset="-120"/>
                        </a:rPr>
                        <a:t>Peer-reviewed</a:t>
                      </a:r>
                      <a:endParaRPr lang="en-US" sz="110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00" dirty="0">
                          <a:solidFill>
                            <a:srgbClr val="1B1F23"/>
                          </a:solidFill>
                          <a:latin typeface="Calibri" pitchFamily="34" charset="0"/>
                          <a:ea typeface="Calibri" pitchFamily="34" charset="-122"/>
                          <a:cs typeface="Calibri" pitchFamily="34" charset="-120"/>
                        </a:rPr>
                        <a:t>Journal evaluations of UK policy, e.g., Liu et al. (2023)</a:t>
                      </a:r>
                      <a:endParaRPr lang="en-US" sz="110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B1F23"/>
                          </a:solidFill>
                          <a:latin typeface="Calibri" pitchFamily="34" charset="0"/>
                          <a:ea typeface="Calibri" pitchFamily="34" charset="-122"/>
                          <a:cs typeface="Calibri" pitchFamily="34" charset="-120"/>
                        </a:rPr>
                        <a:t>News media</a:t>
                      </a:r>
                      <a:endParaRPr lang="en-US" sz="110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00" dirty="0">
                          <a:solidFill>
                            <a:srgbClr val="1B1F23"/>
                          </a:solidFill>
                          <a:latin typeface="Calibri" pitchFamily="34" charset="0"/>
                          <a:ea typeface="Calibri" pitchFamily="34" charset="-122"/>
                          <a:cs typeface="Calibri" pitchFamily="34" charset="-120"/>
                        </a:rPr>
                        <a:t>Reputable outlets; triangulation of public framing only</a:t>
                      </a:r>
                      <a:endParaRPr lang="en-US" sz="110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3657600"/>
            <a:ext cx="5760720" cy="1508760"/>
          </a:xfrm>
          <a:prstGeom prst="rect">
            <a:avLst/>
          </a:prstGeom>
          <a:solidFill>
            <a:srgbClr val="E6F2F1"/>
          </a:solidFill>
          <a:ln w="12700">
            <a:solidFill>
              <a:srgbClr val="E6F2F1"/>
            </a:solidFill>
            <a:prstDash val="solid"/>
          </a:ln>
        </p:spPr>
      </p:sp>
      <p:sp>
        <p:nvSpPr>
          <p:cNvPr id="5" name="Text 2"/>
          <p:cNvSpPr txBox="1"/>
          <p:nvPr/>
        </p:nvSpPr>
        <p:spPr>
          <a:xfrm>
            <a:off x="594360" y="3685032"/>
            <a:ext cx="5486400" cy="1463040"/>
          </a:xfrm>
          <a:prstGeom prst="rect">
            <a:avLst/>
          </a:prstGeom>
          <a:noFill/>
          <a:ln/>
        </p:spPr>
        <p:txBody>
          <a:bodyPr wrap="square" lIns="0" tIns="0" rIns="0" bIns="0" rtlCol="0" anchor="ctr"/>
          <a:lstStyle/>
          <a:p>
            <a:pPr indent="0" marL="0">
              <a:buNone/>
            </a:pPr>
            <a:r>
              <a:rPr lang="en-US" sz="1150" b="1" dirty="0">
                <a:solidFill>
                  <a:srgbClr val="1F7A8C"/>
                </a:solidFill>
              </a:rPr>
              <a:t>Selection (purposive). </a:t>
            </a:r>
            <a:pPr indent="0" marL="0">
              <a:buNone/>
            </a:pPr>
            <a:r>
              <a:rPr lang="en-US" sz="1150" dirty="0">
                <a:solidFill>
                  <a:srgbClr val="1B1F23"/>
                </a:solidFill>
              </a:rPr>
              <a:t>4–6 cities from London, Birmingham, Sheffield, Bristol, Manchester, Glasgow; about 30–40 documents. Include: 2020 onwards, major UK city, about air quality management, official or peer-reviewed, public. Exclude: unsourced or advocacy, non-UK, duplicates.</a:t>
            </a:r>
            <a:endParaRPr lang="en-US" sz="1150" dirty="0"/>
          </a:p>
        </p:txBody>
      </p:sp>
      <p:sp>
        <p:nvSpPr>
          <p:cNvPr id="6" name="Text 3"/>
          <p:cNvSpPr txBox="1"/>
          <p:nvPr/>
        </p:nvSpPr>
        <p:spPr>
          <a:xfrm>
            <a:off x="6492240" y="1280160"/>
            <a:ext cx="5239512" cy="320040"/>
          </a:xfrm>
          <a:prstGeom prst="rect">
            <a:avLst/>
          </a:prstGeom>
          <a:noFill/>
          <a:ln/>
        </p:spPr>
        <p:txBody>
          <a:bodyPr wrap="square" lIns="0" tIns="0" rIns="0" bIns="0" rtlCol="0" anchor="ctr"/>
          <a:lstStyle/>
          <a:p>
            <a:pPr indent="0" marL="0">
              <a:buNone/>
            </a:pPr>
            <a:r>
              <a:rPr lang="en-US" sz="1400" b="1" dirty="0">
                <a:solidFill>
                  <a:srgbClr val="1F7A8C"/>
                </a:solidFill>
                <a:latin typeface="Cambria" pitchFamily="34" charset="0"/>
                <a:ea typeface="Cambria" pitchFamily="34" charset="-122"/>
                <a:cs typeface="Cambria" pitchFamily="34" charset="-120"/>
              </a:rPr>
              <a:t>Reflexive thematic analysis (Braun &amp; Clarke, 2021)</a:t>
            </a:r>
            <a:endParaRPr lang="en-US" sz="1400" dirty="0"/>
          </a:p>
        </p:txBody>
      </p:sp>
      <p:sp>
        <p:nvSpPr>
          <p:cNvPr id="7" name="Shape 4"/>
          <p:cNvSpPr/>
          <p:nvPr/>
        </p:nvSpPr>
        <p:spPr>
          <a:xfrm>
            <a:off x="6492240" y="1691640"/>
            <a:ext cx="384048" cy="384048"/>
          </a:xfrm>
          <a:prstGeom prst="ellipse">
            <a:avLst/>
          </a:prstGeom>
          <a:solidFill>
            <a:srgbClr val="1F7A8C"/>
          </a:solidFill>
          <a:ln w="12700">
            <a:solidFill>
              <a:srgbClr val="1F7A8C"/>
            </a:solidFill>
            <a:prstDash val="solid"/>
          </a:ln>
        </p:spPr>
      </p:sp>
      <p:sp>
        <p:nvSpPr>
          <p:cNvPr id="8" name="Text 5"/>
          <p:cNvSpPr txBox="1"/>
          <p:nvPr/>
        </p:nvSpPr>
        <p:spPr>
          <a:xfrm>
            <a:off x="649224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6"/>
          <p:cNvSpPr txBox="1"/>
          <p:nvPr/>
        </p:nvSpPr>
        <p:spPr>
          <a:xfrm>
            <a:off x="6995160" y="1691640"/>
            <a:ext cx="4736592" cy="384048"/>
          </a:xfrm>
          <a:prstGeom prst="rect">
            <a:avLst/>
          </a:prstGeom>
          <a:noFill/>
          <a:ln/>
        </p:spPr>
        <p:txBody>
          <a:bodyPr wrap="square" lIns="0" tIns="0" rIns="0" bIns="0" rtlCol="0" anchor="ctr"/>
          <a:lstStyle/>
          <a:p>
            <a:pPr indent="0" marL="0">
              <a:buNone/>
            </a:pPr>
            <a:r>
              <a:rPr lang="en-US" sz="1200" dirty="0">
                <a:solidFill>
                  <a:srgbClr val="1B1F23"/>
                </a:solidFill>
              </a:rPr>
              <a:t>Familiarise: read and re-read; reflexive journal</a:t>
            </a:r>
            <a:endParaRPr lang="en-US" sz="1200" dirty="0"/>
          </a:p>
        </p:txBody>
      </p:sp>
      <p:sp>
        <p:nvSpPr>
          <p:cNvPr id="10" name="Shape 7"/>
          <p:cNvSpPr/>
          <p:nvPr/>
        </p:nvSpPr>
        <p:spPr>
          <a:xfrm>
            <a:off x="6492240" y="2258568"/>
            <a:ext cx="384048" cy="384048"/>
          </a:xfrm>
          <a:prstGeom prst="ellipse">
            <a:avLst/>
          </a:prstGeom>
          <a:solidFill>
            <a:srgbClr val="1F7A8C"/>
          </a:solidFill>
          <a:ln w="12700">
            <a:solidFill>
              <a:srgbClr val="1F7A8C"/>
            </a:solidFill>
            <a:prstDash val="solid"/>
          </a:ln>
        </p:spPr>
      </p:sp>
      <p:sp>
        <p:nvSpPr>
          <p:cNvPr id="11" name="Text 8"/>
          <p:cNvSpPr txBox="1"/>
          <p:nvPr/>
        </p:nvSpPr>
        <p:spPr>
          <a:xfrm>
            <a:off x="6492240" y="2258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9"/>
          <p:cNvSpPr txBox="1"/>
          <p:nvPr/>
        </p:nvSpPr>
        <p:spPr>
          <a:xfrm>
            <a:off x="6995160" y="2258568"/>
            <a:ext cx="4736592" cy="384048"/>
          </a:xfrm>
          <a:prstGeom prst="rect">
            <a:avLst/>
          </a:prstGeom>
          <a:noFill/>
          <a:ln/>
        </p:spPr>
        <p:txBody>
          <a:bodyPr wrap="square" lIns="0" tIns="0" rIns="0" bIns="0" rtlCol="0" anchor="ctr"/>
          <a:lstStyle/>
          <a:p>
            <a:pPr indent="0" marL="0">
              <a:buNone/>
            </a:pPr>
            <a:r>
              <a:rPr lang="en-US" sz="1200" dirty="0">
                <a:solidFill>
                  <a:srgbClr val="1B1F23"/>
                </a:solidFill>
              </a:rPr>
              <a:t>Code: inductive, line-by-line coding</a:t>
            </a:r>
            <a:endParaRPr lang="en-US" sz="1200" dirty="0"/>
          </a:p>
        </p:txBody>
      </p:sp>
      <p:sp>
        <p:nvSpPr>
          <p:cNvPr id="13" name="Shape 10"/>
          <p:cNvSpPr/>
          <p:nvPr/>
        </p:nvSpPr>
        <p:spPr>
          <a:xfrm>
            <a:off x="6492240" y="2825496"/>
            <a:ext cx="384048" cy="384048"/>
          </a:xfrm>
          <a:prstGeom prst="ellipse">
            <a:avLst/>
          </a:prstGeom>
          <a:solidFill>
            <a:srgbClr val="1F7A8C"/>
          </a:solidFill>
          <a:ln w="12700">
            <a:solidFill>
              <a:srgbClr val="1F7A8C"/>
            </a:solidFill>
            <a:prstDash val="solid"/>
          </a:ln>
        </p:spPr>
      </p:sp>
      <p:sp>
        <p:nvSpPr>
          <p:cNvPr id="14" name="Text 11"/>
          <p:cNvSpPr txBox="1"/>
          <p:nvPr/>
        </p:nvSpPr>
        <p:spPr>
          <a:xfrm>
            <a:off x="6492240" y="2825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2"/>
          <p:cNvSpPr txBox="1"/>
          <p:nvPr/>
        </p:nvSpPr>
        <p:spPr>
          <a:xfrm>
            <a:off x="6995160" y="2825496"/>
            <a:ext cx="4736592" cy="384048"/>
          </a:xfrm>
          <a:prstGeom prst="rect">
            <a:avLst/>
          </a:prstGeom>
          <a:noFill/>
          <a:ln/>
        </p:spPr>
        <p:txBody>
          <a:bodyPr wrap="square" lIns="0" tIns="0" rIns="0" bIns="0" rtlCol="0" anchor="ctr"/>
          <a:lstStyle/>
          <a:p>
            <a:pPr indent="0" marL="0">
              <a:buNone/>
            </a:pPr>
            <a:r>
              <a:rPr lang="en-US" sz="1200" dirty="0">
                <a:solidFill>
                  <a:srgbClr val="1B1F23"/>
                </a:solidFill>
              </a:rPr>
              <a:t>Generate candidate themes within and across cities</a:t>
            </a:r>
            <a:endParaRPr lang="en-US" sz="1200" dirty="0"/>
          </a:p>
        </p:txBody>
      </p:sp>
      <p:sp>
        <p:nvSpPr>
          <p:cNvPr id="16" name="Shape 13"/>
          <p:cNvSpPr/>
          <p:nvPr/>
        </p:nvSpPr>
        <p:spPr>
          <a:xfrm>
            <a:off x="6492240" y="3392424"/>
            <a:ext cx="384048" cy="384048"/>
          </a:xfrm>
          <a:prstGeom prst="ellipse">
            <a:avLst/>
          </a:prstGeom>
          <a:solidFill>
            <a:srgbClr val="1F7A8C"/>
          </a:solidFill>
          <a:ln w="12700">
            <a:solidFill>
              <a:srgbClr val="1F7A8C"/>
            </a:solidFill>
            <a:prstDash val="solid"/>
          </a:ln>
        </p:spPr>
      </p:sp>
      <p:sp>
        <p:nvSpPr>
          <p:cNvPr id="17" name="Text 14"/>
          <p:cNvSpPr txBox="1"/>
          <p:nvPr/>
        </p:nvSpPr>
        <p:spPr>
          <a:xfrm>
            <a:off x="6492240" y="3392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5"/>
          <p:cNvSpPr txBox="1"/>
          <p:nvPr/>
        </p:nvSpPr>
        <p:spPr>
          <a:xfrm>
            <a:off x="6995160" y="3392424"/>
            <a:ext cx="4736592" cy="384048"/>
          </a:xfrm>
          <a:prstGeom prst="rect">
            <a:avLst/>
          </a:prstGeom>
          <a:noFill/>
          <a:ln/>
        </p:spPr>
        <p:txBody>
          <a:bodyPr wrap="square" lIns="0" tIns="0" rIns="0" bIns="0" rtlCol="0" anchor="ctr"/>
          <a:lstStyle/>
          <a:p>
            <a:pPr indent="0" marL="0">
              <a:buNone/>
            </a:pPr>
            <a:r>
              <a:rPr lang="en-US" sz="1200" dirty="0">
                <a:solidFill>
                  <a:srgbClr val="1B1F23"/>
                </a:solidFill>
              </a:rPr>
              <a:t>Review themes against extracts and dataset</a:t>
            </a:r>
            <a:endParaRPr lang="en-US" sz="1200" dirty="0"/>
          </a:p>
        </p:txBody>
      </p:sp>
      <p:sp>
        <p:nvSpPr>
          <p:cNvPr id="19" name="Shape 16"/>
          <p:cNvSpPr/>
          <p:nvPr/>
        </p:nvSpPr>
        <p:spPr>
          <a:xfrm>
            <a:off x="6492240" y="3959352"/>
            <a:ext cx="384048" cy="384048"/>
          </a:xfrm>
          <a:prstGeom prst="ellipse">
            <a:avLst/>
          </a:prstGeom>
          <a:solidFill>
            <a:srgbClr val="1F7A8C"/>
          </a:solidFill>
          <a:ln w="12700">
            <a:solidFill>
              <a:srgbClr val="1F7A8C"/>
            </a:solidFill>
            <a:prstDash val="solid"/>
          </a:ln>
        </p:spPr>
      </p:sp>
      <p:sp>
        <p:nvSpPr>
          <p:cNvPr id="20" name="Text 17"/>
          <p:cNvSpPr txBox="1"/>
          <p:nvPr/>
        </p:nvSpPr>
        <p:spPr>
          <a:xfrm>
            <a:off x="6492240" y="3959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1" name="Text 18"/>
          <p:cNvSpPr txBox="1"/>
          <p:nvPr/>
        </p:nvSpPr>
        <p:spPr>
          <a:xfrm>
            <a:off x="6995160" y="3959352"/>
            <a:ext cx="4736592" cy="384048"/>
          </a:xfrm>
          <a:prstGeom prst="rect">
            <a:avLst/>
          </a:prstGeom>
          <a:noFill/>
          <a:ln/>
        </p:spPr>
        <p:txBody>
          <a:bodyPr wrap="square" lIns="0" tIns="0" rIns="0" bIns="0" rtlCol="0" anchor="ctr"/>
          <a:lstStyle/>
          <a:p>
            <a:pPr indent="0" marL="0">
              <a:buNone/>
            </a:pPr>
            <a:r>
              <a:rPr lang="en-US" sz="1200" dirty="0">
                <a:solidFill>
                  <a:srgbClr val="1B1F23"/>
                </a:solidFill>
              </a:rPr>
              <a:t>Define and name themes; link to RQ1–RQ3</a:t>
            </a:r>
            <a:endParaRPr lang="en-US" sz="1200" dirty="0"/>
          </a:p>
        </p:txBody>
      </p:sp>
      <p:sp>
        <p:nvSpPr>
          <p:cNvPr id="22" name="Shape 19"/>
          <p:cNvSpPr/>
          <p:nvPr/>
        </p:nvSpPr>
        <p:spPr>
          <a:xfrm>
            <a:off x="6492240" y="4526280"/>
            <a:ext cx="384048" cy="384048"/>
          </a:xfrm>
          <a:prstGeom prst="ellipse">
            <a:avLst/>
          </a:prstGeom>
          <a:solidFill>
            <a:srgbClr val="1F7A8C"/>
          </a:solidFill>
          <a:ln w="12700">
            <a:solidFill>
              <a:srgbClr val="1F7A8C"/>
            </a:solidFill>
            <a:prstDash val="solid"/>
          </a:ln>
        </p:spPr>
      </p:sp>
      <p:sp>
        <p:nvSpPr>
          <p:cNvPr id="23" name="Text 20"/>
          <p:cNvSpPr txBox="1"/>
          <p:nvPr/>
        </p:nvSpPr>
        <p:spPr>
          <a:xfrm>
            <a:off x="649224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4" name="Text 21"/>
          <p:cNvSpPr txBox="1"/>
          <p:nvPr/>
        </p:nvSpPr>
        <p:spPr>
          <a:xfrm>
            <a:off x="6995160" y="4526280"/>
            <a:ext cx="4736592" cy="384048"/>
          </a:xfrm>
          <a:prstGeom prst="rect">
            <a:avLst/>
          </a:prstGeom>
          <a:noFill/>
          <a:ln/>
        </p:spPr>
        <p:txBody>
          <a:bodyPr wrap="square" lIns="0" tIns="0" rIns="0" bIns="0" rtlCol="0" anchor="ctr"/>
          <a:lstStyle/>
          <a:p>
            <a:pPr indent="0" marL="0">
              <a:buNone/>
            </a:pPr>
            <a:r>
              <a:rPr lang="en-US" sz="1200" dirty="0">
                <a:solidFill>
                  <a:srgbClr val="1B1F23"/>
                </a:solidFill>
              </a:rPr>
              <a:t>Write up: interpret against literature and framework</a:t>
            </a:r>
            <a:endParaRPr lang="en-US" sz="1200" dirty="0"/>
          </a:p>
        </p:txBody>
      </p:sp>
      <p:sp>
        <p:nvSpPr>
          <p:cNvPr id="25" name="Shape 22"/>
          <p:cNvSpPr/>
          <p:nvPr/>
        </p:nvSpPr>
        <p:spPr>
          <a:xfrm>
            <a:off x="457200" y="5303520"/>
            <a:ext cx="5760720" cy="731520"/>
          </a:xfrm>
          <a:prstGeom prst="rect">
            <a:avLst/>
          </a:prstGeom>
          <a:solidFill>
            <a:srgbClr val="FBEFD9"/>
          </a:solidFill>
          <a:ln w="12700">
            <a:solidFill>
              <a:srgbClr val="FBEFD9"/>
            </a:solidFill>
            <a:prstDash val="solid"/>
          </a:ln>
        </p:spPr>
      </p:sp>
      <p:sp>
        <p:nvSpPr>
          <p:cNvPr id="26" name="Text 23"/>
          <p:cNvSpPr txBox="1"/>
          <p:nvPr/>
        </p:nvSpPr>
        <p:spPr>
          <a:xfrm>
            <a:off x="594360" y="5321808"/>
            <a:ext cx="5486400" cy="694944"/>
          </a:xfrm>
          <a:prstGeom prst="rect">
            <a:avLst/>
          </a:prstGeom>
          <a:noFill/>
          <a:ln/>
        </p:spPr>
        <p:txBody>
          <a:bodyPr wrap="square" lIns="0" tIns="0" rIns="0" bIns="0" rtlCol="0" anchor="ctr"/>
          <a:lstStyle/>
          <a:p>
            <a:pPr indent="0" marL="0">
              <a:buNone/>
            </a:pPr>
            <a:r>
              <a:rPr lang="en-US" sz="1150" b="1" dirty="0">
                <a:solidFill>
                  <a:srgbClr val="A86A0E"/>
                </a:solidFill>
              </a:rPr>
              <a:t>Why appropriate. </a:t>
            </a:r>
            <a:pPr indent="0" marL="0">
              <a:buNone/>
            </a:pPr>
            <a:r>
              <a:rPr lang="en-US" sz="1150" dirty="0">
                <a:solidFill>
                  <a:srgbClr val="1B1F23"/>
                </a:solidFill>
              </a:rPr>
              <a:t>Interpretivism and inductive coding suit exploring meaning in policy texts; public secondary data fits six weeks (Saunders et al., 2023).</a:t>
            </a:r>
            <a:endParaRPr lang="en-US" sz="1150" dirty="0"/>
          </a:p>
        </p:txBody>
      </p:sp>
      <p:sp>
        <p:nvSpPr>
          <p:cNvPr id="27" name="Shape 24"/>
          <p:cNvSpPr/>
          <p:nvPr/>
        </p:nvSpPr>
        <p:spPr>
          <a:xfrm>
            <a:off x="6492240" y="5303520"/>
            <a:ext cx="5239512" cy="731520"/>
          </a:xfrm>
          <a:prstGeom prst="rect">
            <a:avLst/>
          </a:prstGeom>
          <a:solidFill>
            <a:srgbClr val="E6F2F1"/>
          </a:solidFill>
          <a:ln w="12700">
            <a:solidFill>
              <a:srgbClr val="E6F2F1"/>
            </a:solidFill>
            <a:prstDash val="solid"/>
          </a:ln>
        </p:spPr>
      </p:sp>
      <p:sp>
        <p:nvSpPr>
          <p:cNvPr id="28" name="Text 25"/>
          <p:cNvSpPr txBox="1"/>
          <p:nvPr/>
        </p:nvSpPr>
        <p:spPr>
          <a:xfrm>
            <a:off x="6629400" y="5321808"/>
            <a:ext cx="4983480" cy="694944"/>
          </a:xfrm>
          <a:prstGeom prst="rect">
            <a:avLst/>
          </a:prstGeom>
          <a:noFill/>
          <a:ln/>
        </p:spPr>
        <p:txBody>
          <a:bodyPr wrap="square" lIns="0" tIns="0" rIns="0" bIns="0" rtlCol="0" anchor="ctr"/>
          <a:lstStyle/>
          <a:p>
            <a:pPr indent="0" marL="0">
              <a:buNone/>
            </a:pPr>
            <a:r>
              <a:rPr lang="en-US" sz="1150" b="1" dirty="0">
                <a:solidFill>
                  <a:srgbClr val="1F7A8C"/>
                </a:solidFill>
              </a:rPr>
              <a:t>Ethics. </a:t>
            </a:r>
            <a:pPr indent="0" marL="0">
              <a:buNone/>
            </a:pPr>
            <a:r>
              <a:rPr lang="en-US" sz="1150" dirty="0">
                <a:solidFill>
                  <a:srgbClr val="1B1F23"/>
                </a:solidFill>
              </a:rPr>
              <a:t>Public documents only, no participants, so low risk; exemption to be confirmed with supervisor in Week 1.</a:t>
            </a:r>
            <a:endParaRPr lang="en-US" sz="1150" dirty="0"/>
          </a:p>
        </p:txBody>
      </p:sp>
      <p:sp>
        <p:nvSpPr>
          <p:cNvPr id="29" name="Text 26"/>
          <p:cNvSpPr txBox="1"/>
          <p:nvPr/>
        </p:nvSpPr>
        <p:spPr>
          <a:xfrm>
            <a:off x="457200" y="6126480"/>
            <a:ext cx="11274552" cy="27432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Sources: Braun and Clarke (2021); Saunders et al. (2023); Defra (2024). Selection criteria designed by the author.</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Expected results, outcomes and benefits</a:t>
            </a:r>
            <a:endParaRPr lang="en-US" sz="2600" dirty="0"/>
          </a:p>
        </p:txBody>
      </p:sp>
      <p:sp>
        <p:nvSpPr>
          <p:cNvPr id="3" name="Shape 1"/>
          <p:cNvSpPr/>
          <p:nvPr/>
        </p:nvSpPr>
        <p:spPr>
          <a:xfrm>
            <a:off x="457200" y="1280160"/>
            <a:ext cx="5394960" cy="2834640"/>
          </a:xfrm>
          <a:prstGeom prst="rect">
            <a:avLst/>
          </a:prstGeom>
          <a:solidFill>
            <a:srgbClr val="E6F2F1"/>
          </a:solidFill>
          <a:ln w="12700">
            <a:solidFill>
              <a:srgbClr val="E6F2F1"/>
            </a:solidFill>
            <a:prstDash val="solid"/>
          </a:ln>
        </p:spPr>
      </p:sp>
      <p:sp>
        <p:nvSpPr>
          <p:cNvPr id="4" name="Shape 2"/>
          <p:cNvSpPr/>
          <p:nvPr/>
        </p:nvSpPr>
        <p:spPr>
          <a:xfrm>
            <a:off x="6336792" y="1280160"/>
            <a:ext cx="5394960" cy="2834640"/>
          </a:xfrm>
          <a:prstGeom prst="rect">
            <a:avLst/>
          </a:prstGeom>
          <a:solidFill>
            <a:srgbClr val="FBEFD9"/>
          </a:solidFill>
          <a:ln w="12700">
            <a:solidFill>
              <a:srgbClr val="FBEFD9"/>
            </a:solidFill>
            <a:prstDash val="solid"/>
          </a:ln>
        </p:spPr>
      </p:sp>
      <p:sp>
        <p:nvSpPr>
          <p:cNvPr id="5" name="Shape 3"/>
          <p:cNvSpPr/>
          <p:nvPr/>
        </p:nvSpPr>
        <p:spPr>
          <a:xfrm>
            <a:off x="5897880" y="2423160"/>
            <a:ext cx="411480" cy="457200"/>
          </a:xfrm>
          <a:prstGeom prst="rightArrow">
            <a:avLst/>
          </a:prstGeom>
          <a:solidFill>
            <a:srgbClr val="E8A33D"/>
          </a:solidFill>
          <a:ln w="12700">
            <a:solidFill>
              <a:srgbClr val="E8A33D"/>
            </a:solidFill>
            <a:prstDash val="solid"/>
          </a:ln>
        </p:spPr>
      </p:sp>
      <p:sp>
        <p:nvSpPr>
          <p:cNvPr id="6" name="Text 4"/>
          <p:cNvSpPr txBox="1"/>
          <p:nvPr/>
        </p:nvSpPr>
        <p:spPr>
          <a:xfrm>
            <a:off x="640080" y="1371600"/>
            <a:ext cx="5029200" cy="2651760"/>
          </a:xfrm>
          <a:prstGeom prst="rect">
            <a:avLst/>
          </a:prstGeom>
          <a:noFill/>
          <a:ln/>
        </p:spPr>
        <p:txBody>
          <a:bodyPr wrap="square" lIns="0" tIns="0" rIns="0" bIns="0" rtlCol="0" anchor="t"/>
          <a:lstStyle/>
          <a:p>
            <a:pPr indent="0" marL="0">
              <a:spcAft>
                <a:spcPts val="600"/>
              </a:spcAft>
              <a:buNone/>
            </a:pPr>
            <a:r>
              <a:rPr lang="en-US" sz="1500" b="1" dirty="0">
                <a:solidFill>
                  <a:srgbClr val="1F7A8C"/>
                </a:solidFill>
                <a:latin typeface="Cambria" pitchFamily="34" charset="0"/>
                <a:ea typeface="Cambria" pitchFamily="34" charset="-122"/>
                <a:cs typeface="Cambria" pitchFamily="34" charset="-120"/>
              </a:rPr>
              <a:t>Known from previous research</a:t>
            </a:r>
            <a:endParaRPr lang="en-US" sz="1250" dirty="0"/>
          </a:p>
          <a:p>
            <a:pPr marL="342900" indent="-342900">
              <a:spcAft>
                <a:spcPts val="600"/>
              </a:spcAft>
              <a:buSzPct val="100000"/>
              <a:buChar char="•"/>
            </a:pPr>
            <a:r>
              <a:rPr lang="en-US" sz="1250" dirty="0">
                <a:solidFill>
                  <a:srgbClr val="1B1F23"/>
                </a:solidFill>
              </a:rPr>
              <a:t>Pollutant concentrations and breach days are falling (Weber &amp; Dacre, 2025).</a:t>
            </a:r>
            <a:endParaRPr lang="en-US" sz="1250" dirty="0"/>
          </a:p>
          <a:p>
            <a:pPr marL="342900" indent="-342900">
              <a:spcAft>
                <a:spcPts val="600"/>
              </a:spcAft>
              <a:buSzPct val="100000"/>
              <a:buChar char="•"/>
            </a:pPr>
            <a:r>
              <a:rPr lang="en-US" sz="1250" dirty="0">
                <a:solidFill>
                  <a:srgbClr val="1B1F23"/>
                </a:solidFill>
              </a:rPr>
              <a:t>Inequalities in exposure persist (Gadenne et al., 2024).</a:t>
            </a:r>
            <a:endParaRPr lang="en-US" sz="1250" dirty="0"/>
          </a:p>
          <a:p>
            <a:pPr marL="342900" indent="-342900">
              <a:spcAft>
                <a:spcPts val="600"/>
              </a:spcAft>
              <a:buSzPct val="100000"/>
              <a:buChar char="•"/>
            </a:pPr>
            <a:r>
              <a:rPr lang="en-US" sz="1250" dirty="0">
                <a:solidFill>
                  <a:srgbClr val="1B1F23"/>
                </a:solidFill>
              </a:rPr>
              <a:t>Scheme effects vary: modest in Birmingham, not significant in Sheffield, sizeable modelled reductions in London (Liu et al., 2023; Williams et al., 2025; TfL, 2025).</a:t>
            </a:r>
            <a:endParaRPr lang="en-US" sz="1250" dirty="0"/>
          </a:p>
        </p:txBody>
      </p:sp>
      <p:sp>
        <p:nvSpPr>
          <p:cNvPr id="7" name="Text 5"/>
          <p:cNvSpPr txBox="1"/>
          <p:nvPr/>
        </p:nvSpPr>
        <p:spPr>
          <a:xfrm>
            <a:off x="6519672" y="1371600"/>
            <a:ext cx="5029200" cy="2651760"/>
          </a:xfrm>
          <a:prstGeom prst="rect">
            <a:avLst/>
          </a:prstGeom>
          <a:noFill/>
          <a:ln/>
        </p:spPr>
        <p:txBody>
          <a:bodyPr wrap="square" lIns="0" tIns="0" rIns="0" bIns="0" rtlCol="0" anchor="t"/>
          <a:lstStyle/>
          <a:p>
            <a:pPr indent="0" marL="0">
              <a:spcAft>
                <a:spcPts val="600"/>
              </a:spcAft>
              <a:buNone/>
            </a:pPr>
            <a:r>
              <a:rPr lang="en-US" sz="1500" b="1" dirty="0">
                <a:solidFill>
                  <a:srgbClr val="A86A0E"/>
                </a:solidFill>
                <a:latin typeface="Cambria" pitchFamily="34" charset="0"/>
                <a:ea typeface="Cambria" pitchFamily="34" charset="-122"/>
                <a:cs typeface="Cambria" pitchFamily="34" charset="-120"/>
              </a:rPr>
              <a:t>Expected from this study (anticipated, not yet established)</a:t>
            </a:r>
            <a:endParaRPr lang="en-US" sz="1250" dirty="0"/>
          </a:p>
          <a:p>
            <a:pPr marL="342900" indent="-342900">
              <a:spcAft>
                <a:spcPts val="600"/>
              </a:spcAft>
              <a:buSzPct val="100000"/>
              <a:buChar char="•"/>
            </a:pPr>
            <a:r>
              <a:rPr lang="en-US" sz="1250" dirty="0">
                <a:solidFill>
                  <a:srgbClr val="1B1F23"/>
                </a:solidFill>
              </a:rPr>
              <a:t>Cities justify management mainly through health; equity and economic aims may be less visible.</a:t>
            </a:r>
            <a:endParaRPr lang="en-US" sz="1250" dirty="0"/>
          </a:p>
          <a:p>
            <a:pPr marL="342900" indent="-342900">
              <a:spcAft>
                <a:spcPts val="600"/>
              </a:spcAft>
              <a:buSzPct val="100000"/>
              <a:buChar char="•"/>
            </a:pPr>
            <a:r>
              <a:rPr lang="en-US" sz="1250" dirty="0">
                <a:solidFill>
                  <a:srgbClr val="1B1F23"/>
                </a:solidFill>
              </a:rPr>
              <a:t>Barriers such as fleet compliance, enforcement and acceptance may recur (Williams et al., 2025).</a:t>
            </a:r>
            <a:endParaRPr lang="en-US" sz="1250" dirty="0"/>
          </a:p>
          <a:p>
            <a:pPr marL="342900" indent="-342900">
              <a:spcAft>
                <a:spcPts val="600"/>
              </a:spcAft>
              <a:buSzPct val="100000"/>
              <a:buChar char="•"/>
            </a:pPr>
            <a:r>
              <a:rPr lang="en-US" sz="1250" dirty="0">
                <a:solidFill>
                  <a:srgbClr val="1B1F23"/>
                </a:solidFill>
              </a:rPr>
              <a:t>Framing may differ between ULEZ and Clean Air Zone approaches.</a:t>
            </a:r>
            <a:endParaRPr lang="en-US" sz="1250" dirty="0"/>
          </a:p>
        </p:txBody>
      </p:sp>
      <p:sp>
        <p:nvSpPr>
          <p:cNvPr id="8" name="Text 6"/>
          <p:cNvSpPr txBox="1"/>
          <p:nvPr/>
        </p:nvSpPr>
        <p:spPr>
          <a:xfrm>
            <a:off x="457200" y="4251960"/>
            <a:ext cx="11274552" cy="320040"/>
          </a:xfrm>
          <a:prstGeom prst="rect">
            <a:avLst/>
          </a:prstGeom>
          <a:noFill/>
          <a:ln/>
        </p:spPr>
        <p:txBody>
          <a:bodyPr wrap="square" lIns="0" tIns="0" rIns="0" bIns="0" rtlCol="0" anchor="ctr"/>
          <a:lstStyle/>
          <a:p>
            <a:pPr indent="0" marL="0">
              <a:buNone/>
            </a:pPr>
            <a:r>
              <a:rPr lang="en-US" sz="1300" b="1" dirty="0">
                <a:solidFill>
                  <a:srgbClr val="0F2E3D"/>
                </a:solidFill>
              </a:rPr>
              <a:t>Key outcomes: defined themes, a cross-city interpretation and recommendations. Benefits:</a:t>
            </a:r>
            <a:endParaRPr lang="en-US" sz="1300" dirty="0"/>
          </a:p>
        </p:txBody>
      </p:sp>
      <p:sp>
        <p:nvSpPr>
          <p:cNvPr id="9" name="Shape 7"/>
          <p:cNvSpPr/>
          <p:nvPr/>
        </p:nvSpPr>
        <p:spPr>
          <a:xfrm>
            <a:off x="457200" y="4617720"/>
            <a:ext cx="2715768" cy="1371600"/>
          </a:xfrm>
          <a:prstGeom prst="rect">
            <a:avLst/>
          </a:prstGeom>
          <a:solidFill>
            <a:srgbClr val="0F2E3D"/>
          </a:solidFill>
          <a:ln w="12700">
            <a:solidFill>
              <a:srgbClr val="0F2E3D"/>
            </a:solidFill>
            <a:prstDash val="solid"/>
          </a:ln>
        </p:spPr>
      </p:sp>
      <p:sp>
        <p:nvSpPr>
          <p:cNvPr id="10" name="Text 8"/>
          <p:cNvSpPr txBox="1"/>
          <p:nvPr/>
        </p:nvSpPr>
        <p:spPr>
          <a:xfrm>
            <a:off x="566928" y="4645152"/>
            <a:ext cx="2496312" cy="1316736"/>
          </a:xfrm>
          <a:prstGeom prst="rect">
            <a:avLst/>
          </a:prstGeom>
          <a:noFill/>
          <a:ln/>
        </p:spPr>
        <p:txBody>
          <a:bodyPr wrap="square" lIns="0" tIns="0" rIns="0" bIns="0" rtlCol="0" anchor="ctr"/>
          <a:lstStyle/>
          <a:p>
            <a:pPr indent="0" marL="0">
              <a:buNone/>
            </a:pPr>
            <a:r>
              <a:rPr lang="en-US" sz="1300" b="1" dirty="0">
                <a:solidFill>
                  <a:srgbClr val="E8A33D"/>
                </a:solidFill>
              </a:rPr>
              <a:t>Academic</a:t>
            </a:r>
            <a:endParaRPr lang="en-US" sz="1300" dirty="0"/>
          </a:p>
          <a:p>
            <a:pPr indent="0" marL="0">
              <a:buNone/>
            </a:pPr>
            <a:r>
              <a:rPr lang="en-US" sz="1100" dirty="0">
                <a:solidFill>
                  <a:srgbClr val="FFFFFF"/>
                </a:solidFill>
              </a:rPr>
              <a:t>Interpretive, cross-city evidence linking air quality management to sustainable development (UN, 2015).</a:t>
            </a:r>
            <a:endParaRPr lang="en-US" sz="1300" dirty="0"/>
          </a:p>
        </p:txBody>
      </p:sp>
      <p:sp>
        <p:nvSpPr>
          <p:cNvPr id="11" name="Shape 9"/>
          <p:cNvSpPr/>
          <p:nvPr/>
        </p:nvSpPr>
        <p:spPr>
          <a:xfrm>
            <a:off x="3310128" y="4617720"/>
            <a:ext cx="2715768" cy="1371600"/>
          </a:xfrm>
          <a:prstGeom prst="rect">
            <a:avLst/>
          </a:prstGeom>
          <a:solidFill>
            <a:srgbClr val="0F2E3D"/>
          </a:solidFill>
          <a:ln w="12700">
            <a:solidFill>
              <a:srgbClr val="0F2E3D"/>
            </a:solidFill>
            <a:prstDash val="solid"/>
          </a:ln>
        </p:spPr>
      </p:sp>
      <p:sp>
        <p:nvSpPr>
          <p:cNvPr id="12" name="Text 10"/>
          <p:cNvSpPr txBox="1"/>
          <p:nvPr/>
        </p:nvSpPr>
        <p:spPr>
          <a:xfrm>
            <a:off x="3419856" y="4645152"/>
            <a:ext cx="2496312" cy="1316736"/>
          </a:xfrm>
          <a:prstGeom prst="rect">
            <a:avLst/>
          </a:prstGeom>
          <a:noFill/>
          <a:ln/>
        </p:spPr>
        <p:txBody>
          <a:bodyPr wrap="square" lIns="0" tIns="0" rIns="0" bIns="0" rtlCol="0" anchor="ctr"/>
          <a:lstStyle/>
          <a:p>
            <a:pPr indent="0" marL="0">
              <a:buNone/>
            </a:pPr>
            <a:r>
              <a:rPr lang="en-US" sz="1300" b="1" dirty="0">
                <a:solidFill>
                  <a:srgbClr val="E8A33D"/>
                </a:solidFill>
              </a:rPr>
              <a:t>Policy</a:t>
            </a:r>
            <a:endParaRPr lang="en-US" sz="1300" dirty="0"/>
          </a:p>
          <a:p>
            <a:pPr indent="0" marL="0">
              <a:buNone/>
            </a:pPr>
            <a:r>
              <a:rPr lang="en-US" sz="1100" dirty="0">
                <a:solidFill>
                  <a:srgbClr val="FFFFFF"/>
                </a:solidFill>
              </a:rPr>
              <a:t>Insight into how equity features in framing (Gadenne et al., 2024).</a:t>
            </a:r>
            <a:endParaRPr lang="en-US" sz="1300" dirty="0"/>
          </a:p>
        </p:txBody>
      </p:sp>
      <p:sp>
        <p:nvSpPr>
          <p:cNvPr id="13" name="Shape 11"/>
          <p:cNvSpPr/>
          <p:nvPr/>
        </p:nvSpPr>
        <p:spPr>
          <a:xfrm>
            <a:off x="6163056" y="4617720"/>
            <a:ext cx="2715768" cy="1371600"/>
          </a:xfrm>
          <a:prstGeom prst="rect">
            <a:avLst/>
          </a:prstGeom>
          <a:solidFill>
            <a:srgbClr val="0F2E3D"/>
          </a:solidFill>
          <a:ln w="12700">
            <a:solidFill>
              <a:srgbClr val="0F2E3D"/>
            </a:solidFill>
            <a:prstDash val="solid"/>
          </a:ln>
        </p:spPr>
      </p:sp>
      <p:sp>
        <p:nvSpPr>
          <p:cNvPr id="14" name="Text 12"/>
          <p:cNvSpPr txBox="1"/>
          <p:nvPr/>
        </p:nvSpPr>
        <p:spPr>
          <a:xfrm>
            <a:off x="6272784" y="4645152"/>
            <a:ext cx="2496312" cy="1316736"/>
          </a:xfrm>
          <a:prstGeom prst="rect">
            <a:avLst/>
          </a:prstGeom>
          <a:noFill/>
          <a:ln/>
        </p:spPr>
        <p:txBody>
          <a:bodyPr wrap="square" lIns="0" tIns="0" rIns="0" bIns="0" rtlCol="0" anchor="ctr"/>
          <a:lstStyle/>
          <a:p>
            <a:pPr indent="0" marL="0">
              <a:buNone/>
            </a:pPr>
            <a:r>
              <a:rPr lang="en-US" sz="1300" b="1" dirty="0">
                <a:solidFill>
                  <a:srgbClr val="E8A33D"/>
                </a:solidFill>
              </a:rPr>
              <a:t>Practice</a:t>
            </a:r>
            <a:endParaRPr lang="en-US" sz="1300" dirty="0"/>
          </a:p>
          <a:p>
            <a:pPr indent="0" marL="0">
              <a:buNone/>
            </a:pPr>
            <a:r>
              <a:rPr lang="en-US" sz="1100" dirty="0">
                <a:solidFill>
                  <a:srgbClr val="FFFFFF"/>
                </a:solidFill>
              </a:rPr>
              <a:t>Transferable lessons for city authorities on implementation.</a:t>
            </a:r>
            <a:endParaRPr lang="en-US" sz="1300" dirty="0"/>
          </a:p>
        </p:txBody>
      </p:sp>
      <p:sp>
        <p:nvSpPr>
          <p:cNvPr id="15" name="Shape 13"/>
          <p:cNvSpPr/>
          <p:nvPr/>
        </p:nvSpPr>
        <p:spPr>
          <a:xfrm>
            <a:off x="9015984" y="4617720"/>
            <a:ext cx="2715768" cy="1371600"/>
          </a:xfrm>
          <a:prstGeom prst="rect">
            <a:avLst/>
          </a:prstGeom>
          <a:solidFill>
            <a:srgbClr val="0F2E3D"/>
          </a:solidFill>
          <a:ln w="12700">
            <a:solidFill>
              <a:srgbClr val="0F2E3D"/>
            </a:solidFill>
            <a:prstDash val="solid"/>
          </a:ln>
        </p:spPr>
      </p:sp>
      <p:sp>
        <p:nvSpPr>
          <p:cNvPr id="16" name="Text 14"/>
          <p:cNvSpPr txBox="1"/>
          <p:nvPr/>
        </p:nvSpPr>
        <p:spPr>
          <a:xfrm>
            <a:off x="9125712" y="4645152"/>
            <a:ext cx="2496312" cy="1316736"/>
          </a:xfrm>
          <a:prstGeom prst="rect">
            <a:avLst/>
          </a:prstGeom>
          <a:noFill/>
          <a:ln/>
        </p:spPr>
        <p:txBody>
          <a:bodyPr wrap="square" lIns="0" tIns="0" rIns="0" bIns="0" rtlCol="0" anchor="ctr"/>
          <a:lstStyle/>
          <a:p>
            <a:pPr indent="0" marL="0">
              <a:buNone/>
            </a:pPr>
            <a:r>
              <a:rPr lang="en-US" sz="1300" b="1" dirty="0">
                <a:solidFill>
                  <a:srgbClr val="E8A33D"/>
                </a:solidFill>
              </a:rPr>
              <a:t>Social</a:t>
            </a:r>
            <a:endParaRPr lang="en-US" sz="1300" dirty="0"/>
          </a:p>
          <a:p>
            <a:pPr indent="0" marL="0">
              <a:buNone/>
            </a:pPr>
            <a:r>
              <a:rPr lang="en-US" sz="1100" dirty="0">
                <a:solidFill>
                  <a:srgbClr val="FFFFFF"/>
                </a:solidFill>
              </a:rPr>
              <a:t>Clearer public accountability for clean-air measures.</a:t>
            </a:r>
            <a:endParaRPr lang="en-US" sz="1300" dirty="0"/>
          </a:p>
        </p:txBody>
      </p:sp>
      <p:sp>
        <p:nvSpPr>
          <p:cNvPr id="17" name="Text 15"/>
          <p:cNvSpPr txBox="1"/>
          <p:nvPr/>
        </p:nvSpPr>
        <p:spPr>
          <a:xfrm>
            <a:off x="457200" y="6126480"/>
            <a:ext cx="11274552" cy="27432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Sources: Gadenne et al. (2024); Liu et al. (2023); Transport for London (2025); Weber and Dacre (2025); Williams et al. (2025). Anticipated findings are expectations, not results.</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Budget, resources and personnel</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766560" cy="914400"/>
        </p:xfrm>
        <a:graphic>
          <a:graphicData uri="http://schemas.openxmlformats.org/drawingml/2006/table">
            <a:tbl>
              <a:tblPr/>
              <a:tblGrid>
                <a:gridCol w="2377440"/>
                <a:gridCol w="2286000"/>
                <a:gridCol w="210312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Resource</a:t>
                      </a:r>
                      <a:endParaRPr lang="en-US" sz="1200" dirty="0">
                        <a:latin typeface="Calibri" charset="0"/>
                        <a:ea typeface="Calibri" charset="0"/>
                        <a:cs typeface="Calibri" charset="0"/>
                      </a:endParaRPr>
                    </a:p>
                  </a:txBody>
                  <a:tcPr marL="73152" marR="73152" marT="45720" marB="45720"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73152" marR="73152" marT="45720" marB="45720"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Indicative cost</a:t>
                      </a:r>
                      <a:endParaRPr lang="en-US" sz="1200" dirty="0">
                        <a:latin typeface="Calibri" charset="0"/>
                        <a:ea typeface="Calibri" charset="0"/>
                        <a:cs typeface="Calibri" charset="0"/>
                      </a:endParaRPr>
                    </a:p>
                  </a:txBody>
                  <a:tcPr marL="73152" marR="73152" marT="45720" marB="45720"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r>
              <a:tr h="566928">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Journals and official reports</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Literature review and document corpus</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 open access or university library</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Analysis software (NVivo or spreadsheet)</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Coding and theme mapping</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 with university licence or free tool</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Reference manager (e.g., Zotero)</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APA 7 referencing</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 free</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Computer, storage, backup</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Analysis and writing</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Existing equipment</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Contingency</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Paywalled articles, printing</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Small; to be confirmed</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343400"/>
            <a:ext cx="6766560" cy="1097280"/>
          </a:xfrm>
          <a:prstGeom prst="rect">
            <a:avLst/>
          </a:prstGeom>
          <a:noFill/>
          <a:ln/>
        </p:spPr>
        <p:txBody>
          <a:bodyPr wrap="square" lIns="0" tIns="0" rIns="0" bIns="0" rtlCol="0" anchor="t"/>
          <a:lstStyle/>
          <a:p>
            <a:pPr indent="0" marL="0">
              <a:buNone/>
            </a:pPr>
            <a:r>
              <a:rPr lang="en-US" sz="1200" dirty="0">
                <a:solidFill>
                  <a:srgbClr val="1B1F23"/>
                </a:solidFill>
              </a:rPr>
              <a:t>No participant payments, travel or transcription costs arise because the study uses secondary data, which saves time and money (Saunders et al., 2023). Costs are indicative and will be confirmed with the university.</a:t>
            </a:r>
            <a:endParaRPr lang="en-US" sz="1200" dirty="0"/>
          </a:p>
        </p:txBody>
      </p:sp>
      <p:sp>
        <p:nvSpPr>
          <p:cNvPr id="5" name="Shape 2"/>
          <p:cNvSpPr/>
          <p:nvPr/>
        </p:nvSpPr>
        <p:spPr>
          <a:xfrm>
            <a:off x="7498080" y="1280160"/>
            <a:ext cx="4233672" cy="4160520"/>
          </a:xfrm>
          <a:prstGeom prst="rect">
            <a:avLst/>
          </a:prstGeom>
          <a:solidFill>
            <a:srgbClr val="E6F2F1"/>
          </a:solidFill>
          <a:ln w="12700">
            <a:solidFill>
              <a:srgbClr val="E6F2F1"/>
            </a:solidFill>
            <a:prstDash val="solid"/>
          </a:ln>
        </p:spPr>
      </p:sp>
      <p:sp>
        <p:nvSpPr>
          <p:cNvPr id="6" name="Text 3"/>
          <p:cNvSpPr txBox="1"/>
          <p:nvPr/>
        </p:nvSpPr>
        <p:spPr>
          <a:xfrm>
            <a:off x="7680960" y="1371600"/>
            <a:ext cx="3886200" cy="365760"/>
          </a:xfrm>
          <a:prstGeom prst="rect">
            <a:avLst/>
          </a:prstGeom>
          <a:noFill/>
          <a:ln/>
        </p:spPr>
        <p:txBody>
          <a:bodyPr wrap="square" lIns="0" tIns="0" rIns="0" bIns="0" rtlCol="0" anchor="ctr"/>
          <a:lstStyle/>
          <a:p>
            <a:pPr indent="0" marL="0">
              <a:buNone/>
            </a:pPr>
            <a:r>
              <a:rPr lang="en-US" sz="1500" b="1" dirty="0">
                <a:solidFill>
                  <a:srgbClr val="0F2E3D"/>
                </a:solidFill>
                <a:latin typeface="Cambria" pitchFamily="34" charset="0"/>
                <a:ea typeface="Cambria" pitchFamily="34" charset="-122"/>
                <a:cs typeface="Cambria" pitchFamily="34" charset="-120"/>
              </a:rPr>
              <a:t>Personnel and responsibilities</a:t>
            </a:r>
            <a:endParaRPr lang="en-US" sz="1500" dirty="0"/>
          </a:p>
        </p:txBody>
      </p:sp>
      <p:sp>
        <p:nvSpPr>
          <p:cNvPr id="7" name="Text 4"/>
          <p:cNvSpPr txBox="1"/>
          <p:nvPr/>
        </p:nvSpPr>
        <p:spPr>
          <a:xfrm>
            <a:off x="7680960" y="1828800"/>
            <a:ext cx="3886200" cy="3474720"/>
          </a:xfrm>
          <a:prstGeom prst="rect">
            <a:avLst/>
          </a:prstGeom>
          <a:noFill/>
          <a:ln/>
        </p:spPr>
        <p:txBody>
          <a:bodyPr wrap="square" lIns="0" tIns="0" rIns="0" bIns="0" rtlCol="0" anchor="t"/>
          <a:lstStyle/>
          <a:p>
            <a:pPr indent="0" marL="0">
              <a:spcAft>
                <a:spcPts val="1000"/>
              </a:spcAft>
              <a:buNone/>
            </a:pPr>
            <a:r>
              <a:rPr lang="en-US" sz="1250" b="1" dirty="0">
                <a:solidFill>
                  <a:srgbClr val="1F7A8C"/>
                </a:solidFill>
              </a:rPr>
              <a:t>Student researcher: </a:t>
            </a:r>
            <a:pPr indent="0" marL="0">
              <a:spcAft>
                <a:spcPts val="1000"/>
              </a:spcAft>
              <a:buNone/>
            </a:pPr>
            <a:r>
              <a:rPr lang="en-US" sz="1250" dirty="0">
                <a:solidFill>
                  <a:srgbClr val="1B1F23"/>
                </a:solidFill>
              </a:rPr>
              <a:t>designs the protocol, collects, codes and analyses documents, and writes up.</a:t>
            </a:r>
            <a:endParaRPr lang="en-US" sz="1250" dirty="0"/>
          </a:p>
          <a:p>
            <a:pPr indent="0" marL="0">
              <a:spcAft>
                <a:spcPts val="1000"/>
              </a:spcAft>
              <a:buNone/>
            </a:pPr>
            <a:r>
              <a:rPr lang="en-US" sz="1250" b="1" dirty="0">
                <a:solidFill>
                  <a:srgbClr val="1F7A8C"/>
                </a:solidFill>
              </a:rPr>
              <a:t>Supervisor: </a:t>
            </a:r>
            <a:pPr indent="0" marL="0">
              <a:spcAft>
                <a:spcPts val="1000"/>
              </a:spcAft>
              <a:buNone/>
            </a:pPr>
            <a:r>
              <a:rPr lang="en-US" sz="1250" dirty="0">
                <a:solidFill>
                  <a:srgbClr val="1B1F23"/>
                </a:solidFill>
              </a:rPr>
              <a:t>reviews the protocol, theme maps and draft; confirms ethics exemption.</a:t>
            </a:r>
            <a:endParaRPr lang="en-US" sz="1250" dirty="0"/>
          </a:p>
          <a:p>
            <a:pPr indent="0" marL="0">
              <a:spcAft>
                <a:spcPts val="1000"/>
              </a:spcAft>
              <a:buNone/>
            </a:pPr>
            <a:r>
              <a:rPr lang="en-US" sz="1250" b="1" dirty="0">
                <a:solidFill>
                  <a:srgbClr val="1F7A8C"/>
                </a:solidFill>
              </a:rPr>
              <a:t>Librarian (optional): </a:t>
            </a:r>
            <a:pPr indent="0" marL="0">
              <a:spcAft>
                <a:spcPts val="1000"/>
              </a:spcAft>
              <a:buNone/>
            </a:pPr>
            <a:r>
              <a:rPr lang="en-US" sz="1250" dirty="0">
                <a:solidFill>
                  <a:srgbClr val="1B1F23"/>
                </a:solidFill>
              </a:rPr>
              <a:t>advises on database access and search strategy.</a:t>
            </a:r>
            <a:endParaRPr lang="en-US" sz="1250" dirty="0"/>
          </a:p>
        </p:txBody>
      </p:sp>
      <p:sp>
        <p:nvSpPr>
          <p:cNvPr id="8" name="Text 5"/>
          <p:cNvSpPr txBox="1"/>
          <p:nvPr/>
        </p:nvSpPr>
        <p:spPr>
          <a:xfrm>
            <a:off x="457200" y="6126480"/>
            <a:ext cx="11274552" cy="27432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 Resource plan designed by the author; rationale for secondary data from Saunders et al. (2023). Costs are estimates, not quotes.</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Six-week timeline, milestones and dissemination</a:t>
            </a:r>
            <a:endParaRPr lang="en-US" sz="2600" dirty="0"/>
          </a:p>
        </p:txBody>
      </p:sp>
      <p:sp>
        <p:nvSpPr>
          <p:cNvPr id="3" name="Shape 1"/>
          <p:cNvSpPr/>
          <p:nvPr/>
        </p:nvSpPr>
        <p:spPr>
          <a:xfrm>
            <a:off x="457200" y="1325880"/>
            <a:ext cx="2926080" cy="411480"/>
          </a:xfrm>
          <a:prstGeom prst="rect">
            <a:avLst/>
          </a:prstGeom>
          <a:solidFill>
            <a:srgbClr val="0F2E3D"/>
          </a:solidFill>
          <a:ln w="12700">
            <a:solidFill>
              <a:srgbClr val="0F2E3D"/>
            </a:solidFill>
            <a:prstDash val="solid"/>
          </a:ln>
        </p:spPr>
      </p:sp>
      <p:sp>
        <p:nvSpPr>
          <p:cNvPr id="4" name="Text 2"/>
          <p:cNvSpPr txBox="1"/>
          <p:nvPr/>
        </p:nvSpPr>
        <p:spPr>
          <a:xfrm>
            <a:off x="548640" y="1325880"/>
            <a:ext cx="2834640" cy="411480"/>
          </a:xfrm>
          <a:prstGeom prst="rect">
            <a:avLst/>
          </a:prstGeom>
          <a:noFill/>
          <a:ln/>
        </p:spPr>
        <p:txBody>
          <a:bodyPr wrap="square" lIns="0" tIns="0" rIns="0" bIns="0" rtlCol="0" anchor="ctr"/>
          <a:lstStyle/>
          <a:p>
            <a:pPr indent="0" marL="0">
              <a:buNone/>
            </a:pPr>
            <a:r>
              <a:rPr lang="en-US" sz="1200" b="1" dirty="0">
                <a:solidFill>
                  <a:srgbClr val="FFFFFF"/>
                </a:solidFill>
              </a:rPr>
              <a:t>Task</a:t>
            </a:r>
            <a:endParaRPr lang="en-US" sz="1200" dirty="0"/>
          </a:p>
        </p:txBody>
      </p:sp>
      <p:sp>
        <p:nvSpPr>
          <p:cNvPr id="5" name="Shape 3"/>
          <p:cNvSpPr/>
          <p:nvPr/>
        </p:nvSpPr>
        <p:spPr>
          <a:xfrm>
            <a:off x="3383280" y="1325880"/>
            <a:ext cx="777240" cy="411480"/>
          </a:xfrm>
          <a:prstGeom prst="rect">
            <a:avLst/>
          </a:prstGeom>
          <a:solidFill>
            <a:srgbClr val="0F2E3D"/>
          </a:solidFill>
          <a:ln w="9525">
            <a:solidFill>
              <a:srgbClr val="FFFFFF"/>
            </a:solidFill>
            <a:prstDash val="solid"/>
          </a:ln>
        </p:spPr>
      </p:sp>
      <p:sp>
        <p:nvSpPr>
          <p:cNvPr id="6" name="Text 4"/>
          <p:cNvSpPr txBox="1"/>
          <p:nvPr/>
        </p:nvSpPr>
        <p:spPr>
          <a:xfrm>
            <a:off x="3383280" y="1325880"/>
            <a:ext cx="777240" cy="411480"/>
          </a:xfrm>
          <a:prstGeom prst="rect">
            <a:avLst/>
          </a:prstGeom>
          <a:noFill/>
          <a:ln/>
        </p:spPr>
        <p:txBody>
          <a:bodyPr wrap="square" lIns="0" tIns="0" rIns="0" bIns="0" rtlCol="0" anchor="ctr"/>
          <a:lstStyle/>
          <a:p>
            <a:pPr algn="ctr" indent="0" marL="0">
              <a:buNone/>
            </a:pPr>
            <a:r>
              <a:rPr lang="en-US" sz="1200" b="1" dirty="0">
                <a:solidFill>
                  <a:srgbClr val="FFFFFF"/>
                </a:solidFill>
              </a:rPr>
              <a:t>Wk 1</a:t>
            </a:r>
            <a:endParaRPr lang="en-US" sz="1200" dirty="0"/>
          </a:p>
        </p:txBody>
      </p:sp>
      <p:sp>
        <p:nvSpPr>
          <p:cNvPr id="7" name="Shape 5"/>
          <p:cNvSpPr/>
          <p:nvPr/>
        </p:nvSpPr>
        <p:spPr>
          <a:xfrm>
            <a:off x="4160520" y="1325880"/>
            <a:ext cx="777240" cy="411480"/>
          </a:xfrm>
          <a:prstGeom prst="rect">
            <a:avLst/>
          </a:prstGeom>
          <a:solidFill>
            <a:srgbClr val="0F2E3D"/>
          </a:solidFill>
          <a:ln w="9525">
            <a:solidFill>
              <a:srgbClr val="FFFFFF"/>
            </a:solidFill>
            <a:prstDash val="solid"/>
          </a:ln>
        </p:spPr>
      </p:sp>
      <p:sp>
        <p:nvSpPr>
          <p:cNvPr id="8" name="Text 6"/>
          <p:cNvSpPr txBox="1"/>
          <p:nvPr/>
        </p:nvSpPr>
        <p:spPr>
          <a:xfrm>
            <a:off x="4160520" y="1325880"/>
            <a:ext cx="777240" cy="411480"/>
          </a:xfrm>
          <a:prstGeom prst="rect">
            <a:avLst/>
          </a:prstGeom>
          <a:noFill/>
          <a:ln/>
        </p:spPr>
        <p:txBody>
          <a:bodyPr wrap="square" lIns="0" tIns="0" rIns="0" bIns="0" rtlCol="0" anchor="ctr"/>
          <a:lstStyle/>
          <a:p>
            <a:pPr algn="ctr" indent="0" marL="0">
              <a:buNone/>
            </a:pPr>
            <a:r>
              <a:rPr lang="en-US" sz="1200" b="1" dirty="0">
                <a:solidFill>
                  <a:srgbClr val="FFFFFF"/>
                </a:solidFill>
              </a:rPr>
              <a:t>Wk 2</a:t>
            </a:r>
            <a:endParaRPr lang="en-US" sz="1200" dirty="0"/>
          </a:p>
        </p:txBody>
      </p:sp>
      <p:sp>
        <p:nvSpPr>
          <p:cNvPr id="9" name="Shape 7"/>
          <p:cNvSpPr/>
          <p:nvPr/>
        </p:nvSpPr>
        <p:spPr>
          <a:xfrm>
            <a:off x="4937760" y="1325880"/>
            <a:ext cx="777240" cy="411480"/>
          </a:xfrm>
          <a:prstGeom prst="rect">
            <a:avLst/>
          </a:prstGeom>
          <a:solidFill>
            <a:srgbClr val="0F2E3D"/>
          </a:solidFill>
          <a:ln w="9525">
            <a:solidFill>
              <a:srgbClr val="FFFFFF"/>
            </a:solidFill>
            <a:prstDash val="solid"/>
          </a:ln>
        </p:spPr>
      </p:sp>
      <p:sp>
        <p:nvSpPr>
          <p:cNvPr id="10" name="Text 8"/>
          <p:cNvSpPr txBox="1"/>
          <p:nvPr/>
        </p:nvSpPr>
        <p:spPr>
          <a:xfrm>
            <a:off x="4937760" y="1325880"/>
            <a:ext cx="777240" cy="411480"/>
          </a:xfrm>
          <a:prstGeom prst="rect">
            <a:avLst/>
          </a:prstGeom>
          <a:noFill/>
          <a:ln/>
        </p:spPr>
        <p:txBody>
          <a:bodyPr wrap="square" lIns="0" tIns="0" rIns="0" bIns="0" rtlCol="0" anchor="ctr"/>
          <a:lstStyle/>
          <a:p>
            <a:pPr algn="ctr" indent="0" marL="0">
              <a:buNone/>
            </a:pPr>
            <a:r>
              <a:rPr lang="en-US" sz="1200" b="1" dirty="0">
                <a:solidFill>
                  <a:srgbClr val="FFFFFF"/>
                </a:solidFill>
              </a:rPr>
              <a:t>Wk 3</a:t>
            </a:r>
            <a:endParaRPr lang="en-US" sz="1200" dirty="0"/>
          </a:p>
        </p:txBody>
      </p:sp>
      <p:sp>
        <p:nvSpPr>
          <p:cNvPr id="11" name="Shape 9"/>
          <p:cNvSpPr/>
          <p:nvPr/>
        </p:nvSpPr>
        <p:spPr>
          <a:xfrm>
            <a:off x="5715000" y="1325880"/>
            <a:ext cx="777240" cy="411480"/>
          </a:xfrm>
          <a:prstGeom prst="rect">
            <a:avLst/>
          </a:prstGeom>
          <a:solidFill>
            <a:srgbClr val="0F2E3D"/>
          </a:solidFill>
          <a:ln w="9525">
            <a:solidFill>
              <a:srgbClr val="FFFFFF"/>
            </a:solidFill>
            <a:prstDash val="solid"/>
          </a:ln>
        </p:spPr>
      </p:sp>
      <p:sp>
        <p:nvSpPr>
          <p:cNvPr id="12" name="Text 10"/>
          <p:cNvSpPr txBox="1"/>
          <p:nvPr/>
        </p:nvSpPr>
        <p:spPr>
          <a:xfrm>
            <a:off x="5715000" y="1325880"/>
            <a:ext cx="777240" cy="411480"/>
          </a:xfrm>
          <a:prstGeom prst="rect">
            <a:avLst/>
          </a:prstGeom>
          <a:noFill/>
          <a:ln/>
        </p:spPr>
        <p:txBody>
          <a:bodyPr wrap="square" lIns="0" tIns="0" rIns="0" bIns="0" rtlCol="0" anchor="ctr"/>
          <a:lstStyle/>
          <a:p>
            <a:pPr algn="ctr" indent="0" marL="0">
              <a:buNone/>
            </a:pPr>
            <a:r>
              <a:rPr lang="en-US" sz="1200" b="1" dirty="0">
                <a:solidFill>
                  <a:srgbClr val="FFFFFF"/>
                </a:solidFill>
              </a:rPr>
              <a:t>Wk 4</a:t>
            </a:r>
            <a:endParaRPr lang="en-US" sz="1200" dirty="0"/>
          </a:p>
        </p:txBody>
      </p:sp>
      <p:sp>
        <p:nvSpPr>
          <p:cNvPr id="13" name="Shape 11"/>
          <p:cNvSpPr/>
          <p:nvPr/>
        </p:nvSpPr>
        <p:spPr>
          <a:xfrm>
            <a:off x="6492240" y="1325880"/>
            <a:ext cx="777240" cy="411480"/>
          </a:xfrm>
          <a:prstGeom prst="rect">
            <a:avLst/>
          </a:prstGeom>
          <a:solidFill>
            <a:srgbClr val="0F2E3D"/>
          </a:solidFill>
          <a:ln w="9525">
            <a:solidFill>
              <a:srgbClr val="FFFFFF"/>
            </a:solidFill>
            <a:prstDash val="solid"/>
          </a:ln>
        </p:spPr>
      </p:sp>
      <p:sp>
        <p:nvSpPr>
          <p:cNvPr id="14" name="Text 12"/>
          <p:cNvSpPr txBox="1"/>
          <p:nvPr/>
        </p:nvSpPr>
        <p:spPr>
          <a:xfrm>
            <a:off x="6492240" y="1325880"/>
            <a:ext cx="777240" cy="411480"/>
          </a:xfrm>
          <a:prstGeom prst="rect">
            <a:avLst/>
          </a:prstGeom>
          <a:noFill/>
          <a:ln/>
        </p:spPr>
        <p:txBody>
          <a:bodyPr wrap="square" lIns="0" tIns="0" rIns="0" bIns="0" rtlCol="0" anchor="ctr"/>
          <a:lstStyle/>
          <a:p>
            <a:pPr algn="ctr" indent="0" marL="0">
              <a:buNone/>
            </a:pPr>
            <a:r>
              <a:rPr lang="en-US" sz="1200" b="1" dirty="0">
                <a:solidFill>
                  <a:srgbClr val="FFFFFF"/>
                </a:solidFill>
              </a:rPr>
              <a:t>Wk 5</a:t>
            </a:r>
            <a:endParaRPr lang="en-US" sz="1200" dirty="0"/>
          </a:p>
        </p:txBody>
      </p:sp>
      <p:sp>
        <p:nvSpPr>
          <p:cNvPr id="15" name="Shape 13"/>
          <p:cNvSpPr/>
          <p:nvPr/>
        </p:nvSpPr>
        <p:spPr>
          <a:xfrm>
            <a:off x="7269480" y="1325880"/>
            <a:ext cx="777240" cy="411480"/>
          </a:xfrm>
          <a:prstGeom prst="rect">
            <a:avLst/>
          </a:prstGeom>
          <a:solidFill>
            <a:srgbClr val="0F2E3D"/>
          </a:solidFill>
          <a:ln w="9525">
            <a:solidFill>
              <a:srgbClr val="FFFFFF"/>
            </a:solidFill>
            <a:prstDash val="solid"/>
          </a:ln>
        </p:spPr>
      </p:sp>
      <p:sp>
        <p:nvSpPr>
          <p:cNvPr id="16" name="Text 14"/>
          <p:cNvSpPr txBox="1"/>
          <p:nvPr/>
        </p:nvSpPr>
        <p:spPr>
          <a:xfrm>
            <a:off x="7269480" y="1325880"/>
            <a:ext cx="777240" cy="411480"/>
          </a:xfrm>
          <a:prstGeom prst="rect">
            <a:avLst/>
          </a:prstGeom>
          <a:noFill/>
          <a:ln/>
        </p:spPr>
        <p:txBody>
          <a:bodyPr wrap="square" lIns="0" tIns="0" rIns="0" bIns="0" rtlCol="0" anchor="ctr"/>
          <a:lstStyle/>
          <a:p>
            <a:pPr algn="ctr" indent="0" marL="0">
              <a:buNone/>
            </a:pPr>
            <a:r>
              <a:rPr lang="en-US" sz="1200" b="1" dirty="0">
                <a:solidFill>
                  <a:srgbClr val="FFFFFF"/>
                </a:solidFill>
              </a:rPr>
              <a:t>Wk 6</a:t>
            </a:r>
            <a:endParaRPr lang="en-US" sz="1200" dirty="0"/>
          </a:p>
        </p:txBody>
      </p:sp>
      <p:sp>
        <p:nvSpPr>
          <p:cNvPr id="17" name="Shape 15"/>
          <p:cNvSpPr/>
          <p:nvPr/>
        </p:nvSpPr>
        <p:spPr>
          <a:xfrm>
            <a:off x="457200" y="1737360"/>
            <a:ext cx="7589520" cy="512064"/>
          </a:xfrm>
          <a:prstGeom prst="rect">
            <a:avLst/>
          </a:prstGeom>
          <a:solidFill>
            <a:srgbClr val="FFFFFF"/>
          </a:solidFill>
          <a:ln w="6350">
            <a:solidFill>
              <a:srgbClr val="D9DEE2"/>
            </a:solidFill>
            <a:prstDash val="solid"/>
          </a:ln>
        </p:spPr>
      </p:sp>
      <p:sp>
        <p:nvSpPr>
          <p:cNvPr id="18" name="Text 16"/>
          <p:cNvSpPr txBox="1"/>
          <p:nvPr/>
        </p:nvSpPr>
        <p:spPr>
          <a:xfrm>
            <a:off x="548640" y="1737360"/>
            <a:ext cx="2788920" cy="512064"/>
          </a:xfrm>
          <a:prstGeom prst="rect">
            <a:avLst/>
          </a:prstGeom>
          <a:noFill/>
          <a:ln/>
        </p:spPr>
        <p:txBody>
          <a:bodyPr wrap="square" lIns="0" tIns="0" rIns="0" bIns="0" rtlCol="0" anchor="ctr"/>
          <a:lstStyle/>
          <a:p>
            <a:pPr indent="0" marL="0">
              <a:buNone/>
            </a:pPr>
            <a:r>
              <a:rPr lang="en-US" sz="1150" dirty="0">
                <a:solidFill>
                  <a:srgbClr val="1B1F23"/>
                </a:solidFill>
              </a:rPr>
              <a:t>Scoping, protocol, ethics check</a:t>
            </a:r>
            <a:endParaRPr lang="en-US" sz="1150" dirty="0"/>
          </a:p>
        </p:txBody>
      </p:sp>
      <p:sp>
        <p:nvSpPr>
          <p:cNvPr id="19" name="Shape 17"/>
          <p:cNvSpPr/>
          <p:nvPr/>
        </p:nvSpPr>
        <p:spPr>
          <a:xfrm>
            <a:off x="4160520" y="1737360"/>
            <a:ext cx="0" cy="512064"/>
          </a:xfrm>
          <a:prstGeom prst="line">
            <a:avLst/>
          </a:prstGeom>
          <a:noFill/>
          <a:ln w="6350">
            <a:solidFill>
              <a:srgbClr val="D9DEE2"/>
            </a:solidFill>
            <a:prstDash val="solid"/>
          </a:ln>
        </p:spPr>
      </p:sp>
      <p:sp>
        <p:nvSpPr>
          <p:cNvPr id="20" name="Shape 18"/>
          <p:cNvSpPr/>
          <p:nvPr/>
        </p:nvSpPr>
        <p:spPr>
          <a:xfrm>
            <a:off x="4937760" y="1737360"/>
            <a:ext cx="0" cy="512064"/>
          </a:xfrm>
          <a:prstGeom prst="line">
            <a:avLst/>
          </a:prstGeom>
          <a:noFill/>
          <a:ln w="6350">
            <a:solidFill>
              <a:srgbClr val="D9DEE2"/>
            </a:solidFill>
            <a:prstDash val="solid"/>
          </a:ln>
        </p:spPr>
      </p:sp>
      <p:sp>
        <p:nvSpPr>
          <p:cNvPr id="21" name="Shape 19"/>
          <p:cNvSpPr/>
          <p:nvPr/>
        </p:nvSpPr>
        <p:spPr>
          <a:xfrm>
            <a:off x="5715000" y="1737360"/>
            <a:ext cx="0" cy="512064"/>
          </a:xfrm>
          <a:prstGeom prst="line">
            <a:avLst/>
          </a:prstGeom>
          <a:noFill/>
          <a:ln w="6350">
            <a:solidFill>
              <a:srgbClr val="D9DEE2"/>
            </a:solidFill>
            <a:prstDash val="solid"/>
          </a:ln>
        </p:spPr>
      </p:sp>
      <p:sp>
        <p:nvSpPr>
          <p:cNvPr id="22" name="Shape 20"/>
          <p:cNvSpPr/>
          <p:nvPr/>
        </p:nvSpPr>
        <p:spPr>
          <a:xfrm>
            <a:off x="6492240" y="1737360"/>
            <a:ext cx="0" cy="512064"/>
          </a:xfrm>
          <a:prstGeom prst="line">
            <a:avLst/>
          </a:prstGeom>
          <a:noFill/>
          <a:ln w="6350">
            <a:solidFill>
              <a:srgbClr val="D9DEE2"/>
            </a:solidFill>
            <a:prstDash val="solid"/>
          </a:ln>
        </p:spPr>
      </p:sp>
      <p:sp>
        <p:nvSpPr>
          <p:cNvPr id="23" name="Shape 21"/>
          <p:cNvSpPr/>
          <p:nvPr/>
        </p:nvSpPr>
        <p:spPr>
          <a:xfrm>
            <a:off x="7269480" y="1737360"/>
            <a:ext cx="0" cy="512064"/>
          </a:xfrm>
          <a:prstGeom prst="line">
            <a:avLst/>
          </a:prstGeom>
          <a:noFill/>
          <a:ln w="6350">
            <a:solidFill>
              <a:srgbClr val="D9DEE2"/>
            </a:solidFill>
            <a:prstDash val="solid"/>
          </a:ln>
        </p:spPr>
      </p:sp>
      <p:sp>
        <p:nvSpPr>
          <p:cNvPr id="24" name="Shape 22"/>
          <p:cNvSpPr/>
          <p:nvPr/>
        </p:nvSpPr>
        <p:spPr>
          <a:xfrm>
            <a:off x="3438144" y="1847088"/>
            <a:ext cx="667512" cy="292608"/>
          </a:xfrm>
          <a:prstGeom prst="roundRect">
            <a:avLst>
              <a:gd name="adj" fmla="val 18750"/>
            </a:avLst>
          </a:prstGeom>
          <a:solidFill>
            <a:srgbClr val="1F7A8C"/>
          </a:solidFill>
          <a:ln w="12700">
            <a:solidFill>
              <a:srgbClr val="FFFFFF"/>
            </a:solidFill>
            <a:prstDash val="solid"/>
          </a:ln>
        </p:spPr>
      </p:sp>
      <p:sp>
        <p:nvSpPr>
          <p:cNvPr id="25" name="Shape 23"/>
          <p:cNvSpPr/>
          <p:nvPr/>
        </p:nvSpPr>
        <p:spPr>
          <a:xfrm>
            <a:off x="457200" y="2249424"/>
            <a:ext cx="7589520" cy="512064"/>
          </a:xfrm>
          <a:prstGeom prst="rect">
            <a:avLst/>
          </a:prstGeom>
          <a:solidFill>
            <a:srgbClr val="F4F8F8"/>
          </a:solidFill>
          <a:ln w="6350">
            <a:solidFill>
              <a:srgbClr val="D9DEE2"/>
            </a:solidFill>
            <a:prstDash val="solid"/>
          </a:ln>
        </p:spPr>
      </p:sp>
      <p:sp>
        <p:nvSpPr>
          <p:cNvPr id="26" name="Text 24"/>
          <p:cNvSpPr txBox="1"/>
          <p:nvPr/>
        </p:nvSpPr>
        <p:spPr>
          <a:xfrm>
            <a:off x="548640" y="2249424"/>
            <a:ext cx="2788920" cy="512064"/>
          </a:xfrm>
          <a:prstGeom prst="rect">
            <a:avLst/>
          </a:prstGeom>
          <a:noFill/>
          <a:ln/>
        </p:spPr>
        <p:txBody>
          <a:bodyPr wrap="square" lIns="0" tIns="0" rIns="0" bIns="0" rtlCol="0" anchor="ctr"/>
          <a:lstStyle/>
          <a:p>
            <a:pPr indent="0" marL="0">
              <a:buNone/>
            </a:pPr>
            <a:r>
              <a:rPr lang="en-US" sz="1150" dirty="0">
                <a:solidFill>
                  <a:srgbClr val="1B1F23"/>
                </a:solidFill>
              </a:rPr>
              <a:t>Literature review and preparation</a:t>
            </a:r>
            <a:endParaRPr lang="en-US" sz="1150" dirty="0"/>
          </a:p>
        </p:txBody>
      </p:sp>
      <p:sp>
        <p:nvSpPr>
          <p:cNvPr id="27" name="Shape 25"/>
          <p:cNvSpPr/>
          <p:nvPr/>
        </p:nvSpPr>
        <p:spPr>
          <a:xfrm>
            <a:off x="4160520" y="2249424"/>
            <a:ext cx="0" cy="512064"/>
          </a:xfrm>
          <a:prstGeom prst="line">
            <a:avLst/>
          </a:prstGeom>
          <a:noFill/>
          <a:ln w="6350">
            <a:solidFill>
              <a:srgbClr val="D9DEE2"/>
            </a:solidFill>
            <a:prstDash val="solid"/>
          </a:ln>
        </p:spPr>
      </p:sp>
      <p:sp>
        <p:nvSpPr>
          <p:cNvPr id="28" name="Shape 26"/>
          <p:cNvSpPr/>
          <p:nvPr/>
        </p:nvSpPr>
        <p:spPr>
          <a:xfrm>
            <a:off x="4937760" y="2249424"/>
            <a:ext cx="0" cy="512064"/>
          </a:xfrm>
          <a:prstGeom prst="line">
            <a:avLst/>
          </a:prstGeom>
          <a:noFill/>
          <a:ln w="6350">
            <a:solidFill>
              <a:srgbClr val="D9DEE2"/>
            </a:solidFill>
            <a:prstDash val="solid"/>
          </a:ln>
        </p:spPr>
      </p:sp>
      <p:sp>
        <p:nvSpPr>
          <p:cNvPr id="29" name="Shape 27"/>
          <p:cNvSpPr/>
          <p:nvPr/>
        </p:nvSpPr>
        <p:spPr>
          <a:xfrm>
            <a:off x="5715000" y="2249424"/>
            <a:ext cx="0" cy="512064"/>
          </a:xfrm>
          <a:prstGeom prst="line">
            <a:avLst/>
          </a:prstGeom>
          <a:noFill/>
          <a:ln w="6350">
            <a:solidFill>
              <a:srgbClr val="D9DEE2"/>
            </a:solidFill>
            <a:prstDash val="solid"/>
          </a:ln>
        </p:spPr>
      </p:sp>
      <p:sp>
        <p:nvSpPr>
          <p:cNvPr id="30" name="Shape 28"/>
          <p:cNvSpPr/>
          <p:nvPr/>
        </p:nvSpPr>
        <p:spPr>
          <a:xfrm>
            <a:off x="6492240" y="2249424"/>
            <a:ext cx="0" cy="512064"/>
          </a:xfrm>
          <a:prstGeom prst="line">
            <a:avLst/>
          </a:prstGeom>
          <a:noFill/>
          <a:ln w="6350">
            <a:solidFill>
              <a:srgbClr val="D9DEE2"/>
            </a:solidFill>
            <a:prstDash val="solid"/>
          </a:ln>
        </p:spPr>
      </p:sp>
      <p:sp>
        <p:nvSpPr>
          <p:cNvPr id="31" name="Shape 29"/>
          <p:cNvSpPr/>
          <p:nvPr/>
        </p:nvSpPr>
        <p:spPr>
          <a:xfrm>
            <a:off x="7269480" y="2249424"/>
            <a:ext cx="0" cy="512064"/>
          </a:xfrm>
          <a:prstGeom prst="line">
            <a:avLst/>
          </a:prstGeom>
          <a:noFill/>
          <a:ln w="6350">
            <a:solidFill>
              <a:srgbClr val="D9DEE2"/>
            </a:solidFill>
            <a:prstDash val="solid"/>
          </a:ln>
        </p:spPr>
      </p:sp>
      <p:sp>
        <p:nvSpPr>
          <p:cNvPr id="32" name="Shape 30"/>
          <p:cNvSpPr/>
          <p:nvPr/>
        </p:nvSpPr>
        <p:spPr>
          <a:xfrm>
            <a:off x="3438144" y="2359152"/>
            <a:ext cx="1444752" cy="292608"/>
          </a:xfrm>
          <a:prstGeom prst="roundRect">
            <a:avLst>
              <a:gd name="adj" fmla="val 18750"/>
            </a:avLst>
          </a:prstGeom>
          <a:solidFill>
            <a:srgbClr val="1F7A8C"/>
          </a:solidFill>
          <a:ln w="12700">
            <a:solidFill>
              <a:srgbClr val="FFFFFF"/>
            </a:solidFill>
            <a:prstDash val="solid"/>
          </a:ln>
        </p:spPr>
      </p:sp>
      <p:sp>
        <p:nvSpPr>
          <p:cNvPr id="33" name="Shape 31"/>
          <p:cNvSpPr/>
          <p:nvPr/>
        </p:nvSpPr>
        <p:spPr>
          <a:xfrm>
            <a:off x="457200" y="2761488"/>
            <a:ext cx="7589520" cy="512064"/>
          </a:xfrm>
          <a:prstGeom prst="rect">
            <a:avLst/>
          </a:prstGeom>
          <a:solidFill>
            <a:srgbClr val="FFFFFF"/>
          </a:solidFill>
          <a:ln w="6350">
            <a:solidFill>
              <a:srgbClr val="D9DEE2"/>
            </a:solidFill>
            <a:prstDash val="solid"/>
          </a:ln>
        </p:spPr>
      </p:sp>
      <p:sp>
        <p:nvSpPr>
          <p:cNvPr id="34" name="Text 32"/>
          <p:cNvSpPr txBox="1"/>
          <p:nvPr/>
        </p:nvSpPr>
        <p:spPr>
          <a:xfrm>
            <a:off x="548640" y="2761488"/>
            <a:ext cx="2788920" cy="512064"/>
          </a:xfrm>
          <a:prstGeom prst="rect">
            <a:avLst/>
          </a:prstGeom>
          <a:noFill/>
          <a:ln/>
        </p:spPr>
        <p:txBody>
          <a:bodyPr wrap="square" lIns="0" tIns="0" rIns="0" bIns="0" rtlCol="0" anchor="ctr"/>
          <a:lstStyle/>
          <a:p>
            <a:pPr indent="0" marL="0">
              <a:buNone/>
            </a:pPr>
            <a:r>
              <a:rPr lang="en-US" sz="1150" dirty="0">
                <a:solidFill>
                  <a:srgbClr val="1B1F23"/>
                </a:solidFill>
              </a:rPr>
              <a:t>Document search and screening</a:t>
            </a:r>
            <a:endParaRPr lang="en-US" sz="1150" dirty="0"/>
          </a:p>
        </p:txBody>
      </p:sp>
      <p:sp>
        <p:nvSpPr>
          <p:cNvPr id="35" name="Shape 33"/>
          <p:cNvSpPr/>
          <p:nvPr/>
        </p:nvSpPr>
        <p:spPr>
          <a:xfrm>
            <a:off x="4160520" y="2761488"/>
            <a:ext cx="0" cy="512064"/>
          </a:xfrm>
          <a:prstGeom prst="line">
            <a:avLst/>
          </a:prstGeom>
          <a:noFill/>
          <a:ln w="6350">
            <a:solidFill>
              <a:srgbClr val="D9DEE2"/>
            </a:solidFill>
            <a:prstDash val="solid"/>
          </a:ln>
        </p:spPr>
      </p:sp>
      <p:sp>
        <p:nvSpPr>
          <p:cNvPr id="36" name="Shape 34"/>
          <p:cNvSpPr/>
          <p:nvPr/>
        </p:nvSpPr>
        <p:spPr>
          <a:xfrm>
            <a:off x="4937760" y="2761488"/>
            <a:ext cx="0" cy="512064"/>
          </a:xfrm>
          <a:prstGeom prst="line">
            <a:avLst/>
          </a:prstGeom>
          <a:noFill/>
          <a:ln w="6350">
            <a:solidFill>
              <a:srgbClr val="D9DEE2"/>
            </a:solidFill>
            <a:prstDash val="solid"/>
          </a:ln>
        </p:spPr>
      </p:sp>
      <p:sp>
        <p:nvSpPr>
          <p:cNvPr id="37" name="Shape 35"/>
          <p:cNvSpPr/>
          <p:nvPr/>
        </p:nvSpPr>
        <p:spPr>
          <a:xfrm>
            <a:off x="5715000" y="2761488"/>
            <a:ext cx="0" cy="512064"/>
          </a:xfrm>
          <a:prstGeom prst="line">
            <a:avLst/>
          </a:prstGeom>
          <a:noFill/>
          <a:ln w="6350">
            <a:solidFill>
              <a:srgbClr val="D9DEE2"/>
            </a:solidFill>
            <a:prstDash val="solid"/>
          </a:ln>
        </p:spPr>
      </p:sp>
      <p:sp>
        <p:nvSpPr>
          <p:cNvPr id="38" name="Shape 36"/>
          <p:cNvSpPr/>
          <p:nvPr/>
        </p:nvSpPr>
        <p:spPr>
          <a:xfrm>
            <a:off x="6492240" y="2761488"/>
            <a:ext cx="0" cy="512064"/>
          </a:xfrm>
          <a:prstGeom prst="line">
            <a:avLst/>
          </a:prstGeom>
          <a:noFill/>
          <a:ln w="6350">
            <a:solidFill>
              <a:srgbClr val="D9DEE2"/>
            </a:solidFill>
            <a:prstDash val="solid"/>
          </a:ln>
        </p:spPr>
      </p:sp>
      <p:sp>
        <p:nvSpPr>
          <p:cNvPr id="39" name="Shape 37"/>
          <p:cNvSpPr/>
          <p:nvPr/>
        </p:nvSpPr>
        <p:spPr>
          <a:xfrm>
            <a:off x="7269480" y="2761488"/>
            <a:ext cx="0" cy="512064"/>
          </a:xfrm>
          <a:prstGeom prst="line">
            <a:avLst/>
          </a:prstGeom>
          <a:noFill/>
          <a:ln w="6350">
            <a:solidFill>
              <a:srgbClr val="D9DEE2"/>
            </a:solidFill>
            <a:prstDash val="solid"/>
          </a:ln>
        </p:spPr>
      </p:sp>
      <p:sp>
        <p:nvSpPr>
          <p:cNvPr id="40" name="Shape 38"/>
          <p:cNvSpPr/>
          <p:nvPr/>
        </p:nvSpPr>
        <p:spPr>
          <a:xfrm>
            <a:off x="4215384" y="2871216"/>
            <a:ext cx="1444752" cy="292608"/>
          </a:xfrm>
          <a:prstGeom prst="roundRect">
            <a:avLst>
              <a:gd name="adj" fmla="val 18750"/>
            </a:avLst>
          </a:prstGeom>
          <a:solidFill>
            <a:srgbClr val="1F7A8C"/>
          </a:solidFill>
          <a:ln w="12700">
            <a:solidFill>
              <a:srgbClr val="FFFFFF"/>
            </a:solidFill>
            <a:prstDash val="solid"/>
          </a:ln>
        </p:spPr>
      </p:sp>
      <p:sp>
        <p:nvSpPr>
          <p:cNvPr id="41" name="Shape 39"/>
          <p:cNvSpPr/>
          <p:nvPr/>
        </p:nvSpPr>
        <p:spPr>
          <a:xfrm>
            <a:off x="457200" y="3273552"/>
            <a:ext cx="7589520" cy="512064"/>
          </a:xfrm>
          <a:prstGeom prst="rect">
            <a:avLst/>
          </a:prstGeom>
          <a:solidFill>
            <a:srgbClr val="F4F8F8"/>
          </a:solidFill>
          <a:ln w="6350">
            <a:solidFill>
              <a:srgbClr val="D9DEE2"/>
            </a:solidFill>
            <a:prstDash val="solid"/>
          </a:ln>
        </p:spPr>
      </p:sp>
      <p:sp>
        <p:nvSpPr>
          <p:cNvPr id="42" name="Text 40"/>
          <p:cNvSpPr txBox="1"/>
          <p:nvPr/>
        </p:nvSpPr>
        <p:spPr>
          <a:xfrm>
            <a:off x="548640" y="3273552"/>
            <a:ext cx="2788920" cy="512064"/>
          </a:xfrm>
          <a:prstGeom prst="rect">
            <a:avLst/>
          </a:prstGeom>
          <a:noFill/>
          <a:ln/>
        </p:spPr>
        <p:txBody>
          <a:bodyPr wrap="square" lIns="0" tIns="0" rIns="0" bIns="0" rtlCol="0" anchor="ctr"/>
          <a:lstStyle/>
          <a:p>
            <a:pPr indent="0" marL="0">
              <a:buNone/>
            </a:pPr>
            <a:r>
              <a:rPr lang="en-US" sz="1150" dirty="0">
                <a:solidFill>
                  <a:srgbClr val="1B1F23"/>
                </a:solidFill>
              </a:rPr>
              <a:t>Familiarisation and coding (P1–2)</a:t>
            </a:r>
            <a:endParaRPr lang="en-US" sz="1150" dirty="0"/>
          </a:p>
        </p:txBody>
      </p:sp>
      <p:sp>
        <p:nvSpPr>
          <p:cNvPr id="43" name="Shape 41"/>
          <p:cNvSpPr/>
          <p:nvPr/>
        </p:nvSpPr>
        <p:spPr>
          <a:xfrm>
            <a:off x="4160520" y="3273552"/>
            <a:ext cx="0" cy="512064"/>
          </a:xfrm>
          <a:prstGeom prst="line">
            <a:avLst/>
          </a:prstGeom>
          <a:noFill/>
          <a:ln w="6350">
            <a:solidFill>
              <a:srgbClr val="D9DEE2"/>
            </a:solidFill>
            <a:prstDash val="solid"/>
          </a:ln>
        </p:spPr>
      </p:sp>
      <p:sp>
        <p:nvSpPr>
          <p:cNvPr id="44" name="Shape 42"/>
          <p:cNvSpPr/>
          <p:nvPr/>
        </p:nvSpPr>
        <p:spPr>
          <a:xfrm>
            <a:off x="4937760" y="3273552"/>
            <a:ext cx="0" cy="512064"/>
          </a:xfrm>
          <a:prstGeom prst="line">
            <a:avLst/>
          </a:prstGeom>
          <a:noFill/>
          <a:ln w="6350">
            <a:solidFill>
              <a:srgbClr val="D9DEE2"/>
            </a:solidFill>
            <a:prstDash val="solid"/>
          </a:ln>
        </p:spPr>
      </p:sp>
      <p:sp>
        <p:nvSpPr>
          <p:cNvPr id="45" name="Shape 43"/>
          <p:cNvSpPr/>
          <p:nvPr/>
        </p:nvSpPr>
        <p:spPr>
          <a:xfrm>
            <a:off x="5715000" y="3273552"/>
            <a:ext cx="0" cy="512064"/>
          </a:xfrm>
          <a:prstGeom prst="line">
            <a:avLst/>
          </a:prstGeom>
          <a:noFill/>
          <a:ln w="6350">
            <a:solidFill>
              <a:srgbClr val="D9DEE2"/>
            </a:solidFill>
            <a:prstDash val="solid"/>
          </a:ln>
        </p:spPr>
      </p:sp>
      <p:sp>
        <p:nvSpPr>
          <p:cNvPr id="46" name="Shape 44"/>
          <p:cNvSpPr/>
          <p:nvPr/>
        </p:nvSpPr>
        <p:spPr>
          <a:xfrm>
            <a:off x="6492240" y="3273552"/>
            <a:ext cx="0" cy="512064"/>
          </a:xfrm>
          <a:prstGeom prst="line">
            <a:avLst/>
          </a:prstGeom>
          <a:noFill/>
          <a:ln w="6350">
            <a:solidFill>
              <a:srgbClr val="D9DEE2"/>
            </a:solidFill>
            <a:prstDash val="solid"/>
          </a:ln>
        </p:spPr>
      </p:sp>
      <p:sp>
        <p:nvSpPr>
          <p:cNvPr id="47" name="Shape 45"/>
          <p:cNvSpPr/>
          <p:nvPr/>
        </p:nvSpPr>
        <p:spPr>
          <a:xfrm>
            <a:off x="7269480" y="3273552"/>
            <a:ext cx="0" cy="512064"/>
          </a:xfrm>
          <a:prstGeom prst="line">
            <a:avLst/>
          </a:prstGeom>
          <a:noFill/>
          <a:ln w="6350">
            <a:solidFill>
              <a:srgbClr val="D9DEE2"/>
            </a:solidFill>
            <a:prstDash val="solid"/>
          </a:ln>
        </p:spPr>
      </p:sp>
      <p:sp>
        <p:nvSpPr>
          <p:cNvPr id="48" name="Shape 46"/>
          <p:cNvSpPr/>
          <p:nvPr/>
        </p:nvSpPr>
        <p:spPr>
          <a:xfrm>
            <a:off x="4992624" y="3383280"/>
            <a:ext cx="1444752" cy="292608"/>
          </a:xfrm>
          <a:prstGeom prst="roundRect">
            <a:avLst>
              <a:gd name="adj" fmla="val 18750"/>
            </a:avLst>
          </a:prstGeom>
          <a:solidFill>
            <a:srgbClr val="2A9D8F"/>
          </a:solidFill>
          <a:ln w="12700">
            <a:solidFill>
              <a:srgbClr val="FFFFFF"/>
            </a:solidFill>
            <a:prstDash val="solid"/>
          </a:ln>
        </p:spPr>
      </p:sp>
      <p:sp>
        <p:nvSpPr>
          <p:cNvPr id="49" name="Shape 47"/>
          <p:cNvSpPr/>
          <p:nvPr/>
        </p:nvSpPr>
        <p:spPr>
          <a:xfrm>
            <a:off x="457200" y="3785616"/>
            <a:ext cx="7589520" cy="512064"/>
          </a:xfrm>
          <a:prstGeom prst="rect">
            <a:avLst/>
          </a:prstGeom>
          <a:solidFill>
            <a:srgbClr val="FFFFFF"/>
          </a:solidFill>
          <a:ln w="6350">
            <a:solidFill>
              <a:srgbClr val="D9DEE2"/>
            </a:solidFill>
            <a:prstDash val="solid"/>
          </a:ln>
        </p:spPr>
      </p:sp>
      <p:sp>
        <p:nvSpPr>
          <p:cNvPr id="50" name="Text 48"/>
          <p:cNvSpPr txBox="1"/>
          <p:nvPr/>
        </p:nvSpPr>
        <p:spPr>
          <a:xfrm>
            <a:off x="548640" y="3785616"/>
            <a:ext cx="2788920" cy="512064"/>
          </a:xfrm>
          <a:prstGeom prst="rect">
            <a:avLst/>
          </a:prstGeom>
          <a:noFill/>
          <a:ln/>
        </p:spPr>
        <p:txBody>
          <a:bodyPr wrap="square" lIns="0" tIns="0" rIns="0" bIns="0" rtlCol="0" anchor="ctr"/>
          <a:lstStyle/>
          <a:p>
            <a:pPr indent="0" marL="0">
              <a:buNone/>
            </a:pPr>
            <a:r>
              <a:rPr lang="en-US" sz="1150" dirty="0">
                <a:solidFill>
                  <a:srgbClr val="1B1F23"/>
                </a:solidFill>
              </a:rPr>
              <a:t>Theme development and review (P3–5)</a:t>
            </a:r>
            <a:endParaRPr lang="en-US" sz="1150" dirty="0"/>
          </a:p>
        </p:txBody>
      </p:sp>
      <p:sp>
        <p:nvSpPr>
          <p:cNvPr id="51" name="Shape 49"/>
          <p:cNvSpPr/>
          <p:nvPr/>
        </p:nvSpPr>
        <p:spPr>
          <a:xfrm>
            <a:off x="4160520" y="3785616"/>
            <a:ext cx="0" cy="512064"/>
          </a:xfrm>
          <a:prstGeom prst="line">
            <a:avLst/>
          </a:prstGeom>
          <a:noFill/>
          <a:ln w="6350">
            <a:solidFill>
              <a:srgbClr val="D9DEE2"/>
            </a:solidFill>
            <a:prstDash val="solid"/>
          </a:ln>
        </p:spPr>
      </p:sp>
      <p:sp>
        <p:nvSpPr>
          <p:cNvPr id="52" name="Shape 50"/>
          <p:cNvSpPr/>
          <p:nvPr/>
        </p:nvSpPr>
        <p:spPr>
          <a:xfrm>
            <a:off x="4937760" y="3785616"/>
            <a:ext cx="0" cy="512064"/>
          </a:xfrm>
          <a:prstGeom prst="line">
            <a:avLst/>
          </a:prstGeom>
          <a:noFill/>
          <a:ln w="6350">
            <a:solidFill>
              <a:srgbClr val="D9DEE2"/>
            </a:solidFill>
            <a:prstDash val="solid"/>
          </a:ln>
        </p:spPr>
      </p:sp>
      <p:sp>
        <p:nvSpPr>
          <p:cNvPr id="53" name="Shape 51"/>
          <p:cNvSpPr/>
          <p:nvPr/>
        </p:nvSpPr>
        <p:spPr>
          <a:xfrm>
            <a:off x="5715000" y="3785616"/>
            <a:ext cx="0" cy="512064"/>
          </a:xfrm>
          <a:prstGeom prst="line">
            <a:avLst/>
          </a:prstGeom>
          <a:noFill/>
          <a:ln w="6350">
            <a:solidFill>
              <a:srgbClr val="D9DEE2"/>
            </a:solidFill>
            <a:prstDash val="solid"/>
          </a:ln>
        </p:spPr>
      </p:sp>
      <p:sp>
        <p:nvSpPr>
          <p:cNvPr id="54" name="Shape 52"/>
          <p:cNvSpPr/>
          <p:nvPr/>
        </p:nvSpPr>
        <p:spPr>
          <a:xfrm>
            <a:off x="6492240" y="3785616"/>
            <a:ext cx="0" cy="512064"/>
          </a:xfrm>
          <a:prstGeom prst="line">
            <a:avLst/>
          </a:prstGeom>
          <a:noFill/>
          <a:ln w="6350">
            <a:solidFill>
              <a:srgbClr val="D9DEE2"/>
            </a:solidFill>
            <a:prstDash val="solid"/>
          </a:ln>
        </p:spPr>
      </p:sp>
      <p:sp>
        <p:nvSpPr>
          <p:cNvPr id="55" name="Shape 53"/>
          <p:cNvSpPr/>
          <p:nvPr/>
        </p:nvSpPr>
        <p:spPr>
          <a:xfrm>
            <a:off x="7269480" y="3785616"/>
            <a:ext cx="0" cy="512064"/>
          </a:xfrm>
          <a:prstGeom prst="line">
            <a:avLst/>
          </a:prstGeom>
          <a:noFill/>
          <a:ln w="6350">
            <a:solidFill>
              <a:srgbClr val="D9DEE2"/>
            </a:solidFill>
            <a:prstDash val="solid"/>
          </a:ln>
        </p:spPr>
      </p:sp>
      <p:sp>
        <p:nvSpPr>
          <p:cNvPr id="56" name="Shape 54"/>
          <p:cNvSpPr/>
          <p:nvPr/>
        </p:nvSpPr>
        <p:spPr>
          <a:xfrm>
            <a:off x="5769864" y="3895344"/>
            <a:ext cx="1444752" cy="292608"/>
          </a:xfrm>
          <a:prstGeom prst="roundRect">
            <a:avLst>
              <a:gd name="adj" fmla="val 18750"/>
            </a:avLst>
          </a:prstGeom>
          <a:solidFill>
            <a:srgbClr val="2A9D8F"/>
          </a:solidFill>
          <a:ln w="12700">
            <a:solidFill>
              <a:srgbClr val="FFFFFF"/>
            </a:solidFill>
            <a:prstDash val="solid"/>
          </a:ln>
        </p:spPr>
      </p:sp>
      <p:sp>
        <p:nvSpPr>
          <p:cNvPr id="57" name="Shape 55"/>
          <p:cNvSpPr/>
          <p:nvPr/>
        </p:nvSpPr>
        <p:spPr>
          <a:xfrm>
            <a:off x="457200" y="4297680"/>
            <a:ext cx="7589520" cy="512064"/>
          </a:xfrm>
          <a:prstGeom prst="rect">
            <a:avLst/>
          </a:prstGeom>
          <a:solidFill>
            <a:srgbClr val="F4F8F8"/>
          </a:solidFill>
          <a:ln w="6350">
            <a:solidFill>
              <a:srgbClr val="D9DEE2"/>
            </a:solidFill>
            <a:prstDash val="solid"/>
          </a:ln>
        </p:spPr>
      </p:sp>
      <p:sp>
        <p:nvSpPr>
          <p:cNvPr id="58" name="Text 56"/>
          <p:cNvSpPr txBox="1"/>
          <p:nvPr/>
        </p:nvSpPr>
        <p:spPr>
          <a:xfrm>
            <a:off x="548640" y="4297680"/>
            <a:ext cx="2788920" cy="512064"/>
          </a:xfrm>
          <a:prstGeom prst="rect">
            <a:avLst/>
          </a:prstGeom>
          <a:noFill/>
          <a:ln/>
        </p:spPr>
        <p:txBody>
          <a:bodyPr wrap="square" lIns="0" tIns="0" rIns="0" bIns="0" rtlCol="0" anchor="ctr"/>
          <a:lstStyle/>
          <a:p>
            <a:pPr indent="0" marL="0">
              <a:buNone/>
            </a:pPr>
            <a:r>
              <a:rPr lang="en-US" sz="1150" dirty="0">
                <a:solidFill>
                  <a:srgbClr val="1B1F23"/>
                </a:solidFill>
              </a:rPr>
              <a:t>Interpretation and report writing (P6)</a:t>
            </a:r>
            <a:endParaRPr lang="en-US" sz="1150" dirty="0"/>
          </a:p>
        </p:txBody>
      </p:sp>
      <p:sp>
        <p:nvSpPr>
          <p:cNvPr id="59" name="Shape 57"/>
          <p:cNvSpPr/>
          <p:nvPr/>
        </p:nvSpPr>
        <p:spPr>
          <a:xfrm>
            <a:off x="4160520" y="4297680"/>
            <a:ext cx="0" cy="512064"/>
          </a:xfrm>
          <a:prstGeom prst="line">
            <a:avLst/>
          </a:prstGeom>
          <a:noFill/>
          <a:ln w="6350">
            <a:solidFill>
              <a:srgbClr val="D9DEE2"/>
            </a:solidFill>
            <a:prstDash val="solid"/>
          </a:ln>
        </p:spPr>
      </p:sp>
      <p:sp>
        <p:nvSpPr>
          <p:cNvPr id="60" name="Shape 58"/>
          <p:cNvSpPr/>
          <p:nvPr/>
        </p:nvSpPr>
        <p:spPr>
          <a:xfrm>
            <a:off x="4937760" y="4297680"/>
            <a:ext cx="0" cy="512064"/>
          </a:xfrm>
          <a:prstGeom prst="line">
            <a:avLst/>
          </a:prstGeom>
          <a:noFill/>
          <a:ln w="6350">
            <a:solidFill>
              <a:srgbClr val="D9DEE2"/>
            </a:solidFill>
            <a:prstDash val="solid"/>
          </a:ln>
        </p:spPr>
      </p:sp>
      <p:sp>
        <p:nvSpPr>
          <p:cNvPr id="61" name="Shape 59"/>
          <p:cNvSpPr/>
          <p:nvPr/>
        </p:nvSpPr>
        <p:spPr>
          <a:xfrm>
            <a:off x="5715000" y="4297680"/>
            <a:ext cx="0" cy="512064"/>
          </a:xfrm>
          <a:prstGeom prst="line">
            <a:avLst/>
          </a:prstGeom>
          <a:noFill/>
          <a:ln w="6350">
            <a:solidFill>
              <a:srgbClr val="D9DEE2"/>
            </a:solidFill>
            <a:prstDash val="solid"/>
          </a:ln>
        </p:spPr>
      </p:sp>
      <p:sp>
        <p:nvSpPr>
          <p:cNvPr id="62" name="Shape 60"/>
          <p:cNvSpPr/>
          <p:nvPr/>
        </p:nvSpPr>
        <p:spPr>
          <a:xfrm>
            <a:off x="6492240" y="4297680"/>
            <a:ext cx="0" cy="512064"/>
          </a:xfrm>
          <a:prstGeom prst="line">
            <a:avLst/>
          </a:prstGeom>
          <a:noFill/>
          <a:ln w="6350">
            <a:solidFill>
              <a:srgbClr val="D9DEE2"/>
            </a:solidFill>
            <a:prstDash val="solid"/>
          </a:ln>
        </p:spPr>
      </p:sp>
      <p:sp>
        <p:nvSpPr>
          <p:cNvPr id="63" name="Shape 61"/>
          <p:cNvSpPr/>
          <p:nvPr/>
        </p:nvSpPr>
        <p:spPr>
          <a:xfrm>
            <a:off x="7269480" y="4297680"/>
            <a:ext cx="0" cy="512064"/>
          </a:xfrm>
          <a:prstGeom prst="line">
            <a:avLst/>
          </a:prstGeom>
          <a:noFill/>
          <a:ln w="6350">
            <a:solidFill>
              <a:srgbClr val="D9DEE2"/>
            </a:solidFill>
            <a:prstDash val="solid"/>
          </a:ln>
        </p:spPr>
      </p:sp>
      <p:sp>
        <p:nvSpPr>
          <p:cNvPr id="64" name="Shape 62"/>
          <p:cNvSpPr/>
          <p:nvPr/>
        </p:nvSpPr>
        <p:spPr>
          <a:xfrm>
            <a:off x="6547104" y="4407408"/>
            <a:ext cx="1444752" cy="292608"/>
          </a:xfrm>
          <a:prstGeom prst="roundRect">
            <a:avLst>
              <a:gd name="adj" fmla="val 18750"/>
            </a:avLst>
          </a:prstGeom>
          <a:solidFill>
            <a:srgbClr val="2A9D8F"/>
          </a:solidFill>
          <a:ln w="12700">
            <a:solidFill>
              <a:srgbClr val="FFFFFF"/>
            </a:solidFill>
            <a:prstDash val="solid"/>
          </a:ln>
        </p:spPr>
      </p:sp>
      <p:sp>
        <p:nvSpPr>
          <p:cNvPr id="65" name="Shape 63"/>
          <p:cNvSpPr/>
          <p:nvPr/>
        </p:nvSpPr>
        <p:spPr>
          <a:xfrm>
            <a:off x="457200" y="4809744"/>
            <a:ext cx="7589520" cy="512064"/>
          </a:xfrm>
          <a:prstGeom prst="rect">
            <a:avLst/>
          </a:prstGeom>
          <a:solidFill>
            <a:srgbClr val="FFFFFF"/>
          </a:solidFill>
          <a:ln w="6350">
            <a:solidFill>
              <a:srgbClr val="D9DEE2"/>
            </a:solidFill>
            <a:prstDash val="solid"/>
          </a:ln>
        </p:spPr>
      </p:sp>
      <p:sp>
        <p:nvSpPr>
          <p:cNvPr id="66" name="Text 64"/>
          <p:cNvSpPr txBox="1"/>
          <p:nvPr/>
        </p:nvSpPr>
        <p:spPr>
          <a:xfrm>
            <a:off x="548640" y="4809744"/>
            <a:ext cx="2788920" cy="512064"/>
          </a:xfrm>
          <a:prstGeom prst="rect">
            <a:avLst/>
          </a:prstGeom>
          <a:noFill/>
          <a:ln/>
        </p:spPr>
        <p:txBody>
          <a:bodyPr wrap="square" lIns="0" tIns="0" rIns="0" bIns="0" rtlCol="0" anchor="ctr"/>
          <a:lstStyle/>
          <a:p>
            <a:pPr indent="0" marL="0">
              <a:buNone/>
            </a:pPr>
            <a:r>
              <a:rPr lang="en-US" sz="1150" dirty="0">
                <a:solidFill>
                  <a:srgbClr val="1B1F23"/>
                </a:solidFill>
              </a:rPr>
              <a:t>Recorded presentation, dissemination</a:t>
            </a:r>
            <a:endParaRPr lang="en-US" sz="1150" dirty="0"/>
          </a:p>
        </p:txBody>
      </p:sp>
      <p:sp>
        <p:nvSpPr>
          <p:cNvPr id="67" name="Shape 65"/>
          <p:cNvSpPr/>
          <p:nvPr/>
        </p:nvSpPr>
        <p:spPr>
          <a:xfrm>
            <a:off x="4160520" y="4809744"/>
            <a:ext cx="0" cy="512064"/>
          </a:xfrm>
          <a:prstGeom prst="line">
            <a:avLst/>
          </a:prstGeom>
          <a:noFill/>
          <a:ln w="6350">
            <a:solidFill>
              <a:srgbClr val="D9DEE2"/>
            </a:solidFill>
            <a:prstDash val="solid"/>
          </a:ln>
        </p:spPr>
      </p:sp>
      <p:sp>
        <p:nvSpPr>
          <p:cNvPr id="68" name="Shape 66"/>
          <p:cNvSpPr/>
          <p:nvPr/>
        </p:nvSpPr>
        <p:spPr>
          <a:xfrm>
            <a:off x="4937760" y="4809744"/>
            <a:ext cx="0" cy="512064"/>
          </a:xfrm>
          <a:prstGeom prst="line">
            <a:avLst/>
          </a:prstGeom>
          <a:noFill/>
          <a:ln w="6350">
            <a:solidFill>
              <a:srgbClr val="D9DEE2"/>
            </a:solidFill>
            <a:prstDash val="solid"/>
          </a:ln>
        </p:spPr>
      </p:sp>
      <p:sp>
        <p:nvSpPr>
          <p:cNvPr id="69" name="Shape 67"/>
          <p:cNvSpPr/>
          <p:nvPr/>
        </p:nvSpPr>
        <p:spPr>
          <a:xfrm>
            <a:off x="5715000" y="4809744"/>
            <a:ext cx="0" cy="512064"/>
          </a:xfrm>
          <a:prstGeom prst="line">
            <a:avLst/>
          </a:prstGeom>
          <a:noFill/>
          <a:ln w="6350">
            <a:solidFill>
              <a:srgbClr val="D9DEE2"/>
            </a:solidFill>
            <a:prstDash val="solid"/>
          </a:ln>
        </p:spPr>
      </p:sp>
      <p:sp>
        <p:nvSpPr>
          <p:cNvPr id="70" name="Shape 68"/>
          <p:cNvSpPr/>
          <p:nvPr/>
        </p:nvSpPr>
        <p:spPr>
          <a:xfrm>
            <a:off x="6492240" y="4809744"/>
            <a:ext cx="0" cy="512064"/>
          </a:xfrm>
          <a:prstGeom prst="line">
            <a:avLst/>
          </a:prstGeom>
          <a:noFill/>
          <a:ln w="6350">
            <a:solidFill>
              <a:srgbClr val="D9DEE2"/>
            </a:solidFill>
            <a:prstDash val="solid"/>
          </a:ln>
        </p:spPr>
      </p:sp>
      <p:sp>
        <p:nvSpPr>
          <p:cNvPr id="71" name="Shape 69"/>
          <p:cNvSpPr/>
          <p:nvPr/>
        </p:nvSpPr>
        <p:spPr>
          <a:xfrm>
            <a:off x="7269480" y="4809744"/>
            <a:ext cx="0" cy="512064"/>
          </a:xfrm>
          <a:prstGeom prst="line">
            <a:avLst/>
          </a:prstGeom>
          <a:noFill/>
          <a:ln w="6350">
            <a:solidFill>
              <a:srgbClr val="D9DEE2"/>
            </a:solidFill>
            <a:prstDash val="solid"/>
          </a:ln>
        </p:spPr>
      </p:sp>
      <p:sp>
        <p:nvSpPr>
          <p:cNvPr id="72" name="Shape 70"/>
          <p:cNvSpPr/>
          <p:nvPr/>
        </p:nvSpPr>
        <p:spPr>
          <a:xfrm>
            <a:off x="7324344" y="4919472"/>
            <a:ext cx="667512" cy="292608"/>
          </a:xfrm>
          <a:prstGeom prst="roundRect">
            <a:avLst>
              <a:gd name="adj" fmla="val 18750"/>
            </a:avLst>
          </a:prstGeom>
          <a:solidFill>
            <a:srgbClr val="E8A33D"/>
          </a:solidFill>
          <a:ln w="12700">
            <a:solidFill>
              <a:srgbClr val="FFFFFF"/>
            </a:solidFill>
            <a:prstDash val="solid"/>
          </a:ln>
        </p:spPr>
      </p:sp>
      <p:sp>
        <p:nvSpPr>
          <p:cNvPr id="73" name="Shape 71"/>
          <p:cNvSpPr/>
          <p:nvPr/>
        </p:nvSpPr>
        <p:spPr>
          <a:xfrm>
            <a:off x="8321040" y="1325880"/>
            <a:ext cx="3410712" cy="4617720"/>
          </a:xfrm>
          <a:prstGeom prst="rect">
            <a:avLst/>
          </a:prstGeom>
          <a:solidFill>
            <a:srgbClr val="E6F2F1"/>
          </a:solidFill>
          <a:ln w="12700">
            <a:solidFill>
              <a:srgbClr val="E6F2F1"/>
            </a:solidFill>
            <a:prstDash val="solid"/>
          </a:ln>
        </p:spPr>
      </p:sp>
      <p:sp>
        <p:nvSpPr>
          <p:cNvPr id="74" name="Text 72"/>
          <p:cNvSpPr txBox="1"/>
          <p:nvPr/>
        </p:nvSpPr>
        <p:spPr>
          <a:xfrm>
            <a:off x="8503920" y="1417320"/>
            <a:ext cx="3063240" cy="4480560"/>
          </a:xfrm>
          <a:prstGeom prst="rect">
            <a:avLst/>
          </a:prstGeom>
          <a:noFill/>
          <a:ln/>
        </p:spPr>
        <p:txBody>
          <a:bodyPr wrap="square" lIns="0" tIns="0" rIns="0" bIns="0" rtlCol="0" anchor="t"/>
          <a:lstStyle/>
          <a:p>
            <a:pPr indent="0" marL="0">
              <a:spcAft>
                <a:spcPts val="600"/>
              </a:spcAft>
              <a:buNone/>
            </a:pPr>
            <a:r>
              <a:rPr lang="en-US" sz="1500" b="1" dirty="0">
                <a:solidFill>
                  <a:srgbClr val="0F2E3D"/>
                </a:solidFill>
                <a:latin typeface="Cambria" pitchFamily="34" charset="0"/>
                <a:ea typeface="Cambria" pitchFamily="34" charset="-122"/>
                <a:cs typeface="Cambria" pitchFamily="34" charset="-120"/>
              </a:rPr>
              <a:t>Milestones</a:t>
            </a:r>
            <a:endParaRPr lang="en-US" sz="1200" dirty="0"/>
          </a:p>
          <a:p>
            <a:pPr marL="342900" indent="-342900">
              <a:spcAft>
                <a:spcPts val="600"/>
              </a:spcAft>
              <a:buSzPct val="100000"/>
              <a:buChar char="•"/>
            </a:pPr>
            <a:r>
              <a:rPr lang="en-US" sz="1200" dirty="0">
                <a:solidFill>
                  <a:srgbClr val="1B1F23"/>
                </a:solidFill>
              </a:rPr>
              <a:t>Wk 1: ethics exemption confirmed</a:t>
            </a:r>
            <a:endParaRPr lang="en-US" sz="1200" dirty="0"/>
          </a:p>
          <a:p>
            <a:pPr marL="342900" indent="-342900">
              <a:spcAft>
                <a:spcPts val="600"/>
              </a:spcAft>
              <a:buSzPct val="100000"/>
              <a:buChar char="•"/>
            </a:pPr>
            <a:r>
              <a:rPr lang="en-US" sz="1200" dirty="0">
                <a:solidFill>
                  <a:srgbClr val="1B1F23"/>
                </a:solidFill>
              </a:rPr>
              <a:t>Wk 2: final source set agreed</a:t>
            </a:r>
            <a:endParaRPr lang="en-US" sz="1200" dirty="0"/>
          </a:p>
          <a:p>
            <a:pPr marL="342900" indent="-342900">
              <a:spcAft>
                <a:spcPts val="600"/>
              </a:spcAft>
              <a:buSzPct val="100000"/>
              <a:buChar char="•"/>
            </a:pPr>
            <a:r>
              <a:rPr lang="en-US" sz="1200" dirty="0">
                <a:solidFill>
                  <a:srgbClr val="1B1F23"/>
                </a:solidFill>
              </a:rPr>
              <a:t>Wk 4: initial theme map</a:t>
            </a:r>
            <a:endParaRPr lang="en-US" sz="1200" dirty="0"/>
          </a:p>
          <a:p>
            <a:pPr marL="342900" indent="-342900">
              <a:spcAft>
                <a:spcPts val="600"/>
              </a:spcAft>
              <a:buSzPct val="100000"/>
              <a:buChar char="•"/>
            </a:pPr>
            <a:r>
              <a:rPr lang="en-US" sz="1200" dirty="0">
                <a:solidFill>
                  <a:srgbClr val="1B1F23"/>
                </a:solidFill>
              </a:rPr>
              <a:t>Wk 6: report submitted</a:t>
            </a:r>
            <a:endParaRPr lang="en-US" sz="1200" dirty="0"/>
          </a:p>
          <a:p>
            <a:pPr indent="0" marL="0">
              <a:spcAft>
                <a:spcPts val="600"/>
              </a:spcAft>
              <a:buNone/>
            </a:pPr>
            <a:r>
              <a:rPr lang="en-US" sz="1500" b="1" dirty="0">
                <a:solidFill>
                  <a:srgbClr val="0F2E3D"/>
                </a:solidFill>
                <a:latin typeface="Cambria" pitchFamily="34" charset="0"/>
                <a:ea typeface="Cambria" pitchFamily="34" charset="-122"/>
                <a:cs typeface="Cambria" pitchFamily="34" charset="-120"/>
              </a:rPr>
              <a:t>Dissemination</a:t>
            </a:r>
            <a:endParaRPr lang="en-US" sz="1200" dirty="0"/>
          </a:p>
          <a:p>
            <a:pPr indent="0" marL="0">
              <a:spcAft>
                <a:spcPts val="600"/>
              </a:spcAft>
              <a:buNone/>
            </a:pPr>
            <a:r>
              <a:rPr lang="en-US" sz="1200" dirty="0">
                <a:solidFill>
                  <a:srgbClr val="1B1F23"/>
                </a:solidFill>
              </a:rPr>
              <a:t>Recorded presentation; findings summary for the supervisor; optional short briefing for city authorities.</a:t>
            </a:r>
            <a:endParaRPr lang="en-US" sz="1200" dirty="0"/>
          </a:p>
        </p:txBody>
      </p:sp>
      <p:sp>
        <p:nvSpPr>
          <p:cNvPr id="75" name="Text 73"/>
          <p:cNvSpPr txBox="1"/>
          <p:nvPr/>
        </p:nvSpPr>
        <p:spPr>
          <a:xfrm>
            <a:off x="457200" y="6108192"/>
            <a:ext cx="11274552" cy="32004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 Timeline designed by the author around Braun and Clarke's (2021) phases (P1–P6) and Saunders et al. (2023). Amber bar = final stage.</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and key takeaway</a:t>
            </a:r>
            <a:endParaRPr lang="en-US" sz="3000" dirty="0"/>
          </a:p>
        </p:txBody>
      </p:sp>
      <p:sp>
        <p:nvSpPr>
          <p:cNvPr id="3" name="Shape 1"/>
          <p:cNvSpPr/>
          <p:nvPr/>
        </p:nvSpPr>
        <p:spPr>
          <a:xfrm>
            <a:off x="548640" y="1371600"/>
            <a:ext cx="5394960" cy="1920240"/>
          </a:xfrm>
          <a:prstGeom prst="rect">
            <a:avLst/>
          </a:prstGeom>
          <a:solidFill>
            <a:srgbClr val="173F52"/>
          </a:solidFill>
          <a:ln w="12700">
            <a:solidFill>
              <a:srgbClr val="173F52"/>
            </a:solidFill>
            <a:prstDash val="solid"/>
          </a:ln>
        </p:spPr>
      </p:sp>
      <p:sp>
        <p:nvSpPr>
          <p:cNvPr id="4" name="Text 2"/>
          <p:cNvSpPr txBox="1"/>
          <p:nvPr/>
        </p:nvSpPr>
        <p:spPr>
          <a:xfrm>
            <a:off x="777240" y="1463040"/>
            <a:ext cx="4937760" cy="17373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What I will investigate</a:t>
            </a:r>
            <a:endParaRPr lang="en-US" sz="1600" dirty="0"/>
          </a:p>
          <a:p>
            <a:pPr indent="0" marL="0">
              <a:buNone/>
            </a:pPr>
            <a:r>
              <a:rPr lang="en-US" sz="1400" dirty="0">
                <a:solidFill>
                  <a:srgbClr val="FFFFFF"/>
                </a:solidFill>
              </a:rPr>
              <a:t>How major UK cities frame and implement air quality management, and its role in sustainable urban development.</a:t>
            </a:r>
            <a:endParaRPr lang="en-US" sz="1600" dirty="0"/>
          </a:p>
        </p:txBody>
      </p:sp>
      <p:sp>
        <p:nvSpPr>
          <p:cNvPr id="5" name="Shape 3"/>
          <p:cNvSpPr/>
          <p:nvPr/>
        </p:nvSpPr>
        <p:spPr>
          <a:xfrm>
            <a:off x="6126480" y="1371600"/>
            <a:ext cx="5394960" cy="1920240"/>
          </a:xfrm>
          <a:prstGeom prst="rect">
            <a:avLst/>
          </a:prstGeom>
          <a:solidFill>
            <a:srgbClr val="173F52"/>
          </a:solidFill>
          <a:ln w="12700">
            <a:solidFill>
              <a:srgbClr val="173F52"/>
            </a:solidFill>
            <a:prstDash val="solid"/>
          </a:ln>
        </p:spPr>
      </p:sp>
      <p:sp>
        <p:nvSpPr>
          <p:cNvPr id="6" name="Text 4"/>
          <p:cNvSpPr txBox="1"/>
          <p:nvPr/>
        </p:nvSpPr>
        <p:spPr>
          <a:xfrm>
            <a:off x="6355080" y="1463040"/>
            <a:ext cx="4937760" cy="17373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Why it matters</a:t>
            </a:r>
            <a:endParaRPr lang="en-US" sz="1600" dirty="0"/>
          </a:p>
          <a:p>
            <a:pPr indent="0" marL="0">
              <a:buNone/>
            </a:pPr>
            <a:r>
              <a:rPr lang="en-US" sz="1400" dirty="0">
                <a:solidFill>
                  <a:srgbClr val="FFFFFF"/>
                </a:solidFill>
              </a:rPr>
              <a:t>Pollution is falling, yet guideline breaches, unequal exposure and mixed scheme results remain (Weber &amp; Dacre, 2025; Gadenne et al., 2024).</a:t>
            </a:r>
            <a:endParaRPr lang="en-US" sz="1600" dirty="0"/>
          </a:p>
        </p:txBody>
      </p:sp>
      <p:sp>
        <p:nvSpPr>
          <p:cNvPr id="7" name="Shape 5"/>
          <p:cNvSpPr/>
          <p:nvPr/>
        </p:nvSpPr>
        <p:spPr>
          <a:xfrm>
            <a:off x="548640" y="3474720"/>
            <a:ext cx="5394960" cy="1920240"/>
          </a:xfrm>
          <a:prstGeom prst="rect">
            <a:avLst/>
          </a:prstGeom>
          <a:solidFill>
            <a:srgbClr val="173F52"/>
          </a:solidFill>
          <a:ln w="12700">
            <a:solidFill>
              <a:srgbClr val="173F52"/>
            </a:solidFill>
            <a:prstDash val="solid"/>
          </a:ln>
        </p:spPr>
      </p:sp>
      <p:sp>
        <p:nvSpPr>
          <p:cNvPr id="8" name="Text 6"/>
          <p:cNvSpPr txBox="1"/>
          <p:nvPr/>
        </p:nvSpPr>
        <p:spPr>
          <a:xfrm>
            <a:off x="777240" y="3566160"/>
            <a:ext cx="4937760" cy="17373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How I will do it</a:t>
            </a:r>
            <a:endParaRPr lang="en-US" sz="1600" dirty="0"/>
          </a:p>
          <a:p>
            <a:pPr indent="0" marL="0">
              <a:buNone/>
            </a:pPr>
            <a:r>
              <a:rPr lang="en-US" sz="1400" dirty="0">
                <a:solidFill>
                  <a:srgbClr val="FFFFFF"/>
                </a:solidFill>
              </a:rPr>
              <a:t>Interpretivist, inductive documentary research using reflexive thematic analysis (Braun &amp; Clarke, 2021; Saunders et al., 2023).</a:t>
            </a:r>
            <a:endParaRPr lang="en-US" sz="1600" dirty="0"/>
          </a:p>
        </p:txBody>
      </p:sp>
      <p:sp>
        <p:nvSpPr>
          <p:cNvPr id="9" name="Shape 7"/>
          <p:cNvSpPr/>
          <p:nvPr/>
        </p:nvSpPr>
        <p:spPr>
          <a:xfrm>
            <a:off x="6126480" y="3474720"/>
            <a:ext cx="5394960" cy="1920240"/>
          </a:xfrm>
          <a:prstGeom prst="rect">
            <a:avLst/>
          </a:prstGeom>
          <a:solidFill>
            <a:srgbClr val="173F52"/>
          </a:solidFill>
          <a:ln w="12700">
            <a:solidFill>
              <a:srgbClr val="173F52"/>
            </a:solidFill>
            <a:prstDash val="solid"/>
          </a:ln>
        </p:spPr>
      </p:sp>
      <p:sp>
        <p:nvSpPr>
          <p:cNvPr id="10" name="Text 8"/>
          <p:cNvSpPr txBox="1"/>
          <p:nvPr/>
        </p:nvSpPr>
        <p:spPr>
          <a:xfrm>
            <a:off x="6355080" y="3566160"/>
            <a:ext cx="4937760" cy="17373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Expected contribution</a:t>
            </a:r>
            <a:endParaRPr lang="en-US" sz="1600" dirty="0"/>
          </a:p>
          <a:p>
            <a:pPr indent="0" marL="0">
              <a:buNone/>
            </a:pPr>
            <a:r>
              <a:rPr lang="en-US" sz="1400" dirty="0">
                <a:solidFill>
                  <a:srgbClr val="FFFFFF"/>
                </a:solidFill>
              </a:rPr>
              <a:t>Interpretive, cross-city evidence for policy and practice, to be tested rather than assumed.</a:t>
            </a:r>
            <a:endParaRPr lang="en-US" sz="1600" dirty="0"/>
          </a:p>
        </p:txBody>
      </p:sp>
      <p:sp>
        <p:nvSpPr>
          <p:cNvPr id="11" name="Text 9"/>
          <p:cNvSpPr txBox="1"/>
          <p:nvPr/>
        </p:nvSpPr>
        <p:spPr>
          <a:xfrm>
            <a:off x="548640" y="5669280"/>
            <a:ext cx="11064240" cy="731520"/>
          </a:xfrm>
          <a:prstGeom prst="rect">
            <a:avLst/>
          </a:prstGeom>
          <a:noFill/>
          <a:ln/>
        </p:spPr>
        <p:txBody>
          <a:bodyPr wrap="square" lIns="0" tIns="0" rIns="0" bIns="0" rtlCol="0" anchor="ctr"/>
          <a:lstStyle/>
          <a:p>
            <a:pPr indent="0" marL="0">
              <a:buNone/>
            </a:pPr>
            <a:r>
              <a:rPr lang="en-US" sz="1600" i="1" dirty="0">
                <a:solidFill>
                  <a:srgbClr val="7FB7C2"/>
                </a:solidFill>
              </a:rPr>
              <a:t>Key takeaway: cleaner air is necessary but not sufficient; understanding how it is managed is what links it to sustainable cities.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Reference list (APA 7th edition)</a:t>
            </a:r>
            <a:endParaRPr lang="en-US" sz="2600" dirty="0"/>
          </a:p>
        </p:txBody>
      </p:sp>
      <p:sp>
        <p:nvSpPr>
          <p:cNvPr id="3" name="Text 1"/>
          <p:cNvSpPr txBox="1"/>
          <p:nvPr/>
        </p:nvSpPr>
        <p:spPr>
          <a:xfrm>
            <a:off x="457200" y="1280160"/>
            <a:ext cx="5486400" cy="4754880"/>
          </a:xfrm>
          <a:prstGeom prst="rect">
            <a:avLst/>
          </a:prstGeom>
          <a:noFill/>
          <a:ln/>
        </p:spPr>
        <p:txBody>
          <a:bodyPr wrap="square" lIns="0" tIns="0" rIns="0" bIns="0" rtlCol="0" anchor="t"/>
          <a:lstStyle/>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Braun, V., &amp; Clarke, V. (2021).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Thematic analysis: A practical guide</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SAGE Publications.</a:t>
            </a:r>
            <a:endParaRPr lang="en-US" sz="1200" dirty="0"/>
          </a:p>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Department for Environment, Food &amp; Rural Affairs. (2024).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Air pollution in the UK 2023: Compliance assessment summary</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UK-AIR. https://uk-air.defra.gov.uk/library/annualreport/assets/documents/annualreport/air_pollution_uk_2023_Compliance_Assessment_Summary_Issue1.pdf</a:t>
            </a:r>
            <a:endParaRPr lang="en-US" sz="1200" dirty="0"/>
          </a:p>
          <a:p>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Environmental Targets (Fine Particulate Matter) (England) Regulations 2023</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(SI 2023/96). https://www.legislation.gov.uk/uksi/2023/96/contents</a:t>
            </a:r>
            <a:endParaRPr lang="en-US" sz="1200" dirty="0"/>
          </a:p>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Gadenne, L., Leroutier, M., Toneto, R., &amp; Upton, B. (2024).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Exposure to air pollution in England, 2003–23</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[Report]. Institute for Fiscal Studies. https://ifs.org.uk/publications/exposure-air-pollution-england-2003-23</a:t>
            </a:r>
            <a:endParaRPr lang="en-US" sz="1200" dirty="0"/>
          </a:p>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Liu, B., Bryson, J. R., Sevinc, D., Cole, M., Elliott, R., Bartington, S., Bloss, W., &amp; Shi, Z. (2023). Assessing the impacts of Birmingham's Clean Air Zone on air quality: Estimates from a machine learning and synthetic control approach.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Environmental and Resource Economics, 86</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(1–2), 203–231. https://doi.org/10.1007/s10640-023-00794-2</a:t>
            </a:r>
            <a:endParaRPr lang="en-US" sz="1200" dirty="0"/>
          </a:p>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Office for Health Improvement and Disparities. (n.d.).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Air pollution: Applying All Our Health</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GOV.UK. https://www.gov.uk/government/publications/air-pollution-applying-all-our-health/air-pollution-applying-all-our-health</a:t>
            </a:r>
            <a:endParaRPr lang="en-US" sz="1200" dirty="0"/>
          </a:p>
        </p:txBody>
      </p:sp>
      <p:sp>
        <p:nvSpPr>
          <p:cNvPr id="4" name="Text 2"/>
          <p:cNvSpPr txBox="1"/>
          <p:nvPr/>
        </p:nvSpPr>
        <p:spPr>
          <a:xfrm>
            <a:off x="6263640" y="1280160"/>
            <a:ext cx="5468112" cy="4754880"/>
          </a:xfrm>
          <a:prstGeom prst="rect">
            <a:avLst/>
          </a:prstGeom>
          <a:noFill/>
          <a:ln/>
        </p:spPr>
        <p:txBody>
          <a:bodyPr wrap="square" lIns="0" tIns="0" rIns="0" bIns="0" rtlCol="0" anchor="t"/>
          <a:lstStyle/>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Saunders, M. N. K., Lewis, P., &amp; Thornhill, A. (2023).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Research methods for business students</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(9th ed.). Pearson.</a:t>
            </a:r>
            <a:endParaRPr lang="en-US" sz="1200" dirty="0"/>
          </a:p>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Transport for London. (2025).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London-wide ULEZ one year report</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https://content.tfl.gov.uk/london-wide-ulez-one-year-report.pdf</a:t>
            </a:r>
            <a:endParaRPr lang="en-US" sz="1200" dirty="0"/>
          </a:p>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United Nations. (2015).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Transforming our world: The 2030 Agenda for Sustainable Development</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(A/RES/70/1). https://sdgs.un.org/2030agenda</a:t>
            </a:r>
            <a:endParaRPr lang="en-US" sz="1200" dirty="0"/>
          </a:p>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Weber, J., &amp; Dacre, H. F. (2025). UK air quality showed clear improvement from 2015 to 2024 but breaching of targets remains very common.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Environmental Science: Atmospheres</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https://doi.org/10.1039/d5ea00055f</a:t>
            </a:r>
            <a:endParaRPr lang="en-US" sz="1200" dirty="0"/>
          </a:p>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Williams, G., Chan, H. K.-H., &amp; Ortiz, P. F. (2025). Exploring the effects of Sheffield's clean air zone on air quality and traffic volume.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Environmental Research Communications, 7</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(8). https://doi.org/10.1088/2515-7620/adf52f</a:t>
            </a:r>
            <a:endParaRPr lang="en-US" sz="1200" dirty="0"/>
          </a:p>
          <a:p>
            <a:pPr indent="0" marL="0">
              <a:spcAft>
                <a:spcPts val="500"/>
              </a:spcAft>
              <a:buNone/>
            </a:pPr>
            <a:r>
              <a:rPr lang="en-US" sz="1200" dirty="0">
                <a:solidFill>
                  <a:srgbClr val="1B1F23"/>
                </a:solidFill>
                <a:latin typeface="Calibri" pitchFamily="34" charset="0"/>
                <a:ea typeface="Calibri" pitchFamily="34" charset="-122"/>
                <a:cs typeface="Calibri" pitchFamily="34" charset="-120"/>
              </a:rPr>
              <a:t>World Health Organization. (2021). </a:t>
            </a:r>
            <a:pPr indent="0" marL="0">
              <a:spcAft>
                <a:spcPts val="500"/>
              </a:spcAft>
              <a:buNone/>
            </a:pPr>
            <a:r>
              <a:rPr lang="en-US" sz="1200" i="1" dirty="0">
                <a:solidFill>
                  <a:srgbClr val="1B1F23"/>
                </a:solidFill>
                <a:latin typeface="Calibri" pitchFamily="34" charset="0"/>
                <a:ea typeface="Calibri" pitchFamily="34" charset="-122"/>
                <a:cs typeface="Calibri" pitchFamily="34" charset="-120"/>
              </a:rPr>
              <a:t>WHO global air quality guidelines: Particulate matter (PM2.5 and PM10), ozone, nitrogen dioxide, sulfur dioxide and carbon monoxide</a:t>
            </a:r>
            <a:pPr indent="0" marL="0">
              <a:spcAft>
                <a:spcPts val="500"/>
              </a:spcAft>
              <a:buNone/>
            </a:pPr>
            <a:r>
              <a:rPr lang="en-US" sz="1200" dirty="0">
                <a:solidFill>
                  <a:srgbClr val="1B1F23"/>
                </a:solidFill>
                <a:latin typeface="Calibri" pitchFamily="34" charset="0"/>
                <a:ea typeface="Calibri" pitchFamily="34" charset="-122"/>
                <a:cs typeface="Calibri" pitchFamily="34" charset="-120"/>
              </a:rPr>
              <a:t>. https://www.who.int/publications/i/item/9789240034228</a:t>
            </a:r>
            <a:endParaRPr lang="en-US" sz="12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Air Quality">
  <a:themeElements>
    <a:clrScheme name="Air Quality">
      <a:dk1>
        <a:srgbClr val="1B1F23"/>
      </a:dk1>
      <a:lt1>
        <a:srgbClr val="FFFFFF"/>
      </a:lt1>
      <a:dk2>
        <a:srgbClr val="0F2E3D"/>
      </a:dk2>
      <a:lt2>
        <a:srgbClr val="E6F2F1"/>
      </a:lt2>
      <a:accent1>
        <a:srgbClr val="1F7A8C"/>
      </a:accent1>
      <a:accent2>
        <a:srgbClr val="E8A33D"/>
      </a:accent2>
      <a:accent3>
        <a:srgbClr val="C8553D"/>
      </a:accent3>
      <a:accent4>
        <a:srgbClr val="7FB7C2"/>
      </a:accent4>
      <a:accent5>
        <a:srgbClr val="5B6770"/>
      </a:accent5>
      <a:accent6>
        <a:srgbClr val="2A9D8F"/>
      </a:accent6>
      <a:hlink>
        <a:srgbClr val="1F7A8C"/>
      </a:hlink>
      <a:folHlink>
        <a:srgbClr val="5B6770"/>
      </a:folHlink>
    </a:clrScheme>
    <a:fontScheme name="Air Qual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Role of Air Quality Management in Advancing Sustainable Urban Development</dc:title>
  <dc:subject>PptxGenJS Presentation</dc:subject>
  <dc:creator>PptxGenJS</dc:creator>
  <cp:lastModifiedBy>PptxGenJS</cp:lastModifiedBy>
  <cp:revision>1</cp:revision>
  <dcterms:created xsi:type="dcterms:W3CDTF">2026-10-03T06:42:43Z</dcterms:created>
  <dcterms:modified xsi:type="dcterms:W3CDTF">2026-10-03T06:42:43Z</dcterms:modified>
</cp:coreProperties>
</file>