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Good morning, board members. Today I'm briefing you on one decision: whether LinguaTech should train its language model on Aboriginal and Torres Strait Islander language resources now, or pause until we have community consent. I'll show you one piece of public evidence, what it means for us, its limits, and my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[0:25–0:55] The product team wants to train on wordlists, place names and teaching materials that are freely online. Option A is to proceed now, which is fastest but assumes that public access equals permission. Option B is to pause and partner: seek collective consent first and train only on approved material. To choose, you need evidence on one question: who holds these languages, and how many people could give consent or check what our model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[0:55–1:30] Why does this matter? These materials are not ordinary web content. The AIATSIS Code of Ethics (2020) says even desktop and archival work with Indigenous knowledge needs engagement and collective consent. The CARE principles (Carroll et al., 2020) give communities authority to control their data. Australia's AI Ethics Principles (DISR, 2019) expect reliable, transparent and contestable systems. And language strength is a national target under Closing the Gap (2020). So the question is not whether we can access the data, but whether we have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[1:30–2:00] My evidence is the ABS Language Statistics release from the 2021 Census (ABS, 2022a). I chose it because it is official, public and national, and it counts how many people use each language at home. In 2021, 76,978 Aboriginal and Torres Strait Islander people, or 9.5%, used an Indigenous language at home, across 167 languages. I entered the published figures into a CSV and used Python and matplotlib so every value on the chart is calculated, not typed. I excluded third-party counts I could not verify against the 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This is the key evidence. On the left: of the more than 150 languages actively used, only 19 have over 1,000 home users (ABS, 2022a). That means at least 132 languages, at least 87%, are used at home by 1,000 people or fewer. I highlighted that bar in ochre because it is the key message. On the right: even the three most-used languages are small. Yumplatok has 7,596 home users, Kriol 7,403 and Djambarrpuyngu 3,839, together about a quarter of all home users. And two of those three are newer contact languages (Department of Infrastructure, Transport, Regional Development and Communications [DITRDC], 2020), so traditional languages are smaller still. The message for the board: the people whose consent we need, and who could check our model, are few and identifiable.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What does this mean for us? First, consent is achievable: these are small, identifiable communities we can reach through language centres. Second, our capacity to check outputs is thin: few fluent speakers exist per language, and low-resource languages are already poorly served by language technology (Joshi et al., 2020). Third, risk falls on a few people. Bird (2020) warns that treating Indigenous knowledge as a commodity can sideline its holders. To be clear, the data shows where risk is concentrated; it does not prove harm will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[3:40–4:15] This evidence has limits. The Census counts home use, not fluency or custodial authority, so the true number of people able to validate output may be smaller. The ABS reports "over 150" languages, so I used 151 as a conservative lower bound; the real share of small languages can only be higher. The new national survey, NILS4, counts 177 languages spoken or used, 45 of them strong, but the Productivity Commission (2026) notes this cannot be compared with the earlier baseline. So I use the Census for scale, not trends. Finally, speaker numbers don't measure harm, so my recommendation is about managing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[4:15–5:00] My recommendation is Option B: pause and partner. First, pause collection and training until consent is in place (AIATSIS, 2020). Second, consult language centres and Traditional Owner groups for collective, informed consent (Carroll et al., 2020). Third, test any output with fluent speakers and block languages we cannot validate (DISR, 2019). Fourth, put benefit-sharing and licence agreements in writing, with a takedown pathway. The evidence shows these communities are small and identifiable, which makes consent both necessary and achievable. I ask the board to approve a pause and fund that consultation.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(APA 7th). Shown, not spoken.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28032"/>
            <a:ext cx="6949440" cy="228600"/>
          </a:xfrm>
          <a:prstGeom prst="rect">
            <a:avLst/>
          </a:prstGeom>
          <a:noFill/>
          <a:ln/>
        </p:spPr>
        <p:txBody>
          <a:bodyPr wrap="square" lIns="0" tIns="0" rIns="0" bIns="0" rtlCol="0" anchor="ctr"/>
          <a:lstStyle/>
          <a:p>
            <a:pPr indent="0" marL="0">
              <a:buNone/>
            </a:pPr>
            <a:r>
              <a:rPr lang="en-US" sz="900" dirty="0">
                <a:solidFill>
                  <a:schemeClr val="accent3"/>
                </a:solidFill>
              </a:rPr>
              <a:t>Hypothetical company scenario based on Case 2 · All data: publicly available sources (see References)</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85800"/>
            <a:ext cx="804672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Ethical and Governance Challenges of Using Aboriginal and Torres Strait Islander Language Resources in AI Training</a:t>
            </a:r>
            <a:endParaRPr lang="en-US" sz="3000" dirty="0"/>
          </a:p>
        </p:txBody>
      </p:sp>
      <p:sp>
        <p:nvSpPr>
          <p:cNvPr id="3" name="Text 1"/>
          <p:cNvSpPr txBox="1"/>
          <p:nvPr/>
        </p:nvSpPr>
        <p:spPr>
          <a:xfrm>
            <a:off x="548640" y="2331720"/>
            <a:ext cx="7680960" cy="731520"/>
          </a:xfrm>
          <a:prstGeom prst="rect">
            <a:avLst/>
          </a:prstGeom>
          <a:noFill/>
          <a:ln/>
        </p:spPr>
        <p:txBody>
          <a:bodyPr wrap="square" lIns="0" tIns="0" rIns="0" bIns="0" rtlCol="0" anchor="ctr"/>
          <a:lstStyle/>
          <a:p>
            <a:pPr indent="0" marL="0">
              <a:buNone/>
            </a:pPr>
            <a:r>
              <a:rPr lang="en-US" sz="1700" i="1" dirty="0">
                <a:solidFill>
                  <a:srgbClr val="D9A441"/>
                </a:solidFill>
              </a:rPr>
              <a:t>A briefing to the LinguaTech Pty Ltd executive board: should we proceed with training now, or pause for community consent?</a:t>
            </a:r>
            <a:endParaRPr lang="en-US" sz="1700" dirty="0"/>
          </a:p>
        </p:txBody>
      </p:sp>
      <p:sp>
        <p:nvSpPr>
          <p:cNvPr id="4" name="Text 2"/>
          <p:cNvSpPr txBox="1"/>
          <p:nvPr/>
        </p:nvSpPr>
        <p:spPr>
          <a:xfrm>
            <a:off x="548640" y="3200400"/>
            <a:ext cx="8046720" cy="914400"/>
          </a:xfrm>
          <a:prstGeom prst="rect">
            <a:avLst/>
          </a:prstGeom>
          <a:noFill/>
          <a:ln/>
        </p:spPr>
        <p:txBody>
          <a:bodyPr wrap="square" lIns="0" tIns="0" rIns="0" bIns="0" rtlCol="0" anchor="ctr"/>
          <a:lstStyle/>
          <a:p>
            <a:pPr indent="0" marL="0">
              <a:spcAft>
                <a:spcPts val="400"/>
              </a:spcAft>
              <a:buNone/>
            </a:pPr>
            <a:r>
              <a:rPr lang="en-US" sz="1300" b="1" dirty="0">
                <a:solidFill>
                  <a:schemeClr val="bg1"/>
                </a:solidFill>
              </a:rPr>
              <a:t>Audience: </a:t>
            </a:r>
            <a:pPr indent="0" marL="0">
              <a:spcAft>
                <a:spcPts val="400"/>
              </a:spcAft>
              <a:buNone/>
            </a:pPr>
            <a:r>
              <a:rPr lang="en-US" sz="1300" dirty="0">
                <a:solidFill>
                  <a:schemeClr val="bg1"/>
                </a:solidFill>
              </a:rPr>
              <a:t>Executive board (decision-makers on product and data strategy)</a:t>
            </a:r>
            <a:endParaRPr lang="en-US" sz="1300" dirty="0"/>
          </a:p>
          <a:p>
            <a:pPr indent="0" marL="0">
              <a:spcAft>
                <a:spcPts val="400"/>
              </a:spcAft>
              <a:buNone/>
            </a:pPr>
            <a:r>
              <a:rPr lang="en-US" sz="1300" b="1" dirty="0">
                <a:solidFill>
                  <a:schemeClr val="bg1"/>
                </a:solidFill>
              </a:rPr>
              <a:t>Decision: </a:t>
            </a:r>
            <a:pPr indent="0" marL="0">
              <a:spcAft>
                <a:spcPts val="400"/>
              </a:spcAft>
              <a:buNone/>
            </a:pPr>
            <a:r>
              <a:rPr lang="en-US" sz="1300" dirty="0">
                <a:solidFill>
                  <a:schemeClr val="bg1"/>
                </a:solidFill>
              </a:rPr>
              <a:t>Proceed with model training now, or pause and partner with communities</a:t>
            </a:r>
            <a:endParaRPr lang="en-US" sz="1300" dirty="0"/>
          </a:p>
          <a:p>
            <a:pPr indent="0" marL="0">
              <a:spcAft>
                <a:spcPts val="400"/>
              </a:spcAft>
              <a:buNone/>
            </a:pPr>
            <a:r>
              <a:rPr lang="en-US" sz="1300" dirty="0">
                <a:solidFill>
                  <a:schemeClr val="bg1"/>
                </a:solidFill>
              </a:rPr>
              <a:t>Presenter: [Student Name] · [Student ID] · Edith Cowan University · 2026</a:t>
            </a:r>
            <a:endParaRPr lang="en-US" sz="1300" dirty="0"/>
          </a:p>
        </p:txBody>
      </p:sp>
      <p:sp>
        <p:nvSpPr>
          <p:cNvPr id="5" name="Text 3"/>
          <p:cNvSpPr txBox="1"/>
          <p:nvPr/>
        </p:nvSpPr>
        <p:spPr>
          <a:xfrm>
            <a:off x="548640" y="4480560"/>
            <a:ext cx="8046720" cy="320040"/>
          </a:xfrm>
          <a:prstGeom prst="rect">
            <a:avLst/>
          </a:prstGeom>
          <a:noFill/>
          <a:ln/>
        </p:spPr>
        <p:txBody>
          <a:bodyPr wrap="square" lIns="0" tIns="0" rIns="0" bIns="0" rtlCol="0" anchor="ctr"/>
          <a:lstStyle/>
          <a:p>
            <a:pPr indent="0" marL="0">
              <a:buNone/>
            </a:pPr>
            <a:r>
              <a:rPr lang="en-US" sz="1000" i="1" dirty="0">
                <a:solidFill>
                  <a:schemeClr val="accent3"/>
                </a:solidFill>
              </a:rPr>
              <a:t>LinguaTech Pty Ltd is a hypothetical company used to present the Case 2 scenario; it does not represent any real organisation.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The decision before the board</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i="1" dirty="0">
                <a:solidFill>
                  <a:schemeClr val="accent1"/>
                </a:solidFill>
              </a:rPr>
              <a:t>Our product team proposes training on language materials that are freely available online</a:t>
            </a:r>
            <a:endParaRPr lang="en-US" sz="1400" dirty="0"/>
          </a:p>
        </p:txBody>
      </p:sp>
      <p:sp>
        <p:nvSpPr>
          <p:cNvPr id="4" name="Shape 2"/>
          <p:cNvSpPr/>
          <p:nvPr/>
        </p:nvSpPr>
        <p:spPr>
          <a:xfrm>
            <a:off x="457200" y="1325880"/>
            <a:ext cx="3977640" cy="2331720"/>
          </a:xfrm>
          <a:prstGeom prst="roundRect">
            <a:avLst>
              <a:gd name="adj" fmla="val 3137"/>
            </a:avLst>
          </a:prstGeom>
          <a:solidFill>
            <a:schemeClr val="bg2"/>
          </a:solidFill>
          <a:ln w="12700">
            <a:solidFill>
              <a:schemeClr val="bg2"/>
            </a:solidFill>
            <a:prstDash val="solid"/>
          </a:ln>
        </p:spPr>
      </p:sp>
      <p:sp>
        <p:nvSpPr>
          <p:cNvPr id="5" name="Shape 3"/>
          <p:cNvSpPr/>
          <p:nvPr/>
        </p:nvSpPr>
        <p:spPr>
          <a:xfrm>
            <a:off x="640080" y="1481328"/>
            <a:ext cx="384048" cy="384048"/>
          </a:xfrm>
          <a:prstGeom prst="ellipse">
            <a:avLst/>
          </a:prstGeom>
          <a:solidFill>
            <a:schemeClr val="accent3"/>
          </a:solidFill>
          <a:ln w="12700">
            <a:solidFill>
              <a:schemeClr val="accent3"/>
            </a:solidFill>
            <a:prstDash val="solid"/>
          </a:ln>
        </p:spPr>
      </p:sp>
      <p:sp>
        <p:nvSpPr>
          <p:cNvPr id="6" name="Text 4"/>
          <p:cNvSpPr txBox="1"/>
          <p:nvPr/>
        </p:nvSpPr>
        <p:spPr>
          <a:xfrm>
            <a:off x="640080"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Text 5"/>
          <p:cNvSpPr txBox="1"/>
          <p:nvPr/>
        </p:nvSpPr>
        <p:spPr>
          <a:xfrm>
            <a:off x="1143000" y="1481328"/>
            <a:ext cx="3108960" cy="384048"/>
          </a:xfrm>
          <a:prstGeom prst="rect">
            <a:avLst/>
          </a:prstGeom>
          <a:noFill/>
          <a:ln/>
        </p:spPr>
        <p:txBody>
          <a:bodyPr wrap="square" lIns="0" tIns="0" rIns="0" bIns="0" rtlCol="0" anchor="ctr"/>
          <a:lstStyle/>
          <a:p>
            <a:pPr indent="0" marL="0">
              <a:buNone/>
            </a:pPr>
            <a:r>
              <a:rPr lang="en-US" sz="1800" b="1" dirty="0">
                <a:solidFill>
                  <a:schemeClr val="tx1"/>
                </a:solidFill>
              </a:rPr>
              <a:t>Proceed now</a:t>
            </a:r>
            <a:endParaRPr lang="en-US" sz="1800" dirty="0"/>
          </a:p>
        </p:txBody>
      </p:sp>
      <p:sp>
        <p:nvSpPr>
          <p:cNvPr id="8" name="Text 6"/>
          <p:cNvSpPr txBox="1"/>
          <p:nvPr/>
        </p:nvSpPr>
        <p:spPr>
          <a:xfrm>
            <a:off x="640080" y="2011680"/>
            <a:ext cx="36576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Scrape public wordlists, place names and teaching materials</a:t>
            </a:r>
            <a:endParaRPr lang="en-US" sz="1400" dirty="0"/>
          </a:p>
          <a:p>
            <a:pPr marL="342900" indent="-342900">
              <a:spcAft>
                <a:spcPts val="600"/>
              </a:spcAft>
              <a:buSzPct val="100000"/>
              <a:buChar char="•"/>
            </a:pPr>
            <a:r>
              <a:rPr lang="en-US" sz="1400" dirty="0">
                <a:solidFill>
                  <a:schemeClr val="tx1"/>
                </a:solidFill>
              </a:rPr>
              <a:t>Fastest route to market</a:t>
            </a:r>
            <a:endParaRPr lang="en-US" sz="1400" dirty="0"/>
          </a:p>
          <a:p>
            <a:pPr marL="342900" indent="-342900">
              <a:spcAft>
                <a:spcPts val="600"/>
              </a:spcAft>
              <a:buSzPct val="100000"/>
              <a:buChar char="•"/>
            </a:pPr>
            <a:r>
              <a:rPr lang="en-US" sz="1400" dirty="0">
                <a:solidFill>
                  <a:schemeClr val="tx1"/>
                </a:solidFill>
              </a:rPr>
              <a:t>Assumes public access equals permission to use</a:t>
            </a:r>
            <a:endParaRPr lang="en-US" sz="1400" dirty="0"/>
          </a:p>
        </p:txBody>
      </p:sp>
      <p:sp>
        <p:nvSpPr>
          <p:cNvPr id="9" name="Shape 7"/>
          <p:cNvSpPr/>
          <p:nvPr/>
        </p:nvSpPr>
        <p:spPr>
          <a:xfrm>
            <a:off x="4709160" y="1325880"/>
            <a:ext cx="3977640" cy="2331720"/>
          </a:xfrm>
          <a:prstGeom prst="roundRect">
            <a:avLst>
              <a:gd name="adj" fmla="val 3137"/>
            </a:avLst>
          </a:prstGeom>
          <a:solidFill>
            <a:schemeClr val="bg2"/>
          </a:solidFill>
          <a:ln w="12700">
            <a:solidFill>
              <a:schemeClr val="bg2"/>
            </a:solidFill>
            <a:prstDash val="solid"/>
          </a:ln>
        </p:spPr>
      </p:sp>
      <p:sp>
        <p:nvSpPr>
          <p:cNvPr id="10" name="Shape 8"/>
          <p:cNvSpPr/>
          <p:nvPr/>
        </p:nvSpPr>
        <p:spPr>
          <a:xfrm>
            <a:off x="4892040" y="1481328"/>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892040"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2" name="Text 10"/>
          <p:cNvSpPr txBox="1"/>
          <p:nvPr/>
        </p:nvSpPr>
        <p:spPr>
          <a:xfrm>
            <a:off x="5394960" y="1481328"/>
            <a:ext cx="3108960" cy="384048"/>
          </a:xfrm>
          <a:prstGeom prst="rect">
            <a:avLst/>
          </a:prstGeom>
          <a:noFill/>
          <a:ln/>
        </p:spPr>
        <p:txBody>
          <a:bodyPr wrap="square" lIns="0" tIns="0" rIns="0" bIns="0" rtlCol="0" anchor="ctr"/>
          <a:lstStyle/>
          <a:p>
            <a:pPr indent="0" marL="0">
              <a:buNone/>
            </a:pPr>
            <a:r>
              <a:rPr lang="en-US" sz="1800" b="1" dirty="0">
                <a:solidFill>
                  <a:schemeClr val="accent1"/>
                </a:solidFill>
              </a:rPr>
              <a:t>Pause and partner</a:t>
            </a:r>
            <a:endParaRPr lang="en-US" sz="1800" dirty="0"/>
          </a:p>
        </p:txBody>
      </p:sp>
      <p:sp>
        <p:nvSpPr>
          <p:cNvPr id="13" name="Text 11"/>
          <p:cNvSpPr txBox="1"/>
          <p:nvPr/>
        </p:nvSpPr>
        <p:spPr>
          <a:xfrm>
            <a:off x="4892040" y="2011680"/>
            <a:ext cx="36576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Seek collective, informed consent from language communities first</a:t>
            </a:r>
            <a:endParaRPr lang="en-US" sz="1400" dirty="0"/>
          </a:p>
          <a:p>
            <a:pPr marL="342900" indent="-342900">
              <a:spcAft>
                <a:spcPts val="600"/>
              </a:spcAft>
              <a:buSzPct val="100000"/>
              <a:buChar char="•"/>
            </a:pPr>
            <a:r>
              <a:rPr lang="en-US" sz="1400" dirty="0">
                <a:solidFill>
                  <a:schemeClr val="tx1"/>
                </a:solidFill>
              </a:rPr>
              <a:t>Train only on approved materials</a:t>
            </a:r>
            <a:endParaRPr lang="en-US" sz="1400" dirty="0"/>
          </a:p>
          <a:p>
            <a:pPr marL="342900" indent="-342900">
              <a:spcAft>
                <a:spcPts val="600"/>
              </a:spcAft>
              <a:buSzPct val="100000"/>
              <a:buChar char="•"/>
            </a:pPr>
            <a:r>
              <a:rPr lang="en-US" sz="1400" dirty="0">
                <a:solidFill>
                  <a:schemeClr val="tx1"/>
                </a:solidFill>
              </a:rPr>
              <a:t>Slower start, lower legal, ethical and reputational risk</a:t>
            </a:r>
            <a:endParaRPr lang="en-US" sz="1400" dirty="0"/>
          </a:p>
        </p:txBody>
      </p:sp>
      <p:sp>
        <p:nvSpPr>
          <p:cNvPr id="14" name="Text 12"/>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400" b="1" dirty="0">
                <a:solidFill>
                  <a:schemeClr val="tx1"/>
                </a:solidFill>
              </a:rPr>
              <a:t>What the board needs from this briefing: </a:t>
            </a:r>
            <a:pPr indent="0" marL="0">
              <a:buNone/>
            </a:pPr>
            <a:r>
              <a:rPr lang="en-US" sz="1400" dirty="0">
                <a:solidFill>
                  <a:schemeClr val="tx1"/>
                </a:solidFill>
              </a:rPr>
              <a:t>evidence on who holds these languages and how many people could give consent or check AI output.</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Why “publicly available” is not the same as “permitted”</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i="1" dirty="0">
                <a:solidFill>
                  <a:schemeClr val="accent1"/>
                </a:solidFill>
              </a:rPr>
              <a:t>Language data is collectively owned cultural knowledge, not ordinary web content</a:t>
            </a:r>
            <a:endParaRPr lang="en-US" sz="1400" dirty="0"/>
          </a:p>
        </p:txBody>
      </p:sp>
      <p:sp>
        <p:nvSpPr>
          <p:cNvPr id="4" name="Shape 2"/>
          <p:cNvSpPr/>
          <p:nvPr/>
        </p:nvSpPr>
        <p:spPr>
          <a:xfrm>
            <a:off x="457200" y="137160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457200"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05840" y="1325880"/>
            <a:ext cx="7680960" cy="274320"/>
          </a:xfrm>
          <a:prstGeom prst="rect">
            <a:avLst/>
          </a:prstGeom>
          <a:noFill/>
          <a:ln/>
        </p:spPr>
        <p:txBody>
          <a:bodyPr wrap="square" lIns="0" tIns="0" rIns="0" bIns="0" rtlCol="0" anchor="ctr"/>
          <a:lstStyle/>
          <a:p>
            <a:pPr indent="0" marL="0">
              <a:buNone/>
            </a:pPr>
            <a:r>
              <a:rPr lang="en-US" sz="1500" b="1" dirty="0">
                <a:solidFill>
                  <a:schemeClr val="tx1"/>
                </a:solidFill>
              </a:rPr>
              <a:t>Collective ownership and consent</a:t>
            </a:r>
            <a:endParaRPr lang="en-US" sz="1500" dirty="0"/>
          </a:p>
        </p:txBody>
      </p:sp>
      <p:sp>
        <p:nvSpPr>
          <p:cNvPr id="7" name="Text 5"/>
          <p:cNvSpPr txBox="1"/>
          <p:nvPr/>
        </p:nvSpPr>
        <p:spPr>
          <a:xfrm>
            <a:off x="1005840" y="1618488"/>
            <a:ext cx="7680960" cy="502920"/>
          </a:xfrm>
          <a:prstGeom prst="rect">
            <a:avLst/>
          </a:prstGeom>
          <a:noFill/>
          <a:ln/>
        </p:spPr>
        <p:txBody>
          <a:bodyPr wrap="square" lIns="0" tIns="0" rIns="0" bIns="0" rtlCol="0" anchor="t"/>
          <a:lstStyle/>
          <a:p>
            <a:pPr indent="0" marL="0">
              <a:buNone/>
            </a:pPr>
            <a:r>
              <a:rPr lang="en-US" sz="1300" dirty="0">
                <a:solidFill>
                  <a:schemeClr val="tx1"/>
                </a:solidFill>
              </a:rPr>
              <a:t>Research using Indigenous knowledge, including desktop and archival sources, needs community engagement and collective consent; ICIP must be protected by agreement </a:t>
            </a:r>
            <a:pPr indent="0" marL="0">
              <a:buNone/>
            </a:pPr>
            <a:r>
              <a:rPr lang="en-US" sz="1100" i="1" dirty="0">
                <a:solidFill>
                  <a:srgbClr val="6B6B6B"/>
                </a:solidFill>
              </a:rPr>
              <a:t>(AIATSIS, 2020)</a:t>
            </a:r>
            <a:endParaRPr lang="en-US" sz="1300" dirty="0"/>
          </a:p>
        </p:txBody>
      </p:sp>
      <p:sp>
        <p:nvSpPr>
          <p:cNvPr id="8" name="Shape 6"/>
          <p:cNvSpPr/>
          <p:nvPr/>
        </p:nvSpPr>
        <p:spPr>
          <a:xfrm>
            <a:off x="457200" y="2221992"/>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457200" y="22219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05840" y="2176272"/>
            <a:ext cx="7680960" cy="274320"/>
          </a:xfrm>
          <a:prstGeom prst="rect">
            <a:avLst/>
          </a:prstGeom>
          <a:noFill/>
          <a:ln/>
        </p:spPr>
        <p:txBody>
          <a:bodyPr wrap="square" lIns="0" tIns="0" rIns="0" bIns="0" rtlCol="0" anchor="ctr"/>
          <a:lstStyle/>
          <a:p>
            <a:pPr indent="0" marL="0">
              <a:buNone/>
            </a:pPr>
            <a:r>
              <a:rPr lang="en-US" sz="1500" b="1" dirty="0">
                <a:solidFill>
                  <a:schemeClr val="tx1"/>
                </a:solidFill>
              </a:rPr>
              <a:t>Authority to control</a:t>
            </a:r>
            <a:endParaRPr lang="en-US" sz="1500" dirty="0"/>
          </a:p>
        </p:txBody>
      </p:sp>
      <p:sp>
        <p:nvSpPr>
          <p:cNvPr id="11" name="Text 9"/>
          <p:cNvSpPr txBox="1"/>
          <p:nvPr/>
        </p:nvSpPr>
        <p:spPr>
          <a:xfrm>
            <a:off x="1005840" y="2468880"/>
            <a:ext cx="7680960" cy="502920"/>
          </a:xfrm>
          <a:prstGeom prst="rect">
            <a:avLst/>
          </a:prstGeom>
          <a:noFill/>
          <a:ln/>
        </p:spPr>
        <p:txBody>
          <a:bodyPr wrap="square" lIns="0" tIns="0" rIns="0" bIns="0" rtlCol="0" anchor="t"/>
          <a:lstStyle/>
          <a:p>
            <a:pPr indent="0" marL="0">
              <a:buNone/>
            </a:pPr>
            <a:r>
              <a:rPr lang="en-US" sz="1300" dirty="0">
                <a:solidFill>
                  <a:schemeClr val="tx1"/>
                </a:solidFill>
              </a:rPr>
              <a:t>The CARE principles give Indigenous peoples authority over how their data is used and require collective benefit </a:t>
            </a:r>
            <a:pPr indent="0" marL="0">
              <a:buNone/>
            </a:pPr>
            <a:r>
              <a:rPr lang="en-US" sz="1100" i="1" dirty="0">
                <a:solidFill>
                  <a:srgbClr val="6B6B6B"/>
                </a:solidFill>
              </a:rPr>
              <a:t>(Carroll et al., 2020)</a:t>
            </a:r>
            <a:endParaRPr lang="en-US" sz="1300" dirty="0"/>
          </a:p>
        </p:txBody>
      </p:sp>
      <p:sp>
        <p:nvSpPr>
          <p:cNvPr id="12" name="Shape 10"/>
          <p:cNvSpPr/>
          <p:nvPr/>
        </p:nvSpPr>
        <p:spPr>
          <a:xfrm>
            <a:off x="457200" y="3072384"/>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57200" y="30723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05840" y="3026664"/>
            <a:ext cx="7680960" cy="274320"/>
          </a:xfrm>
          <a:prstGeom prst="rect">
            <a:avLst/>
          </a:prstGeom>
          <a:noFill/>
          <a:ln/>
        </p:spPr>
        <p:txBody>
          <a:bodyPr wrap="square" lIns="0" tIns="0" rIns="0" bIns="0" rtlCol="0" anchor="ctr"/>
          <a:lstStyle/>
          <a:p>
            <a:pPr indent="0" marL="0">
              <a:buNone/>
            </a:pPr>
            <a:r>
              <a:rPr lang="en-US" sz="1500" b="1" dirty="0">
                <a:solidFill>
                  <a:schemeClr val="tx1"/>
                </a:solidFill>
              </a:rPr>
              <a:t>Responsible AI duties</a:t>
            </a:r>
            <a:endParaRPr lang="en-US" sz="1500" dirty="0"/>
          </a:p>
        </p:txBody>
      </p:sp>
      <p:sp>
        <p:nvSpPr>
          <p:cNvPr id="15" name="Text 13"/>
          <p:cNvSpPr txBox="1"/>
          <p:nvPr/>
        </p:nvSpPr>
        <p:spPr>
          <a:xfrm>
            <a:off x="1005840" y="3319272"/>
            <a:ext cx="7680960" cy="502920"/>
          </a:xfrm>
          <a:prstGeom prst="rect">
            <a:avLst/>
          </a:prstGeom>
          <a:noFill/>
          <a:ln/>
        </p:spPr>
        <p:txBody>
          <a:bodyPr wrap="square" lIns="0" tIns="0" rIns="0" bIns="0" rtlCol="0" anchor="t"/>
          <a:lstStyle/>
          <a:p>
            <a:pPr indent="0" marL="0">
              <a:buNone/>
            </a:pPr>
            <a:r>
              <a:rPr lang="en-US" sz="1300" dirty="0">
                <a:solidFill>
                  <a:schemeClr val="tx1"/>
                </a:solidFill>
              </a:rPr>
              <a:t>Australia's AI Ethics Principles expect reliability, transparency and contestability from AI systems </a:t>
            </a:r>
            <a:pPr indent="0" marL="0">
              <a:buNone/>
            </a:pPr>
            <a:r>
              <a:rPr lang="en-US" sz="1100" i="1" dirty="0">
                <a:solidFill>
                  <a:srgbClr val="6B6B6B"/>
                </a:solidFill>
              </a:rPr>
              <a:t>(Department of Industry, Science and Resources [DISR], 2019)</a:t>
            </a:r>
            <a:endParaRPr lang="en-US" sz="1300" dirty="0"/>
          </a:p>
        </p:txBody>
      </p:sp>
      <p:sp>
        <p:nvSpPr>
          <p:cNvPr id="16" name="Shape 14"/>
          <p:cNvSpPr/>
          <p:nvPr/>
        </p:nvSpPr>
        <p:spPr>
          <a:xfrm>
            <a:off x="457200" y="3922776"/>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457200" y="39227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005840" y="3877056"/>
            <a:ext cx="7680960" cy="274320"/>
          </a:xfrm>
          <a:prstGeom prst="rect">
            <a:avLst/>
          </a:prstGeom>
          <a:noFill/>
          <a:ln/>
        </p:spPr>
        <p:txBody>
          <a:bodyPr wrap="square" lIns="0" tIns="0" rIns="0" bIns="0" rtlCol="0" anchor="ctr"/>
          <a:lstStyle/>
          <a:p>
            <a:pPr indent="0" marL="0">
              <a:buNone/>
            </a:pPr>
            <a:r>
              <a:rPr lang="en-US" sz="1500" b="1" dirty="0">
                <a:solidFill>
                  <a:schemeClr val="tx1"/>
                </a:solidFill>
              </a:rPr>
              <a:t>A national policy priority</a:t>
            </a:r>
            <a:endParaRPr lang="en-US" sz="1500" dirty="0"/>
          </a:p>
        </p:txBody>
      </p:sp>
      <p:sp>
        <p:nvSpPr>
          <p:cNvPr id="19" name="Text 17"/>
          <p:cNvSpPr txBox="1"/>
          <p:nvPr/>
        </p:nvSpPr>
        <p:spPr>
          <a:xfrm>
            <a:off x="1005840" y="4169664"/>
            <a:ext cx="7680960" cy="502920"/>
          </a:xfrm>
          <a:prstGeom prst="rect">
            <a:avLst/>
          </a:prstGeom>
          <a:noFill/>
          <a:ln/>
        </p:spPr>
        <p:txBody>
          <a:bodyPr wrap="square" lIns="0" tIns="0" rIns="0" bIns="0" rtlCol="0" anchor="t"/>
          <a:lstStyle/>
          <a:p>
            <a:pPr indent="0" marL="0">
              <a:buNone/>
            </a:pPr>
            <a:r>
              <a:rPr lang="en-US" sz="1300" dirty="0">
                <a:solidFill>
                  <a:schemeClr val="tx1"/>
                </a:solidFill>
              </a:rPr>
              <a:t>Target 16 seeks a sustained increase in the number and strength of languages spoken by 2031 </a:t>
            </a:r>
            <a:pPr indent="0" marL="0">
              <a:buNone/>
            </a:pPr>
            <a:r>
              <a:rPr lang="en-US" sz="1100" i="1" dirty="0">
                <a:solidFill>
                  <a:srgbClr val="6B6B6B"/>
                </a:solidFill>
              </a:rPr>
              <a:t>(Joint Council on Closing the Gap, 2020)</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Evidence source and method</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i="1" dirty="0">
                <a:solidFill>
                  <a:schemeClr val="accent1"/>
                </a:solidFill>
              </a:rPr>
              <a:t>Why this dataset, how it was analysed, and what was left out</a:t>
            </a:r>
            <a:endParaRPr lang="en-US" sz="1400" dirty="0"/>
          </a:p>
        </p:txBody>
      </p:sp>
      <p:sp>
        <p:nvSpPr>
          <p:cNvPr id="4" name="Shape 2"/>
          <p:cNvSpPr/>
          <p:nvPr/>
        </p:nvSpPr>
        <p:spPr>
          <a:xfrm>
            <a:off x="457200" y="1325880"/>
            <a:ext cx="3931920" cy="3291840"/>
          </a:xfrm>
          <a:prstGeom prst="roundRect">
            <a:avLst>
              <a:gd name="adj" fmla="val 2222"/>
            </a:avLst>
          </a:prstGeom>
          <a:solidFill>
            <a:schemeClr val="bg2"/>
          </a:solidFill>
          <a:ln w="12700">
            <a:solidFill>
              <a:schemeClr val="bg2"/>
            </a:solidFill>
            <a:prstDash val="solid"/>
          </a:ln>
        </p:spPr>
      </p:sp>
      <p:sp>
        <p:nvSpPr>
          <p:cNvPr id="5" name="Text 3"/>
          <p:cNvSpPr txBox="1"/>
          <p:nvPr/>
        </p:nvSpPr>
        <p:spPr>
          <a:xfrm>
            <a:off x="640080" y="1463040"/>
            <a:ext cx="3566160" cy="3063240"/>
          </a:xfrm>
          <a:prstGeom prst="rect">
            <a:avLst/>
          </a:prstGeom>
          <a:noFill/>
          <a:ln/>
        </p:spPr>
        <p:txBody>
          <a:bodyPr wrap="square" lIns="0" tIns="0" rIns="0" bIns="0" rtlCol="0" anchor="t"/>
          <a:lstStyle/>
          <a:p>
            <a:pPr indent="0" marL="0">
              <a:buNone/>
            </a:pPr>
            <a:r>
              <a:rPr lang="en-US" sz="1500" b="1" dirty="0">
                <a:solidFill>
                  <a:srgbClr val="B5532A"/>
                </a:solidFill>
              </a:rPr>
              <a:t>Source</a:t>
            </a:r>
            <a:endParaRPr lang="en-US" sz="1200" dirty="0"/>
          </a:p>
          <a:p>
            <a:pPr indent="0" marL="0">
              <a:buNone/>
            </a:pPr>
            <a:r>
              <a:rPr lang="en-US" sz="1200" dirty="0">
                <a:solidFill>
                  <a:schemeClr val="tx1"/>
                </a:solidFill>
              </a:rPr>
              <a:t>Australian Bureau of Statistics (ABS, 2022a), Language Statistics for Aboriginal and Torres Strait Islander Peoples, 2021 (2021 Census)</a:t>
            </a:r>
            <a:endParaRPr lang="en-US" sz="1200" dirty="0"/>
          </a:p>
          <a:p>
            <a:pPr indent="0" marL="0">
              <a:buNone/>
            </a:pPr>
            <a:r>
              <a:rPr lang="en-US" sz="600" dirty="0">
                <a:solidFill>
                  <a:schemeClr val="tx1"/>
                </a:solidFill>
              </a:rPr>
              <a:t> </a:t>
            </a:r>
            <a:endParaRPr lang="en-US" sz="1200" dirty="0"/>
          </a:p>
          <a:p>
            <a:pPr indent="0" marL="0">
              <a:buNone/>
            </a:pPr>
            <a:r>
              <a:rPr lang="en-US" sz="1500" b="1" dirty="0">
                <a:solidFill>
                  <a:srgbClr val="B5532A"/>
                </a:solidFill>
              </a:rPr>
              <a:t>Why chosen</a:t>
            </a:r>
            <a:endParaRPr lang="en-US" sz="1200" dirty="0"/>
          </a:p>
          <a:p>
            <a:pPr indent="0" marL="0">
              <a:buNone/>
            </a:pPr>
            <a:r>
              <a:rPr lang="en-US" sz="1200" dirty="0">
                <a:solidFill>
                  <a:schemeClr val="tx1"/>
                </a:solidFill>
              </a:rPr>
              <a:t>Official, public and national; counts people using each language at home, which shows how many people hold each language</a:t>
            </a:r>
            <a:endParaRPr lang="en-US" sz="1200" dirty="0"/>
          </a:p>
          <a:p>
            <a:pPr indent="0" marL="0">
              <a:buNone/>
            </a:pPr>
            <a:r>
              <a:rPr lang="en-US" sz="600" dirty="0">
                <a:solidFill>
                  <a:schemeClr val="tx1"/>
                </a:solidFill>
              </a:rPr>
              <a:t> </a:t>
            </a:r>
            <a:endParaRPr lang="en-US" sz="1200" dirty="0"/>
          </a:p>
          <a:p>
            <a:pPr indent="0" marL="0">
              <a:buNone/>
            </a:pPr>
            <a:r>
              <a:rPr lang="en-US" sz="1500" b="1" dirty="0">
                <a:solidFill>
                  <a:srgbClr val="B5532A"/>
                </a:solidFill>
              </a:rPr>
              <a:t>Headline figures</a:t>
            </a:r>
            <a:endParaRPr lang="en-US" sz="1200" dirty="0"/>
          </a:p>
          <a:p>
            <a:pPr indent="0" marL="0">
              <a:buNone/>
            </a:pPr>
            <a:r>
              <a:rPr lang="en-US" sz="1200" dirty="0">
                <a:solidFill>
                  <a:schemeClr val="tx1"/>
                </a:solidFill>
              </a:rPr>
              <a:t>76,978 people (9.5%) used an Indigenous language at home; 167 languages were reported (ABS, 2022a, 2022b). Two of the three largest, Yumplatok and Kriol, are newer contact languages (Department of Infrastructure, Transport, Regional Development and Communications [DITRDC], 2020)</a:t>
            </a:r>
            <a:endParaRPr lang="en-US" sz="1200" dirty="0"/>
          </a:p>
        </p:txBody>
      </p:sp>
      <p:sp>
        <p:nvSpPr>
          <p:cNvPr id="6" name="Shape 4"/>
          <p:cNvSpPr/>
          <p:nvPr/>
        </p:nvSpPr>
        <p:spPr>
          <a:xfrm>
            <a:off x="4663440" y="1353312"/>
            <a:ext cx="384048" cy="384048"/>
          </a:xfrm>
          <a:prstGeom prst="ellipse">
            <a:avLst/>
          </a:prstGeom>
          <a:solidFill>
            <a:schemeClr val="accent2"/>
          </a:solidFill>
          <a:ln w="12700">
            <a:solidFill>
              <a:schemeClr val="accent2"/>
            </a:solidFill>
            <a:prstDash val="solid"/>
          </a:ln>
        </p:spPr>
      </p:sp>
      <p:sp>
        <p:nvSpPr>
          <p:cNvPr id="7" name="Text 5"/>
          <p:cNvSpPr txBox="1"/>
          <p:nvPr/>
        </p:nvSpPr>
        <p:spPr>
          <a:xfrm>
            <a:off x="4663440" y="1353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5166360" y="1325880"/>
            <a:ext cx="3520440" cy="274320"/>
          </a:xfrm>
          <a:prstGeom prst="rect">
            <a:avLst/>
          </a:prstGeom>
          <a:noFill/>
          <a:ln/>
        </p:spPr>
        <p:txBody>
          <a:bodyPr wrap="square" lIns="0" tIns="0" rIns="0" bIns="0" rtlCol="0" anchor="ctr"/>
          <a:lstStyle/>
          <a:p>
            <a:pPr indent="0" marL="0">
              <a:buNone/>
            </a:pPr>
            <a:r>
              <a:rPr lang="en-US" sz="1500" b="1" dirty="0">
                <a:solidFill>
                  <a:schemeClr val="tx1"/>
                </a:solidFill>
              </a:rPr>
              <a:t>Extract</a:t>
            </a:r>
            <a:endParaRPr lang="en-US" sz="1500" dirty="0"/>
          </a:p>
        </p:txBody>
      </p:sp>
      <p:sp>
        <p:nvSpPr>
          <p:cNvPr id="9" name="Text 7"/>
          <p:cNvSpPr txBox="1"/>
          <p:nvPr/>
        </p:nvSpPr>
        <p:spPr>
          <a:xfrm>
            <a:off x="5166360" y="1600200"/>
            <a:ext cx="3520440" cy="502920"/>
          </a:xfrm>
          <a:prstGeom prst="rect">
            <a:avLst/>
          </a:prstGeom>
          <a:noFill/>
          <a:ln/>
        </p:spPr>
        <p:txBody>
          <a:bodyPr wrap="square" lIns="0" tIns="0" rIns="0" bIns="0" rtlCol="0" anchor="t"/>
          <a:lstStyle/>
          <a:p>
            <a:pPr indent="0" marL="0">
              <a:buNone/>
            </a:pPr>
            <a:r>
              <a:rPr lang="en-US" sz="1250" dirty="0">
                <a:solidFill>
                  <a:schemeClr val="tx1"/>
                </a:solidFill>
              </a:rPr>
              <a:t>Published ABS figures entered into a CSV with a source column</a:t>
            </a:r>
            <a:endParaRPr lang="en-US" sz="1250" dirty="0"/>
          </a:p>
        </p:txBody>
      </p:sp>
      <p:sp>
        <p:nvSpPr>
          <p:cNvPr id="10" name="Shape 8"/>
          <p:cNvSpPr/>
          <p:nvPr/>
        </p:nvSpPr>
        <p:spPr>
          <a:xfrm>
            <a:off x="4663440" y="2176272"/>
            <a:ext cx="384048" cy="384048"/>
          </a:xfrm>
          <a:prstGeom prst="ellipse">
            <a:avLst/>
          </a:prstGeom>
          <a:solidFill>
            <a:schemeClr val="accent2"/>
          </a:solidFill>
          <a:ln w="12700">
            <a:solidFill>
              <a:schemeClr val="accent2"/>
            </a:solidFill>
            <a:prstDash val="solid"/>
          </a:ln>
        </p:spPr>
      </p:sp>
      <p:sp>
        <p:nvSpPr>
          <p:cNvPr id="11" name="Text 9"/>
          <p:cNvSpPr txBox="1"/>
          <p:nvPr/>
        </p:nvSpPr>
        <p:spPr>
          <a:xfrm>
            <a:off x="4663440" y="21762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5166360" y="2148840"/>
            <a:ext cx="3520440" cy="274320"/>
          </a:xfrm>
          <a:prstGeom prst="rect">
            <a:avLst/>
          </a:prstGeom>
          <a:noFill/>
          <a:ln/>
        </p:spPr>
        <p:txBody>
          <a:bodyPr wrap="square" lIns="0" tIns="0" rIns="0" bIns="0" rtlCol="0" anchor="ctr"/>
          <a:lstStyle/>
          <a:p>
            <a:pPr indent="0" marL="0">
              <a:buNone/>
            </a:pPr>
            <a:r>
              <a:rPr lang="en-US" sz="1500" b="1" dirty="0">
                <a:solidFill>
                  <a:schemeClr val="tx1"/>
                </a:solidFill>
              </a:rPr>
              <a:t>Analyse</a:t>
            </a:r>
            <a:endParaRPr lang="en-US" sz="1500" dirty="0"/>
          </a:p>
        </p:txBody>
      </p:sp>
      <p:sp>
        <p:nvSpPr>
          <p:cNvPr id="13" name="Text 11"/>
          <p:cNvSpPr txBox="1"/>
          <p:nvPr/>
        </p:nvSpPr>
        <p:spPr>
          <a:xfrm>
            <a:off x="5166360" y="2423160"/>
            <a:ext cx="3520440" cy="502920"/>
          </a:xfrm>
          <a:prstGeom prst="rect">
            <a:avLst/>
          </a:prstGeom>
          <a:noFill/>
          <a:ln/>
        </p:spPr>
        <p:txBody>
          <a:bodyPr wrap="square" lIns="0" tIns="0" rIns="0" bIns="0" rtlCol="0" anchor="t"/>
          <a:lstStyle/>
          <a:p>
            <a:pPr indent="0" marL="0">
              <a:buNone/>
            </a:pPr>
            <a:r>
              <a:rPr lang="en-US" sz="1250" dirty="0">
                <a:solidFill>
                  <a:schemeClr val="tx1"/>
                </a:solidFill>
              </a:rPr>
              <a:t>Python derives every chart value (e.g. 151 − 19 = 132 small languages)</a:t>
            </a:r>
            <a:endParaRPr lang="en-US" sz="1250" dirty="0"/>
          </a:p>
        </p:txBody>
      </p:sp>
      <p:sp>
        <p:nvSpPr>
          <p:cNvPr id="14" name="Shape 12"/>
          <p:cNvSpPr/>
          <p:nvPr/>
        </p:nvSpPr>
        <p:spPr>
          <a:xfrm>
            <a:off x="4663440" y="2999232"/>
            <a:ext cx="384048" cy="384048"/>
          </a:xfrm>
          <a:prstGeom prst="ellipse">
            <a:avLst/>
          </a:prstGeom>
          <a:solidFill>
            <a:schemeClr val="accent2"/>
          </a:solidFill>
          <a:ln w="12700">
            <a:solidFill>
              <a:schemeClr val="accent2"/>
            </a:solidFill>
            <a:prstDash val="solid"/>
          </a:ln>
        </p:spPr>
      </p:sp>
      <p:sp>
        <p:nvSpPr>
          <p:cNvPr id="15" name="Text 13"/>
          <p:cNvSpPr txBox="1"/>
          <p:nvPr/>
        </p:nvSpPr>
        <p:spPr>
          <a:xfrm>
            <a:off x="4663440" y="29992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5166360" y="2971800"/>
            <a:ext cx="3520440" cy="274320"/>
          </a:xfrm>
          <a:prstGeom prst="rect">
            <a:avLst/>
          </a:prstGeom>
          <a:noFill/>
          <a:ln/>
        </p:spPr>
        <p:txBody>
          <a:bodyPr wrap="square" lIns="0" tIns="0" rIns="0" bIns="0" rtlCol="0" anchor="ctr"/>
          <a:lstStyle/>
          <a:p>
            <a:pPr indent="0" marL="0">
              <a:buNone/>
            </a:pPr>
            <a:r>
              <a:rPr lang="en-US" sz="1500" b="1" dirty="0">
                <a:solidFill>
                  <a:schemeClr val="tx1"/>
                </a:solidFill>
              </a:rPr>
              <a:t>Visualise</a:t>
            </a:r>
            <a:endParaRPr lang="en-US" sz="1500" dirty="0"/>
          </a:p>
        </p:txBody>
      </p:sp>
      <p:sp>
        <p:nvSpPr>
          <p:cNvPr id="17" name="Text 15"/>
          <p:cNvSpPr txBox="1"/>
          <p:nvPr/>
        </p:nvSpPr>
        <p:spPr>
          <a:xfrm>
            <a:off x="5166360" y="3246120"/>
            <a:ext cx="3520440" cy="502920"/>
          </a:xfrm>
          <a:prstGeom prst="rect">
            <a:avLst/>
          </a:prstGeom>
          <a:noFill/>
          <a:ln/>
        </p:spPr>
        <p:txBody>
          <a:bodyPr wrap="square" lIns="0" tIns="0" rIns="0" bIns="0" rtlCol="0" anchor="t"/>
          <a:lstStyle/>
          <a:p>
            <a:pPr indent="0" marL="0">
              <a:buNone/>
            </a:pPr>
            <a:r>
              <a:rPr lang="en-US" sz="1250" dirty="0">
                <a:solidFill>
                  <a:schemeClr val="tx1"/>
                </a:solidFill>
              </a:rPr>
              <a:t>matplotlib bar charts; one highlight colour for the key message</a:t>
            </a:r>
            <a:endParaRPr lang="en-US" sz="1250" dirty="0"/>
          </a:p>
        </p:txBody>
      </p:sp>
      <p:sp>
        <p:nvSpPr>
          <p:cNvPr id="18" name="Shape 16"/>
          <p:cNvSpPr/>
          <p:nvPr/>
        </p:nvSpPr>
        <p:spPr>
          <a:xfrm>
            <a:off x="4663440" y="3822192"/>
            <a:ext cx="384048" cy="384048"/>
          </a:xfrm>
          <a:prstGeom prst="ellipse">
            <a:avLst/>
          </a:prstGeom>
          <a:solidFill>
            <a:schemeClr val="accent2"/>
          </a:solidFill>
          <a:ln w="12700">
            <a:solidFill>
              <a:schemeClr val="accent2"/>
            </a:solidFill>
            <a:prstDash val="solid"/>
          </a:ln>
        </p:spPr>
      </p:sp>
      <p:sp>
        <p:nvSpPr>
          <p:cNvPr id="19" name="Text 17"/>
          <p:cNvSpPr txBox="1"/>
          <p:nvPr/>
        </p:nvSpPr>
        <p:spPr>
          <a:xfrm>
            <a:off x="4663440" y="38221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8"/>
          <p:cNvSpPr txBox="1"/>
          <p:nvPr/>
        </p:nvSpPr>
        <p:spPr>
          <a:xfrm>
            <a:off x="5166360" y="3794760"/>
            <a:ext cx="3520440" cy="274320"/>
          </a:xfrm>
          <a:prstGeom prst="rect">
            <a:avLst/>
          </a:prstGeom>
          <a:noFill/>
          <a:ln/>
        </p:spPr>
        <p:txBody>
          <a:bodyPr wrap="square" lIns="0" tIns="0" rIns="0" bIns="0" rtlCol="0" anchor="ctr"/>
          <a:lstStyle/>
          <a:p>
            <a:pPr indent="0" marL="0">
              <a:buNone/>
            </a:pPr>
            <a:r>
              <a:rPr lang="en-US" sz="1500" b="1" dirty="0">
                <a:solidFill>
                  <a:schemeClr val="tx1"/>
                </a:solidFill>
              </a:rPr>
              <a:t>Exclude</a:t>
            </a:r>
            <a:endParaRPr lang="en-US" sz="1500" dirty="0"/>
          </a:p>
        </p:txBody>
      </p:sp>
      <p:sp>
        <p:nvSpPr>
          <p:cNvPr id="21" name="Text 19"/>
          <p:cNvSpPr txBox="1"/>
          <p:nvPr/>
        </p:nvSpPr>
        <p:spPr>
          <a:xfrm>
            <a:off x="5166360" y="4069080"/>
            <a:ext cx="3520440" cy="502920"/>
          </a:xfrm>
          <a:prstGeom prst="rect">
            <a:avLst/>
          </a:prstGeom>
          <a:noFill/>
          <a:ln/>
        </p:spPr>
        <p:txBody>
          <a:bodyPr wrap="square" lIns="0" tIns="0" rIns="0" bIns="0" rtlCol="0" anchor="t"/>
          <a:lstStyle/>
          <a:p>
            <a:pPr indent="0" marL="0">
              <a:buNone/>
            </a:pPr>
            <a:r>
              <a:rPr lang="en-US" sz="1250" dirty="0">
                <a:solidFill>
                  <a:schemeClr val="tx1"/>
                </a:solidFill>
              </a:rPr>
              <a:t>Language counts from secondary websites that could not be checked against the ABS</a:t>
            </a:r>
            <a:endParaRPr lang="en-US" sz="12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The evidence: ABS 2021 Census language data</a:t>
            </a:r>
            <a:endParaRPr lang="en-US" sz="2400" dirty="0"/>
          </a:p>
        </p:txBody>
      </p:sp>
      <p:pic>
        <p:nvPicPr>
          <p:cNvPr id="3" name="Image 0" descr="Two bar charts. Left: 19 languages have more than 1,000 home users; at least 132 have 1,000 or fewer. Right: Yumplatok 7,596, Kriol 7,403, Djambarrpuyngu 3,839 home users, together 24.5% of 76,978. Source ABS 2022.">    </p:cNvPr>
          <p:cNvPicPr>
            <a:picLocks noChangeAspect="1"/>
          </p:cNvPicPr>
          <p:nvPr/>
        </p:nvPicPr>
        <p:blipFill>
          <a:blip r:embed="rId1"/>
          <a:stretch>
            <a:fillRect/>
          </a:stretch>
        </p:blipFill>
        <p:spPr>
          <a:xfrm>
            <a:off x="502920" y="777240"/>
            <a:ext cx="8138160" cy="4030327"/>
          </a:xfrm>
          <a:prstGeom prst="rect">
            <a:avLst/>
          </a:prstGeom>
        </p:spPr>
      </p:pic>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What this means for LinguaTech</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i="1" dirty="0">
                <a:solidFill>
                  <a:schemeClr val="accent1"/>
                </a:solidFill>
              </a:rPr>
              <a:t>Interpreting the evidence for our decision</a:t>
            </a:r>
            <a:endParaRPr lang="en-US" sz="1400" dirty="0"/>
          </a:p>
        </p:txBody>
      </p:sp>
      <p:sp>
        <p:nvSpPr>
          <p:cNvPr id="4" name="Shape 2"/>
          <p:cNvSpPr/>
          <p:nvPr/>
        </p:nvSpPr>
        <p:spPr>
          <a:xfrm>
            <a:off x="457200" y="1325880"/>
            <a:ext cx="2606040" cy="274320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40080" y="1481328"/>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640080"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640080" y="1965960"/>
            <a:ext cx="2240280" cy="548640"/>
          </a:xfrm>
          <a:prstGeom prst="rect">
            <a:avLst/>
          </a:prstGeom>
          <a:noFill/>
          <a:ln/>
        </p:spPr>
        <p:txBody>
          <a:bodyPr wrap="square" lIns="0" tIns="0" rIns="0" bIns="0" rtlCol="0" anchor="t"/>
          <a:lstStyle/>
          <a:p>
            <a:pPr indent="0" marL="0">
              <a:buNone/>
            </a:pPr>
            <a:r>
              <a:rPr lang="en-US" sz="1600" b="1" dirty="0">
                <a:solidFill>
                  <a:schemeClr val="accent1"/>
                </a:solidFill>
              </a:rPr>
              <a:t>Consent is achievable</a:t>
            </a:r>
            <a:endParaRPr lang="en-US" sz="1600" dirty="0"/>
          </a:p>
        </p:txBody>
      </p:sp>
      <p:sp>
        <p:nvSpPr>
          <p:cNvPr id="8" name="Text 6"/>
          <p:cNvSpPr txBox="1"/>
          <p:nvPr/>
        </p:nvSpPr>
        <p:spPr>
          <a:xfrm>
            <a:off x="640080" y="2560320"/>
            <a:ext cx="2240280" cy="1417320"/>
          </a:xfrm>
          <a:prstGeom prst="rect">
            <a:avLst/>
          </a:prstGeom>
          <a:noFill/>
          <a:ln/>
        </p:spPr>
        <p:txBody>
          <a:bodyPr wrap="square" lIns="0" tIns="0" rIns="0" bIns="0" rtlCol="0" anchor="t"/>
          <a:lstStyle/>
          <a:p>
            <a:pPr indent="0" marL="0">
              <a:buNone/>
            </a:pPr>
            <a:r>
              <a:rPr lang="en-US" sz="1250" dirty="0">
                <a:solidFill>
                  <a:schemeClr val="tx1"/>
                </a:solidFill>
              </a:rPr>
              <a:t>Small, identifiable communities can be reached through language centres. Seeking consent is practical, not impossible.</a:t>
            </a:r>
            <a:endParaRPr lang="en-US" sz="1250" dirty="0"/>
          </a:p>
        </p:txBody>
      </p:sp>
      <p:sp>
        <p:nvSpPr>
          <p:cNvPr id="9" name="Shape 7"/>
          <p:cNvSpPr/>
          <p:nvPr/>
        </p:nvSpPr>
        <p:spPr>
          <a:xfrm>
            <a:off x="3273552" y="1325880"/>
            <a:ext cx="2606040" cy="2743200"/>
          </a:xfrm>
          <a:prstGeom prst="roundRect">
            <a:avLst>
              <a:gd name="adj" fmla="val 2807"/>
            </a:avLst>
          </a:prstGeom>
          <a:solidFill>
            <a:schemeClr val="bg2"/>
          </a:solidFill>
          <a:ln w="12700">
            <a:solidFill>
              <a:schemeClr val="bg2"/>
            </a:solidFill>
            <a:prstDash val="solid"/>
          </a:ln>
        </p:spPr>
      </p:sp>
      <p:sp>
        <p:nvSpPr>
          <p:cNvPr id="10" name="Shape 8"/>
          <p:cNvSpPr/>
          <p:nvPr/>
        </p:nvSpPr>
        <p:spPr>
          <a:xfrm>
            <a:off x="3456432" y="1481328"/>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3456432"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456432" y="1965960"/>
            <a:ext cx="2240280" cy="548640"/>
          </a:xfrm>
          <a:prstGeom prst="rect">
            <a:avLst/>
          </a:prstGeom>
          <a:noFill/>
          <a:ln/>
        </p:spPr>
        <p:txBody>
          <a:bodyPr wrap="square" lIns="0" tIns="0" rIns="0" bIns="0" rtlCol="0" anchor="t"/>
          <a:lstStyle/>
          <a:p>
            <a:pPr indent="0" marL="0">
              <a:buNone/>
            </a:pPr>
            <a:r>
              <a:rPr lang="en-US" sz="1600" b="1" dirty="0">
                <a:solidFill>
                  <a:schemeClr val="accent1"/>
                </a:solidFill>
              </a:rPr>
              <a:t>Output checking is thin</a:t>
            </a:r>
            <a:endParaRPr lang="en-US" sz="1600" dirty="0"/>
          </a:p>
        </p:txBody>
      </p:sp>
      <p:sp>
        <p:nvSpPr>
          <p:cNvPr id="13" name="Text 11"/>
          <p:cNvSpPr txBox="1"/>
          <p:nvPr/>
        </p:nvSpPr>
        <p:spPr>
          <a:xfrm>
            <a:off x="3456432" y="2560320"/>
            <a:ext cx="2240280" cy="1417320"/>
          </a:xfrm>
          <a:prstGeom prst="rect">
            <a:avLst/>
          </a:prstGeom>
          <a:noFill/>
          <a:ln/>
        </p:spPr>
        <p:txBody>
          <a:bodyPr wrap="square" lIns="0" tIns="0" rIns="0" bIns="0" rtlCol="0" anchor="t"/>
          <a:lstStyle/>
          <a:p>
            <a:pPr indent="0" marL="0">
              <a:buNone/>
            </a:pPr>
            <a:r>
              <a:rPr lang="en-US" sz="1250" dirty="0">
                <a:solidFill>
                  <a:schemeClr val="tx1"/>
                </a:solidFill>
              </a:rPr>
              <a:t>With 1,000 or fewer home users per language, few fluent speakers exist to catch errors. Low-resource languages are already poorly served by NLP </a:t>
            </a:r>
            <a:pPr indent="0" marL="0">
              <a:buNone/>
            </a:pPr>
            <a:r>
              <a:rPr lang="en-US" sz="1100" i="1" dirty="0">
                <a:solidFill>
                  <a:srgbClr val="6B6B6B"/>
                </a:solidFill>
              </a:rPr>
              <a:t>(Joshi et al., 2020)</a:t>
            </a:r>
            <a:endParaRPr lang="en-US" sz="1250" dirty="0"/>
          </a:p>
        </p:txBody>
      </p:sp>
      <p:sp>
        <p:nvSpPr>
          <p:cNvPr id="14" name="Shape 12"/>
          <p:cNvSpPr/>
          <p:nvPr/>
        </p:nvSpPr>
        <p:spPr>
          <a:xfrm>
            <a:off x="6089904" y="1325880"/>
            <a:ext cx="2606040" cy="2743200"/>
          </a:xfrm>
          <a:prstGeom prst="roundRect">
            <a:avLst>
              <a:gd name="adj" fmla="val 2807"/>
            </a:avLst>
          </a:prstGeom>
          <a:solidFill>
            <a:schemeClr val="bg2"/>
          </a:solidFill>
          <a:ln w="12700">
            <a:solidFill>
              <a:schemeClr val="bg2"/>
            </a:solidFill>
            <a:prstDash val="solid"/>
          </a:ln>
        </p:spPr>
      </p:sp>
      <p:sp>
        <p:nvSpPr>
          <p:cNvPr id="15" name="Shape 13"/>
          <p:cNvSpPr/>
          <p:nvPr/>
        </p:nvSpPr>
        <p:spPr>
          <a:xfrm>
            <a:off x="6272784" y="1481328"/>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6272784"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6272784" y="1965960"/>
            <a:ext cx="2240280" cy="548640"/>
          </a:xfrm>
          <a:prstGeom prst="rect">
            <a:avLst/>
          </a:prstGeom>
          <a:noFill/>
          <a:ln/>
        </p:spPr>
        <p:txBody>
          <a:bodyPr wrap="square" lIns="0" tIns="0" rIns="0" bIns="0" rtlCol="0" anchor="t"/>
          <a:lstStyle/>
          <a:p>
            <a:pPr indent="0" marL="0">
              <a:buNone/>
            </a:pPr>
            <a:r>
              <a:rPr lang="en-US" sz="1600" b="1" dirty="0">
                <a:solidFill>
                  <a:schemeClr val="accent1"/>
                </a:solidFill>
              </a:rPr>
              <a:t>Risk falls on few people</a:t>
            </a:r>
            <a:endParaRPr lang="en-US" sz="1600" dirty="0"/>
          </a:p>
        </p:txBody>
      </p:sp>
      <p:sp>
        <p:nvSpPr>
          <p:cNvPr id="18" name="Text 16"/>
          <p:cNvSpPr txBox="1"/>
          <p:nvPr/>
        </p:nvSpPr>
        <p:spPr>
          <a:xfrm>
            <a:off x="6272784" y="2560320"/>
            <a:ext cx="2240280" cy="1417320"/>
          </a:xfrm>
          <a:prstGeom prst="rect">
            <a:avLst/>
          </a:prstGeom>
          <a:noFill/>
          <a:ln/>
        </p:spPr>
        <p:txBody>
          <a:bodyPr wrap="square" lIns="0" tIns="0" rIns="0" bIns="0" rtlCol="0" anchor="t"/>
          <a:lstStyle/>
          <a:p>
            <a:pPr indent="0" marL="0">
              <a:buNone/>
            </a:pPr>
            <a:r>
              <a:rPr lang="en-US" sz="1250" dirty="0">
                <a:solidFill>
                  <a:schemeClr val="tx1"/>
                </a:solidFill>
              </a:rPr>
              <a:t>Errors or misuse affect small groups directly. Treating Indigenous knowledge as a commodity can sideline its holders </a:t>
            </a:r>
            <a:pPr indent="0" marL="0">
              <a:buNone/>
            </a:pPr>
            <a:r>
              <a:rPr lang="en-US" sz="1100" i="1" dirty="0">
                <a:solidFill>
                  <a:srgbClr val="6B6B6B"/>
                </a:solidFill>
              </a:rPr>
              <a:t>(Bird, 2020)</a:t>
            </a:r>
            <a:endParaRPr lang="en-US" sz="1250" dirty="0"/>
          </a:p>
        </p:txBody>
      </p:sp>
      <p:sp>
        <p:nvSpPr>
          <p:cNvPr id="19" name="Text 17"/>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300" i="1" dirty="0">
                <a:solidFill>
                  <a:schemeClr val="tx1"/>
                </a:solidFill>
              </a:rPr>
              <a:t>The data shows where risk is concentrated; it does not by itself prove harm will occur.</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Limitations and uncertainty</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i="1" dirty="0">
                <a:solidFill>
                  <a:schemeClr val="accent1"/>
                </a:solidFill>
              </a:rPr>
              <a:t>What the evidence cannot tell us, and how that affects the conclusion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4206240"/>
                <a:gridCol w="2011680"/>
              </a:tblGrid>
              <a:tr h="347472">
                <a:tc>
                  <a:txBody>
                    <a:bodyPr/>
                    <a:lstStyle/>
                    <a:p>
                      <a:pPr indent="0" marL="0">
                        <a:buNone/>
                      </a:pPr>
                      <a:r>
                        <a:rPr lang="en-US" sz="1300" b="1" dirty="0">
                          <a:solidFill>
                            <a:srgbClr val="FFFFFF"/>
                          </a:solidFill>
                        </a:rPr>
                        <a:t>Limitation</a:t>
                      </a:r>
                      <a:endParaRPr lang="en-US" sz="13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2F2420"/>
                    </a:solidFill>
                  </a:tcPr>
                </a:tc>
                <a:tc>
                  <a:txBody>
                    <a:bodyPr/>
                    <a:lstStyle/>
                    <a:p>
                      <a:pPr indent="0" marL="0">
                        <a:buNone/>
                      </a:pPr>
                      <a:r>
                        <a:rPr lang="en-US" sz="1300" b="1" dirty="0">
                          <a:solidFill>
                            <a:srgbClr val="FFFFFF"/>
                          </a:solidFill>
                        </a:rPr>
                        <a:t>Detail</a:t>
                      </a:r>
                      <a:endParaRPr lang="en-US" sz="13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2F2420"/>
                    </a:solidFill>
                  </a:tcPr>
                </a:tc>
                <a:tc>
                  <a:txBody>
                    <a:bodyPr/>
                    <a:lstStyle/>
                    <a:p>
                      <a:pPr indent="0" marL="0">
                        <a:buNone/>
                      </a:pPr>
                      <a:r>
                        <a:rPr lang="en-US" sz="1300" b="1" dirty="0">
                          <a:solidFill>
                            <a:srgbClr val="FFFFFF"/>
                          </a:solidFill>
                        </a:rPr>
                        <a:t>Effect on conclusion</a:t>
                      </a:r>
                      <a:endParaRPr lang="en-US" sz="13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solidFill>
                      <a:srgbClr val="2F2420"/>
                    </a:solidFill>
                  </a:tcPr>
                </a:tc>
              </a:tr>
              <a:tr h="731520">
                <a:tc>
                  <a:txBody>
                    <a:bodyPr/>
                    <a:lstStyle/>
                    <a:p>
                      <a:pPr indent="0" marL="0">
                        <a:buNone/>
                      </a:pPr>
                      <a:r>
                        <a:rPr lang="en-US" sz="1200" b="1" dirty="0">
                          <a:solidFill>
                            <a:srgbClr val="2B2B2B"/>
                          </a:solidFill>
                        </a:rPr>
                        <a:t>Home use is not fluency</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Census counts people using a language at home; it does not measure fluency or custodial authority (ABS, 2022a)</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Validators may be fewer than shown</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731520">
                <a:tc>
                  <a:txBody>
                    <a:bodyPr/>
                    <a:lstStyle/>
                    <a:p>
                      <a:pPr indent="0" marL="0">
                        <a:buNone/>
                      </a:pPr>
                      <a:r>
                        <a:rPr lang="en-US" sz="1200" b="1" dirty="0">
                          <a:solidFill>
                            <a:srgbClr val="2B2B2B"/>
                          </a:solidFill>
                        </a:rPr>
                        <a:t>Self-reported and lower-bound figures</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ABS reports 'over 150' languages; 151 is used as a lower bound, so the 132 figure is conservative</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Conclusion holds or strengthens</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731520">
                <a:tc>
                  <a:txBody>
                    <a:bodyPr/>
                    <a:lstStyle/>
                    <a:p>
                      <a:pPr indent="0" marL="0">
                        <a:buNone/>
                      </a:pPr>
                      <a:r>
                        <a:rPr lang="en-US" sz="1200" b="1" dirty="0">
                          <a:solidFill>
                            <a:srgbClr val="2B2B2B"/>
                          </a:solidFill>
                        </a:rPr>
                        <a:t>Different surveys, different counts</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NILS4 reports 177 languages spoken or used, 45 strong; not comparable with the 2018–19 baseline (Productivity Commission, 2026)</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Use Census for scale, not trend</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r h="548640">
                <a:tc>
                  <a:txBody>
                    <a:bodyPr/>
                    <a:lstStyle/>
                    <a:p>
                      <a:pPr indent="0" marL="0">
                        <a:buNone/>
                      </a:pPr>
                      <a:r>
                        <a:rPr lang="en-US" sz="1200" b="1" dirty="0">
                          <a:solidFill>
                            <a:srgbClr val="2B2B2B"/>
                          </a:solidFill>
                        </a:rPr>
                        <a:t>No direct measure of harm</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Speaker numbers show where risk is concentrated, not that AI training causes harm</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c>
                  <a:txBody>
                    <a:bodyPr/>
                    <a:lstStyle/>
                    <a:p>
                      <a:pPr indent="0" marL="0">
                        <a:buNone/>
                      </a:pPr>
                      <a:r>
                        <a:rPr lang="en-US" sz="1200" dirty="0">
                          <a:solidFill>
                            <a:srgbClr val="2B2B2B"/>
                          </a:solidFill>
                        </a:rPr>
                        <a:t>Recommendation is risk-based</a:t>
                      </a:r>
                      <a:endParaRPr lang="en-US" sz="1200" dirty="0"/>
                    </a:p>
                  </a:txBody>
                  <a:tcPr marL="91440" marR="91440" marT="45720" marB="45720" anchor="ctr">
                    <a:lnL w="9525" cap="flat" cmpd="sng" algn="ctr">
                      <a:solidFill>
                        <a:srgbClr val="D9D4CF"/>
                      </a:solidFill>
                      <a:prstDash val="solid"/>
                      <a:round/>
                      <a:headEnd type="none" w="med" len="med"/>
                      <a:tailEnd type="none" w="med" len="med"/>
                    </a:lnL>
                    <a:lnR w="9525" cap="flat" cmpd="sng" algn="ctr">
                      <a:solidFill>
                        <a:srgbClr val="D9D4CF"/>
                      </a:solidFill>
                      <a:prstDash val="solid"/>
                      <a:round/>
                      <a:headEnd type="none" w="med" len="med"/>
                      <a:tailEnd type="none" w="med" len="med"/>
                    </a:lnR>
                    <a:lnT w="9525" cap="flat" cmpd="sng" algn="ctr">
                      <a:solidFill>
                        <a:srgbClr val="D9D4CF"/>
                      </a:solidFill>
                      <a:prstDash val="solid"/>
                      <a:round/>
                      <a:headEnd type="none" w="med" len="med"/>
                      <a:tailEnd type="none" w="med" len="med"/>
                    </a:lnT>
                    <a:lnB w="9525" cap="flat" cmpd="sng" algn="ctr">
                      <a:solidFill>
                        <a:srgbClr val="D9D4C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Recommendation: pause training and partner first</a:t>
            </a:r>
            <a:endParaRPr lang="en-US" sz="2600" dirty="0"/>
          </a:p>
        </p:txBody>
      </p:sp>
      <p:sp>
        <p:nvSpPr>
          <p:cNvPr id="3" name="Text 1"/>
          <p:cNvSpPr txBox="1"/>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D9A441"/>
                </a:solidFill>
              </a:rPr>
              <a:t>Option B. Because the communities are small and identifiable, consent is both necessary and achievable.</a:t>
            </a:r>
            <a:endParaRPr lang="en-US" sz="1400" dirty="0"/>
          </a:p>
        </p:txBody>
      </p:sp>
      <p:sp>
        <p:nvSpPr>
          <p:cNvPr id="4" name="Shape 2"/>
          <p:cNvSpPr/>
          <p:nvPr/>
        </p:nvSpPr>
        <p:spPr>
          <a:xfrm>
            <a:off x="457200" y="141732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457200"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05840" y="1371600"/>
            <a:ext cx="7680960" cy="502920"/>
          </a:xfrm>
          <a:prstGeom prst="rect">
            <a:avLst/>
          </a:prstGeom>
          <a:noFill/>
          <a:ln/>
        </p:spPr>
        <p:txBody>
          <a:bodyPr wrap="square" lIns="0" tIns="0" rIns="0" bIns="0" rtlCol="0" anchor="ctr"/>
          <a:lstStyle/>
          <a:p>
            <a:pPr indent="0" marL="0">
              <a:buNone/>
            </a:pPr>
            <a:r>
              <a:rPr lang="en-US" sz="1400" b="1" dirty="0">
                <a:solidFill>
                  <a:srgbClr val="D9A441"/>
                </a:solidFill>
              </a:rPr>
              <a:t>Pause: </a:t>
            </a:r>
            <a:pPr indent="0" marL="0">
              <a:buNone/>
            </a:pPr>
            <a:r>
              <a:rPr lang="en-US" sz="1400" dirty="0">
                <a:solidFill>
                  <a:schemeClr val="bg1"/>
                </a:solidFill>
              </a:rPr>
              <a:t>Stop collection and training on Indigenous language data until consent is in place </a:t>
            </a:r>
            <a:pPr indent="0" marL="0">
              <a:buNone/>
            </a:pPr>
            <a:r>
              <a:rPr lang="en-US" sz="1400" i="1" dirty="0">
                <a:solidFill>
                  <a:srgbClr val="B9B4AE"/>
                </a:solidFill>
              </a:rPr>
              <a:t>(AIATSIS, 2020)</a:t>
            </a:r>
            <a:endParaRPr lang="en-US" sz="1400" dirty="0"/>
          </a:p>
        </p:txBody>
      </p:sp>
      <p:sp>
        <p:nvSpPr>
          <p:cNvPr id="7" name="Shape 5"/>
          <p:cNvSpPr/>
          <p:nvPr/>
        </p:nvSpPr>
        <p:spPr>
          <a:xfrm>
            <a:off x="457200" y="219456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45720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05840" y="2148840"/>
            <a:ext cx="7680960" cy="502920"/>
          </a:xfrm>
          <a:prstGeom prst="rect">
            <a:avLst/>
          </a:prstGeom>
          <a:noFill/>
          <a:ln/>
        </p:spPr>
        <p:txBody>
          <a:bodyPr wrap="square" lIns="0" tIns="0" rIns="0" bIns="0" rtlCol="0" anchor="ctr"/>
          <a:lstStyle/>
          <a:p>
            <a:pPr indent="0" marL="0">
              <a:buNone/>
            </a:pPr>
            <a:r>
              <a:rPr lang="en-US" sz="1400" b="1" dirty="0">
                <a:solidFill>
                  <a:srgbClr val="D9A441"/>
                </a:solidFill>
              </a:rPr>
              <a:t>Consult: </a:t>
            </a:r>
            <a:pPr indent="0" marL="0">
              <a:buNone/>
            </a:pPr>
            <a:r>
              <a:rPr lang="en-US" sz="1400" dirty="0">
                <a:solidFill>
                  <a:schemeClr val="bg1"/>
                </a:solidFill>
              </a:rPr>
              <a:t>Seek free, prior and informed collective consent via language centres and Traditional Owner groups </a:t>
            </a:r>
            <a:pPr indent="0" marL="0">
              <a:buNone/>
            </a:pPr>
            <a:r>
              <a:rPr lang="en-US" sz="1400" i="1" dirty="0">
                <a:solidFill>
                  <a:srgbClr val="B9B4AE"/>
                </a:solidFill>
              </a:rPr>
              <a:t>(Carroll et al., 2020)</a:t>
            </a:r>
            <a:endParaRPr lang="en-US" sz="1400" dirty="0"/>
          </a:p>
        </p:txBody>
      </p:sp>
      <p:sp>
        <p:nvSpPr>
          <p:cNvPr id="10" name="Shape 8"/>
          <p:cNvSpPr/>
          <p:nvPr/>
        </p:nvSpPr>
        <p:spPr>
          <a:xfrm>
            <a:off x="457200" y="297180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5720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005840" y="2926080"/>
            <a:ext cx="7680960" cy="502920"/>
          </a:xfrm>
          <a:prstGeom prst="rect">
            <a:avLst/>
          </a:prstGeom>
          <a:noFill/>
          <a:ln/>
        </p:spPr>
        <p:txBody>
          <a:bodyPr wrap="square" lIns="0" tIns="0" rIns="0" bIns="0" rtlCol="0" anchor="ctr"/>
          <a:lstStyle/>
          <a:p>
            <a:pPr indent="0" marL="0">
              <a:buNone/>
            </a:pPr>
            <a:r>
              <a:rPr lang="en-US" sz="1400" b="1" dirty="0">
                <a:solidFill>
                  <a:srgbClr val="D9A441"/>
                </a:solidFill>
              </a:rPr>
              <a:t>Validate: </a:t>
            </a:r>
            <a:pPr indent="0" marL="0">
              <a:buNone/>
            </a:pPr>
            <a:r>
              <a:rPr lang="en-US" sz="1400" dirty="0">
                <a:solidFill>
                  <a:schemeClr val="bg1"/>
                </a:solidFill>
              </a:rPr>
              <a:t>Test any output with fluent community speakers; block unvalidated languages </a:t>
            </a:r>
            <a:pPr indent="0" marL="0">
              <a:buNone/>
            </a:pPr>
            <a:r>
              <a:rPr lang="en-US" sz="1400" i="1" dirty="0">
                <a:solidFill>
                  <a:srgbClr val="B9B4AE"/>
                </a:solidFill>
              </a:rPr>
              <a:t>(DISR, 2019)</a:t>
            </a:r>
            <a:endParaRPr lang="en-US" sz="1400" dirty="0"/>
          </a:p>
        </p:txBody>
      </p:sp>
      <p:sp>
        <p:nvSpPr>
          <p:cNvPr id="13" name="Shape 11"/>
          <p:cNvSpPr/>
          <p:nvPr/>
        </p:nvSpPr>
        <p:spPr>
          <a:xfrm>
            <a:off x="457200" y="374904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457200" y="3749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3"/>
          <p:cNvSpPr txBox="1"/>
          <p:nvPr/>
        </p:nvSpPr>
        <p:spPr>
          <a:xfrm>
            <a:off x="1005840" y="3703320"/>
            <a:ext cx="7680960" cy="502920"/>
          </a:xfrm>
          <a:prstGeom prst="rect">
            <a:avLst/>
          </a:prstGeom>
          <a:noFill/>
          <a:ln/>
        </p:spPr>
        <p:txBody>
          <a:bodyPr wrap="square" lIns="0" tIns="0" rIns="0" bIns="0" rtlCol="0" anchor="ctr"/>
          <a:lstStyle/>
          <a:p>
            <a:pPr indent="0" marL="0">
              <a:buNone/>
            </a:pPr>
            <a:r>
              <a:rPr lang="en-US" sz="1400" b="1" dirty="0">
                <a:solidFill>
                  <a:srgbClr val="D9A441"/>
                </a:solidFill>
              </a:rPr>
              <a:t>Share benefit: </a:t>
            </a:r>
            <a:pPr indent="0" marL="0">
              <a:buNone/>
            </a:pPr>
            <a:r>
              <a:rPr lang="en-US" sz="1400" dirty="0">
                <a:solidFill>
                  <a:schemeClr val="bg1"/>
                </a:solidFill>
              </a:rPr>
              <a:t>Written benefit-sharing and data-licence agreements, with a takedown pathway </a:t>
            </a:r>
            <a:pPr indent="0" marL="0">
              <a:buNone/>
            </a:pPr>
            <a:r>
              <a:rPr lang="en-US" sz="1400" i="1" dirty="0">
                <a:solidFill>
                  <a:srgbClr val="B9B4AE"/>
                </a:solidFill>
              </a:rPr>
              <a:t>(Carroll et al., 2020)</a:t>
            </a:r>
            <a:endParaRPr lang="en-US" sz="1400" dirty="0"/>
          </a:p>
        </p:txBody>
      </p:sp>
      <p:sp>
        <p:nvSpPr>
          <p:cNvPr id="16" name="Text 14"/>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300" b="1" dirty="0">
                <a:solidFill>
                  <a:schemeClr val="bg1"/>
                </a:solidFill>
              </a:rPr>
              <a:t>Next step: board approval to pause training and fund a consultation with language centres before the next product review.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References</a:t>
            </a:r>
            <a:endParaRPr lang="en-US" sz="2600" dirty="0"/>
          </a:p>
        </p:txBody>
      </p:sp>
      <p:sp>
        <p:nvSpPr>
          <p:cNvPr id="3" name="Text 1"/>
          <p:cNvSpPr txBox="1"/>
          <p:nvPr/>
        </p:nvSpPr>
        <p:spPr>
          <a:xfrm>
            <a:off x="457200" y="868680"/>
            <a:ext cx="8229600" cy="3886200"/>
          </a:xfrm>
          <a:prstGeom prst="rect">
            <a:avLst/>
          </a:prstGeom>
          <a:noFill/>
          <a:ln/>
        </p:spPr>
        <p:txBody>
          <a:bodyPr wrap="square" lIns="0" tIns="0" rIns="0" bIns="0" rtlCol="0" anchor="t"/>
          <a:lstStyle/>
          <a:p>
            <a:pPr indent="0" marL="0">
              <a:spcAft>
                <a:spcPts val="300"/>
              </a:spcAft>
              <a:buNone/>
            </a:pPr>
            <a:r>
              <a:rPr lang="en-US" sz="1000" dirty="0">
                <a:solidFill>
                  <a:schemeClr val="tx1"/>
                </a:solidFill>
              </a:rPr>
              <a:t>Australian Bureau of Statistics. (2022a). Language statistics for Aboriginal and Torres Strait Islander peoples, 2021. https://www.abs.gov.au/statistics/people/aboriginal-and-torres-strait-islander-peoples/language-statistics-aboriginal-and-torres-strait-islander-peoples/2021</a:t>
            </a:r>
            <a:endParaRPr lang="en-US" sz="1000" dirty="0"/>
          </a:p>
          <a:p>
            <a:pPr indent="0" marL="0">
              <a:spcAft>
                <a:spcPts val="300"/>
              </a:spcAft>
              <a:buNone/>
            </a:pPr>
            <a:r>
              <a:rPr lang="en-US" sz="1000" dirty="0">
                <a:solidFill>
                  <a:schemeClr val="tx1"/>
                </a:solidFill>
              </a:rPr>
              <a:t>Australian Bureau of Statistics. (2022b). Aboriginal and Torres Strait Islander people: Census, 2021. https://www.abs.gov.au/statistics/people/aboriginal-and-torres-strait-islander-peoples/aboriginal-and-torres-strait-islander-people-census/2021</a:t>
            </a:r>
            <a:endParaRPr lang="en-US" sz="1000" dirty="0"/>
          </a:p>
          <a:p>
            <a:pPr indent="0" marL="0">
              <a:spcAft>
                <a:spcPts val="300"/>
              </a:spcAft>
              <a:buNone/>
            </a:pPr>
            <a:r>
              <a:rPr lang="en-US" sz="1000" dirty="0">
                <a:solidFill>
                  <a:schemeClr val="tx1"/>
                </a:solidFill>
              </a:rPr>
              <a:t>Australian Institute of Aboriginal and Torres Strait Islander Studies. (2020). AIATSIS code of ethics for Aboriginal and Torres Strait Islander research. https://aiatsis.gov.au/sites/default/files/2022-02/aiatsis-code-ethics-jan22.pdf</a:t>
            </a:r>
            <a:endParaRPr lang="en-US" sz="1000" dirty="0"/>
          </a:p>
          <a:p>
            <a:pPr indent="0" marL="0">
              <a:spcAft>
                <a:spcPts val="300"/>
              </a:spcAft>
              <a:buNone/>
            </a:pPr>
            <a:r>
              <a:rPr lang="en-US" sz="1000" dirty="0">
                <a:solidFill>
                  <a:schemeClr val="tx1"/>
                </a:solidFill>
              </a:rPr>
              <a:t>Bird, S. (2020). Decolonising speech and language technology. In Proceedings of the 28th International Conference on Computational Linguistics (pp. 3504–3519). https://doi.org/10.18653/v1/2020.coling-main.313</a:t>
            </a:r>
            <a:endParaRPr lang="en-US" sz="1000" dirty="0"/>
          </a:p>
          <a:p>
            <a:pPr indent="0" marL="0">
              <a:spcAft>
                <a:spcPts val="300"/>
              </a:spcAft>
              <a:buNone/>
            </a:pPr>
            <a:r>
              <a:rPr lang="en-US" sz="1000" dirty="0">
                <a:solidFill>
                  <a:schemeClr val="tx1"/>
                </a:solidFill>
              </a:rPr>
              <a:t>Carroll, S. R., Garba, I., Figueroa-Rodríguez, O. L., Holbrook, J., Lovett, R., Materechera, S., Parsons, M., Raseroka, K., Rodriguez-Lonebear, D., Rowe, R., Sara, R., Walker, J. D., Anderson, J., &amp; Hudson, M. (2020). The CARE principles for Indigenous data governance. Data Science Journal, 19(1), 43. https://doi.org/10.5334/dsj-2020-043</a:t>
            </a:r>
            <a:endParaRPr lang="en-US" sz="1000" dirty="0"/>
          </a:p>
          <a:p>
            <a:pPr indent="0" marL="0">
              <a:spcAft>
                <a:spcPts val="300"/>
              </a:spcAft>
              <a:buNone/>
            </a:pPr>
            <a:r>
              <a:rPr lang="en-US" sz="1000" dirty="0">
                <a:solidFill>
                  <a:schemeClr val="tx1"/>
                </a:solidFill>
              </a:rPr>
              <a:t>Department of Industry, Science and Resources. (2019). Australia's AI ethics principles. https://www.industry.gov.au/publications/australias-ai-ethics-principles</a:t>
            </a:r>
            <a:endParaRPr lang="en-US" sz="1000" dirty="0"/>
          </a:p>
          <a:p>
            <a:pPr indent="0" marL="0">
              <a:spcAft>
                <a:spcPts val="300"/>
              </a:spcAft>
              <a:buNone/>
            </a:pPr>
            <a:r>
              <a:rPr lang="en-US" sz="1000" dirty="0">
                <a:solidFill>
                  <a:schemeClr val="tx1"/>
                </a:solidFill>
              </a:rPr>
              <a:t>Department of Infrastructure, Transport, Regional Development and Communications. (2020). National Indigenous languages report. https://www.arts.gov.au/what-we-do/indigenous-arts-and-languages/national-indigenous-languages-report</a:t>
            </a:r>
            <a:endParaRPr lang="en-US" sz="1000" dirty="0"/>
          </a:p>
          <a:p>
            <a:pPr indent="0" marL="0">
              <a:spcAft>
                <a:spcPts val="300"/>
              </a:spcAft>
              <a:buNone/>
            </a:pPr>
            <a:r>
              <a:rPr lang="en-US" sz="1000" dirty="0">
                <a:solidFill>
                  <a:schemeClr val="tx1"/>
                </a:solidFill>
              </a:rPr>
              <a:t>Joint Council on Closing the Gap. (2020). National Agreement on Closing the Gap. https://www.closingthegap.gov.au/national-agreement</a:t>
            </a:r>
            <a:endParaRPr lang="en-US" sz="1000" dirty="0"/>
          </a:p>
          <a:p>
            <a:pPr indent="0" marL="0">
              <a:spcAft>
                <a:spcPts val="300"/>
              </a:spcAft>
              <a:buNone/>
            </a:pPr>
            <a:r>
              <a:rPr lang="en-US" sz="1000" dirty="0">
                <a:solidFill>
                  <a:schemeClr val="tx1"/>
                </a:solidFill>
              </a:rPr>
              <a:t>Joshi, P., Santy, S., Budhiraja, A., Bali, K., &amp; Choudhury, M. (2020). The state and fate of linguistic diversity and inclusion in the NLP world. In Proceedings of the 58th Annual Meeting of the Association for Computational Linguistics (pp. 6282–6293). https://doi.org/10.18653/v1/2020.acl-main.560</a:t>
            </a:r>
            <a:endParaRPr lang="en-US" sz="1000" dirty="0"/>
          </a:p>
          <a:p>
            <a:pPr indent="0" marL="0">
              <a:spcAft>
                <a:spcPts val="300"/>
              </a:spcAft>
              <a:buNone/>
            </a:pPr>
            <a:r>
              <a:rPr lang="en-US" sz="1000" dirty="0">
                <a:solidFill>
                  <a:schemeClr val="tx1"/>
                </a:solidFill>
              </a:rPr>
              <a:t>Productivity Commission. (2026). Closing the Gap information repository: Socio-economic outcome area 16 dashboard. https://www.pc.gov.au/closing-the-gap-data/dashboard/socioeconomic/outcome-area16</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chre Briefing">
  <a:themeElements>
    <a:clrScheme name="Ochre Briefing">
      <a:dk1>
        <a:srgbClr val="2B2B2B"/>
      </a:dk1>
      <a:lt1>
        <a:srgbClr val="FFFFFF"/>
      </a:lt1>
      <a:dk2>
        <a:srgbClr val="2F2420"/>
      </a:dk2>
      <a:lt2>
        <a:srgbClr val="F2EFEC"/>
      </a:lt2>
      <a:accent1>
        <a:srgbClr val="B5532A"/>
      </a:accent1>
      <a:accent2>
        <a:srgbClr val="5E7454"/>
      </a:accent2>
      <a:accent3>
        <a:srgbClr val="B9B4AE"/>
      </a:accent3>
      <a:accent4>
        <a:srgbClr val="8A6A4F"/>
      </a:accent4>
      <a:accent5>
        <a:srgbClr val="3F5E6E"/>
      </a:accent5>
      <a:accent6>
        <a:srgbClr val="D9A441"/>
      </a:accent6>
      <a:hlink>
        <a:srgbClr val="3F5E6E"/>
      </a:hlink>
      <a:folHlink>
        <a:srgbClr val="8A6A4F"/>
      </a:folHlink>
    </a:clrScheme>
    <a:fontScheme name="Ochre Brief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and Governance Challenges of Using Aboriginal and Torres Strait Islander Language Resources in AI Training</dc:title>
  <dc:subject>PptxGenJS Presentation</dc:subject>
  <dc:creator>[Student Name]</dc:creator>
  <cp:lastModifiedBy>[Student Name]</cp:lastModifiedBy>
  <cp:revision>1</cp:revision>
  <dcterms:created xsi:type="dcterms:W3CDTF">2026-10-15T15:53:13Z</dcterms:created>
  <dcterms:modified xsi:type="dcterms:W3CDTF">2026-10-15T15:53:13Z</dcterms:modified>
</cp:coreProperties>
</file>