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Calibri"/>
              </a:defRPr>
            </a:pPr>
            <a:r>
              <a:rPr sz="1400" b="0" i="0" u="none" strike="noStrike">
                <a:solidFill>
                  <a:srgbClr val="1B1F23"/>
                </a:solidFill>
                <a:latin typeface="Calibri"/>
              </a:rPr>
              <a:t>Population using safely managed drinking water services, 2022 (%)</a:t>
            </a:r>
          </a:p>
        </c:rich>
      </c:tx>
      <c:layout/>
      <c:overlay val="0"/>
    </c:title>
    <c:autoTitleDeleted val="0"/>
    <c:plotArea>
      <c:layout/>
      <c:barChart>
        <c:barDir val="col"/>
        <c:grouping val="clustered"/>
        <c:varyColors val="0"/>
        <c:ser>
          <c:idx val="0"/>
          <c:order val="0"/>
          <c:tx>
            <c:strRef>
              <c:f>Sheet1!$B$1</c:f>
              <c:strCache>
                <c:ptCount val="1"/>
                <c:pt idx="0">
                  <c:v>Safely managed drinking water coverage, 2022 (%)</c:v>
                </c:pt>
              </c:strCache>
            </c:strRef>
          </c:tx>
          <c:spPr>
            <a:solidFill>
              <a:srgbClr val="1F7A8C"/>
            </a:solidFill>
            <a:effectLst/>
          </c:spPr>
          <c:invertIfNegative val="0"/>
          <c:dLbls>
            <c:numFmt formatCode="0&quot;%&quot;" sourceLinked="0"/>
            <c:txPr>
              <a:bodyPr/>
              <a:lstStyle/>
              <a:p>
                <a:pPr>
                  <a:defRPr b="0" i="0" strike="noStrike" sz="1300" u="none">
                    <a:solidFill>
                      <a:srgbClr val="1B1F2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Global</c:v>
                  </c:pt>
                  <c:pt idx="1">
                    <c:v>Europe and Northern America</c:v>
                  </c:pt>
                  <c:pt idx="2">
                    <c:v>Sub-Saharan Africa</c:v>
                  </c:pt>
                </c:lvl>
              </c:multiLvlStrCache>
            </c:multiLvlStrRef>
          </c:cat>
          <c:val>
            <c:numRef>
              <c:f>Sheet1!$B$2:$B$4</c:f>
              <c:numCache>
                <c:formatCode>General</c:formatCode>
                <c:ptCount val="3"/>
                <c:pt idx="0">
                  <c:v>73</c:v>
                </c:pt>
                <c:pt idx="1">
                  <c:v>94</c:v>
                </c:pt>
                <c:pt idx="2">
                  <c:v>31</c:v>
                </c:pt>
              </c:numCache>
            </c:numRef>
          </c:val>
        </c:ser>
        <c:dLbls>
          <c:numFmt formatCode="0&quot;%&quot;" sourceLinked="0"/>
          <c:txPr>
            <a:bodyPr/>
            <a:lstStyle/>
            <a:p>
              <a:pPr>
                <a:defRPr b="0" i="0" strike="noStrike" sz="1300" u="none">
                  <a:solidFill>
                    <a:srgbClr val="1B1F2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B1F23"/>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9D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7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3"/>
                </a:solidFill>
                <a:latin typeface="Calibri"/>
              </a:defRPr>
            </a:pPr>
            <a:r>
              <a:rPr sz="1400" b="0" i="0" u="none" strike="noStrike">
                <a:solidFill>
                  <a:srgbClr val="1B1F23"/>
                </a:solidFill>
                <a:latin typeface="Calibri"/>
              </a:rPr>
              <a:t>Removal reported by single studies (%)</a:t>
            </a:r>
          </a:p>
        </c:rich>
      </c:tx>
      <c:layout/>
      <c:overlay val="0"/>
    </c:title>
    <c:autoTitleDeleted val="0"/>
    <c:plotArea>
      <c:layout/>
      <c:barChart>
        <c:barDir val="bar"/>
        <c:grouping val="clustered"/>
        <c:varyColors val="0"/>
        <c:ser>
          <c:idx val="0"/>
          <c:order val="0"/>
          <c:tx>
            <c:strRef>
              <c:f>Sheet1!$B$1</c:f>
              <c:strCache>
                <c:ptCount val="1"/>
                <c:pt idx="0">
                  <c:v>Reported removal (%)</c:v>
                </c:pt>
              </c:strCache>
            </c:strRef>
          </c:tx>
          <c:spPr>
            <a:solidFill>
              <a:srgbClr val="1F7A8C"/>
            </a:solidFill>
            <a:effectLst/>
          </c:spPr>
          <c:invertIfNegative val="0"/>
          <c:dLbls>
            <c:numFmt formatCode="0&quot;%&quot;"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cat>
            <c:multiLvlStrRef>
              <c:f>Sheet1!$A$2:$A$5</c:f>
              <c:multiLvlStrCache>
                <c:ptCount val="4"/>
                <c:lvl>
                  <c:pt idx="0">
                    <c:v>Heavy metals (polymer-coated ceramic)</c:v>
                  </c:pt>
                  <c:pt idx="1">
                    <c:v>PFOA (Fe-based ceramic, one pass)</c:v>
                  </c:pt>
                  <c:pt idx="2">
                    <c:v>Microplastic alternatives, lower</c:v>
                  </c:pt>
                  <c:pt idx="3">
                    <c:v>Microplastic alternatives, upper</c:v>
                  </c:pt>
                </c:lvl>
              </c:multiLvlStrCache>
            </c:multiLvlStrRef>
          </c:cat>
          <c:val>
            <c:numRef>
              <c:f>Sheet1!$B$2:$B$5</c:f>
              <c:numCache>
                <c:formatCode>General</c:formatCode>
                <c:ptCount val="4"/>
                <c:pt idx="0">
                  <c:v>97</c:v>
                </c:pt>
                <c:pt idx="1">
                  <c:v>99</c:v>
                </c:pt>
                <c:pt idx="2">
                  <c:v>72</c:v>
                </c:pt>
                <c:pt idx="3">
                  <c:v>82</c:v>
                </c:pt>
              </c:numCache>
            </c:numRef>
          </c:val>
        </c:ser>
        <c:dLbls>
          <c:numFmt formatCode="0&quot;%&quot;" sourceLinked="0"/>
          <c:txPr>
            <a:bodyPr/>
            <a:lstStyle/>
            <a:p>
              <a:pPr>
                <a:defRPr b="0" i="0" strike="noStrike" sz="1200" u="none">
                  <a:solidFill>
                    <a:srgbClr val="1B1F23"/>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F23"/>
                </a:solidFill>
                <a:latin typeface="Calibri"/>
              </a:defRPr>
            </a:pPr>
            <a:endParaRPr lang="en-US"/>
          </a:p>
        </c:txPr>
        <c:crossAx val="2094734552"/>
        <c:crosses val="autoZero"/>
        <c:auto val="1"/>
        <c:lblAlgn val="ctr"/>
        <c:noMultiLvlLbl val="1"/>
      </c:catAx>
      <c:valAx>
        <c:axId val="2094734552"/>
        <c:scaling>
          <c:orientation val="minMax"/>
          <c:max val="110"/>
          <c:min val="0"/>
        </c:scaling>
        <c:delete val="0"/>
        <c:axPos val="b"/>
        <c:majorGridlines>
          <c:spPr>
            <a:ln w="6350" cap="flat">
              <a:solidFill>
                <a:srgbClr val="D9DE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7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thank you for watching. My proposal is titled Development of a Treatment Process for Potable Water Production Using Ceramic Membrane Filtration. My central research question asks how ceramic membrane materials, fouling control and hybrid designs can be combined into an evidence-based treatment train for safe drinking water. I will answer it through a desk-based comparative evaluation of published data, which needs no laboratory work. The topic matters because safe water is a basic need, and treatment choices are complex. This presentation covers the background, rationale, methods, expected results, resources and timeline in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 drinking water is still out of reach for many people. In 2022, 2.2 billion people lacked safely managed drinking water, and global coverage was 73 percent, but only 31 percent in sub-Saharan Africa, according to WHO and UNICEF, 2023. Membrane processes increasingly complement conventional treatment, and ceramic membranes stand out for chemical and thermal stability, low fouling and long working life, Jarrar and colleagues, 2024, and Hosseinzadeh and colleagues, 2025. Ceramic membranes are commonly made from alumina, zirconia, titanium dioxide or silicon carbide, each with different strength, chemical resistance and cost, Akash and colleagues, 2024. Full-scale plants already operate in countries including Singapore, Japan and the United Kingdom, and appear economically competitive over the long term, Akash and colleagues,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the evidence is scattered. Material choice matters: low-cost waste-based supports cut costs but may reduce mechanical integrity and pore uniformity, Fu and colleagues, 2024. Fouling raises energy use and lowers flux, Cai and colleagues, 2023. Removal also depends on the contaminant. The chart shows single studies reporting over 97 percent heavy metal removal, about 99 percent PFOA removal, and 72 to 82 percent removal of microplastic alternatives. These studies used different conditions, so they cannot be ranked directly. A systematic review for WHO guidance found fewer ceramic log-reduction data than for granular media filtration, Burke and colleagues, 2025. My literature review found no integrated comparison linking these factors. Utilities, researchers and regulators would benefit, and the work supports Sustainable Development Goal 6, United Nations, 2015. Without a consistent comparison, a utility cannot easily choose between materials, hybrid designs and contaminant targets. That is why this project is needed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aim is to build an evidence-based decision framework for ceramic membrane treatment trains. Four aims guide this: compare materials and fabrication routes; evaluate fouling control and hybrid configurations; assess removal of metals, arsenic, PFAS, microplastics and pathogens; and develop the framework itself. Three research questions ask which materials balance strength, cost and removal; which fouling-control and hybrid options perform best; and how sustainability and cost compare with polymeric and conventional options. The framework on the right links these steps. Each aim produces a concrete deliverable, so progress can be checked at each stage, and every research question links back to one or more 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is a desk-based comparative evaluation of published secondary data, in six steps. First, I identify studies from 2020 onwards in databases such as Scopus and Web of Science. Second, I screen them against clear criteria, following the PRISMA 2020 statement, Page and colleagues, 2021. Third, I extract performance data into a standard matrix. Fourth, I convert units and compare by scale. Fifth, I score configurations and test the weights. Sixth, I build the decision framework. This suits the question because many experiments already exist, and the gap is consistent comparison, which I can achieve at zero cost. I chose this design for three reasons. It is realistic within six weeks, it carries no safety or ethical risk, and it makes my reasoning transparent and repeatable. A laboratory study would test only a few membranes, whereas a synthesis can compare many materials and contaminants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are peer-reviewed articles on materials, fouling, contaminants and sustainability, plus the WHO and UNICEF report. I include studies of ceramic membranes for water treatment that report quantitative data such as flux, rejection, strength, energy or cost. I exclude opinion pieces, non-English papers and duplicates. For quality control, I will re-extract ten percent of records after one week and compare them. Because test conditions differ and positive results are published more often, I will grade conclusions by evidence strength and scale. The extraction matrix records material, pore size, feed water, operating pressure, test scale, flux, rejection, fouling control and cost indicators. The scoring matrix then rates each configuration on removal, fouling control, strength, cost and sustainability, and I vary the weights to see whether rankings stay stable. Ethically, I use only published sources, with no people or animals, and I will confirm ethics status with my supervisor in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expected results. I want to separate what is known from what I expect. Known: hybrid ceramic and nanofiltration systems removed more organic carbon and divalent ions than nanofiltration alone, Xie and colleagues, 2025; ozonation can reduce cleaning frequency, Xie and colleagues, 2024; and conductive membranes are promising but unproven at scale, Lin and colleagues, 2024. Anticipated, but not yet established: I expect hybrids to outperform standalone membranes, waste-based membranes to be cheaper but more variable, and the largest evidence gaps to be PFAS, microplastics and viruses at full scale. The outputs are a database, comparison tables, a gap map and a decision framework, benefiting utilities, researchers, regulators and underserved communities. Any evidence that contradicts these expectations will be reported openly. Better treatment choices may also support affordable supply for communities lacking safe water, WHO and UNICEF,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funds are requested, so the overall budget is zero dollars. The study uses published data and existing university resources: library database access, a free reference manager, a spreadsheet and my own computer. No laboratory consumables are needed. My time, about 150 hours, is the main input. For personnel, I conduct the research, my supervisor reviews the protocol, scoring matrix and draft and confirms ethics status, and a librarian may advise on search strategy. Costs are low because secondary data removes the need for equipment, consumables, participants and travel. Every item uses an existing resource, which is why the budget is zero. I will confirm database access with the university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is six weeks. Week one covers the protocol, search strategy and ethics check, and searching begins. Weeks two and three cover screening and data extraction. Weeks three to five cover comparison, scoring, the sensitivity test and the framework. Weeks five and six cover report writing, referencing and submission. Milestones are the final record set in week two, the scoring matrix in week four, and submission in week six. The scope is realistic because it covers only published studies from 2020 onwards, which one researcher can screen and extract within six weeks, and each stage produces a checkable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propose to compare published evidence on ceramic membrane materials, fouling control, hybrid designs and contaminant removal, and turn it into a decision framework for potable water treatment. It matters because 2.2 billion people still lack safely managed drinking water, WHO and UNICEF, 2023. The method is transparent, low risk and costs nothing. I expect it to give utilities and researchers a clear, evidence-based guide. In short: what I will investigate is how best to combine ceramic membrane options; why it matters is safe water and scattered evidence; how I will do it is a transparent desk-based synthesis; and the contribution is a practical decision framework.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cited on the slides are listed here in APA seventh edition. The full list is in the written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92240"/>
            <a:ext cx="7315200" cy="274320"/>
          </a:xfrm>
          <a:prstGeom prst="rect">
            <a:avLst/>
          </a:prstGeom>
          <a:noFill/>
          <a:ln/>
        </p:spPr>
        <p:txBody>
          <a:bodyPr wrap="square" lIns="0" tIns="0" rIns="0" bIns="0" rtlCol="0" anchor="ctr"/>
          <a:lstStyle/>
          <a:p>
            <a:pPr indent="0" marL="0">
              <a:buNone/>
            </a:pPr>
            <a:r>
              <a:rPr lang="en-US" sz="1000" dirty="0">
                <a:solidFill>
                  <a:srgbClr val="5B6770"/>
                </a:solidFill>
                <a:latin typeface="Calibri" pitchFamily="34" charset="0"/>
                <a:ea typeface="Calibri" pitchFamily="34" charset="-122"/>
                <a:cs typeface="Calibri" pitchFamily="34" charset="-120"/>
              </a:rPr>
              <a:t>Thesis proposal | Ceramic membrane filtration for potable water</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E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10972800" cy="320040"/>
          </a:xfrm>
          <a:prstGeom prst="rect">
            <a:avLst/>
          </a:prstGeom>
          <a:noFill/>
          <a:ln/>
        </p:spPr>
        <p:txBody>
          <a:bodyPr wrap="square" lIns="0" tIns="0" rIns="0" bIns="0" rtlCol="0" anchor="ctr"/>
          <a:lstStyle/>
          <a:p>
            <a:pPr indent="0" marL="0">
              <a:buNone/>
            </a:pPr>
            <a:r>
              <a:rPr lang="en-US" sz="1200" b="1" spc="200" kern="0" dirty="0">
                <a:solidFill>
                  <a:srgbClr val="7FB7C2"/>
                </a:solidFill>
              </a:rPr>
              <a:t>THESIS PROPOSAL  |  10-MINUTE RECORDED PRESENTATION</a:t>
            </a:r>
            <a:endParaRPr lang="en-US" sz="1200" dirty="0"/>
          </a:p>
        </p:txBody>
      </p:sp>
      <p:sp>
        <p:nvSpPr>
          <p:cNvPr id="3" name="Text 1"/>
          <p:cNvSpPr txBox="1"/>
          <p:nvPr/>
        </p:nvSpPr>
        <p:spPr>
          <a:xfrm>
            <a:off x="548640" y="1005840"/>
            <a:ext cx="7498080" cy="21031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Development of a Treatment Process for Potable Water Production Using Ceramic Membrane Filtration</a:t>
            </a:r>
            <a:endParaRPr lang="en-US" sz="3400" dirty="0"/>
          </a:p>
        </p:txBody>
      </p:sp>
      <p:sp>
        <p:nvSpPr>
          <p:cNvPr id="4" name="Text 2"/>
          <p:cNvSpPr txBox="1"/>
          <p:nvPr/>
        </p:nvSpPr>
        <p:spPr>
          <a:xfrm>
            <a:off x="548640" y="3246120"/>
            <a:ext cx="7498080" cy="457200"/>
          </a:xfrm>
          <a:prstGeom prst="rect">
            <a:avLst/>
          </a:prstGeom>
          <a:noFill/>
          <a:ln/>
        </p:spPr>
        <p:txBody>
          <a:bodyPr wrap="square" lIns="0" tIns="0" rIns="0" bIns="0" rtlCol="0" anchor="ctr"/>
          <a:lstStyle/>
          <a:p>
            <a:pPr indent="0" marL="0">
              <a:buNone/>
            </a:pPr>
            <a:r>
              <a:rPr lang="en-US" sz="2200" i="1" dirty="0">
                <a:solidFill>
                  <a:srgbClr val="E8A33D"/>
                </a:solidFill>
                <a:latin typeface="Cambria" pitchFamily="34" charset="0"/>
                <a:ea typeface="Cambria" pitchFamily="34" charset="-122"/>
                <a:cs typeface="Cambria" pitchFamily="34" charset="-120"/>
              </a:rPr>
              <a:t>A desk-based comparative evaluation</a:t>
            </a:r>
            <a:endParaRPr lang="en-US" sz="2200" dirty="0"/>
          </a:p>
        </p:txBody>
      </p:sp>
      <p:sp>
        <p:nvSpPr>
          <p:cNvPr id="5" name="Text 3"/>
          <p:cNvSpPr txBox="1"/>
          <p:nvPr/>
        </p:nvSpPr>
        <p:spPr>
          <a:xfrm>
            <a:off x="548640" y="3931920"/>
            <a:ext cx="7498080" cy="1554480"/>
          </a:xfrm>
          <a:prstGeom prst="rect">
            <a:avLst/>
          </a:prstGeom>
          <a:noFill/>
          <a:ln/>
        </p:spPr>
        <p:txBody>
          <a:bodyPr wrap="square" lIns="0" tIns="0" rIns="0" bIns="0" rtlCol="0" anchor="t"/>
          <a:lstStyle/>
          <a:p>
            <a:pPr indent="0" marL="0">
              <a:spcAft>
                <a:spcPts val="600"/>
              </a:spcAft>
              <a:buNone/>
            </a:pPr>
            <a:r>
              <a:rPr lang="en-US" sz="1500" b="1" dirty="0">
                <a:solidFill>
                  <a:srgbClr val="E8A33D"/>
                </a:solidFill>
              </a:rPr>
              <a:t>Central research question</a:t>
            </a:r>
            <a:endParaRPr lang="en-US" sz="1500" dirty="0"/>
          </a:p>
          <a:p>
            <a:pPr indent="0" marL="0">
              <a:spcAft>
                <a:spcPts val="600"/>
              </a:spcAft>
              <a:buNone/>
            </a:pPr>
            <a:r>
              <a:rPr lang="en-US" sz="1500" dirty="0">
                <a:solidFill>
                  <a:srgbClr val="D7E6EA"/>
                </a:solidFill>
              </a:rPr>
              <a:t>How can ceramic membrane materials, fouling control and hybrid designs be combined into an evidence-based treatment train for potable water?</a:t>
            </a:r>
            <a:endParaRPr lang="en-US" sz="1500" dirty="0"/>
          </a:p>
          <a:p>
            <a:pPr indent="0" marL="0">
              <a:spcAft>
                <a:spcPts val="600"/>
              </a:spcAft>
              <a:buNone/>
            </a:pPr>
            <a:r>
              <a:rPr lang="en-US" sz="1200" dirty="0">
                <a:solidFill>
                  <a:srgbClr val="7FB7C2"/>
                </a:solidFill>
              </a:rPr>
              <a:t>Secondary data  •  Systematic screening (Page et al., 2021)  •  Decision framework</a:t>
            </a:r>
            <a:endParaRPr lang="en-US" sz="1500" dirty="0"/>
          </a:p>
        </p:txBody>
      </p:sp>
      <p:sp>
        <p:nvSpPr>
          <p:cNvPr id="6" name="Text 4"/>
          <p:cNvSpPr txBox="1"/>
          <p:nvPr/>
        </p:nvSpPr>
        <p:spPr>
          <a:xfrm>
            <a:off x="548640" y="5852160"/>
            <a:ext cx="7498080" cy="365760"/>
          </a:xfrm>
          <a:prstGeom prst="rect">
            <a:avLst/>
          </a:prstGeom>
          <a:noFill/>
          <a:ln/>
        </p:spPr>
        <p:txBody>
          <a:bodyPr wrap="square" lIns="0" tIns="0" rIns="0" bIns="0" rtlCol="0" anchor="ctr"/>
          <a:lstStyle/>
          <a:p>
            <a:pPr indent="0" marL="0">
              <a:buNone/>
            </a:pPr>
            <a:r>
              <a:rPr lang="en-US" sz="1400" dirty="0">
                <a:solidFill>
                  <a:srgbClr val="FFFFFF"/>
                </a:solidFill>
              </a:rPr>
              <a:t>[Student name]  |  [Student ID]  |  [Module / Supervisor]</a:t>
            </a:r>
            <a:endParaRPr lang="en-US" sz="1400" dirty="0"/>
          </a:p>
        </p:txBody>
      </p:sp>
      <p:sp>
        <p:nvSpPr>
          <p:cNvPr id="7" name="Shape 5"/>
          <p:cNvSpPr/>
          <p:nvPr/>
        </p:nvSpPr>
        <p:spPr>
          <a:xfrm>
            <a:off x="8503920" y="822960"/>
            <a:ext cx="3200400" cy="1600200"/>
          </a:xfrm>
          <a:prstGeom prst="rect">
            <a:avLst/>
          </a:prstGeom>
          <a:solidFill>
            <a:srgbClr val="173F52"/>
          </a:solidFill>
          <a:ln w="12700">
            <a:solidFill>
              <a:srgbClr val="173F52"/>
            </a:solidFill>
            <a:prstDash val="solid"/>
          </a:ln>
        </p:spPr>
      </p:sp>
      <p:sp>
        <p:nvSpPr>
          <p:cNvPr id="8" name="Text 6"/>
          <p:cNvSpPr txBox="1"/>
          <p:nvPr/>
        </p:nvSpPr>
        <p:spPr>
          <a:xfrm>
            <a:off x="8686800" y="914400"/>
            <a:ext cx="2834640" cy="640080"/>
          </a:xfrm>
          <a:prstGeom prst="rect">
            <a:avLst/>
          </a:prstGeom>
          <a:noFill/>
          <a:ln/>
        </p:spPr>
        <p:txBody>
          <a:bodyPr wrap="square" lIns="0" tIns="0" rIns="0" bIns="0" rtlCol="0" anchor="ctr"/>
          <a:lstStyle/>
          <a:p>
            <a:pPr indent="0" marL="0">
              <a:buNone/>
            </a:pPr>
            <a:r>
              <a:rPr lang="en-US" sz="3200" b="1" dirty="0">
                <a:solidFill>
                  <a:srgbClr val="E8A33D"/>
                </a:solidFill>
                <a:latin typeface="Cambria" pitchFamily="34" charset="0"/>
                <a:ea typeface="Cambria" pitchFamily="34" charset="-122"/>
                <a:cs typeface="Cambria" pitchFamily="34" charset="-120"/>
              </a:rPr>
              <a:t>2.2 billion</a:t>
            </a:r>
            <a:endParaRPr lang="en-US" sz="3200" dirty="0"/>
          </a:p>
        </p:txBody>
      </p:sp>
      <p:sp>
        <p:nvSpPr>
          <p:cNvPr id="9" name="Text 7"/>
          <p:cNvSpPr txBox="1"/>
          <p:nvPr/>
        </p:nvSpPr>
        <p:spPr>
          <a:xfrm>
            <a:off x="8686800" y="1554480"/>
            <a:ext cx="2834640" cy="822960"/>
          </a:xfrm>
          <a:prstGeom prst="rect">
            <a:avLst/>
          </a:prstGeom>
          <a:noFill/>
          <a:ln/>
        </p:spPr>
        <p:txBody>
          <a:bodyPr wrap="square" lIns="0" tIns="0" rIns="0" bIns="0" rtlCol="0" anchor="t"/>
          <a:lstStyle/>
          <a:p>
            <a:pPr indent="0" marL="0">
              <a:buNone/>
            </a:pPr>
            <a:r>
              <a:rPr lang="en-US" sz="1100" dirty="0">
                <a:solidFill>
                  <a:srgbClr val="FFFFFF"/>
                </a:solidFill>
              </a:rPr>
              <a:t>people lacked safely managed drinking water in 2022</a:t>
            </a:r>
            <a:endParaRPr lang="en-US" sz="1100" dirty="0"/>
          </a:p>
          <a:p>
            <a:pPr indent="0" marL="0">
              <a:buNone/>
            </a:pPr>
            <a:r>
              <a:rPr lang="en-US" sz="1100" i="1" dirty="0">
                <a:solidFill>
                  <a:srgbClr val="7FB7C2"/>
                </a:solidFill>
              </a:rPr>
              <a:t>WHO/UNICEF, 2023</a:t>
            </a:r>
            <a:endParaRPr lang="en-US" sz="1100" dirty="0"/>
          </a:p>
        </p:txBody>
      </p:sp>
      <p:sp>
        <p:nvSpPr>
          <p:cNvPr id="10" name="Shape 8"/>
          <p:cNvSpPr/>
          <p:nvPr/>
        </p:nvSpPr>
        <p:spPr>
          <a:xfrm>
            <a:off x="8503920" y="2606040"/>
            <a:ext cx="3200400" cy="1600200"/>
          </a:xfrm>
          <a:prstGeom prst="rect">
            <a:avLst/>
          </a:prstGeom>
          <a:solidFill>
            <a:srgbClr val="173F52"/>
          </a:solidFill>
          <a:ln w="12700">
            <a:solidFill>
              <a:srgbClr val="173F52"/>
            </a:solidFill>
            <a:prstDash val="solid"/>
          </a:ln>
        </p:spPr>
      </p:sp>
      <p:sp>
        <p:nvSpPr>
          <p:cNvPr id="11" name="Text 9"/>
          <p:cNvSpPr txBox="1"/>
          <p:nvPr/>
        </p:nvSpPr>
        <p:spPr>
          <a:xfrm>
            <a:off x="8686800" y="2697480"/>
            <a:ext cx="2834640" cy="640080"/>
          </a:xfrm>
          <a:prstGeom prst="rect">
            <a:avLst/>
          </a:prstGeom>
          <a:noFill/>
          <a:ln/>
        </p:spPr>
        <p:txBody>
          <a:bodyPr wrap="square" lIns="0" tIns="0" rIns="0" bIns="0"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73%</a:t>
            </a:r>
            <a:endParaRPr lang="en-US" sz="4000" dirty="0"/>
          </a:p>
        </p:txBody>
      </p:sp>
      <p:sp>
        <p:nvSpPr>
          <p:cNvPr id="12" name="Text 10"/>
          <p:cNvSpPr txBox="1"/>
          <p:nvPr/>
        </p:nvSpPr>
        <p:spPr>
          <a:xfrm>
            <a:off x="8686800" y="3337560"/>
            <a:ext cx="2834640" cy="822960"/>
          </a:xfrm>
          <a:prstGeom prst="rect">
            <a:avLst/>
          </a:prstGeom>
          <a:noFill/>
          <a:ln/>
        </p:spPr>
        <p:txBody>
          <a:bodyPr wrap="square" lIns="0" tIns="0" rIns="0" bIns="0" rtlCol="0" anchor="t"/>
          <a:lstStyle/>
          <a:p>
            <a:pPr indent="0" marL="0">
              <a:buNone/>
            </a:pPr>
            <a:r>
              <a:rPr lang="en-US" sz="1100" dirty="0">
                <a:solidFill>
                  <a:srgbClr val="FFFFFF"/>
                </a:solidFill>
              </a:rPr>
              <a:t>global coverage of safely managed drinking water in 2022 (31% in sub-Saharan Africa)</a:t>
            </a:r>
            <a:endParaRPr lang="en-US" sz="1100" dirty="0"/>
          </a:p>
          <a:p>
            <a:pPr indent="0" marL="0">
              <a:buNone/>
            </a:pPr>
            <a:r>
              <a:rPr lang="en-US" sz="1100" i="1" dirty="0">
                <a:solidFill>
                  <a:srgbClr val="7FB7C2"/>
                </a:solidFill>
              </a:rPr>
              <a:t>WHO/UNICEF, 2023</a:t>
            </a:r>
            <a:endParaRPr lang="en-US" sz="1100" dirty="0"/>
          </a:p>
        </p:txBody>
      </p:sp>
      <p:sp>
        <p:nvSpPr>
          <p:cNvPr id="13" name="Shape 11"/>
          <p:cNvSpPr/>
          <p:nvPr/>
        </p:nvSpPr>
        <p:spPr>
          <a:xfrm>
            <a:off x="8503920" y="4389120"/>
            <a:ext cx="3200400" cy="1600200"/>
          </a:xfrm>
          <a:prstGeom prst="rect">
            <a:avLst/>
          </a:prstGeom>
          <a:solidFill>
            <a:srgbClr val="173F52"/>
          </a:solidFill>
          <a:ln w="12700">
            <a:solidFill>
              <a:srgbClr val="173F52"/>
            </a:solidFill>
            <a:prstDash val="solid"/>
          </a:ln>
        </p:spPr>
      </p:sp>
      <p:sp>
        <p:nvSpPr>
          <p:cNvPr id="14" name="Text 12"/>
          <p:cNvSpPr txBox="1"/>
          <p:nvPr/>
        </p:nvSpPr>
        <p:spPr>
          <a:xfrm>
            <a:off x="8686800" y="4480560"/>
            <a:ext cx="2834640" cy="640080"/>
          </a:xfrm>
          <a:prstGeom prst="rect">
            <a:avLst/>
          </a:prstGeom>
          <a:noFill/>
          <a:ln/>
        </p:spPr>
        <p:txBody>
          <a:bodyPr wrap="square" lIns="0" tIns="0" rIns="0" bIns="0" rtlCol="0" anchor="ctr"/>
          <a:lstStyle/>
          <a:p>
            <a:pPr indent="0" marL="0">
              <a:buNone/>
            </a:pPr>
            <a:r>
              <a:rPr lang="en-US" sz="3200" b="1" dirty="0">
                <a:solidFill>
                  <a:srgbClr val="E8A33D"/>
                </a:solidFill>
                <a:latin typeface="Cambria" pitchFamily="34" charset="0"/>
                <a:ea typeface="Cambria" pitchFamily="34" charset="-122"/>
                <a:cs typeface="Cambria" pitchFamily="34" charset="-120"/>
              </a:rPr>
              <a:t>Long life</a:t>
            </a:r>
            <a:endParaRPr lang="en-US" sz="3200" dirty="0"/>
          </a:p>
        </p:txBody>
      </p:sp>
      <p:sp>
        <p:nvSpPr>
          <p:cNvPr id="15" name="Text 13"/>
          <p:cNvSpPr txBox="1"/>
          <p:nvPr/>
        </p:nvSpPr>
        <p:spPr>
          <a:xfrm>
            <a:off x="8686800" y="5120640"/>
            <a:ext cx="2834640" cy="822960"/>
          </a:xfrm>
          <a:prstGeom prst="rect">
            <a:avLst/>
          </a:prstGeom>
          <a:noFill/>
          <a:ln/>
        </p:spPr>
        <p:txBody>
          <a:bodyPr wrap="square" lIns="0" tIns="0" rIns="0" bIns="0" rtlCol="0" anchor="t"/>
          <a:lstStyle/>
          <a:p>
            <a:pPr indent="0" marL="0">
              <a:buNone/>
            </a:pPr>
            <a:r>
              <a:rPr lang="en-US" sz="1100" dirty="0">
                <a:solidFill>
                  <a:srgbClr val="FFFFFF"/>
                </a:solidFill>
              </a:rPr>
              <a:t>Ceramic membranes offer chemical and thermal stability, low fouling and long working life</a:t>
            </a:r>
            <a:endParaRPr lang="en-US" sz="1100" dirty="0"/>
          </a:p>
          <a:p>
            <a:pPr indent="0" marL="0">
              <a:buNone/>
            </a:pPr>
            <a:r>
              <a:rPr lang="en-US" sz="1100" i="1" dirty="0">
                <a:solidFill>
                  <a:srgbClr val="7FB7C2"/>
                </a:solidFill>
              </a:rPr>
              <a:t>Jarrar et al., 2024</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Background: safe drinking water is still limited, and ceramic membranes are a promising option</a:t>
            </a:r>
            <a:endParaRPr lang="en-US" sz="2600" dirty="0"/>
          </a:p>
        </p:txBody>
      </p:sp>
      <p:sp>
        <p:nvSpPr>
          <p:cNvPr id="3" name="Shape 1"/>
          <p:cNvSpPr/>
          <p:nvPr/>
        </p:nvSpPr>
        <p:spPr>
          <a:xfrm>
            <a:off x="457200" y="1325880"/>
            <a:ext cx="4663440" cy="1417320"/>
          </a:xfrm>
          <a:prstGeom prst="rect">
            <a:avLst/>
          </a:prstGeom>
          <a:solidFill>
            <a:srgbClr val="E6F2F1"/>
          </a:solidFill>
          <a:ln w="12700">
            <a:solidFill>
              <a:srgbClr val="E6F2F1"/>
            </a:solidFill>
            <a:prstDash val="solid"/>
          </a:ln>
        </p:spPr>
      </p:sp>
      <p:sp>
        <p:nvSpPr>
          <p:cNvPr id="4" name="Text 2"/>
          <p:cNvSpPr txBox="1"/>
          <p:nvPr/>
        </p:nvSpPr>
        <p:spPr>
          <a:xfrm>
            <a:off x="640080" y="1399032"/>
            <a:ext cx="4297680" cy="457200"/>
          </a:xfrm>
          <a:prstGeom prst="rect">
            <a:avLst/>
          </a:prstGeom>
          <a:noFill/>
          <a:ln/>
        </p:spPr>
        <p:txBody>
          <a:bodyPr wrap="square" lIns="0" tIns="0" rIns="0" bIns="0" rtlCol="0" anchor="ctr"/>
          <a:lstStyle/>
          <a:p>
            <a:pPr indent="0" marL="0">
              <a:buNone/>
            </a:pPr>
            <a:r>
              <a:rPr lang="en-US" sz="2400" b="1" dirty="0">
                <a:solidFill>
                  <a:srgbClr val="1F7A8C"/>
                </a:solidFill>
                <a:latin typeface="Cambria" pitchFamily="34" charset="0"/>
                <a:ea typeface="Cambria" pitchFamily="34" charset="-122"/>
                <a:cs typeface="Cambria" pitchFamily="34" charset="-120"/>
              </a:rPr>
              <a:t>2.2 billion</a:t>
            </a:r>
            <a:endParaRPr lang="en-US" sz="2400" dirty="0"/>
          </a:p>
        </p:txBody>
      </p:sp>
      <p:sp>
        <p:nvSpPr>
          <p:cNvPr id="5" name="Text 3"/>
          <p:cNvSpPr txBox="1"/>
          <p:nvPr/>
        </p:nvSpPr>
        <p:spPr>
          <a:xfrm>
            <a:off x="640080" y="1874520"/>
            <a:ext cx="4297680" cy="841248"/>
          </a:xfrm>
          <a:prstGeom prst="rect">
            <a:avLst/>
          </a:prstGeom>
          <a:noFill/>
          <a:ln/>
        </p:spPr>
        <p:txBody>
          <a:bodyPr wrap="square" lIns="0" tIns="0" rIns="0" bIns="0" rtlCol="0" anchor="t"/>
          <a:lstStyle/>
          <a:p>
            <a:pPr indent="0" marL="0">
              <a:buNone/>
            </a:pPr>
            <a:r>
              <a:rPr lang="en-US" sz="1100" dirty="0">
                <a:solidFill>
                  <a:srgbClr val="1B1F23"/>
                </a:solidFill>
              </a:rPr>
              <a:t>people lacked safely managed drinking water in 2022, and global coverage was only 73% (WHO/UNICEF, 2023).</a:t>
            </a:r>
            <a:endParaRPr lang="en-US" sz="1100" dirty="0"/>
          </a:p>
        </p:txBody>
      </p:sp>
      <p:sp>
        <p:nvSpPr>
          <p:cNvPr id="6" name="Shape 4"/>
          <p:cNvSpPr/>
          <p:nvPr/>
        </p:nvSpPr>
        <p:spPr>
          <a:xfrm>
            <a:off x="457200" y="2880360"/>
            <a:ext cx="4663440" cy="1417320"/>
          </a:xfrm>
          <a:prstGeom prst="rect">
            <a:avLst/>
          </a:prstGeom>
          <a:solidFill>
            <a:srgbClr val="E6F2F1"/>
          </a:solidFill>
          <a:ln w="12700">
            <a:solidFill>
              <a:srgbClr val="E6F2F1"/>
            </a:solidFill>
            <a:prstDash val="solid"/>
          </a:ln>
        </p:spPr>
      </p:sp>
      <p:sp>
        <p:nvSpPr>
          <p:cNvPr id="7" name="Text 5"/>
          <p:cNvSpPr txBox="1"/>
          <p:nvPr/>
        </p:nvSpPr>
        <p:spPr>
          <a:xfrm>
            <a:off x="640080" y="2953512"/>
            <a:ext cx="4297680" cy="457200"/>
          </a:xfrm>
          <a:prstGeom prst="rect">
            <a:avLst/>
          </a:prstGeom>
          <a:noFill/>
          <a:ln/>
        </p:spPr>
        <p:txBody>
          <a:bodyPr wrap="square" lIns="0" tIns="0" rIns="0" bIns="0" rtlCol="0" anchor="ctr"/>
          <a:lstStyle/>
          <a:p>
            <a:pPr indent="0" marL="0">
              <a:buNone/>
            </a:pPr>
            <a:r>
              <a:rPr lang="en-US" sz="2400" b="1" dirty="0">
                <a:solidFill>
                  <a:srgbClr val="1F7A8C"/>
                </a:solidFill>
                <a:latin typeface="Cambria" pitchFamily="34" charset="0"/>
                <a:ea typeface="Cambria" pitchFamily="34" charset="-122"/>
                <a:cs typeface="Cambria" pitchFamily="34" charset="-120"/>
              </a:rPr>
              <a:t>Membranes</a:t>
            </a:r>
            <a:endParaRPr lang="en-US" sz="2400" dirty="0"/>
          </a:p>
        </p:txBody>
      </p:sp>
      <p:sp>
        <p:nvSpPr>
          <p:cNvPr id="8" name="Text 6"/>
          <p:cNvSpPr txBox="1"/>
          <p:nvPr/>
        </p:nvSpPr>
        <p:spPr>
          <a:xfrm>
            <a:off x="640080" y="3429000"/>
            <a:ext cx="4297680" cy="841248"/>
          </a:xfrm>
          <a:prstGeom prst="rect">
            <a:avLst/>
          </a:prstGeom>
          <a:noFill/>
          <a:ln/>
        </p:spPr>
        <p:txBody>
          <a:bodyPr wrap="square" lIns="0" tIns="0" rIns="0" bIns="0" rtlCol="0" anchor="t"/>
          <a:lstStyle/>
          <a:p>
            <a:pPr indent="0" marL="0">
              <a:buNone/>
            </a:pPr>
            <a:r>
              <a:rPr lang="en-US" sz="1100" dirty="0">
                <a:solidFill>
                  <a:srgbClr val="1B1F23"/>
                </a:solidFill>
              </a:rPr>
              <a:t>increasingly complement coagulation, sedimentation and sand filtration (Jarrar et al., 2024); ceramics offer chemical and thermal stability and long life (Hosseinzadeh et al., 2025).</a:t>
            </a:r>
            <a:endParaRPr lang="en-US" sz="1100" dirty="0"/>
          </a:p>
        </p:txBody>
      </p:sp>
      <p:sp>
        <p:nvSpPr>
          <p:cNvPr id="9" name="Shape 7"/>
          <p:cNvSpPr/>
          <p:nvPr/>
        </p:nvSpPr>
        <p:spPr>
          <a:xfrm>
            <a:off x="457200" y="4434840"/>
            <a:ext cx="4663440" cy="1417320"/>
          </a:xfrm>
          <a:prstGeom prst="rect">
            <a:avLst/>
          </a:prstGeom>
          <a:solidFill>
            <a:srgbClr val="E6F2F1"/>
          </a:solidFill>
          <a:ln w="12700">
            <a:solidFill>
              <a:srgbClr val="E6F2F1"/>
            </a:solidFill>
            <a:prstDash val="solid"/>
          </a:ln>
        </p:spPr>
      </p:sp>
      <p:sp>
        <p:nvSpPr>
          <p:cNvPr id="10" name="Text 8"/>
          <p:cNvSpPr txBox="1"/>
          <p:nvPr/>
        </p:nvSpPr>
        <p:spPr>
          <a:xfrm>
            <a:off x="640080" y="4507992"/>
            <a:ext cx="4297680" cy="457200"/>
          </a:xfrm>
          <a:prstGeom prst="rect">
            <a:avLst/>
          </a:prstGeom>
          <a:noFill/>
          <a:ln/>
        </p:spPr>
        <p:txBody>
          <a:bodyPr wrap="square" lIns="0" tIns="0" rIns="0" bIns="0" rtlCol="0" anchor="ctr"/>
          <a:lstStyle/>
          <a:p>
            <a:pPr indent="0" marL="0">
              <a:buNone/>
            </a:pPr>
            <a:r>
              <a:rPr lang="en-US" sz="2400" b="1" dirty="0">
                <a:solidFill>
                  <a:srgbClr val="1F7A8C"/>
                </a:solidFill>
                <a:latin typeface="Cambria" pitchFamily="34" charset="0"/>
                <a:ea typeface="Cambria" pitchFamily="34" charset="-122"/>
                <a:cs typeface="Cambria" pitchFamily="34" charset="-120"/>
              </a:rPr>
              <a:t>Full scale</a:t>
            </a:r>
            <a:endParaRPr lang="en-US" sz="2400" dirty="0"/>
          </a:p>
        </p:txBody>
      </p:sp>
      <p:sp>
        <p:nvSpPr>
          <p:cNvPr id="11" name="Text 9"/>
          <p:cNvSpPr txBox="1"/>
          <p:nvPr/>
        </p:nvSpPr>
        <p:spPr>
          <a:xfrm>
            <a:off x="640080" y="4983480"/>
            <a:ext cx="4297680" cy="841248"/>
          </a:xfrm>
          <a:prstGeom prst="rect">
            <a:avLst/>
          </a:prstGeom>
          <a:noFill/>
          <a:ln/>
        </p:spPr>
        <p:txBody>
          <a:bodyPr wrap="square" lIns="0" tIns="0" rIns="0" bIns="0" rtlCol="0" anchor="t"/>
          <a:lstStyle/>
          <a:p>
            <a:pPr indent="0" marL="0">
              <a:buNone/>
            </a:pPr>
            <a:r>
              <a:rPr lang="en-US" sz="1100" dirty="0">
                <a:solidFill>
                  <a:srgbClr val="1B1F23"/>
                </a:solidFill>
              </a:rPr>
              <a:t>Plants operate in Singapore, Japan, the United States, South Korea, the Netherlands, the United Kingdom and Switzerland, and look competitive long term (Akash et al., 2024).</a:t>
            </a:r>
            <a:endParaRPr lang="en-US" sz="1100" dirty="0"/>
          </a:p>
        </p:txBody>
      </p:sp>
      <p:graphicFrame>
        <p:nvGraphicFramePr>
          <p:cNvPr id="12" name="Chart 0" descr=""/>
          <p:cNvGraphicFramePr/>
          <p:nvPr/>
        </p:nvGraphicFramePr>
        <p:xfrm>
          <a:off x="5394960" y="1280160"/>
          <a:ext cx="6336792" cy="44348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6053328"/>
            <a:ext cx="11274552" cy="384048"/>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WHO/UNICEF (2023), Progress on household drinking water, sanitation and hygiene 2000–2022. Percentages as cited in the author's literature review.</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Problem, gap and rationale: the evidence on ceramic membranes is scattered</a:t>
            </a:r>
            <a:endParaRPr lang="en-US" sz="2600" dirty="0"/>
          </a:p>
        </p:txBody>
      </p:sp>
      <p:sp>
        <p:nvSpPr>
          <p:cNvPr id="3" name="Shape 1"/>
          <p:cNvSpPr/>
          <p:nvPr/>
        </p:nvSpPr>
        <p:spPr>
          <a:xfrm>
            <a:off x="457200" y="1280160"/>
            <a:ext cx="5852160" cy="1051560"/>
          </a:xfrm>
          <a:prstGeom prst="rect">
            <a:avLst/>
          </a:prstGeom>
          <a:solidFill>
            <a:srgbClr val="0F2E3D"/>
          </a:solidFill>
          <a:ln w="12700">
            <a:solidFill>
              <a:srgbClr val="0F2E3D"/>
            </a:solidFill>
            <a:prstDash val="solid"/>
          </a:ln>
        </p:spPr>
      </p:sp>
      <p:sp>
        <p:nvSpPr>
          <p:cNvPr id="4" name="Text 2"/>
          <p:cNvSpPr txBox="1"/>
          <p:nvPr/>
        </p:nvSpPr>
        <p:spPr>
          <a:xfrm>
            <a:off x="594360" y="1307592"/>
            <a:ext cx="5577840" cy="1005840"/>
          </a:xfrm>
          <a:prstGeom prst="rect">
            <a:avLst/>
          </a:prstGeom>
          <a:noFill/>
          <a:ln/>
        </p:spPr>
        <p:txBody>
          <a:bodyPr wrap="square" lIns="0" tIns="0" rIns="0" bIns="0" rtlCol="0" anchor="ctr"/>
          <a:lstStyle/>
          <a:p>
            <a:pPr indent="0" marL="0">
              <a:buNone/>
            </a:pPr>
            <a:r>
              <a:rPr lang="en-US" sz="1250" b="1" dirty="0">
                <a:solidFill>
                  <a:srgbClr val="E8A33D"/>
                </a:solidFill>
              </a:rPr>
              <a:t>Problem. </a:t>
            </a:r>
            <a:pPr indent="0" marL="0">
              <a:buNone/>
            </a:pPr>
            <a:r>
              <a:rPr lang="en-US" sz="1250" dirty="0">
                <a:solidFill>
                  <a:srgbClr val="FFFFFF"/>
                </a:solidFill>
              </a:rPr>
              <a:t>Material choice, fouling control and contaminant removal are studied separately, so utilities lack a consistent basis for choosing a treatment train (Fu et al., 2024; Cai et al., 2023).</a:t>
            </a:r>
            <a:endParaRPr lang="en-US" sz="1250" dirty="0"/>
          </a:p>
        </p:txBody>
      </p:sp>
      <p:sp>
        <p:nvSpPr>
          <p:cNvPr id="5" name="Shape 3"/>
          <p:cNvSpPr/>
          <p:nvPr/>
        </p:nvSpPr>
        <p:spPr>
          <a:xfrm>
            <a:off x="457200" y="2468880"/>
            <a:ext cx="2834640" cy="2331720"/>
          </a:xfrm>
          <a:prstGeom prst="rect">
            <a:avLst/>
          </a:prstGeom>
          <a:solidFill>
            <a:srgbClr val="E6F2F1"/>
          </a:solidFill>
          <a:ln w="12700">
            <a:solidFill>
              <a:srgbClr val="E6F2F1"/>
            </a:solidFill>
            <a:prstDash val="solid"/>
          </a:ln>
        </p:spPr>
      </p:sp>
      <p:sp>
        <p:nvSpPr>
          <p:cNvPr id="6" name="Shape 4"/>
          <p:cNvSpPr/>
          <p:nvPr/>
        </p:nvSpPr>
        <p:spPr>
          <a:xfrm>
            <a:off x="3474720" y="2468880"/>
            <a:ext cx="2834640" cy="2331720"/>
          </a:xfrm>
          <a:prstGeom prst="rect">
            <a:avLst/>
          </a:prstGeom>
          <a:solidFill>
            <a:srgbClr val="FBEFD9"/>
          </a:solidFill>
          <a:ln w="12700">
            <a:solidFill>
              <a:srgbClr val="FBEFD9"/>
            </a:solidFill>
            <a:prstDash val="solid"/>
          </a:ln>
        </p:spPr>
      </p:sp>
      <p:sp>
        <p:nvSpPr>
          <p:cNvPr id="7" name="Text 5"/>
          <p:cNvSpPr txBox="1"/>
          <p:nvPr/>
        </p:nvSpPr>
        <p:spPr>
          <a:xfrm>
            <a:off x="566928" y="2542032"/>
            <a:ext cx="2633472" cy="2194560"/>
          </a:xfrm>
          <a:prstGeom prst="rect">
            <a:avLst/>
          </a:prstGeom>
          <a:noFill/>
          <a:ln/>
        </p:spPr>
        <p:txBody>
          <a:bodyPr wrap="square" lIns="0" tIns="0" rIns="0" bIns="0" rtlCol="0" anchor="t"/>
          <a:lstStyle/>
          <a:p>
            <a:pPr indent="0" marL="0">
              <a:spcAft>
                <a:spcPts val="400"/>
              </a:spcAft>
              <a:buNone/>
            </a:pPr>
            <a:r>
              <a:rPr lang="en-US" sz="1300" b="1" dirty="0">
                <a:solidFill>
                  <a:srgbClr val="1F7A8C"/>
                </a:solidFill>
              </a:rPr>
              <a:t>Known from research</a:t>
            </a:r>
            <a:endParaRPr lang="en-US" sz="1100" dirty="0"/>
          </a:p>
          <a:p>
            <a:pPr marL="342900" indent="-342900">
              <a:spcAft>
                <a:spcPts val="400"/>
              </a:spcAft>
              <a:buSzPct val="100000"/>
              <a:buChar char="•"/>
            </a:pPr>
            <a:r>
              <a:rPr lang="en-US" sz="1100" dirty="0">
                <a:solidFill>
                  <a:srgbClr val="1B1F23"/>
                </a:solidFill>
              </a:rPr>
              <a:t>Low-cost supports cut cost but may lose strength and pore uniformity (Fu et al., 2024)</a:t>
            </a:r>
            <a:endParaRPr lang="en-US" sz="1100" dirty="0"/>
          </a:p>
          <a:p>
            <a:pPr marL="342900" indent="-342900">
              <a:spcAft>
                <a:spcPts val="400"/>
              </a:spcAft>
              <a:buSzPct val="100000"/>
              <a:buChar char="•"/>
            </a:pPr>
            <a:r>
              <a:rPr lang="en-US" sz="1100" dirty="0">
                <a:solidFill>
                  <a:srgbClr val="1B1F23"/>
                </a:solidFill>
              </a:rPr>
              <a:t>Fouling raises energy use and lowers flux (Cai et al., 2023)</a:t>
            </a:r>
            <a:endParaRPr lang="en-US" sz="1100" dirty="0"/>
          </a:p>
          <a:p>
            <a:pPr marL="342900" indent="-342900">
              <a:spcAft>
                <a:spcPts val="400"/>
              </a:spcAft>
              <a:buSzPct val="100000"/>
              <a:buChar char="•"/>
            </a:pPr>
            <a:r>
              <a:rPr lang="en-US" sz="1100" dirty="0">
                <a:solidFill>
                  <a:srgbClr val="1B1F23"/>
                </a:solidFill>
              </a:rPr>
              <a:t>Ceramic log-reduction data are scarcer than for granular media (Burke et al., 2025)</a:t>
            </a:r>
            <a:endParaRPr lang="en-US" sz="1100" dirty="0"/>
          </a:p>
        </p:txBody>
      </p:sp>
      <p:sp>
        <p:nvSpPr>
          <p:cNvPr id="8" name="Text 6"/>
          <p:cNvSpPr txBox="1"/>
          <p:nvPr/>
        </p:nvSpPr>
        <p:spPr>
          <a:xfrm>
            <a:off x="3584448" y="2542032"/>
            <a:ext cx="2633472" cy="2194560"/>
          </a:xfrm>
          <a:prstGeom prst="rect">
            <a:avLst/>
          </a:prstGeom>
          <a:noFill/>
          <a:ln/>
        </p:spPr>
        <p:txBody>
          <a:bodyPr wrap="square" lIns="0" tIns="0" rIns="0" bIns="0" rtlCol="0" anchor="t"/>
          <a:lstStyle/>
          <a:p>
            <a:pPr indent="0" marL="0">
              <a:buNone/>
            </a:pPr>
            <a:r>
              <a:rPr lang="en-US" sz="1300" b="1" dirty="0">
                <a:solidFill>
                  <a:srgbClr val="A86A0E"/>
                </a:solidFill>
              </a:rPr>
              <a:t>Research gap</a:t>
            </a:r>
            <a:endParaRPr lang="en-US" sz="1100" dirty="0"/>
          </a:p>
          <a:p>
            <a:pPr indent="0" marL="0">
              <a:buNone/>
            </a:pPr>
            <a:r>
              <a:rPr lang="en-US" sz="1100" dirty="0">
                <a:solidFill>
                  <a:srgbClr val="1B1F23"/>
                </a:solidFill>
              </a:rPr>
              <a:t>The literature review found no integrated comparison linking materials, fouling control, contaminant removal and sustainability to treatment-train selection. The Week 1–2 search will test this.</a:t>
            </a:r>
            <a:endParaRPr lang="en-US" sz="1100" dirty="0"/>
          </a:p>
        </p:txBody>
      </p:sp>
      <p:sp>
        <p:nvSpPr>
          <p:cNvPr id="9" name="Shape 7"/>
          <p:cNvSpPr/>
          <p:nvPr/>
        </p:nvSpPr>
        <p:spPr>
          <a:xfrm>
            <a:off x="457200" y="4937760"/>
            <a:ext cx="5852160" cy="1051560"/>
          </a:xfrm>
          <a:prstGeom prst="rect">
            <a:avLst/>
          </a:prstGeom>
          <a:solidFill>
            <a:srgbClr val="E6F2F1"/>
          </a:solidFill>
          <a:ln w="12700">
            <a:solidFill>
              <a:srgbClr val="E6F2F1"/>
            </a:solidFill>
            <a:prstDash val="solid"/>
          </a:ln>
        </p:spPr>
      </p:sp>
      <p:sp>
        <p:nvSpPr>
          <p:cNvPr id="10" name="Text 8"/>
          <p:cNvSpPr txBox="1"/>
          <p:nvPr/>
        </p:nvSpPr>
        <p:spPr>
          <a:xfrm>
            <a:off x="594360" y="4965192"/>
            <a:ext cx="5577840" cy="1005840"/>
          </a:xfrm>
          <a:prstGeom prst="rect">
            <a:avLst/>
          </a:prstGeom>
          <a:noFill/>
          <a:ln/>
        </p:spPr>
        <p:txBody>
          <a:bodyPr wrap="square" lIns="0" tIns="0" rIns="0" bIns="0" rtlCol="0" anchor="ctr"/>
          <a:lstStyle/>
          <a:p>
            <a:pPr indent="0" marL="0">
              <a:buNone/>
            </a:pPr>
            <a:r>
              <a:rPr lang="en-US" sz="1200" b="1" dirty="0">
                <a:solidFill>
                  <a:srgbClr val="1F7A8C"/>
                </a:solidFill>
              </a:rPr>
              <a:t>Who benefits. </a:t>
            </a:r>
            <a:pPr indent="0" marL="0">
              <a:buNone/>
            </a:pPr>
            <a:r>
              <a:rPr lang="en-US" sz="1200" dirty="0">
                <a:solidFill>
                  <a:srgbClr val="1B1F23"/>
                </a:solidFill>
              </a:rPr>
              <a:t>Utilities and engineers, researchers, regulators and communities lacking safe water. Supports Sustainable Development Goal 6 (United Nations, 2015).</a:t>
            </a:r>
            <a:endParaRPr lang="en-US" sz="1200" dirty="0"/>
          </a:p>
        </p:txBody>
      </p:sp>
      <p:graphicFrame>
        <p:nvGraphicFramePr>
          <p:cNvPr id="11" name="Chart 0" descr=""/>
          <p:cNvGraphicFramePr/>
          <p:nvPr/>
        </p:nvGraphicFramePr>
        <p:xfrm>
          <a:off x="6583680" y="1280160"/>
          <a:ext cx="5148072" cy="47091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57200" y="6053328"/>
            <a:ext cx="11274552" cy="384048"/>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Sources: Azzam et al. (2025), heavy metals (reported as over 97%; plotted as 97); Chen et al. (2025), PFOA; Kim et al. (2025), alumina membranes. Different feeds, scales and conditions, so values are not directly comparable.</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Research aims, questions and conceptual framework</a:t>
            </a:r>
            <a:endParaRPr lang="en-US" sz="2600" dirty="0"/>
          </a:p>
        </p:txBody>
      </p:sp>
      <p:sp>
        <p:nvSpPr>
          <p:cNvPr id="3" name="Shape 1"/>
          <p:cNvSpPr/>
          <p:nvPr/>
        </p:nvSpPr>
        <p:spPr>
          <a:xfrm>
            <a:off x="457200" y="1280160"/>
            <a:ext cx="6858000" cy="731520"/>
          </a:xfrm>
          <a:prstGeom prst="rect">
            <a:avLst/>
          </a:prstGeom>
          <a:solidFill>
            <a:srgbClr val="0F2E3D"/>
          </a:solidFill>
          <a:ln w="12700">
            <a:solidFill>
              <a:srgbClr val="0F2E3D"/>
            </a:solidFill>
            <a:prstDash val="solid"/>
          </a:ln>
        </p:spPr>
      </p:sp>
      <p:sp>
        <p:nvSpPr>
          <p:cNvPr id="4" name="Text 2"/>
          <p:cNvSpPr txBox="1"/>
          <p:nvPr/>
        </p:nvSpPr>
        <p:spPr>
          <a:xfrm>
            <a:off x="594360" y="1298448"/>
            <a:ext cx="6583680" cy="694944"/>
          </a:xfrm>
          <a:prstGeom prst="rect">
            <a:avLst/>
          </a:prstGeom>
          <a:noFill/>
          <a:ln/>
        </p:spPr>
        <p:txBody>
          <a:bodyPr wrap="square" lIns="0" tIns="0" rIns="0" bIns="0" rtlCol="0" anchor="ctr"/>
          <a:lstStyle/>
          <a:p>
            <a:pPr indent="0" marL="0">
              <a:buNone/>
            </a:pPr>
            <a:r>
              <a:rPr lang="en-US" sz="1300" b="1" dirty="0">
                <a:solidFill>
                  <a:srgbClr val="E8A33D"/>
                </a:solidFill>
              </a:rPr>
              <a:t>Aim: </a:t>
            </a:r>
            <a:pPr indent="0" marL="0">
              <a:buNone/>
            </a:pPr>
            <a:r>
              <a:rPr lang="en-US" sz="1300" dirty="0">
                <a:solidFill>
                  <a:srgbClr val="FFFFFF"/>
                </a:solidFill>
              </a:rPr>
              <a:t>To build an evidence-based decision framework for ceramic membrane treatment trains that produce potable water.</a:t>
            </a:r>
            <a:endParaRPr lang="en-US" sz="1300" dirty="0"/>
          </a:p>
        </p:txBody>
      </p:sp>
      <p:sp>
        <p:nvSpPr>
          <p:cNvPr id="5" name="Text 3"/>
          <p:cNvSpPr txBox="1"/>
          <p:nvPr/>
        </p:nvSpPr>
        <p:spPr>
          <a:xfrm>
            <a:off x="457200" y="2121408"/>
            <a:ext cx="6858000"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Objectives</a:t>
            </a:r>
            <a:endParaRPr lang="en-US" sz="1500" dirty="0"/>
          </a:p>
        </p:txBody>
      </p:sp>
      <p:sp>
        <p:nvSpPr>
          <p:cNvPr id="6" name="Text 4"/>
          <p:cNvSpPr txBox="1"/>
          <p:nvPr/>
        </p:nvSpPr>
        <p:spPr>
          <a:xfrm>
            <a:off x="457200" y="2414016"/>
            <a:ext cx="6858000" cy="1783080"/>
          </a:xfrm>
          <a:prstGeom prst="rect">
            <a:avLst/>
          </a:prstGeom>
          <a:noFill/>
          <a:ln/>
        </p:spPr>
        <p:txBody>
          <a:bodyPr wrap="square" lIns="0" tIns="0" rIns="0" bIns="0" rtlCol="0" anchor="t"/>
          <a:lstStyle/>
          <a:p>
            <a:pPr marL="342900" indent="-342900">
              <a:spcAft>
                <a:spcPts val="300"/>
              </a:spcAft>
              <a:buSzPct val="100000"/>
              <a:buFont typeface="+mj-lt"/>
              <a:buAutoNum type="arabicPeriod" startAt="1"/>
            </a:pPr>
            <a:r>
              <a:rPr lang="en-US" sz="1250" dirty="0">
                <a:solidFill>
                  <a:srgbClr val="1B1F23"/>
                </a:solidFill>
              </a:rPr>
              <a:t>Compare materials and fabrication routes by strength, pore structure, cost and removal.</a:t>
            </a:r>
            <a:endParaRPr lang="en-US" sz="1250" dirty="0"/>
          </a:p>
          <a:p>
            <a:pPr marL="342900" indent="-342900">
              <a:spcAft>
                <a:spcPts val="300"/>
              </a:spcAft>
              <a:buSzPct val="100000"/>
              <a:buFont typeface="+mj-lt"/>
              <a:buAutoNum type="arabicPeriod" startAt="1"/>
            </a:pPr>
            <a:r>
              <a:rPr lang="en-US" sz="1250" dirty="0">
                <a:solidFill>
                  <a:srgbClr val="1B1F23"/>
                </a:solidFill>
              </a:rPr>
              <a:t>Evaluate fouling-control methods and hybrid configurations by flux, cleaning demand and removal.</a:t>
            </a:r>
            <a:endParaRPr lang="en-US" sz="1250" dirty="0"/>
          </a:p>
          <a:p>
            <a:pPr marL="342900" indent="-342900">
              <a:spcAft>
                <a:spcPts val="300"/>
              </a:spcAft>
              <a:buSzPct val="100000"/>
              <a:buFont typeface="+mj-lt"/>
              <a:buAutoNum type="arabicPeriod" startAt="1"/>
            </a:pPr>
            <a:r>
              <a:rPr lang="en-US" sz="1250" dirty="0">
                <a:solidFill>
                  <a:srgbClr val="1B1F23"/>
                </a:solidFill>
              </a:rPr>
              <a:t>Assess removal of metals, arsenic, PFAS, microplastics and pathogens; map weak evidence.</a:t>
            </a:r>
            <a:endParaRPr lang="en-US" sz="1250" dirty="0"/>
          </a:p>
          <a:p>
            <a:pPr marL="342900" indent="-342900">
              <a:spcAft>
                <a:spcPts val="300"/>
              </a:spcAft>
              <a:buSzPct val="100000"/>
              <a:buFont typeface="+mj-lt"/>
              <a:buAutoNum type="arabicPeriod" startAt="1"/>
            </a:pPr>
            <a:r>
              <a:rPr lang="en-US" sz="1250" dirty="0">
                <a:solidFill>
                  <a:srgbClr val="1B1F23"/>
                </a:solidFill>
              </a:rPr>
              <a:t>Develop a decision framework using performance, cost and sustainability criteria.</a:t>
            </a:r>
            <a:endParaRPr lang="en-US" sz="1250" dirty="0"/>
          </a:p>
        </p:txBody>
      </p:sp>
      <p:sp>
        <p:nvSpPr>
          <p:cNvPr id="7" name="Text 5"/>
          <p:cNvSpPr txBox="1"/>
          <p:nvPr/>
        </p:nvSpPr>
        <p:spPr>
          <a:xfrm>
            <a:off x="457200" y="4251960"/>
            <a:ext cx="6858000"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Research questions</a:t>
            </a:r>
            <a:endParaRPr lang="en-US" sz="1500" dirty="0"/>
          </a:p>
        </p:txBody>
      </p:sp>
      <p:sp>
        <p:nvSpPr>
          <p:cNvPr id="8" name="Text 6"/>
          <p:cNvSpPr txBox="1"/>
          <p:nvPr/>
        </p:nvSpPr>
        <p:spPr>
          <a:xfrm>
            <a:off x="457200" y="4544568"/>
            <a:ext cx="6858000" cy="1463040"/>
          </a:xfrm>
          <a:prstGeom prst="rect">
            <a:avLst/>
          </a:prstGeom>
          <a:noFill/>
          <a:ln/>
        </p:spPr>
        <p:txBody>
          <a:bodyPr wrap="square" lIns="0" tIns="0" rIns="0" bIns="0" rtlCol="0" anchor="t"/>
          <a:lstStyle/>
          <a:p>
            <a:pPr indent="0" marL="0">
              <a:spcAft>
                <a:spcPts val="300"/>
              </a:spcAft>
              <a:buNone/>
            </a:pPr>
            <a:r>
              <a:rPr lang="en-US" sz="1250" b="1" dirty="0">
                <a:solidFill>
                  <a:srgbClr val="1B1F23"/>
                </a:solidFill>
              </a:rPr>
              <a:t>RQ1: </a:t>
            </a:r>
            <a:pPr indent="0" marL="0">
              <a:spcAft>
                <a:spcPts val="300"/>
              </a:spcAft>
              <a:buNone/>
            </a:pPr>
            <a:r>
              <a:rPr lang="en-US" sz="1250" dirty="0">
                <a:solidFill>
                  <a:srgbClr val="1B1F23"/>
                </a:solidFill>
              </a:rPr>
              <a:t>Which materials best balance strength, cost and removal?</a:t>
            </a:r>
            <a:endParaRPr lang="en-US" sz="1250" dirty="0"/>
          </a:p>
          <a:p>
            <a:pPr indent="0" marL="0">
              <a:spcAft>
                <a:spcPts val="300"/>
              </a:spcAft>
              <a:buNone/>
            </a:pPr>
            <a:r>
              <a:rPr lang="en-US" sz="1250" b="1" dirty="0">
                <a:solidFill>
                  <a:srgbClr val="1B1F23"/>
                </a:solidFill>
              </a:rPr>
              <a:t>RQ2: </a:t>
            </a:r>
            <a:pPr indent="0" marL="0">
              <a:spcAft>
                <a:spcPts val="300"/>
              </a:spcAft>
              <a:buNone/>
            </a:pPr>
            <a:r>
              <a:rPr lang="en-US" sz="1250" dirty="0">
                <a:solidFill>
                  <a:srgbClr val="1B1F23"/>
                </a:solidFill>
              </a:rPr>
              <a:t>Which fouling-control and hybrid options perform best?</a:t>
            </a:r>
            <a:endParaRPr lang="en-US" sz="1250" dirty="0"/>
          </a:p>
          <a:p>
            <a:pPr indent="0" marL="0">
              <a:spcAft>
                <a:spcPts val="300"/>
              </a:spcAft>
              <a:buNone/>
            </a:pPr>
            <a:r>
              <a:rPr lang="en-US" sz="1250" b="1" dirty="0">
                <a:solidFill>
                  <a:srgbClr val="1B1F23"/>
                </a:solidFill>
              </a:rPr>
              <a:t>RQ3: </a:t>
            </a:r>
            <a:pPr indent="0" marL="0">
              <a:spcAft>
                <a:spcPts val="300"/>
              </a:spcAft>
              <a:buNone/>
            </a:pPr>
            <a:r>
              <a:rPr lang="en-US" sz="1250" dirty="0">
                <a:solidFill>
                  <a:srgbClr val="1B1F23"/>
                </a:solidFill>
              </a:rPr>
              <a:t>How do sustainability and cost compare with polymeric and conventional options?</a:t>
            </a:r>
            <a:endParaRPr lang="en-US" sz="1250" dirty="0"/>
          </a:p>
        </p:txBody>
      </p:sp>
      <p:sp>
        <p:nvSpPr>
          <p:cNvPr id="9" name="Text 7"/>
          <p:cNvSpPr txBox="1"/>
          <p:nvPr/>
        </p:nvSpPr>
        <p:spPr>
          <a:xfrm>
            <a:off x="7680960" y="1280160"/>
            <a:ext cx="4050792" cy="274320"/>
          </a:xfrm>
          <a:prstGeom prst="rect">
            <a:avLst/>
          </a:prstGeom>
          <a:noFill/>
          <a:ln/>
        </p:spPr>
        <p:txBody>
          <a:bodyPr wrap="square" lIns="0" tIns="0" rIns="0" bIns="0" rtlCol="0" anchor="ctr"/>
          <a:lstStyle/>
          <a:p>
            <a:pPr indent="0" marL="0">
              <a:buNone/>
            </a:pPr>
            <a:r>
              <a:rPr lang="en-US" sz="1500" b="1" dirty="0">
                <a:solidFill>
                  <a:srgbClr val="1F7A8C"/>
                </a:solidFill>
                <a:latin typeface="Cambria" pitchFamily="34" charset="0"/>
                <a:ea typeface="Cambria" pitchFamily="34" charset="-122"/>
                <a:cs typeface="Cambria" pitchFamily="34" charset="-120"/>
              </a:rPr>
              <a:t>Conceptual framework</a:t>
            </a:r>
            <a:endParaRPr lang="en-US" sz="1500" dirty="0"/>
          </a:p>
        </p:txBody>
      </p:sp>
      <p:sp>
        <p:nvSpPr>
          <p:cNvPr id="10" name="Shape 8"/>
          <p:cNvSpPr/>
          <p:nvPr/>
        </p:nvSpPr>
        <p:spPr>
          <a:xfrm>
            <a:off x="7680960" y="1645920"/>
            <a:ext cx="4050792" cy="658368"/>
          </a:xfrm>
          <a:prstGeom prst="rect">
            <a:avLst/>
          </a:prstGeom>
          <a:solidFill>
            <a:srgbClr val="0F2E3D"/>
          </a:solidFill>
          <a:ln w="12700">
            <a:solidFill>
              <a:srgbClr val="0F2E3D"/>
            </a:solidFill>
            <a:prstDash val="solid"/>
          </a:ln>
        </p:spPr>
      </p:sp>
      <p:sp>
        <p:nvSpPr>
          <p:cNvPr id="11" name="Text 9"/>
          <p:cNvSpPr txBox="1"/>
          <p:nvPr/>
        </p:nvSpPr>
        <p:spPr>
          <a:xfrm>
            <a:off x="7818120" y="1645920"/>
            <a:ext cx="3776472" cy="658368"/>
          </a:xfrm>
          <a:prstGeom prst="rect">
            <a:avLst/>
          </a:prstGeom>
          <a:noFill/>
          <a:ln/>
        </p:spPr>
        <p:txBody>
          <a:bodyPr wrap="square" lIns="0" tIns="0" rIns="0" bIns="0" rtlCol="0" anchor="ctr"/>
          <a:lstStyle/>
          <a:p>
            <a:pPr indent="0" marL="0">
              <a:buNone/>
            </a:pPr>
            <a:r>
              <a:rPr lang="en-US" sz="1200" b="1" dirty="0">
                <a:solidFill>
                  <a:srgbClr val="FFFFFF"/>
                </a:solidFill>
              </a:rPr>
              <a:t>Materials and fabrication</a:t>
            </a:r>
            <a:endParaRPr lang="en-US" sz="1200" dirty="0"/>
          </a:p>
          <a:p>
            <a:pPr indent="0" marL="0">
              <a:buNone/>
            </a:pPr>
            <a:r>
              <a:rPr lang="en-US" sz="1050" dirty="0">
                <a:solidFill>
                  <a:srgbClr val="FFFFFF"/>
                </a:solidFill>
              </a:rPr>
              <a:t>Alumina, zirconia, waste-based (RQ1)</a:t>
            </a:r>
            <a:endParaRPr lang="en-US" sz="1200" dirty="0"/>
          </a:p>
        </p:txBody>
      </p:sp>
      <p:sp>
        <p:nvSpPr>
          <p:cNvPr id="12" name="Shape 10"/>
          <p:cNvSpPr/>
          <p:nvPr/>
        </p:nvSpPr>
        <p:spPr>
          <a:xfrm>
            <a:off x="9555480" y="2313432"/>
            <a:ext cx="274320" cy="182880"/>
          </a:xfrm>
          <a:prstGeom prst="downArrow">
            <a:avLst/>
          </a:prstGeom>
          <a:solidFill>
            <a:srgbClr val="E8A33D"/>
          </a:solidFill>
          <a:ln w="12700">
            <a:solidFill>
              <a:srgbClr val="E8A33D"/>
            </a:solidFill>
            <a:prstDash val="solid"/>
          </a:ln>
        </p:spPr>
      </p:sp>
      <p:sp>
        <p:nvSpPr>
          <p:cNvPr id="13" name="Shape 11"/>
          <p:cNvSpPr/>
          <p:nvPr/>
        </p:nvSpPr>
        <p:spPr>
          <a:xfrm>
            <a:off x="7680960" y="2514600"/>
            <a:ext cx="4050792" cy="658368"/>
          </a:xfrm>
          <a:prstGeom prst="rect">
            <a:avLst/>
          </a:prstGeom>
          <a:solidFill>
            <a:srgbClr val="1F7A8C"/>
          </a:solidFill>
          <a:ln w="12700">
            <a:solidFill>
              <a:srgbClr val="1F7A8C"/>
            </a:solidFill>
            <a:prstDash val="solid"/>
          </a:ln>
        </p:spPr>
      </p:sp>
      <p:sp>
        <p:nvSpPr>
          <p:cNvPr id="14" name="Text 12"/>
          <p:cNvSpPr txBox="1"/>
          <p:nvPr/>
        </p:nvSpPr>
        <p:spPr>
          <a:xfrm>
            <a:off x="7818120" y="2514600"/>
            <a:ext cx="3776472" cy="658368"/>
          </a:xfrm>
          <a:prstGeom prst="rect">
            <a:avLst/>
          </a:prstGeom>
          <a:noFill/>
          <a:ln/>
        </p:spPr>
        <p:txBody>
          <a:bodyPr wrap="square" lIns="0" tIns="0" rIns="0" bIns="0" rtlCol="0" anchor="ctr"/>
          <a:lstStyle/>
          <a:p>
            <a:pPr indent="0" marL="0">
              <a:buNone/>
            </a:pPr>
            <a:r>
              <a:rPr lang="en-US" sz="1200" b="1" dirty="0">
                <a:solidFill>
                  <a:srgbClr val="FFFFFF"/>
                </a:solidFill>
              </a:rPr>
              <a:t>Fouling control and hybrids</a:t>
            </a:r>
            <a:endParaRPr lang="en-US" sz="1200" dirty="0"/>
          </a:p>
          <a:p>
            <a:pPr indent="0" marL="0">
              <a:buNone/>
            </a:pPr>
            <a:r>
              <a:rPr lang="en-US" sz="1050" dirty="0">
                <a:solidFill>
                  <a:srgbClr val="FFFFFF"/>
                </a:solidFill>
              </a:rPr>
              <a:t>Ozonation, conductive, ceramic–NF (RQ2)</a:t>
            </a:r>
            <a:endParaRPr lang="en-US" sz="1200" dirty="0"/>
          </a:p>
        </p:txBody>
      </p:sp>
      <p:sp>
        <p:nvSpPr>
          <p:cNvPr id="15" name="Shape 13"/>
          <p:cNvSpPr/>
          <p:nvPr/>
        </p:nvSpPr>
        <p:spPr>
          <a:xfrm>
            <a:off x="9555480" y="3182112"/>
            <a:ext cx="274320" cy="182880"/>
          </a:xfrm>
          <a:prstGeom prst="downArrow">
            <a:avLst/>
          </a:prstGeom>
          <a:solidFill>
            <a:srgbClr val="E8A33D"/>
          </a:solidFill>
          <a:ln w="12700">
            <a:solidFill>
              <a:srgbClr val="E8A33D"/>
            </a:solidFill>
            <a:prstDash val="solid"/>
          </a:ln>
        </p:spPr>
      </p:sp>
      <p:sp>
        <p:nvSpPr>
          <p:cNvPr id="16" name="Shape 14"/>
          <p:cNvSpPr/>
          <p:nvPr/>
        </p:nvSpPr>
        <p:spPr>
          <a:xfrm>
            <a:off x="7680960" y="3383280"/>
            <a:ext cx="4050792" cy="658368"/>
          </a:xfrm>
          <a:prstGeom prst="rect">
            <a:avLst/>
          </a:prstGeom>
          <a:solidFill>
            <a:srgbClr val="4E9AAA"/>
          </a:solidFill>
          <a:ln w="12700">
            <a:solidFill>
              <a:srgbClr val="4E9AAA"/>
            </a:solidFill>
            <a:prstDash val="solid"/>
          </a:ln>
        </p:spPr>
      </p:sp>
      <p:sp>
        <p:nvSpPr>
          <p:cNvPr id="17" name="Text 15"/>
          <p:cNvSpPr txBox="1"/>
          <p:nvPr/>
        </p:nvSpPr>
        <p:spPr>
          <a:xfrm>
            <a:off x="7818120" y="3383280"/>
            <a:ext cx="3776472" cy="658368"/>
          </a:xfrm>
          <a:prstGeom prst="rect">
            <a:avLst/>
          </a:prstGeom>
          <a:noFill/>
          <a:ln/>
        </p:spPr>
        <p:txBody>
          <a:bodyPr wrap="square" lIns="0" tIns="0" rIns="0" bIns="0" rtlCol="0" anchor="ctr"/>
          <a:lstStyle/>
          <a:p>
            <a:pPr indent="0" marL="0">
              <a:buNone/>
            </a:pPr>
            <a:r>
              <a:rPr lang="en-US" sz="1200" b="1" dirty="0">
                <a:solidFill>
                  <a:srgbClr val="FFFFFF"/>
                </a:solidFill>
              </a:rPr>
              <a:t>Contaminant removal</a:t>
            </a:r>
            <a:endParaRPr lang="en-US" sz="1200" dirty="0"/>
          </a:p>
          <a:p>
            <a:pPr indent="0" marL="0">
              <a:buNone/>
            </a:pPr>
            <a:r>
              <a:rPr lang="en-US" sz="1050" dirty="0">
                <a:solidFill>
                  <a:srgbClr val="FFFFFF"/>
                </a:solidFill>
              </a:rPr>
              <a:t>Metals, arsenic, PFAS, microplastics, pathogens</a:t>
            </a:r>
            <a:endParaRPr lang="en-US" sz="1200" dirty="0"/>
          </a:p>
        </p:txBody>
      </p:sp>
      <p:sp>
        <p:nvSpPr>
          <p:cNvPr id="18" name="Shape 16"/>
          <p:cNvSpPr/>
          <p:nvPr/>
        </p:nvSpPr>
        <p:spPr>
          <a:xfrm>
            <a:off x="9555480" y="4050792"/>
            <a:ext cx="274320" cy="182880"/>
          </a:xfrm>
          <a:prstGeom prst="downArrow">
            <a:avLst/>
          </a:prstGeom>
          <a:solidFill>
            <a:srgbClr val="E8A33D"/>
          </a:solidFill>
          <a:ln w="12700">
            <a:solidFill>
              <a:srgbClr val="E8A33D"/>
            </a:solidFill>
            <a:prstDash val="solid"/>
          </a:ln>
        </p:spPr>
      </p:sp>
      <p:sp>
        <p:nvSpPr>
          <p:cNvPr id="19" name="Shape 17"/>
          <p:cNvSpPr/>
          <p:nvPr/>
        </p:nvSpPr>
        <p:spPr>
          <a:xfrm>
            <a:off x="7680960" y="4251960"/>
            <a:ext cx="4050792" cy="658368"/>
          </a:xfrm>
          <a:prstGeom prst="rect">
            <a:avLst/>
          </a:prstGeom>
          <a:solidFill>
            <a:srgbClr val="E6F2F1"/>
          </a:solidFill>
          <a:ln w="12700">
            <a:solidFill>
              <a:srgbClr val="E6F2F1"/>
            </a:solidFill>
            <a:prstDash val="solid"/>
          </a:ln>
        </p:spPr>
      </p:sp>
      <p:sp>
        <p:nvSpPr>
          <p:cNvPr id="20" name="Text 18"/>
          <p:cNvSpPr txBox="1"/>
          <p:nvPr/>
        </p:nvSpPr>
        <p:spPr>
          <a:xfrm>
            <a:off x="7818120" y="4251960"/>
            <a:ext cx="3776472" cy="658368"/>
          </a:xfrm>
          <a:prstGeom prst="rect">
            <a:avLst/>
          </a:prstGeom>
          <a:noFill/>
          <a:ln/>
        </p:spPr>
        <p:txBody>
          <a:bodyPr wrap="square" lIns="0" tIns="0" rIns="0" bIns="0" rtlCol="0" anchor="ctr"/>
          <a:lstStyle/>
          <a:p>
            <a:pPr indent="0" marL="0">
              <a:buNone/>
            </a:pPr>
            <a:r>
              <a:rPr lang="en-US" sz="1200" b="1" dirty="0">
                <a:solidFill>
                  <a:srgbClr val="1B1F23"/>
                </a:solidFill>
              </a:rPr>
              <a:t>Sustainability and cost</a:t>
            </a:r>
            <a:endParaRPr lang="en-US" sz="1200" dirty="0"/>
          </a:p>
          <a:p>
            <a:pPr indent="0" marL="0">
              <a:buNone/>
            </a:pPr>
            <a:r>
              <a:rPr lang="en-US" sz="1050" dirty="0">
                <a:solidFill>
                  <a:srgbClr val="1B1F23"/>
                </a:solidFill>
              </a:rPr>
              <a:t>Chemicals, waste, CO₂, lifetime cost (RQ3)</a:t>
            </a:r>
            <a:endParaRPr lang="en-US" sz="1200" dirty="0"/>
          </a:p>
        </p:txBody>
      </p:sp>
      <p:sp>
        <p:nvSpPr>
          <p:cNvPr id="21" name="Shape 19"/>
          <p:cNvSpPr/>
          <p:nvPr/>
        </p:nvSpPr>
        <p:spPr>
          <a:xfrm>
            <a:off x="9555480" y="4919472"/>
            <a:ext cx="274320" cy="182880"/>
          </a:xfrm>
          <a:prstGeom prst="downArrow">
            <a:avLst/>
          </a:prstGeom>
          <a:solidFill>
            <a:srgbClr val="E8A33D"/>
          </a:solidFill>
          <a:ln w="12700">
            <a:solidFill>
              <a:srgbClr val="E8A33D"/>
            </a:solidFill>
            <a:prstDash val="solid"/>
          </a:ln>
        </p:spPr>
      </p:sp>
      <p:sp>
        <p:nvSpPr>
          <p:cNvPr id="22" name="Shape 20"/>
          <p:cNvSpPr/>
          <p:nvPr/>
        </p:nvSpPr>
        <p:spPr>
          <a:xfrm>
            <a:off x="7680960" y="5120640"/>
            <a:ext cx="4050792" cy="658368"/>
          </a:xfrm>
          <a:prstGeom prst="rect">
            <a:avLst/>
          </a:prstGeom>
          <a:solidFill>
            <a:srgbClr val="E8A33D"/>
          </a:solidFill>
          <a:ln w="12700">
            <a:solidFill>
              <a:srgbClr val="E8A33D"/>
            </a:solidFill>
            <a:prstDash val="solid"/>
          </a:ln>
        </p:spPr>
      </p:sp>
      <p:sp>
        <p:nvSpPr>
          <p:cNvPr id="23" name="Text 21"/>
          <p:cNvSpPr txBox="1"/>
          <p:nvPr/>
        </p:nvSpPr>
        <p:spPr>
          <a:xfrm>
            <a:off x="7818120" y="5120640"/>
            <a:ext cx="3776472" cy="658368"/>
          </a:xfrm>
          <a:prstGeom prst="rect">
            <a:avLst/>
          </a:prstGeom>
          <a:noFill/>
          <a:ln/>
        </p:spPr>
        <p:txBody>
          <a:bodyPr wrap="square" lIns="0" tIns="0" rIns="0" bIns="0" rtlCol="0" anchor="ctr"/>
          <a:lstStyle/>
          <a:p>
            <a:pPr indent="0" marL="0">
              <a:buNone/>
            </a:pPr>
            <a:r>
              <a:rPr lang="en-US" sz="1200" b="1" dirty="0">
                <a:solidFill>
                  <a:srgbClr val="1B1F23"/>
                </a:solidFill>
              </a:rPr>
              <a:t>Decision framework</a:t>
            </a:r>
            <a:endParaRPr lang="en-US" sz="1200" dirty="0"/>
          </a:p>
          <a:p>
            <a:pPr indent="0" marL="0">
              <a:buNone/>
            </a:pPr>
            <a:r>
              <a:rPr lang="en-US" sz="1050" dirty="0">
                <a:solidFill>
                  <a:srgbClr val="1B1F23"/>
                </a:solidFill>
              </a:rPr>
              <a:t>Treatment train for potable water (SDG 6)</a:t>
            </a:r>
            <a:endParaRPr lang="en-US" sz="1200" dirty="0"/>
          </a:p>
        </p:txBody>
      </p:sp>
      <p:sp>
        <p:nvSpPr>
          <p:cNvPr id="24" name="Text 22"/>
          <p:cNvSpPr txBox="1"/>
          <p:nvPr/>
        </p:nvSpPr>
        <p:spPr>
          <a:xfrm>
            <a:off x="7680960" y="5989320"/>
            <a:ext cx="4050792" cy="411480"/>
          </a:xfrm>
          <a:prstGeom prst="rect">
            <a:avLst/>
          </a:prstGeom>
          <a:noFill/>
          <a:ln/>
        </p:spPr>
        <p:txBody>
          <a:bodyPr wrap="square" lIns="0" tIns="0" rIns="0" bIns="0" rtlCol="0" anchor="t"/>
          <a:lstStyle/>
          <a:p>
            <a:pPr indent="0" marL="0">
              <a:buNone/>
            </a:pPr>
            <a:r>
              <a:rPr lang="en-US" sz="1000" i="1" dirty="0">
                <a:solidFill>
                  <a:srgbClr val="5B6770"/>
                </a:solidFill>
              </a:rPr>
              <a:t>Author's framework, based on Cai et al. (2023), Hosseinzadeh et al. (2025) and Jarrar et al. (2024).</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Methods: a desk-based comparative evaluation, and why it fits the question</a:t>
            </a:r>
            <a:endParaRPr lang="en-US" sz="2600" dirty="0"/>
          </a:p>
        </p:txBody>
      </p:sp>
      <p:sp>
        <p:nvSpPr>
          <p:cNvPr id="3" name="Shape 1"/>
          <p:cNvSpPr/>
          <p:nvPr/>
        </p:nvSpPr>
        <p:spPr>
          <a:xfrm>
            <a:off x="457200" y="1280160"/>
            <a:ext cx="3611880" cy="1828800"/>
          </a:xfrm>
          <a:prstGeom prst="rect">
            <a:avLst/>
          </a:prstGeom>
          <a:solidFill>
            <a:srgbClr val="E6F2F1"/>
          </a:solidFill>
          <a:ln w="12700">
            <a:solidFill>
              <a:srgbClr val="E6F2F1"/>
            </a:solidFill>
            <a:prstDash val="solid"/>
          </a:ln>
        </p:spPr>
      </p:sp>
      <p:sp>
        <p:nvSpPr>
          <p:cNvPr id="4" name="Shape 2"/>
          <p:cNvSpPr/>
          <p:nvPr/>
        </p:nvSpPr>
        <p:spPr>
          <a:xfrm>
            <a:off x="594360" y="1417320"/>
            <a:ext cx="457200" cy="457200"/>
          </a:xfrm>
          <a:prstGeom prst="ellipse">
            <a:avLst/>
          </a:prstGeom>
          <a:solidFill>
            <a:srgbClr val="1F7A8C"/>
          </a:solidFill>
          <a:ln w="12700">
            <a:solidFill>
              <a:srgbClr val="1F7A8C"/>
            </a:solidFill>
            <a:prstDash val="solid"/>
          </a:ln>
        </p:spPr>
      </p:sp>
      <p:sp>
        <p:nvSpPr>
          <p:cNvPr id="5" name="Text 3"/>
          <p:cNvSpPr txBox="1"/>
          <p:nvPr/>
        </p:nvSpPr>
        <p:spPr>
          <a:xfrm>
            <a:off x="59436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188720" y="141732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Identify</a:t>
            </a:r>
            <a:endParaRPr lang="en-US" sz="1500" dirty="0"/>
          </a:p>
        </p:txBody>
      </p:sp>
      <p:sp>
        <p:nvSpPr>
          <p:cNvPr id="7" name="Text 5"/>
          <p:cNvSpPr txBox="1"/>
          <p:nvPr/>
        </p:nvSpPr>
        <p:spPr>
          <a:xfrm>
            <a:off x="594360" y="1965960"/>
            <a:ext cx="3337560" cy="777240"/>
          </a:xfrm>
          <a:prstGeom prst="rect">
            <a:avLst/>
          </a:prstGeom>
          <a:noFill/>
          <a:ln/>
        </p:spPr>
        <p:txBody>
          <a:bodyPr wrap="square" lIns="0" tIns="0" rIns="0" bIns="0" rtlCol="0" anchor="t"/>
          <a:lstStyle/>
          <a:p>
            <a:pPr indent="0" marL="0">
              <a:buNone/>
            </a:pPr>
            <a:r>
              <a:rPr lang="en-US" sz="1150" dirty="0">
                <a:solidFill>
                  <a:srgbClr val="1B1F23"/>
                </a:solidFill>
              </a:rPr>
              <a:t>Search Scopus, Web of Science and similar databases for studies from 2020 onwards.</a:t>
            </a:r>
            <a:endParaRPr lang="en-US" sz="1150" dirty="0"/>
          </a:p>
        </p:txBody>
      </p:sp>
      <p:sp>
        <p:nvSpPr>
          <p:cNvPr id="8" name="Text 6"/>
          <p:cNvSpPr txBox="1"/>
          <p:nvPr/>
        </p:nvSpPr>
        <p:spPr>
          <a:xfrm>
            <a:off x="594360" y="278892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Candidate records</a:t>
            </a:r>
            <a:endParaRPr lang="en-US" sz="1150" dirty="0"/>
          </a:p>
        </p:txBody>
      </p:sp>
      <p:sp>
        <p:nvSpPr>
          <p:cNvPr id="9" name="Shape 7"/>
          <p:cNvSpPr/>
          <p:nvPr/>
        </p:nvSpPr>
        <p:spPr>
          <a:xfrm>
            <a:off x="4297680" y="1280160"/>
            <a:ext cx="3611880" cy="1828800"/>
          </a:xfrm>
          <a:prstGeom prst="rect">
            <a:avLst/>
          </a:prstGeom>
          <a:solidFill>
            <a:srgbClr val="E6F2F1"/>
          </a:solidFill>
          <a:ln w="12700">
            <a:solidFill>
              <a:srgbClr val="E6F2F1"/>
            </a:solidFill>
            <a:prstDash val="solid"/>
          </a:ln>
        </p:spPr>
      </p:sp>
      <p:sp>
        <p:nvSpPr>
          <p:cNvPr id="10" name="Shape 8"/>
          <p:cNvSpPr/>
          <p:nvPr/>
        </p:nvSpPr>
        <p:spPr>
          <a:xfrm>
            <a:off x="4434840" y="1417320"/>
            <a:ext cx="457200" cy="457200"/>
          </a:xfrm>
          <a:prstGeom prst="ellipse">
            <a:avLst/>
          </a:prstGeom>
          <a:solidFill>
            <a:srgbClr val="1F7A8C"/>
          </a:solidFill>
          <a:ln w="12700">
            <a:solidFill>
              <a:srgbClr val="1F7A8C"/>
            </a:solidFill>
            <a:prstDash val="solid"/>
          </a:ln>
        </p:spPr>
      </p:sp>
      <p:sp>
        <p:nvSpPr>
          <p:cNvPr id="11" name="Text 9"/>
          <p:cNvSpPr txBox="1"/>
          <p:nvPr/>
        </p:nvSpPr>
        <p:spPr>
          <a:xfrm>
            <a:off x="443484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5029200" y="141732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Screen</a:t>
            </a:r>
            <a:endParaRPr lang="en-US" sz="1500" dirty="0"/>
          </a:p>
        </p:txBody>
      </p:sp>
      <p:sp>
        <p:nvSpPr>
          <p:cNvPr id="13" name="Text 11"/>
          <p:cNvSpPr txBox="1"/>
          <p:nvPr/>
        </p:nvSpPr>
        <p:spPr>
          <a:xfrm>
            <a:off x="4434840" y="1965960"/>
            <a:ext cx="3337560" cy="777240"/>
          </a:xfrm>
          <a:prstGeom prst="rect">
            <a:avLst/>
          </a:prstGeom>
          <a:noFill/>
          <a:ln/>
        </p:spPr>
        <p:txBody>
          <a:bodyPr wrap="square" lIns="0" tIns="0" rIns="0" bIns="0" rtlCol="0" anchor="t"/>
          <a:lstStyle/>
          <a:p>
            <a:pPr indent="0" marL="0">
              <a:buNone/>
            </a:pPr>
            <a:r>
              <a:rPr lang="en-US" sz="1150" dirty="0">
                <a:solidFill>
                  <a:srgbClr val="1B1F23"/>
                </a:solidFill>
              </a:rPr>
              <a:t>Apply inclusion and exclusion criteria, following PRISMA 2020 (Page et al., 2021).</a:t>
            </a:r>
            <a:endParaRPr lang="en-US" sz="1150" dirty="0"/>
          </a:p>
        </p:txBody>
      </p:sp>
      <p:sp>
        <p:nvSpPr>
          <p:cNvPr id="14" name="Text 12"/>
          <p:cNvSpPr txBox="1"/>
          <p:nvPr/>
        </p:nvSpPr>
        <p:spPr>
          <a:xfrm>
            <a:off x="4434840" y="278892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Screened set</a:t>
            </a:r>
            <a:endParaRPr lang="en-US" sz="1150" dirty="0"/>
          </a:p>
        </p:txBody>
      </p:sp>
      <p:sp>
        <p:nvSpPr>
          <p:cNvPr id="15" name="Shape 13"/>
          <p:cNvSpPr/>
          <p:nvPr/>
        </p:nvSpPr>
        <p:spPr>
          <a:xfrm>
            <a:off x="8138160" y="1280160"/>
            <a:ext cx="3611880" cy="1828800"/>
          </a:xfrm>
          <a:prstGeom prst="rect">
            <a:avLst/>
          </a:prstGeom>
          <a:solidFill>
            <a:srgbClr val="E6F2F1"/>
          </a:solidFill>
          <a:ln w="12700">
            <a:solidFill>
              <a:srgbClr val="E6F2F1"/>
            </a:solidFill>
            <a:prstDash val="solid"/>
          </a:ln>
        </p:spPr>
      </p:sp>
      <p:sp>
        <p:nvSpPr>
          <p:cNvPr id="16" name="Shape 14"/>
          <p:cNvSpPr/>
          <p:nvPr/>
        </p:nvSpPr>
        <p:spPr>
          <a:xfrm>
            <a:off x="8275320" y="1417320"/>
            <a:ext cx="457200" cy="457200"/>
          </a:xfrm>
          <a:prstGeom prst="ellipse">
            <a:avLst/>
          </a:prstGeom>
          <a:solidFill>
            <a:srgbClr val="1F7A8C"/>
          </a:solidFill>
          <a:ln w="12700">
            <a:solidFill>
              <a:srgbClr val="1F7A8C"/>
            </a:solidFill>
            <a:prstDash val="solid"/>
          </a:ln>
        </p:spPr>
      </p:sp>
      <p:sp>
        <p:nvSpPr>
          <p:cNvPr id="17" name="Text 15"/>
          <p:cNvSpPr txBox="1"/>
          <p:nvPr/>
        </p:nvSpPr>
        <p:spPr>
          <a:xfrm>
            <a:off x="827532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txBox="1"/>
          <p:nvPr/>
        </p:nvSpPr>
        <p:spPr>
          <a:xfrm>
            <a:off x="8869680" y="141732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Extract</a:t>
            </a:r>
            <a:endParaRPr lang="en-US" sz="1500" dirty="0"/>
          </a:p>
        </p:txBody>
      </p:sp>
      <p:sp>
        <p:nvSpPr>
          <p:cNvPr id="19" name="Text 17"/>
          <p:cNvSpPr txBox="1"/>
          <p:nvPr/>
        </p:nvSpPr>
        <p:spPr>
          <a:xfrm>
            <a:off x="8275320" y="1965960"/>
            <a:ext cx="3337560" cy="777240"/>
          </a:xfrm>
          <a:prstGeom prst="rect">
            <a:avLst/>
          </a:prstGeom>
          <a:noFill/>
          <a:ln/>
        </p:spPr>
        <p:txBody>
          <a:bodyPr wrap="square" lIns="0" tIns="0" rIns="0" bIns="0" rtlCol="0" anchor="t"/>
          <a:lstStyle/>
          <a:p>
            <a:pPr indent="0" marL="0">
              <a:buNone/>
            </a:pPr>
            <a:r>
              <a:rPr lang="en-US" sz="1150" dirty="0">
                <a:solidFill>
                  <a:srgbClr val="1B1F23"/>
                </a:solidFill>
              </a:rPr>
              <a:t>Record material, pore size, feed water, pressure, scale, flux, rejection, fouling control and cost.</a:t>
            </a:r>
            <a:endParaRPr lang="en-US" sz="1150" dirty="0"/>
          </a:p>
        </p:txBody>
      </p:sp>
      <p:sp>
        <p:nvSpPr>
          <p:cNvPr id="20" name="Text 18"/>
          <p:cNvSpPr txBox="1"/>
          <p:nvPr/>
        </p:nvSpPr>
        <p:spPr>
          <a:xfrm>
            <a:off x="8275320" y="278892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Extraction matrix</a:t>
            </a:r>
            <a:endParaRPr lang="en-US" sz="1150" dirty="0"/>
          </a:p>
        </p:txBody>
      </p:sp>
      <p:sp>
        <p:nvSpPr>
          <p:cNvPr id="21" name="Shape 19"/>
          <p:cNvSpPr/>
          <p:nvPr/>
        </p:nvSpPr>
        <p:spPr>
          <a:xfrm>
            <a:off x="457200" y="3291840"/>
            <a:ext cx="3611880" cy="1828800"/>
          </a:xfrm>
          <a:prstGeom prst="rect">
            <a:avLst/>
          </a:prstGeom>
          <a:solidFill>
            <a:srgbClr val="E6F2F1"/>
          </a:solidFill>
          <a:ln w="12700">
            <a:solidFill>
              <a:srgbClr val="E6F2F1"/>
            </a:solidFill>
            <a:prstDash val="solid"/>
          </a:ln>
        </p:spPr>
      </p:sp>
      <p:sp>
        <p:nvSpPr>
          <p:cNvPr id="22" name="Shape 20"/>
          <p:cNvSpPr/>
          <p:nvPr/>
        </p:nvSpPr>
        <p:spPr>
          <a:xfrm>
            <a:off x="594360" y="3429000"/>
            <a:ext cx="457200" cy="457200"/>
          </a:xfrm>
          <a:prstGeom prst="ellipse">
            <a:avLst/>
          </a:prstGeom>
          <a:solidFill>
            <a:srgbClr val="1F7A8C"/>
          </a:solidFill>
          <a:ln w="12700">
            <a:solidFill>
              <a:srgbClr val="1F7A8C"/>
            </a:solidFill>
            <a:prstDash val="solid"/>
          </a:ln>
        </p:spPr>
      </p:sp>
      <p:sp>
        <p:nvSpPr>
          <p:cNvPr id="23" name="Text 21"/>
          <p:cNvSpPr txBox="1"/>
          <p:nvPr/>
        </p:nvSpPr>
        <p:spPr>
          <a:xfrm>
            <a:off x="59436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4" name="Text 22"/>
          <p:cNvSpPr txBox="1"/>
          <p:nvPr/>
        </p:nvSpPr>
        <p:spPr>
          <a:xfrm>
            <a:off x="1188720" y="342900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Synthesise</a:t>
            </a:r>
            <a:endParaRPr lang="en-US" sz="1500" dirty="0"/>
          </a:p>
        </p:txBody>
      </p:sp>
      <p:sp>
        <p:nvSpPr>
          <p:cNvPr id="25" name="Text 23"/>
          <p:cNvSpPr txBox="1"/>
          <p:nvPr/>
        </p:nvSpPr>
        <p:spPr>
          <a:xfrm>
            <a:off x="594360" y="3977640"/>
            <a:ext cx="3337560" cy="777240"/>
          </a:xfrm>
          <a:prstGeom prst="rect">
            <a:avLst/>
          </a:prstGeom>
          <a:noFill/>
          <a:ln/>
        </p:spPr>
        <p:txBody>
          <a:bodyPr wrap="square" lIns="0" tIns="0" rIns="0" bIns="0" rtlCol="0" anchor="t"/>
          <a:lstStyle/>
          <a:p>
            <a:pPr indent="0" marL="0">
              <a:buNone/>
            </a:pPr>
            <a:r>
              <a:rPr lang="en-US" sz="1150" dirty="0">
                <a:solidFill>
                  <a:srgbClr val="1B1F23"/>
                </a:solidFill>
              </a:rPr>
              <a:t>Convert to common units; keep bench results apart from pilot and full-scale results.</a:t>
            </a:r>
            <a:endParaRPr lang="en-US" sz="1150" dirty="0"/>
          </a:p>
        </p:txBody>
      </p:sp>
      <p:sp>
        <p:nvSpPr>
          <p:cNvPr id="26" name="Text 24"/>
          <p:cNvSpPr txBox="1"/>
          <p:nvPr/>
        </p:nvSpPr>
        <p:spPr>
          <a:xfrm>
            <a:off x="594360" y="480060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Comparison tables</a:t>
            </a:r>
            <a:endParaRPr lang="en-US" sz="1150" dirty="0"/>
          </a:p>
        </p:txBody>
      </p:sp>
      <p:sp>
        <p:nvSpPr>
          <p:cNvPr id="27" name="Shape 25"/>
          <p:cNvSpPr/>
          <p:nvPr/>
        </p:nvSpPr>
        <p:spPr>
          <a:xfrm>
            <a:off x="4297680" y="3291840"/>
            <a:ext cx="3611880" cy="1828800"/>
          </a:xfrm>
          <a:prstGeom prst="rect">
            <a:avLst/>
          </a:prstGeom>
          <a:solidFill>
            <a:srgbClr val="E6F2F1"/>
          </a:solidFill>
          <a:ln w="12700">
            <a:solidFill>
              <a:srgbClr val="E6F2F1"/>
            </a:solidFill>
            <a:prstDash val="solid"/>
          </a:ln>
        </p:spPr>
      </p:sp>
      <p:sp>
        <p:nvSpPr>
          <p:cNvPr id="28" name="Shape 26"/>
          <p:cNvSpPr/>
          <p:nvPr/>
        </p:nvSpPr>
        <p:spPr>
          <a:xfrm>
            <a:off x="4434840" y="3429000"/>
            <a:ext cx="457200" cy="457200"/>
          </a:xfrm>
          <a:prstGeom prst="ellipse">
            <a:avLst/>
          </a:prstGeom>
          <a:solidFill>
            <a:srgbClr val="1F7A8C"/>
          </a:solidFill>
          <a:ln w="12700">
            <a:solidFill>
              <a:srgbClr val="1F7A8C"/>
            </a:solidFill>
            <a:prstDash val="solid"/>
          </a:ln>
        </p:spPr>
      </p:sp>
      <p:sp>
        <p:nvSpPr>
          <p:cNvPr id="29" name="Text 27"/>
          <p:cNvSpPr txBox="1"/>
          <p:nvPr/>
        </p:nvSpPr>
        <p:spPr>
          <a:xfrm>
            <a:off x="443484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0" name="Text 28"/>
          <p:cNvSpPr txBox="1"/>
          <p:nvPr/>
        </p:nvSpPr>
        <p:spPr>
          <a:xfrm>
            <a:off x="5029200" y="342900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Score</a:t>
            </a:r>
            <a:endParaRPr lang="en-US" sz="1500" dirty="0"/>
          </a:p>
        </p:txBody>
      </p:sp>
      <p:sp>
        <p:nvSpPr>
          <p:cNvPr id="31" name="Text 29"/>
          <p:cNvSpPr txBox="1"/>
          <p:nvPr/>
        </p:nvSpPr>
        <p:spPr>
          <a:xfrm>
            <a:off x="4434840" y="3977640"/>
            <a:ext cx="3337560" cy="777240"/>
          </a:xfrm>
          <a:prstGeom prst="rect">
            <a:avLst/>
          </a:prstGeom>
          <a:noFill/>
          <a:ln/>
        </p:spPr>
        <p:txBody>
          <a:bodyPr wrap="square" lIns="0" tIns="0" rIns="0" bIns="0" rtlCol="0" anchor="t"/>
          <a:lstStyle/>
          <a:p>
            <a:pPr indent="0" marL="0">
              <a:buNone/>
            </a:pPr>
            <a:r>
              <a:rPr lang="en-US" sz="1150" dirty="0">
                <a:solidFill>
                  <a:srgbClr val="1B1F23"/>
                </a:solidFill>
              </a:rPr>
              <a:t>Rate configurations on removal, fouling control, strength, cost and sustainability; test weights.</a:t>
            </a:r>
            <a:endParaRPr lang="en-US" sz="1150" dirty="0"/>
          </a:p>
        </p:txBody>
      </p:sp>
      <p:sp>
        <p:nvSpPr>
          <p:cNvPr id="32" name="Text 30"/>
          <p:cNvSpPr txBox="1"/>
          <p:nvPr/>
        </p:nvSpPr>
        <p:spPr>
          <a:xfrm>
            <a:off x="4434840" y="480060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Ranked options</a:t>
            </a:r>
            <a:endParaRPr lang="en-US" sz="1150" dirty="0"/>
          </a:p>
        </p:txBody>
      </p:sp>
      <p:sp>
        <p:nvSpPr>
          <p:cNvPr id="33" name="Shape 31"/>
          <p:cNvSpPr/>
          <p:nvPr/>
        </p:nvSpPr>
        <p:spPr>
          <a:xfrm>
            <a:off x="8138160" y="3291840"/>
            <a:ext cx="3611880" cy="1828800"/>
          </a:xfrm>
          <a:prstGeom prst="rect">
            <a:avLst/>
          </a:prstGeom>
          <a:solidFill>
            <a:srgbClr val="E6F2F1"/>
          </a:solidFill>
          <a:ln w="12700">
            <a:solidFill>
              <a:srgbClr val="E6F2F1"/>
            </a:solidFill>
            <a:prstDash val="solid"/>
          </a:ln>
        </p:spPr>
      </p:sp>
      <p:sp>
        <p:nvSpPr>
          <p:cNvPr id="34" name="Shape 32"/>
          <p:cNvSpPr/>
          <p:nvPr/>
        </p:nvSpPr>
        <p:spPr>
          <a:xfrm>
            <a:off x="8275320" y="3429000"/>
            <a:ext cx="457200" cy="457200"/>
          </a:xfrm>
          <a:prstGeom prst="ellipse">
            <a:avLst/>
          </a:prstGeom>
          <a:solidFill>
            <a:srgbClr val="1F7A8C"/>
          </a:solidFill>
          <a:ln w="12700">
            <a:solidFill>
              <a:srgbClr val="1F7A8C"/>
            </a:solidFill>
            <a:prstDash val="solid"/>
          </a:ln>
        </p:spPr>
      </p:sp>
      <p:sp>
        <p:nvSpPr>
          <p:cNvPr id="35" name="Text 33"/>
          <p:cNvSpPr txBox="1"/>
          <p:nvPr/>
        </p:nvSpPr>
        <p:spPr>
          <a:xfrm>
            <a:off x="8275320" y="3429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6</a:t>
            </a:r>
            <a:endParaRPr lang="en-US" sz="1600" dirty="0"/>
          </a:p>
        </p:txBody>
      </p:sp>
      <p:sp>
        <p:nvSpPr>
          <p:cNvPr id="36" name="Text 34"/>
          <p:cNvSpPr txBox="1"/>
          <p:nvPr/>
        </p:nvSpPr>
        <p:spPr>
          <a:xfrm>
            <a:off x="8869680" y="3429000"/>
            <a:ext cx="2743200" cy="45720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Frame</a:t>
            </a:r>
            <a:endParaRPr lang="en-US" sz="1500" dirty="0"/>
          </a:p>
        </p:txBody>
      </p:sp>
      <p:sp>
        <p:nvSpPr>
          <p:cNvPr id="37" name="Text 35"/>
          <p:cNvSpPr txBox="1"/>
          <p:nvPr/>
        </p:nvSpPr>
        <p:spPr>
          <a:xfrm>
            <a:off x="8275320" y="3977640"/>
            <a:ext cx="3337560" cy="777240"/>
          </a:xfrm>
          <a:prstGeom prst="rect">
            <a:avLst/>
          </a:prstGeom>
          <a:noFill/>
          <a:ln/>
        </p:spPr>
        <p:txBody>
          <a:bodyPr wrap="square" lIns="0" tIns="0" rIns="0" bIns="0" rtlCol="0" anchor="t"/>
          <a:lstStyle/>
          <a:p>
            <a:pPr indent="0" marL="0">
              <a:buNone/>
            </a:pPr>
            <a:r>
              <a:rPr lang="en-US" sz="1150" dirty="0">
                <a:solidFill>
                  <a:srgbClr val="1B1F23"/>
                </a:solidFill>
              </a:rPr>
              <a:t>Match source water and priority contaminants to a recommended treatment train.</a:t>
            </a:r>
            <a:endParaRPr lang="en-US" sz="1150" dirty="0"/>
          </a:p>
        </p:txBody>
      </p:sp>
      <p:sp>
        <p:nvSpPr>
          <p:cNvPr id="38" name="Text 36"/>
          <p:cNvSpPr txBox="1"/>
          <p:nvPr/>
        </p:nvSpPr>
        <p:spPr>
          <a:xfrm>
            <a:off x="8275320" y="4800600"/>
            <a:ext cx="3337560" cy="274320"/>
          </a:xfrm>
          <a:prstGeom prst="rect">
            <a:avLst/>
          </a:prstGeom>
          <a:noFill/>
          <a:ln/>
        </p:spPr>
        <p:txBody>
          <a:bodyPr wrap="square" lIns="0" tIns="0" rIns="0" bIns="0" rtlCol="0" anchor="ctr"/>
          <a:lstStyle/>
          <a:p>
            <a:pPr indent="0" marL="0">
              <a:buNone/>
            </a:pPr>
            <a:r>
              <a:rPr lang="en-US" sz="1150" b="1" dirty="0">
                <a:solidFill>
                  <a:srgbClr val="1F7A8C"/>
                </a:solidFill>
              </a:rPr>
              <a:t>Output: </a:t>
            </a:r>
            <a:pPr indent="0" marL="0">
              <a:buNone/>
            </a:pPr>
            <a:r>
              <a:rPr lang="en-US" sz="1150" dirty="0">
                <a:solidFill>
                  <a:srgbClr val="1B1F23"/>
                </a:solidFill>
              </a:rPr>
              <a:t>Decision framework</a:t>
            </a:r>
            <a:endParaRPr lang="en-US" sz="1150" dirty="0"/>
          </a:p>
        </p:txBody>
      </p:sp>
      <p:sp>
        <p:nvSpPr>
          <p:cNvPr id="39" name="Shape 37"/>
          <p:cNvSpPr/>
          <p:nvPr/>
        </p:nvSpPr>
        <p:spPr>
          <a:xfrm>
            <a:off x="457200" y="5349240"/>
            <a:ext cx="5550408" cy="685800"/>
          </a:xfrm>
          <a:prstGeom prst="rect">
            <a:avLst/>
          </a:prstGeom>
          <a:solidFill>
            <a:srgbClr val="FBEFD9"/>
          </a:solidFill>
          <a:ln w="12700">
            <a:solidFill>
              <a:srgbClr val="FBEFD9"/>
            </a:solidFill>
            <a:prstDash val="solid"/>
          </a:ln>
        </p:spPr>
      </p:sp>
      <p:sp>
        <p:nvSpPr>
          <p:cNvPr id="40" name="Shape 38"/>
          <p:cNvSpPr/>
          <p:nvPr/>
        </p:nvSpPr>
        <p:spPr>
          <a:xfrm>
            <a:off x="6181344" y="5349240"/>
            <a:ext cx="5550408" cy="685800"/>
          </a:xfrm>
          <a:prstGeom prst="rect">
            <a:avLst/>
          </a:prstGeom>
          <a:solidFill>
            <a:srgbClr val="E6F2F1"/>
          </a:solidFill>
          <a:ln w="12700">
            <a:solidFill>
              <a:srgbClr val="E6F2F1"/>
            </a:solidFill>
            <a:prstDash val="solid"/>
          </a:ln>
        </p:spPr>
      </p:sp>
      <p:sp>
        <p:nvSpPr>
          <p:cNvPr id="41" name="Text 39"/>
          <p:cNvSpPr txBox="1"/>
          <p:nvPr/>
        </p:nvSpPr>
        <p:spPr>
          <a:xfrm>
            <a:off x="594360" y="5367528"/>
            <a:ext cx="5303520" cy="649224"/>
          </a:xfrm>
          <a:prstGeom prst="rect">
            <a:avLst/>
          </a:prstGeom>
          <a:noFill/>
          <a:ln/>
        </p:spPr>
        <p:txBody>
          <a:bodyPr wrap="square" lIns="0" tIns="0" rIns="0" bIns="0" rtlCol="0" anchor="ctr"/>
          <a:lstStyle/>
          <a:p>
            <a:pPr indent="0" marL="0">
              <a:buNone/>
            </a:pPr>
            <a:r>
              <a:rPr lang="en-US" sz="1100" b="1" dirty="0">
                <a:solidFill>
                  <a:srgbClr val="A86A0E"/>
                </a:solidFill>
              </a:rPr>
              <a:t>Why appropriate. </a:t>
            </a:r>
            <a:pPr indent="0" marL="0">
              <a:buNone/>
            </a:pPr>
            <a:r>
              <a:rPr lang="en-US" sz="1100" dirty="0">
                <a:solidFill>
                  <a:srgbClr val="1B1F23"/>
                </a:solidFill>
              </a:rPr>
              <a:t>Many experiments exist; the gap is consistent comparison, which a desk-based synthesis delivers at zero cost.</a:t>
            </a:r>
            <a:endParaRPr lang="en-US" sz="1100" dirty="0"/>
          </a:p>
        </p:txBody>
      </p:sp>
      <p:sp>
        <p:nvSpPr>
          <p:cNvPr id="42" name="Text 40"/>
          <p:cNvSpPr txBox="1"/>
          <p:nvPr/>
        </p:nvSpPr>
        <p:spPr>
          <a:xfrm>
            <a:off x="6318504" y="5367528"/>
            <a:ext cx="5303520" cy="649224"/>
          </a:xfrm>
          <a:prstGeom prst="rect">
            <a:avLst/>
          </a:prstGeom>
          <a:noFill/>
          <a:ln/>
        </p:spPr>
        <p:txBody>
          <a:bodyPr wrap="square" lIns="0" tIns="0" rIns="0" bIns="0" rtlCol="0" anchor="ctr"/>
          <a:lstStyle/>
          <a:p>
            <a:pPr indent="0" marL="0">
              <a:buNone/>
            </a:pPr>
            <a:r>
              <a:rPr lang="en-US" sz="1100" b="1" dirty="0">
                <a:solidFill>
                  <a:srgbClr val="1F7A8C"/>
                </a:solidFill>
              </a:rPr>
              <a:t>Transparent and repeatable. </a:t>
            </a:r>
            <a:pPr indent="0" marL="0">
              <a:buNone/>
            </a:pPr>
            <a:r>
              <a:rPr lang="en-US" sz="1100" dirty="0">
                <a:solidFill>
                  <a:srgbClr val="1B1F23"/>
                </a:solidFill>
              </a:rPr>
              <a:t>Each step has a recorded output, so another researcher could repeat it (Page et al., 2021).</a:t>
            </a:r>
            <a:endParaRPr lang="en-US" sz="1100" dirty="0"/>
          </a:p>
        </p:txBody>
      </p:sp>
      <p:sp>
        <p:nvSpPr>
          <p:cNvPr id="43" name="Text 41"/>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Workflow designed by the author; screening and reporting adapted from Page et al. (2021).</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Data sources, selection criteria, quality control and ethics</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492240" cy="914400"/>
        </p:xfrm>
        <a:graphic>
          <a:graphicData uri="http://schemas.openxmlformats.org/drawingml/2006/table">
            <a:tbl>
              <a:tblPr/>
              <a:tblGrid>
                <a:gridCol w="2103120"/>
                <a:gridCol w="438912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Source group</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Examples from the literature review</a:t>
                      </a:r>
                      <a:endParaRPr lang="en-US" sz="1200" dirty="0">
                        <a:latin typeface="Calibri" charset="0"/>
                        <a:ea typeface="Calibri" charset="0"/>
                        <a:cs typeface="Calibri" charset="0"/>
                      </a:endParaRPr>
                    </a:p>
                  </a:txBody>
                  <a:tcPr marL="73152" marR="73152" marT="45720" marB="45720"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r>
              <a:tr h="50292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Materials and fabrication</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Fu et al. (2024); Bahrouni et al. (2025); El Azizi et al. (2025)</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0292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Fouling and hybrids</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Cai et al. (2023); Xie et al. (2024, 2025); Lin et al. (2024)</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Contaminants</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Azzam et al. (2025); Chen et al. (2025); Kim et al. (2025); Burke et al. (2025)</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5720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Sustainability and cost</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Hosseinzadeh et al. (2025); Akash et al. (2024)</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36576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Access context</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WHO/UNICEF (2023)</a:t>
                      </a:r>
                      <a:endParaRPr lang="en-US" sz="1150" dirty="0">
                        <a:latin typeface="Calibri" charset="0"/>
                        <a:ea typeface="Calibri" charset="0"/>
                        <a:cs typeface="Calibri" charset="0"/>
                      </a:endParaRPr>
                    </a:p>
                  </a:txBody>
                  <a:tcPr marL="73152" marR="73152" marT="45720" marB="45720"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4160520"/>
            <a:ext cx="6492240" cy="1828800"/>
          </a:xfrm>
          <a:prstGeom prst="rect">
            <a:avLst/>
          </a:prstGeom>
          <a:solidFill>
            <a:srgbClr val="E6F2F1"/>
          </a:solidFill>
          <a:ln w="12700">
            <a:solidFill>
              <a:srgbClr val="E6F2F1"/>
            </a:solidFill>
            <a:prstDash val="solid"/>
          </a:ln>
        </p:spPr>
      </p:sp>
      <p:sp>
        <p:nvSpPr>
          <p:cNvPr id="5" name="Text 2"/>
          <p:cNvSpPr txBox="1"/>
          <p:nvPr/>
        </p:nvSpPr>
        <p:spPr>
          <a:xfrm>
            <a:off x="594360" y="4206240"/>
            <a:ext cx="6217920" cy="1737360"/>
          </a:xfrm>
          <a:prstGeom prst="rect">
            <a:avLst/>
          </a:prstGeom>
          <a:noFill/>
          <a:ln/>
        </p:spPr>
        <p:txBody>
          <a:bodyPr wrap="square" lIns="0" tIns="0" rIns="0" bIns="0" rtlCol="0" anchor="ctr"/>
          <a:lstStyle/>
          <a:p>
            <a:pPr indent="0" marL="0">
              <a:buNone/>
            </a:pPr>
            <a:r>
              <a:rPr lang="en-US" sz="1200" b="1" dirty="0">
                <a:solidFill>
                  <a:srgbClr val="1F7A8C"/>
                </a:solidFill>
              </a:rPr>
              <a:t>Quality control. </a:t>
            </a:r>
            <a:pPr indent="0" marL="0">
              <a:buNone/>
            </a:pPr>
            <a:r>
              <a:rPr lang="en-US" sz="1200" dirty="0">
                <a:solidFill>
                  <a:srgbClr val="1B1F23"/>
                </a:solidFill>
              </a:rPr>
              <a:t>Re-extract 10% of records after one week and compare. Grade conclusions by evidence strength and scale, because test conditions differ and positive results are published more often. Keep an audit log of every screening decision.</a:t>
            </a:r>
            <a:endParaRPr lang="en-US" sz="1200" dirty="0"/>
          </a:p>
        </p:txBody>
      </p:sp>
      <p:sp>
        <p:nvSpPr>
          <p:cNvPr id="6" name="Shape 3"/>
          <p:cNvSpPr/>
          <p:nvPr/>
        </p:nvSpPr>
        <p:spPr>
          <a:xfrm>
            <a:off x="7223760" y="1280160"/>
            <a:ext cx="2194560" cy="2743200"/>
          </a:xfrm>
          <a:prstGeom prst="rect">
            <a:avLst/>
          </a:prstGeom>
          <a:solidFill>
            <a:srgbClr val="E6F2F1"/>
          </a:solidFill>
          <a:ln w="12700">
            <a:solidFill>
              <a:srgbClr val="E6F2F1"/>
            </a:solidFill>
            <a:prstDash val="solid"/>
          </a:ln>
        </p:spPr>
      </p:sp>
      <p:sp>
        <p:nvSpPr>
          <p:cNvPr id="7" name="Shape 4"/>
          <p:cNvSpPr/>
          <p:nvPr/>
        </p:nvSpPr>
        <p:spPr>
          <a:xfrm>
            <a:off x="9555480" y="1280160"/>
            <a:ext cx="2176272" cy="2743200"/>
          </a:xfrm>
          <a:prstGeom prst="rect">
            <a:avLst/>
          </a:prstGeom>
          <a:solidFill>
            <a:srgbClr val="F6E3E0"/>
          </a:solidFill>
          <a:ln w="12700">
            <a:solidFill>
              <a:srgbClr val="F6E3E0"/>
            </a:solidFill>
            <a:prstDash val="solid"/>
          </a:ln>
        </p:spPr>
      </p:sp>
      <p:sp>
        <p:nvSpPr>
          <p:cNvPr id="8" name="Text 5"/>
          <p:cNvSpPr txBox="1"/>
          <p:nvPr/>
        </p:nvSpPr>
        <p:spPr>
          <a:xfrm>
            <a:off x="7333488" y="1371600"/>
            <a:ext cx="2011680" cy="2606040"/>
          </a:xfrm>
          <a:prstGeom prst="rect">
            <a:avLst/>
          </a:prstGeom>
          <a:noFill/>
          <a:ln/>
        </p:spPr>
        <p:txBody>
          <a:bodyPr wrap="square" lIns="0" tIns="0" rIns="0" bIns="0" rtlCol="0" anchor="t"/>
          <a:lstStyle/>
          <a:p>
            <a:pPr indent="0" marL="0">
              <a:spcAft>
                <a:spcPts val="300"/>
              </a:spcAft>
              <a:buNone/>
            </a:pPr>
            <a:r>
              <a:rPr lang="en-US" sz="1400" b="1" dirty="0">
                <a:solidFill>
                  <a:srgbClr val="1F7A8C"/>
                </a:solidFill>
              </a:rPr>
              <a:t>Include</a:t>
            </a:r>
            <a:endParaRPr lang="en-US" sz="1100" dirty="0"/>
          </a:p>
          <a:p>
            <a:pPr marL="342900" indent="-342900">
              <a:spcAft>
                <a:spcPts val="300"/>
              </a:spcAft>
              <a:buSzPct val="100000"/>
              <a:buChar char="•"/>
            </a:pPr>
            <a:r>
              <a:rPr lang="en-US" sz="1100" dirty="0">
                <a:solidFill>
                  <a:srgbClr val="1B1F23"/>
                </a:solidFill>
              </a:rPr>
              <a:t>Published 2020 onwards</a:t>
            </a:r>
            <a:endParaRPr lang="en-US" sz="1100" dirty="0"/>
          </a:p>
          <a:p>
            <a:pPr marL="342900" indent="-342900">
              <a:spcAft>
                <a:spcPts val="300"/>
              </a:spcAft>
              <a:buSzPct val="100000"/>
              <a:buChar char="•"/>
            </a:pPr>
            <a:r>
              <a:rPr lang="en-US" sz="1100" dirty="0">
                <a:solidFill>
                  <a:srgbClr val="1B1F23"/>
                </a:solidFill>
              </a:rPr>
              <a:t>Ceramic membranes for water treatment</a:t>
            </a:r>
            <a:endParaRPr lang="en-US" sz="1100" dirty="0"/>
          </a:p>
          <a:p>
            <a:pPr marL="342900" indent="-342900">
              <a:spcAft>
                <a:spcPts val="300"/>
              </a:spcAft>
              <a:buSzPct val="100000"/>
              <a:buChar char="•"/>
            </a:pPr>
            <a:r>
              <a:rPr lang="en-US" sz="1100" dirty="0">
                <a:solidFill>
                  <a:srgbClr val="1B1F23"/>
                </a:solidFill>
              </a:rPr>
              <a:t>Quantitative data on flux, rejection, fouling, strength, energy, cost or life cycle</a:t>
            </a:r>
            <a:endParaRPr lang="en-US" sz="1100" dirty="0"/>
          </a:p>
          <a:p>
            <a:pPr marL="342900" indent="-342900">
              <a:spcAft>
                <a:spcPts val="300"/>
              </a:spcAft>
              <a:buSzPct val="100000"/>
              <a:buChar char="•"/>
            </a:pPr>
            <a:r>
              <a:rPr lang="en-US" sz="1100" dirty="0">
                <a:solidFill>
                  <a:srgbClr val="1B1F23"/>
                </a:solidFill>
              </a:rPr>
              <a:t>Peer-reviewed or WHO/UNICEF</a:t>
            </a:r>
            <a:endParaRPr lang="en-US" sz="1100" dirty="0"/>
          </a:p>
        </p:txBody>
      </p:sp>
      <p:sp>
        <p:nvSpPr>
          <p:cNvPr id="9" name="Text 6"/>
          <p:cNvSpPr txBox="1"/>
          <p:nvPr/>
        </p:nvSpPr>
        <p:spPr>
          <a:xfrm>
            <a:off x="9665208" y="1371600"/>
            <a:ext cx="2011680" cy="2606040"/>
          </a:xfrm>
          <a:prstGeom prst="rect">
            <a:avLst/>
          </a:prstGeom>
          <a:noFill/>
          <a:ln/>
        </p:spPr>
        <p:txBody>
          <a:bodyPr wrap="square" lIns="0" tIns="0" rIns="0" bIns="0" rtlCol="0" anchor="t"/>
          <a:lstStyle/>
          <a:p>
            <a:pPr indent="0" marL="0">
              <a:spcAft>
                <a:spcPts val="300"/>
              </a:spcAft>
              <a:buNone/>
            </a:pPr>
            <a:r>
              <a:rPr lang="en-US" sz="1400" b="1" dirty="0">
                <a:solidFill>
                  <a:srgbClr val="C8553D"/>
                </a:solidFill>
              </a:rPr>
              <a:t>Exclude</a:t>
            </a:r>
            <a:endParaRPr lang="en-US" sz="1100" dirty="0"/>
          </a:p>
          <a:p>
            <a:pPr marL="342900" indent="-342900">
              <a:spcAft>
                <a:spcPts val="300"/>
              </a:spcAft>
              <a:buSzPct val="100000"/>
              <a:buChar char="•"/>
            </a:pPr>
            <a:r>
              <a:rPr lang="en-US" sz="1100" dirty="0">
                <a:solidFill>
                  <a:srgbClr val="1B1F23"/>
                </a:solidFill>
              </a:rPr>
              <a:t>Opinion pieces</a:t>
            </a:r>
            <a:endParaRPr lang="en-US" sz="1100" dirty="0"/>
          </a:p>
          <a:p>
            <a:pPr marL="342900" indent="-342900">
              <a:spcAft>
                <a:spcPts val="300"/>
              </a:spcAft>
              <a:buSzPct val="100000"/>
              <a:buChar char="•"/>
            </a:pPr>
            <a:r>
              <a:rPr lang="en-US" sz="1100" dirty="0">
                <a:solidFill>
                  <a:srgbClr val="1B1F23"/>
                </a:solidFill>
              </a:rPr>
              <a:t>Non-English papers</a:t>
            </a:r>
            <a:endParaRPr lang="en-US" sz="1100" dirty="0"/>
          </a:p>
          <a:p>
            <a:pPr marL="342900" indent="-342900">
              <a:spcAft>
                <a:spcPts val="300"/>
              </a:spcAft>
              <a:buSzPct val="100000"/>
              <a:buChar char="•"/>
            </a:pPr>
            <a:r>
              <a:rPr lang="en-US" sz="1100" dirty="0">
                <a:solidFill>
                  <a:srgbClr val="1B1F23"/>
                </a:solidFill>
              </a:rPr>
              <a:t>Duplicate records</a:t>
            </a:r>
            <a:endParaRPr lang="en-US" sz="1100" dirty="0"/>
          </a:p>
          <a:p>
            <a:pPr marL="342900" indent="-342900">
              <a:spcAft>
                <a:spcPts val="300"/>
              </a:spcAft>
              <a:buSzPct val="100000"/>
              <a:buChar char="•"/>
            </a:pPr>
            <a:r>
              <a:rPr lang="en-US" sz="1100" dirty="0">
                <a:solidFill>
                  <a:srgbClr val="1B1F23"/>
                </a:solidFill>
              </a:rPr>
              <a:t>No usable performance data</a:t>
            </a:r>
            <a:endParaRPr lang="en-US" sz="1100" dirty="0"/>
          </a:p>
        </p:txBody>
      </p:sp>
      <p:sp>
        <p:nvSpPr>
          <p:cNvPr id="10" name="Shape 7"/>
          <p:cNvSpPr/>
          <p:nvPr/>
        </p:nvSpPr>
        <p:spPr>
          <a:xfrm>
            <a:off x="7223760" y="4160520"/>
            <a:ext cx="4507992" cy="1828800"/>
          </a:xfrm>
          <a:prstGeom prst="rect">
            <a:avLst/>
          </a:prstGeom>
          <a:solidFill>
            <a:srgbClr val="FBEFD9"/>
          </a:solidFill>
          <a:ln w="12700">
            <a:solidFill>
              <a:srgbClr val="FBEFD9"/>
            </a:solidFill>
            <a:prstDash val="solid"/>
          </a:ln>
        </p:spPr>
      </p:sp>
      <p:sp>
        <p:nvSpPr>
          <p:cNvPr id="11" name="Text 8"/>
          <p:cNvSpPr txBox="1"/>
          <p:nvPr/>
        </p:nvSpPr>
        <p:spPr>
          <a:xfrm>
            <a:off x="7360920" y="4206240"/>
            <a:ext cx="4233672" cy="1737360"/>
          </a:xfrm>
          <a:prstGeom prst="rect">
            <a:avLst/>
          </a:prstGeom>
          <a:noFill/>
          <a:ln/>
        </p:spPr>
        <p:txBody>
          <a:bodyPr wrap="square" lIns="0" tIns="0" rIns="0" bIns="0" rtlCol="0" anchor="ctr"/>
          <a:lstStyle/>
          <a:p>
            <a:pPr indent="0" marL="0">
              <a:buNone/>
            </a:pPr>
            <a:r>
              <a:rPr lang="en-US" sz="1200" b="1" dirty="0">
                <a:solidFill>
                  <a:srgbClr val="A86A0E"/>
                </a:solidFill>
              </a:rPr>
              <a:t>Ethics. </a:t>
            </a:r>
            <a:pPr indent="0" marL="0">
              <a:buNone/>
            </a:pPr>
            <a:r>
              <a:rPr lang="en-US" sz="1200" dirty="0">
                <a:solidFill>
                  <a:srgbClr val="1B1F23"/>
                </a:solidFill>
              </a:rPr>
              <a:t>Only published sources are used. No people or animals are involved, so ethical risk is low. Ethics status will be confirmed with the supervisor in Week 1.</a:t>
            </a:r>
            <a:endParaRPr lang="en-US" sz="1200" dirty="0"/>
          </a:p>
        </p:txBody>
      </p:sp>
      <p:sp>
        <p:nvSpPr>
          <p:cNvPr id="12" name="Text 9"/>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Sources: author's literature review (cited works as listed); Page et al. (2021) for screening. Selection criteria designed by the author.</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Expected results, outcomes and benefits</a:t>
            </a:r>
            <a:endParaRPr lang="en-US" sz="2600" dirty="0"/>
          </a:p>
        </p:txBody>
      </p:sp>
      <p:sp>
        <p:nvSpPr>
          <p:cNvPr id="3" name="Shape 1"/>
          <p:cNvSpPr/>
          <p:nvPr/>
        </p:nvSpPr>
        <p:spPr>
          <a:xfrm>
            <a:off x="457200" y="1280160"/>
            <a:ext cx="5394960" cy="2834640"/>
          </a:xfrm>
          <a:prstGeom prst="rect">
            <a:avLst/>
          </a:prstGeom>
          <a:solidFill>
            <a:srgbClr val="E6F2F1"/>
          </a:solidFill>
          <a:ln w="12700">
            <a:solidFill>
              <a:srgbClr val="E6F2F1"/>
            </a:solidFill>
            <a:prstDash val="solid"/>
          </a:ln>
        </p:spPr>
      </p:sp>
      <p:sp>
        <p:nvSpPr>
          <p:cNvPr id="4" name="Shape 2"/>
          <p:cNvSpPr/>
          <p:nvPr/>
        </p:nvSpPr>
        <p:spPr>
          <a:xfrm>
            <a:off x="6336792" y="1280160"/>
            <a:ext cx="5394960" cy="2834640"/>
          </a:xfrm>
          <a:prstGeom prst="rect">
            <a:avLst/>
          </a:prstGeom>
          <a:solidFill>
            <a:srgbClr val="FBEFD9"/>
          </a:solidFill>
          <a:ln w="12700">
            <a:solidFill>
              <a:srgbClr val="FBEFD9"/>
            </a:solidFill>
            <a:prstDash val="solid"/>
          </a:ln>
        </p:spPr>
      </p:sp>
      <p:sp>
        <p:nvSpPr>
          <p:cNvPr id="5" name="Shape 3"/>
          <p:cNvSpPr/>
          <p:nvPr/>
        </p:nvSpPr>
        <p:spPr>
          <a:xfrm>
            <a:off x="5897880" y="2423160"/>
            <a:ext cx="411480" cy="457200"/>
          </a:xfrm>
          <a:prstGeom prst="rightArrow">
            <a:avLst/>
          </a:prstGeom>
          <a:solidFill>
            <a:srgbClr val="E8A33D"/>
          </a:solidFill>
          <a:ln w="12700">
            <a:solidFill>
              <a:srgbClr val="E8A33D"/>
            </a:solidFill>
            <a:prstDash val="solid"/>
          </a:ln>
        </p:spPr>
      </p:sp>
      <p:sp>
        <p:nvSpPr>
          <p:cNvPr id="6" name="Text 4"/>
          <p:cNvSpPr txBox="1"/>
          <p:nvPr/>
        </p:nvSpPr>
        <p:spPr>
          <a:xfrm>
            <a:off x="640080" y="1371600"/>
            <a:ext cx="5029200" cy="2651760"/>
          </a:xfrm>
          <a:prstGeom prst="rect">
            <a:avLst/>
          </a:prstGeom>
          <a:noFill/>
          <a:ln/>
        </p:spPr>
        <p:txBody>
          <a:bodyPr wrap="square" lIns="0" tIns="0" rIns="0" bIns="0" rtlCol="0" anchor="t"/>
          <a:lstStyle/>
          <a:p>
            <a:pPr indent="0" marL="0">
              <a:spcAft>
                <a:spcPts val="600"/>
              </a:spcAft>
              <a:buNone/>
            </a:pPr>
            <a:r>
              <a:rPr lang="en-US" sz="1500" b="1" dirty="0">
                <a:solidFill>
                  <a:srgbClr val="1F7A8C"/>
                </a:solidFill>
                <a:latin typeface="Cambria" pitchFamily="34" charset="0"/>
                <a:ea typeface="Cambria" pitchFamily="34" charset="-122"/>
                <a:cs typeface="Cambria" pitchFamily="34" charset="-120"/>
              </a:rPr>
              <a:t>Known from previous research</a:t>
            </a:r>
            <a:endParaRPr lang="en-US" sz="1250" dirty="0"/>
          </a:p>
          <a:p>
            <a:pPr marL="342900" indent="-342900">
              <a:spcAft>
                <a:spcPts val="600"/>
              </a:spcAft>
              <a:buSzPct val="100000"/>
              <a:buChar char="•"/>
            </a:pPr>
            <a:r>
              <a:rPr lang="en-US" sz="1250" dirty="0">
                <a:solidFill>
                  <a:srgbClr val="1B1F23"/>
                </a:solidFill>
              </a:rPr>
              <a:t>Ceramic–nanofiltration hybrids removed more organic carbon and divalent ions than nanofiltration alone (Xie et al., 2025).</a:t>
            </a:r>
            <a:endParaRPr lang="en-US" sz="1250" dirty="0"/>
          </a:p>
          <a:p>
            <a:pPr marL="342900" indent="-342900">
              <a:spcAft>
                <a:spcPts val="600"/>
              </a:spcAft>
              <a:buSzPct val="100000"/>
              <a:buChar char="•"/>
            </a:pPr>
            <a:r>
              <a:rPr lang="en-US" sz="1250" dirty="0">
                <a:solidFill>
                  <a:srgbClr val="1B1F23"/>
                </a:solidFill>
              </a:rPr>
              <a:t>Ozonation can reduce cleaning frequency (Xie et al., 2024).</a:t>
            </a:r>
            <a:endParaRPr lang="en-US" sz="1250" dirty="0"/>
          </a:p>
          <a:p>
            <a:pPr marL="342900" indent="-342900">
              <a:spcAft>
                <a:spcPts val="600"/>
              </a:spcAft>
              <a:buSzPct val="100000"/>
              <a:buChar char="•"/>
            </a:pPr>
            <a:r>
              <a:rPr lang="en-US" sz="1250" dirty="0">
                <a:solidFill>
                  <a:srgbClr val="1B1F23"/>
                </a:solidFill>
              </a:rPr>
              <a:t>Conductive membranes are promising but unproven at scale (Lin et al., 2024).</a:t>
            </a:r>
            <a:endParaRPr lang="en-US" sz="1250" dirty="0"/>
          </a:p>
        </p:txBody>
      </p:sp>
      <p:sp>
        <p:nvSpPr>
          <p:cNvPr id="7" name="Text 5"/>
          <p:cNvSpPr txBox="1"/>
          <p:nvPr/>
        </p:nvSpPr>
        <p:spPr>
          <a:xfrm>
            <a:off x="6519672" y="1371600"/>
            <a:ext cx="5029200" cy="2651760"/>
          </a:xfrm>
          <a:prstGeom prst="rect">
            <a:avLst/>
          </a:prstGeom>
          <a:noFill/>
          <a:ln/>
        </p:spPr>
        <p:txBody>
          <a:bodyPr wrap="square" lIns="0" tIns="0" rIns="0" bIns="0" rtlCol="0" anchor="t"/>
          <a:lstStyle/>
          <a:p>
            <a:pPr indent="0" marL="0">
              <a:spcAft>
                <a:spcPts val="600"/>
              </a:spcAft>
              <a:buNone/>
            </a:pPr>
            <a:r>
              <a:rPr lang="en-US" sz="1500" b="1" dirty="0">
                <a:solidFill>
                  <a:srgbClr val="A86A0E"/>
                </a:solidFill>
                <a:latin typeface="Cambria" pitchFamily="34" charset="0"/>
                <a:ea typeface="Cambria" pitchFamily="34" charset="-122"/>
                <a:cs typeface="Cambria" pitchFamily="34" charset="-120"/>
              </a:rPr>
              <a:t>Expected from this study (anticipated, not yet established)</a:t>
            </a:r>
            <a:endParaRPr lang="en-US" sz="1250" dirty="0"/>
          </a:p>
          <a:p>
            <a:pPr marL="342900" indent="-342900">
              <a:spcAft>
                <a:spcPts val="600"/>
              </a:spcAft>
              <a:buSzPct val="100000"/>
              <a:buChar char="•"/>
            </a:pPr>
            <a:r>
              <a:rPr lang="en-US" sz="1250" dirty="0">
                <a:solidFill>
                  <a:srgbClr val="1B1F23"/>
                </a:solidFill>
              </a:rPr>
              <a:t>Hybrids will outperform standalone membranes for organic carbon and divalent ions.</a:t>
            </a:r>
            <a:endParaRPr lang="en-US" sz="1250" dirty="0"/>
          </a:p>
          <a:p>
            <a:pPr marL="342900" indent="-342900">
              <a:spcAft>
                <a:spcPts val="600"/>
              </a:spcAft>
              <a:buSzPct val="100000"/>
              <a:buChar char="•"/>
            </a:pPr>
            <a:r>
              <a:rPr lang="en-US" sz="1250" dirty="0">
                <a:solidFill>
                  <a:srgbClr val="1B1F23"/>
                </a:solidFill>
              </a:rPr>
              <a:t>Waste-based membranes will be cheaper but more variable (Fu et al., 2024).</a:t>
            </a:r>
            <a:endParaRPr lang="en-US" sz="1250" dirty="0"/>
          </a:p>
          <a:p>
            <a:pPr marL="342900" indent="-342900">
              <a:spcAft>
                <a:spcPts val="600"/>
              </a:spcAft>
              <a:buSzPct val="100000"/>
              <a:buChar char="•"/>
            </a:pPr>
            <a:r>
              <a:rPr lang="en-US" sz="1250" dirty="0">
                <a:solidFill>
                  <a:srgbClr val="1B1F23"/>
                </a:solidFill>
              </a:rPr>
              <a:t>Largest evidence gaps: PFAS, microplastics and viruses at full scale (Burke et al., 2025).</a:t>
            </a:r>
            <a:endParaRPr lang="en-US" sz="1250" dirty="0"/>
          </a:p>
        </p:txBody>
      </p:sp>
      <p:sp>
        <p:nvSpPr>
          <p:cNvPr id="8" name="Text 6"/>
          <p:cNvSpPr txBox="1"/>
          <p:nvPr/>
        </p:nvSpPr>
        <p:spPr>
          <a:xfrm>
            <a:off x="457200" y="4251960"/>
            <a:ext cx="11274552" cy="320040"/>
          </a:xfrm>
          <a:prstGeom prst="rect">
            <a:avLst/>
          </a:prstGeom>
          <a:noFill/>
          <a:ln/>
        </p:spPr>
        <p:txBody>
          <a:bodyPr wrap="square" lIns="0" tIns="0" rIns="0" bIns="0" rtlCol="0" anchor="ctr"/>
          <a:lstStyle/>
          <a:p>
            <a:pPr indent="0" marL="0">
              <a:buNone/>
            </a:pPr>
            <a:r>
              <a:rPr lang="en-US" sz="1300" b="1" dirty="0">
                <a:solidFill>
                  <a:srgbClr val="0F2E3D"/>
                </a:solidFill>
              </a:rPr>
              <a:t>Key outcomes and benefits</a:t>
            </a:r>
            <a:endParaRPr lang="en-US" sz="1300" dirty="0"/>
          </a:p>
        </p:txBody>
      </p:sp>
      <p:sp>
        <p:nvSpPr>
          <p:cNvPr id="9" name="Shape 7"/>
          <p:cNvSpPr/>
          <p:nvPr/>
        </p:nvSpPr>
        <p:spPr>
          <a:xfrm>
            <a:off x="457200" y="4617720"/>
            <a:ext cx="2715768" cy="1371600"/>
          </a:xfrm>
          <a:prstGeom prst="rect">
            <a:avLst/>
          </a:prstGeom>
          <a:solidFill>
            <a:srgbClr val="0F2E3D"/>
          </a:solidFill>
          <a:ln w="12700">
            <a:solidFill>
              <a:srgbClr val="0F2E3D"/>
            </a:solidFill>
            <a:prstDash val="solid"/>
          </a:ln>
        </p:spPr>
      </p:sp>
      <p:sp>
        <p:nvSpPr>
          <p:cNvPr id="10" name="Text 8"/>
          <p:cNvSpPr txBox="1"/>
          <p:nvPr/>
        </p:nvSpPr>
        <p:spPr>
          <a:xfrm>
            <a:off x="566928"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Outputs</a:t>
            </a:r>
            <a:endParaRPr lang="en-US" sz="1300" dirty="0"/>
          </a:p>
          <a:p>
            <a:pPr indent="0" marL="0">
              <a:buNone/>
            </a:pPr>
            <a:r>
              <a:rPr lang="en-US" sz="1100" dirty="0">
                <a:solidFill>
                  <a:srgbClr val="FFFFFF"/>
                </a:solidFill>
              </a:rPr>
              <a:t>Extraction database, comparison tables, evidence-gap map and decision framework.</a:t>
            </a:r>
            <a:endParaRPr lang="en-US" sz="1300" dirty="0"/>
          </a:p>
        </p:txBody>
      </p:sp>
      <p:sp>
        <p:nvSpPr>
          <p:cNvPr id="11" name="Shape 9"/>
          <p:cNvSpPr/>
          <p:nvPr/>
        </p:nvSpPr>
        <p:spPr>
          <a:xfrm>
            <a:off x="3310128" y="4617720"/>
            <a:ext cx="2715768" cy="1371600"/>
          </a:xfrm>
          <a:prstGeom prst="rect">
            <a:avLst/>
          </a:prstGeom>
          <a:solidFill>
            <a:srgbClr val="0F2E3D"/>
          </a:solidFill>
          <a:ln w="12700">
            <a:solidFill>
              <a:srgbClr val="0F2E3D"/>
            </a:solidFill>
            <a:prstDash val="solid"/>
          </a:ln>
        </p:spPr>
      </p:sp>
      <p:sp>
        <p:nvSpPr>
          <p:cNvPr id="12" name="Text 10"/>
          <p:cNvSpPr txBox="1"/>
          <p:nvPr/>
        </p:nvSpPr>
        <p:spPr>
          <a:xfrm>
            <a:off x="3419856"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Utilities and engineers</a:t>
            </a:r>
            <a:endParaRPr lang="en-US" sz="1300" dirty="0"/>
          </a:p>
          <a:p>
            <a:pPr indent="0" marL="0">
              <a:buNone/>
            </a:pPr>
            <a:r>
              <a:rPr lang="en-US" sz="1100" dirty="0">
                <a:solidFill>
                  <a:srgbClr val="FFFFFF"/>
                </a:solidFill>
              </a:rPr>
              <a:t>A clear guide for selecting ceramic membrane treatment trains.</a:t>
            </a:r>
            <a:endParaRPr lang="en-US" sz="1300" dirty="0"/>
          </a:p>
        </p:txBody>
      </p:sp>
      <p:sp>
        <p:nvSpPr>
          <p:cNvPr id="13" name="Shape 11"/>
          <p:cNvSpPr/>
          <p:nvPr/>
        </p:nvSpPr>
        <p:spPr>
          <a:xfrm>
            <a:off x="6163056" y="4617720"/>
            <a:ext cx="2715768" cy="1371600"/>
          </a:xfrm>
          <a:prstGeom prst="rect">
            <a:avLst/>
          </a:prstGeom>
          <a:solidFill>
            <a:srgbClr val="0F2E3D"/>
          </a:solidFill>
          <a:ln w="12700">
            <a:solidFill>
              <a:srgbClr val="0F2E3D"/>
            </a:solidFill>
            <a:prstDash val="solid"/>
          </a:ln>
        </p:spPr>
      </p:sp>
      <p:sp>
        <p:nvSpPr>
          <p:cNvPr id="14" name="Text 12"/>
          <p:cNvSpPr txBox="1"/>
          <p:nvPr/>
        </p:nvSpPr>
        <p:spPr>
          <a:xfrm>
            <a:off x="6272784"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Researchers and regulators</a:t>
            </a:r>
            <a:endParaRPr lang="en-US" sz="1300" dirty="0"/>
          </a:p>
          <a:p>
            <a:pPr indent="0" marL="0">
              <a:buNone/>
            </a:pPr>
            <a:r>
              <a:rPr lang="en-US" sz="1100" dirty="0">
                <a:solidFill>
                  <a:srgbClr val="FFFFFF"/>
                </a:solidFill>
              </a:rPr>
              <a:t>A prioritised map of gaps for emerging contaminants (Burke et al., 2025).</a:t>
            </a:r>
            <a:endParaRPr lang="en-US" sz="1300" dirty="0"/>
          </a:p>
        </p:txBody>
      </p:sp>
      <p:sp>
        <p:nvSpPr>
          <p:cNvPr id="15" name="Shape 13"/>
          <p:cNvSpPr/>
          <p:nvPr/>
        </p:nvSpPr>
        <p:spPr>
          <a:xfrm>
            <a:off x="9015984" y="4617720"/>
            <a:ext cx="2715768" cy="1371600"/>
          </a:xfrm>
          <a:prstGeom prst="rect">
            <a:avLst/>
          </a:prstGeom>
          <a:solidFill>
            <a:srgbClr val="0F2E3D"/>
          </a:solidFill>
          <a:ln w="12700">
            <a:solidFill>
              <a:srgbClr val="0F2E3D"/>
            </a:solidFill>
            <a:prstDash val="solid"/>
          </a:ln>
        </p:spPr>
      </p:sp>
      <p:sp>
        <p:nvSpPr>
          <p:cNvPr id="16" name="Text 14"/>
          <p:cNvSpPr txBox="1"/>
          <p:nvPr/>
        </p:nvSpPr>
        <p:spPr>
          <a:xfrm>
            <a:off x="9125712" y="4645152"/>
            <a:ext cx="2496312" cy="1316736"/>
          </a:xfrm>
          <a:prstGeom prst="rect">
            <a:avLst/>
          </a:prstGeom>
          <a:noFill/>
          <a:ln/>
        </p:spPr>
        <p:txBody>
          <a:bodyPr wrap="square" lIns="0" tIns="0" rIns="0" bIns="0" rtlCol="0" anchor="ctr"/>
          <a:lstStyle/>
          <a:p>
            <a:pPr indent="0" marL="0">
              <a:buNone/>
            </a:pPr>
            <a:r>
              <a:rPr lang="en-US" sz="1300" b="1" dirty="0">
                <a:solidFill>
                  <a:srgbClr val="E8A33D"/>
                </a:solidFill>
              </a:rPr>
              <a:t>Communities</a:t>
            </a:r>
            <a:endParaRPr lang="en-US" sz="1300" dirty="0"/>
          </a:p>
          <a:p>
            <a:pPr indent="0" marL="0">
              <a:buNone/>
            </a:pPr>
            <a:r>
              <a:rPr lang="en-US" sz="1100" dirty="0">
                <a:solidFill>
                  <a:srgbClr val="FFFFFF"/>
                </a:solidFill>
              </a:rPr>
              <a:t>Better technology choices may support affordable supply (WHO/UNICEF, 2023).</a:t>
            </a:r>
            <a:endParaRPr lang="en-US" sz="1300" dirty="0"/>
          </a:p>
        </p:txBody>
      </p:sp>
      <p:sp>
        <p:nvSpPr>
          <p:cNvPr id="17" name="Text 15"/>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Sources: Burke et al. (2025); Fu et al. (2024); Lin et al. (2024); WHO/UNICEF (2023); Xie et al. (2024, 2025). Anticipated findings are expectations, not results.</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Budget, resources and personnel: no funds requested</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6766560" cy="914400"/>
        </p:xfrm>
        <a:graphic>
          <a:graphicData uri="http://schemas.openxmlformats.org/drawingml/2006/table">
            <a:tbl>
              <a:tblPr/>
              <a:tblGrid>
                <a:gridCol w="2194560"/>
                <a:gridCol w="3474720"/>
                <a:gridCol w="109728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Resource</a:t>
                      </a:r>
                      <a:endParaRPr lang="en-US" sz="1200" dirty="0">
                        <a:latin typeface="Calibri" charset="0"/>
                        <a:ea typeface="Calibri" charset="0"/>
                        <a:cs typeface="Calibri" charset="0"/>
                      </a:endParaRPr>
                    </a:p>
                  </a:txBody>
                  <a:tcPr marL="73152" marR="73152"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3152" marR="73152"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Cost ($)</a:t>
                      </a:r>
                      <a:endParaRPr lang="en-US" sz="1200" dirty="0">
                        <a:latin typeface="Calibri" charset="0"/>
                        <a:ea typeface="Calibri" charset="0"/>
                        <a:cs typeface="Calibri" charset="0"/>
                      </a:endParaRPr>
                    </a:p>
                  </a:txBody>
                  <a:tcPr marL="73152" marR="73152" marT="36576" marB="36576" anchor="ctr">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0F2E3D"/>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Student researcher</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About 150 hours of coursework time</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Supervisor</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About 12 hours within normal supervision</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Librarian</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About 3 hours of university service</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Database access</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Existing university subscriptions</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Software</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Free reference manager; existing spreadsheet</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Computer and storage</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Existing equipment</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150" b="1" dirty="0">
                          <a:solidFill>
                            <a:srgbClr val="1B1F23"/>
                          </a:solidFill>
                          <a:latin typeface="Calibri" pitchFamily="34" charset="0"/>
                          <a:ea typeface="Calibri" pitchFamily="34" charset="-122"/>
                          <a:cs typeface="Calibri" pitchFamily="34" charset="-120"/>
                        </a:rPr>
                        <a:t>Laboratory consumables</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None required for a desk-based design</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c>
                  <a:txBody>
                    <a:bodyPr/>
                    <a:lstStyle/>
                    <a:p>
                      <a:pPr indent="0" marL="0">
                        <a:buNone/>
                      </a:pPr>
                      <a:r>
                        <a:rPr lang="en-US" sz="1150" dirty="0">
                          <a:solidFill>
                            <a:srgbClr val="1B1F23"/>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36576" marB="36576" anchor="t">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3152" marR="73152" marT="36576" marB="36576">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6F2F1"/>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Overall project cost</a:t>
                      </a:r>
                      <a:endParaRPr lang="en-US" sz="1200" dirty="0">
                        <a:latin typeface="Calibri" charset="0"/>
                        <a:ea typeface="Calibri" charset="0"/>
                        <a:cs typeface="Calibri" charset="0"/>
                      </a:endParaRPr>
                    </a:p>
                  </a:txBody>
                  <a:tcPr marL="73152" marR="73152" marT="36576" marB="36576">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6F2F1"/>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36576" marB="36576">
                    <a:lnL w="9525" cap="flat" cmpd="sng" algn="ctr">
                      <a:solidFill>
                        <a:srgbClr val="C9D3D8"/>
                      </a:solidFill>
                      <a:prstDash val="solid"/>
                      <a:round/>
                      <a:headEnd type="none" w="med" len="med"/>
                      <a:tailEnd type="none" w="med" len="med"/>
                    </a:lnL>
                    <a:lnR w="9525" cap="flat" cmpd="sng" algn="ctr">
                      <a:solidFill>
                        <a:srgbClr val="C9D3D8"/>
                      </a:solidFill>
                      <a:prstDash val="solid"/>
                      <a:round/>
                      <a:headEnd type="none" w="med" len="med"/>
                      <a:tailEnd type="none" w="med" len="med"/>
                    </a:lnR>
                    <a:lnT w="9525" cap="flat" cmpd="sng" algn="ctr">
                      <a:solidFill>
                        <a:srgbClr val="C9D3D8"/>
                      </a:solidFill>
                      <a:prstDash val="solid"/>
                      <a:round/>
                      <a:headEnd type="none" w="med" len="med"/>
                      <a:tailEnd type="none" w="med" len="med"/>
                    </a:lnT>
                    <a:lnB w="9525" cap="flat" cmpd="sng" algn="ctr">
                      <a:solidFill>
                        <a:srgbClr val="C9D3D8"/>
                      </a:solidFill>
                      <a:prstDash val="solid"/>
                      <a:round/>
                      <a:headEnd type="none" w="med" len="med"/>
                      <a:tailEnd type="none" w="med" len="med"/>
                    </a:lnB>
                    <a:solidFill>
                      <a:srgbClr val="E6F2F1"/>
                    </a:solidFill>
                  </a:tcPr>
                </a:tc>
              </a:tr>
            </a:tbl>
          </a:graphicData>
        </a:graphic>
      </p:graphicFrame>
      <p:sp>
        <p:nvSpPr>
          <p:cNvPr id="4" name="Text 1"/>
          <p:cNvSpPr txBox="1"/>
          <p:nvPr/>
        </p:nvSpPr>
        <p:spPr>
          <a:xfrm>
            <a:off x="457200" y="5029200"/>
            <a:ext cx="6766560" cy="822960"/>
          </a:xfrm>
          <a:prstGeom prst="rect">
            <a:avLst/>
          </a:prstGeom>
          <a:noFill/>
          <a:ln/>
        </p:spPr>
        <p:txBody>
          <a:bodyPr wrap="square" lIns="0" tIns="0" rIns="0" bIns="0" rtlCol="0" anchor="t"/>
          <a:lstStyle/>
          <a:p>
            <a:pPr indent="0" marL="0">
              <a:buNone/>
            </a:pPr>
            <a:r>
              <a:rPr lang="en-US" sz="1200" dirty="0">
                <a:solidFill>
                  <a:srgbClr val="1B1F23"/>
                </a:solidFill>
              </a:rPr>
              <a:t>Costs are low because published data remove the need for equipment, consumables, participants and travel. Time is the main input and is shown in hours, not dollars.</a:t>
            </a:r>
            <a:endParaRPr lang="en-US" sz="1200" dirty="0"/>
          </a:p>
        </p:txBody>
      </p:sp>
      <p:sp>
        <p:nvSpPr>
          <p:cNvPr id="5" name="Shape 2"/>
          <p:cNvSpPr/>
          <p:nvPr/>
        </p:nvSpPr>
        <p:spPr>
          <a:xfrm>
            <a:off x="7498080" y="1280160"/>
            <a:ext cx="4233672" cy="4572000"/>
          </a:xfrm>
          <a:prstGeom prst="rect">
            <a:avLst/>
          </a:prstGeom>
          <a:solidFill>
            <a:srgbClr val="E6F2F1"/>
          </a:solidFill>
          <a:ln w="12700">
            <a:solidFill>
              <a:srgbClr val="E6F2F1"/>
            </a:solidFill>
            <a:prstDash val="solid"/>
          </a:ln>
        </p:spPr>
      </p:sp>
      <p:sp>
        <p:nvSpPr>
          <p:cNvPr id="6" name="Text 3"/>
          <p:cNvSpPr txBox="1"/>
          <p:nvPr/>
        </p:nvSpPr>
        <p:spPr>
          <a:xfrm>
            <a:off x="7680960" y="1371600"/>
            <a:ext cx="3886200" cy="365760"/>
          </a:xfrm>
          <a:prstGeom prst="rect">
            <a:avLst/>
          </a:prstGeom>
          <a:noFill/>
          <a:ln/>
        </p:spPr>
        <p:txBody>
          <a:bodyPr wrap="square" lIns="0" tIns="0" rIns="0" bIns="0" rtlCol="0" anchor="ctr"/>
          <a:lstStyle/>
          <a:p>
            <a:pPr indent="0" marL="0">
              <a:buNone/>
            </a:pPr>
            <a:r>
              <a:rPr lang="en-US" sz="1500" b="1" dirty="0">
                <a:solidFill>
                  <a:srgbClr val="0F2E3D"/>
                </a:solidFill>
                <a:latin typeface="Cambria" pitchFamily="34" charset="0"/>
                <a:ea typeface="Cambria" pitchFamily="34" charset="-122"/>
                <a:cs typeface="Cambria" pitchFamily="34" charset="-120"/>
              </a:rPr>
              <a:t>Personnel and responsibilities</a:t>
            </a:r>
            <a:endParaRPr lang="en-US" sz="1500" dirty="0"/>
          </a:p>
        </p:txBody>
      </p:sp>
      <p:sp>
        <p:nvSpPr>
          <p:cNvPr id="7" name="Text 4"/>
          <p:cNvSpPr txBox="1"/>
          <p:nvPr/>
        </p:nvSpPr>
        <p:spPr>
          <a:xfrm>
            <a:off x="7680960" y="1828800"/>
            <a:ext cx="3886200" cy="3931920"/>
          </a:xfrm>
          <a:prstGeom prst="rect">
            <a:avLst/>
          </a:prstGeom>
          <a:noFill/>
          <a:ln/>
        </p:spPr>
        <p:txBody>
          <a:bodyPr wrap="square" lIns="0" tIns="0" rIns="0" bIns="0" rtlCol="0" anchor="t"/>
          <a:lstStyle/>
          <a:p>
            <a:pPr indent="0" marL="0">
              <a:spcAft>
                <a:spcPts val="1000"/>
              </a:spcAft>
              <a:buNone/>
            </a:pPr>
            <a:r>
              <a:rPr lang="en-US" sz="1250" b="1" dirty="0">
                <a:solidFill>
                  <a:srgbClr val="1F7A8C"/>
                </a:solidFill>
              </a:rPr>
              <a:t>Student researcher: </a:t>
            </a:r>
            <a:pPr indent="0" marL="0">
              <a:spcAft>
                <a:spcPts val="1000"/>
              </a:spcAft>
              <a:buNone/>
            </a:pPr>
            <a:r>
              <a:rPr lang="en-US" sz="1250" dirty="0">
                <a:solidFill>
                  <a:srgbClr val="1B1F23"/>
                </a:solidFill>
              </a:rPr>
              <a:t>designs the protocol; searches, screens and extracts data; builds the framework; writes the report.</a:t>
            </a:r>
            <a:endParaRPr lang="en-US" sz="1250" dirty="0"/>
          </a:p>
          <a:p>
            <a:pPr indent="0" marL="0">
              <a:spcAft>
                <a:spcPts val="1000"/>
              </a:spcAft>
              <a:buNone/>
            </a:pPr>
            <a:r>
              <a:rPr lang="en-US" sz="1250" b="1" dirty="0">
                <a:solidFill>
                  <a:srgbClr val="1F7A8C"/>
                </a:solidFill>
              </a:rPr>
              <a:t>Supervisor: </a:t>
            </a:r>
            <a:pPr indent="0" marL="0">
              <a:spcAft>
                <a:spcPts val="1000"/>
              </a:spcAft>
              <a:buNone/>
            </a:pPr>
            <a:r>
              <a:rPr lang="en-US" sz="1250" dirty="0">
                <a:solidFill>
                  <a:srgbClr val="1B1F23"/>
                </a:solidFill>
              </a:rPr>
              <a:t>reviews the protocol, scoring matrix and draft; confirms ethics status.</a:t>
            </a:r>
            <a:endParaRPr lang="en-US" sz="1250" dirty="0"/>
          </a:p>
          <a:p>
            <a:pPr indent="0" marL="0">
              <a:spcAft>
                <a:spcPts val="1000"/>
              </a:spcAft>
              <a:buNone/>
            </a:pPr>
            <a:r>
              <a:rPr lang="en-US" sz="1250" b="1" dirty="0">
                <a:solidFill>
                  <a:srgbClr val="1F7A8C"/>
                </a:solidFill>
              </a:rPr>
              <a:t>Librarian (optional): </a:t>
            </a:r>
            <a:pPr indent="0" marL="0">
              <a:spcAft>
                <a:spcPts val="1000"/>
              </a:spcAft>
              <a:buNone/>
            </a:pPr>
            <a:r>
              <a:rPr lang="en-US" sz="1250" dirty="0">
                <a:solidFill>
                  <a:srgbClr val="1B1F23"/>
                </a:solidFill>
              </a:rPr>
              <a:t>advises on database access and search strategy.</a:t>
            </a:r>
            <a:endParaRPr lang="en-US" sz="1250" dirty="0"/>
          </a:p>
        </p:txBody>
      </p:sp>
      <p:sp>
        <p:nvSpPr>
          <p:cNvPr id="8" name="Text 5"/>
          <p:cNvSpPr txBox="1"/>
          <p:nvPr/>
        </p:nvSpPr>
        <p:spPr>
          <a:xfrm>
            <a:off x="457200" y="6126480"/>
            <a:ext cx="11274552" cy="27432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Resource plan designed by the author for a desk-based study using published data (Page et al., 2021). Hours are estimates.</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Six-week timeline and milestones</a:t>
            </a:r>
            <a:endParaRPr lang="en-US" sz="2600" dirty="0"/>
          </a:p>
        </p:txBody>
      </p:sp>
      <p:sp>
        <p:nvSpPr>
          <p:cNvPr id="3" name="Shape 1"/>
          <p:cNvSpPr/>
          <p:nvPr/>
        </p:nvSpPr>
        <p:spPr>
          <a:xfrm>
            <a:off x="457200" y="1325880"/>
            <a:ext cx="3108960" cy="411480"/>
          </a:xfrm>
          <a:prstGeom prst="rect">
            <a:avLst/>
          </a:prstGeom>
          <a:solidFill>
            <a:srgbClr val="0F2E3D"/>
          </a:solidFill>
          <a:ln w="12700">
            <a:solidFill>
              <a:srgbClr val="0F2E3D"/>
            </a:solidFill>
            <a:prstDash val="solid"/>
          </a:ln>
        </p:spPr>
      </p:sp>
      <p:sp>
        <p:nvSpPr>
          <p:cNvPr id="4" name="Text 2"/>
          <p:cNvSpPr txBox="1"/>
          <p:nvPr/>
        </p:nvSpPr>
        <p:spPr>
          <a:xfrm>
            <a:off x="548640" y="1325880"/>
            <a:ext cx="3017520" cy="411480"/>
          </a:xfrm>
          <a:prstGeom prst="rect">
            <a:avLst/>
          </a:prstGeom>
          <a:noFill/>
          <a:ln/>
        </p:spPr>
        <p:txBody>
          <a:bodyPr wrap="square" lIns="0" tIns="0" rIns="0" bIns="0" rtlCol="0" anchor="ctr"/>
          <a:lstStyle/>
          <a:p>
            <a:pPr indent="0" marL="0">
              <a:buNone/>
            </a:pPr>
            <a:r>
              <a:rPr lang="en-US" sz="1200" b="1" dirty="0">
                <a:solidFill>
                  <a:srgbClr val="FFFFFF"/>
                </a:solidFill>
              </a:rPr>
              <a:t>Task</a:t>
            </a:r>
            <a:endParaRPr lang="en-US" sz="1200" dirty="0"/>
          </a:p>
        </p:txBody>
      </p:sp>
      <p:sp>
        <p:nvSpPr>
          <p:cNvPr id="5" name="Shape 3"/>
          <p:cNvSpPr/>
          <p:nvPr/>
        </p:nvSpPr>
        <p:spPr>
          <a:xfrm>
            <a:off x="3566160" y="1325880"/>
            <a:ext cx="731520" cy="411480"/>
          </a:xfrm>
          <a:prstGeom prst="rect">
            <a:avLst/>
          </a:prstGeom>
          <a:solidFill>
            <a:srgbClr val="0F2E3D"/>
          </a:solidFill>
          <a:ln w="9525">
            <a:solidFill>
              <a:srgbClr val="FFFFFF"/>
            </a:solidFill>
            <a:prstDash val="solid"/>
          </a:ln>
        </p:spPr>
      </p:sp>
      <p:sp>
        <p:nvSpPr>
          <p:cNvPr id="6" name="Text 4"/>
          <p:cNvSpPr txBox="1"/>
          <p:nvPr/>
        </p:nvSpPr>
        <p:spPr>
          <a:xfrm>
            <a:off x="356616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1</a:t>
            </a:r>
            <a:endParaRPr lang="en-US" sz="1200" dirty="0"/>
          </a:p>
        </p:txBody>
      </p:sp>
      <p:sp>
        <p:nvSpPr>
          <p:cNvPr id="7" name="Shape 5"/>
          <p:cNvSpPr/>
          <p:nvPr/>
        </p:nvSpPr>
        <p:spPr>
          <a:xfrm>
            <a:off x="4297680" y="1325880"/>
            <a:ext cx="731520" cy="411480"/>
          </a:xfrm>
          <a:prstGeom prst="rect">
            <a:avLst/>
          </a:prstGeom>
          <a:solidFill>
            <a:srgbClr val="0F2E3D"/>
          </a:solidFill>
          <a:ln w="9525">
            <a:solidFill>
              <a:srgbClr val="FFFFFF"/>
            </a:solidFill>
            <a:prstDash val="solid"/>
          </a:ln>
        </p:spPr>
      </p:sp>
      <p:sp>
        <p:nvSpPr>
          <p:cNvPr id="8" name="Text 6"/>
          <p:cNvSpPr txBox="1"/>
          <p:nvPr/>
        </p:nvSpPr>
        <p:spPr>
          <a:xfrm>
            <a:off x="429768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2</a:t>
            </a:r>
            <a:endParaRPr lang="en-US" sz="1200" dirty="0"/>
          </a:p>
        </p:txBody>
      </p:sp>
      <p:sp>
        <p:nvSpPr>
          <p:cNvPr id="9" name="Shape 7"/>
          <p:cNvSpPr/>
          <p:nvPr/>
        </p:nvSpPr>
        <p:spPr>
          <a:xfrm>
            <a:off x="5029200" y="1325880"/>
            <a:ext cx="731520" cy="411480"/>
          </a:xfrm>
          <a:prstGeom prst="rect">
            <a:avLst/>
          </a:prstGeom>
          <a:solidFill>
            <a:srgbClr val="0F2E3D"/>
          </a:solidFill>
          <a:ln w="9525">
            <a:solidFill>
              <a:srgbClr val="FFFFFF"/>
            </a:solidFill>
            <a:prstDash val="solid"/>
          </a:ln>
        </p:spPr>
      </p:sp>
      <p:sp>
        <p:nvSpPr>
          <p:cNvPr id="10" name="Text 8"/>
          <p:cNvSpPr txBox="1"/>
          <p:nvPr/>
        </p:nvSpPr>
        <p:spPr>
          <a:xfrm>
            <a:off x="502920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3</a:t>
            </a:r>
            <a:endParaRPr lang="en-US" sz="1200" dirty="0"/>
          </a:p>
        </p:txBody>
      </p:sp>
      <p:sp>
        <p:nvSpPr>
          <p:cNvPr id="11" name="Shape 9"/>
          <p:cNvSpPr/>
          <p:nvPr/>
        </p:nvSpPr>
        <p:spPr>
          <a:xfrm>
            <a:off x="5760720" y="1325880"/>
            <a:ext cx="731520" cy="411480"/>
          </a:xfrm>
          <a:prstGeom prst="rect">
            <a:avLst/>
          </a:prstGeom>
          <a:solidFill>
            <a:srgbClr val="0F2E3D"/>
          </a:solidFill>
          <a:ln w="9525">
            <a:solidFill>
              <a:srgbClr val="FFFFFF"/>
            </a:solidFill>
            <a:prstDash val="solid"/>
          </a:ln>
        </p:spPr>
      </p:sp>
      <p:sp>
        <p:nvSpPr>
          <p:cNvPr id="12" name="Text 10"/>
          <p:cNvSpPr txBox="1"/>
          <p:nvPr/>
        </p:nvSpPr>
        <p:spPr>
          <a:xfrm>
            <a:off x="576072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4</a:t>
            </a:r>
            <a:endParaRPr lang="en-US" sz="1200" dirty="0"/>
          </a:p>
        </p:txBody>
      </p:sp>
      <p:sp>
        <p:nvSpPr>
          <p:cNvPr id="13" name="Shape 11"/>
          <p:cNvSpPr/>
          <p:nvPr/>
        </p:nvSpPr>
        <p:spPr>
          <a:xfrm>
            <a:off x="6492240" y="1325880"/>
            <a:ext cx="731520" cy="411480"/>
          </a:xfrm>
          <a:prstGeom prst="rect">
            <a:avLst/>
          </a:prstGeom>
          <a:solidFill>
            <a:srgbClr val="0F2E3D"/>
          </a:solidFill>
          <a:ln w="9525">
            <a:solidFill>
              <a:srgbClr val="FFFFFF"/>
            </a:solidFill>
            <a:prstDash val="solid"/>
          </a:ln>
        </p:spPr>
      </p:sp>
      <p:sp>
        <p:nvSpPr>
          <p:cNvPr id="14" name="Text 12"/>
          <p:cNvSpPr txBox="1"/>
          <p:nvPr/>
        </p:nvSpPr>
        <p:spPr>
          <a:xfrm>
            <a:off x="649224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5</a:t>
            </a:r>
            <a:endParaRPr lang="en-US" sz="1200" dirty="0"/>
          </a:p>
        </p:txBody>
      </p:sp>
      <p:sp>
        <p:nvSpPr>
          <p:cNvPr id="15" name="Shape 13"/>
          <p:cNvSpPr/>
          <p:nvPr/>
        </p:nvSpPr>
        <p:spPr>
          <a:xfrm>
            <a:off x="7223760" y="1325880"/>
            <a:ext cx="731520" cy="411480"/>
          </a:xfrm>
          <a:prstGeom prst="rect">
            <a:avLst/>
          </a:prstGeom>
          <a:solidFill>
            <a:srgbClr val="0F2E3D"/>
          </a:solidFill>
          <a:ln w="9525">
            <a:solidFill>
              <a:srgbClr val="FFFFFF"/>
            </a:solidFill>
            <a:prstDash val="solid"/>
          </a:ln>
        </p:spPr>
      </p:sp>
      <p:sp>
        <p:nvSpPr>
          <p:cNvPr id="16" name="Text 14"/>
          <p:cNvSpPr txBox="1"/>
          <p:nvPr/>
        </p:nvSpPr>
        <p:spPr>
          <a:xfrm>
            <a:off x="7223760" y="1325880"/>
            <a:ext cx="731520" cy="411480"/>
          </a:xfrm>
          <a:prstGeom prst="rect">
            <a:avLst/>
          </a:prstGeom>
          <a:noFill/>
          <a:ln/>
        </p:spPr>
        <p:txBody>
          <a:bodyPr wrap="square" lIns="0" tIns="0" rIns="0" bIns="0" rtlCol="0" anchor="ctr"/>
          <a:lstStyle/>
          <a:p>
            <a:pPr algn="ctr" indent="0" marL="0">
              <a:buNone/>
            </a:pPr>
            <a:r>
              <a:rPr lang="en-US" sz="1200" b="1" dirty="0">
                <a:solidFill>
                  <a:srgbClr val="FFFFFF"/>
                </a:solidFill>
              </a:rPr>
              <a:t>Wk 6</a:t>
            </a:r>
            <a:endParaRPr lang="en-US" sz="1200" dirty="0"/>
          </a:p>
        </p:txBody>
      </p:sp>
      <p:sp>
        <p:nvSpPr>
          <p:cNvPr id="17" name="Shape 15"/>
          <p:cNvSpPr/>
          <p:nvPr/>
        </p:nvSpPr>
        <p:spPr>
          <a:xfrm>
            <a:off x="457200" y="1737360"/>
            <a:ext cx="7498080" cy="512064"/>
          </a:xfrm>
          <a:prstGeom prst="rect">
            <a:avLst/>
          </a:prstGeom>
          <a:solidFill>
            <a:srgbClr val="FFFFFF"/>
          </a:solidFill>
          <a:ln w="6350">
            <a:solidFill>
              <a:srgbClr val="D9DEE2"/>
            </a:solidFill>
            <a:prstDash val="solid"/>
          </a:ln>
        </p:spPr>
      </p:sp>
      <p:sp>
        <p:nvSpPr>
          <p:cNvPr id="18" name="Text 16"/>
          <p:cNvSpPr txBox="1"/>
          <p:nvPr/>
        </p:nvSpPr>
        <p:spPr>
          <a:xfrm>
            <a:off x="548640" y="1737360"/>
            <a:ext cx="2971800" cy="512064"/>
          </a:xfrm>
          <a:prstGeom prst="rect">
            <a:avLst/>
          </a:prstGeom>
          <a:noFill/>
          <a:ln/>
        </p:spPr>
        <p:txBody>
          <a:bodyPr wrap="square" lIns="0" tIns="0" rIns="0" bIns="0" rtlCol="0" anchor="ctr"/>
          <a:lstStyle/>
          <a:p>
            <a:pPr indent="0" marL="0">
              <a:buNone/>
            </a:pPr>
            <a:r>
              <a:rPr lang="en-US" sz="1150" dirty="0">
                <a:solidFill>
                  <a:srgbClr val="1B1F23"/>
                </a:solidFill>
              </a:rPr>
              <a:t>Protocol, search strategy, ethics check</a:t>
            </a:r>
            <a:endParaRPr lang="en-US" sz="1150" dirty="0"/>
          </a:p>
        </p:txBody>
      </p:sp>
      <p:sp>
        <p:nvSpPr>
          <p:cNvPr id="19" name="Shape 17"/>
          <p:cNvSpPr/>
          <p:nvPr/>
        </p:nvSpPr>
        <p:spPr>
          <a:xfrm>
            <a:off x="4297680" y="1737360"/>
            <a:ext cx="0" cy="512064"/>
          </a:xfrm>
          <a:prstGeom prst="line">
            <a:avLst/>
          </a:prstGeom>
          <a:noFill/>
          <a:ln w="6350">
            <a:solidFill>
              <a:srgbClr val="D9DEE2"/>
            </a:solidFill>
            <a:prstDash val="solid"/>
          </a:ln>
        </p:spPr>
      </p:sp>
      <p:sp>
        <p:nvSpPr>
          <p:cNvPr id="20" name="Shape 18"/>
          <p:cNvSpPr/>
          <p:nvPr/>
        </p:nvSpPr>
        <p:spPr>
          <a:xfrm>
            <a:off x="5029200" y="1737360"/>
            <a:ext cx="0" cy="512064"/>
          </a:xfrm>
          <a:prstGeom prst="line">
            <a:avLst/>
          </a:prstGeom>
          <a:noFill/>
          <a:ln w="6350">
            <a:solidFill>
              <a:srgbClr val="D9DEE2"/>
            </a:solidFill>
            <a:prstDash val="solid"/>
          </a:ln>
        </p:spPr>
      </p:sp>
      <p:sp>
        <p:nvSpPr>
          <p:cNvPr id="21" name="Shape 19"/>
          <p:cNvSpPr/>
          <p:nvPr/>
        </p:nvSpPr>
        <p:spPr>
          <a:xfrm>
            <a:off x="5760720" y="1737360"/>
            <a:ext cx="0" cy="512064"/>
          </a:xfrm>
          <a:prstGeom prst="line">
            <a:avLst/>
          </a:prstGeom>
          <a:noFill/>
          <a:ln w="6350">
            <a:solidFill>
              <a:srgbClr val="D9DEE2"/>
            </a:solidFill>
            <a:prstDash val="solid"/>
          </a:ln>
        </p:spPr>
      </p:sp>
      <p:sp>
        <p:nvSpPr>
          <p:cNvPr id="22" name="Shape 20"/>
          <p:cNvSpPr/>
          <p:nvPr/>
        </p:nvSpPr>
        <p:spPr>
          <a:xfrm>
            <a:off x="6492240" y="1737360"/>
            <a:ext cx="0" cy="512064"/>
          </a:xfrm>
          <a:prstGeom prst="line">
            <a:avLst/>
          </a:prstGeom>
          <a:noFill/>
          <a:ln w="6350">
            <a:solidFill>
              <a:srgbClr val="D9DEE2"/>
            </a:solidFill>
            <a:prstDash val="solid"/>
          </a:ln>
        </p:spPr>
      </p:sp>
      <p:sp>
        <p:nvSpPr>
          <p:cNvPr id="23" name="Shape 21"/>
          <p:cNvSpPr/>
          <p:nvPr/>
        </p:nvSpPr>
        <p:spPr>
          <a:xfrm>
            <a:off x="7223760" y="1737360"/>
            <a:ext cx="0" cy="512064"/>
          </a:xfrm>
          <a:prstGeom prst="line">
            <a:avLst/>
          </a:prstGeom>
          <a:noFill/>
          <a:ln w="6350">
            <a:solidFill>
              <a:srgbClr val="D9DEE2"/>
            </a:solidFill>
            <a:prstDash val="solid"/>
          </a:ln>
        </p:spPr>
      </p:sp>
      <p:sp>
        <p:nvSpPr>
          <p:cNvPr id="24" name="Shape 22"/>
          <p:cNvSpPr/>
          <p:nvPr/>
        </p:nvSpPr>
        <p:spPr>
          <a:xfrm>
            <a:off x="3621024" y="1847088"/>
            <a:ext cx="621792" cy="292608"/>
          </a:xfrm>
          <a:prstGeom prst="roundRect">
            <a:avLst>
              <a:gd name="adj" fmla="val 18750"/>
            </a:avLst>
          </a:prstGeom>
          <a:solidFill>
            <a:srgbClr val="1F7A8C"/>
          </a:solidFill>
          <a:ln w="12700">
            <a:solidFill>
              <a:srgbClr val="FFFFFF"/>
            </a:solidFill>
            <a:prstDash val="solid"/>
          </a:ln>
        </p:spPr>
      </p:sp>
      <p:sp>
        <p:nvSpPr>
          <p:cNvPr id="25" name="Shape 23"/>
          <p:cNvSpPr/>
          <p:nvPr/>
        </p:nvSpPr>
        <p:spPr>
          <a:xfrm>
            <a:off x="457200" y="2249424"/>
            <a:ext cx="7498080" cy="512064"/>
          </a:xfrm>
          <a:prstGeom prst="rect">
            <a:avLst/>
          </a:prstGeom>
          <a:solidFill>
            <a:srgbClr val="F4F8F8"/>
          </a:solidFill>
          <a:ln w="6350">
            <a:solidFill>
              <a:srgbClr val="D9DEE2"/>
            </a:solidFill>
            <a:prstDash val="solid"/>
          </a:ln>
        </p:spPr>
      </p:sp>
      <p:sp>
        <p:nvSpPr>
          <p:cNvPr id="26" name="Text 24"/>
          <p:cNvSpPr txBox="1"/>
          <p:nvPr/>
        </p:nvSpPr>
        <p:spPr>
          <a:xfrm>
            <a:off x="548640" y="2249424"/>
            <a:ext cx="2971800" cy="512064"/>
          </a:xfrm>
          <a:prstGeom prst="rect">
            <a:avLst/>
          </a:prstGeom>
          <a:noFill/>
          <a:ln/>
        </p:spPr>
        <p:txBody>
          <a:bodyPr wrap="square" lIns="0" tIns="0" rIns="0" bIns="0" rtlCol="0" anchor="ctr"/>
          <a:lstStyle/>
          <a:p>
            <a:pPr indent="0" marL="0">
              <a:buNone/>
            </a:pPr>
            <a:r>
              <a:rPr lang="en-US" sz="1150" dirty="0">
                <a:solidFill>
                  <a:srgbClr val="1B1F23"/>
                </a:solidFill>
              </a:rPr>
              <a:t>Database search and screening</a:t>
            </a:r>
            <a:endParaRPr lang="en-US" sz="1150" dirty="0"/>
          </a:p>
        </p:txBody>
      </p:sp>
      <p:sp>
        <p:nvSpPr>
          <p:cNvPr id="27" name="Shape 25"/>
          <p:cNvSpPr/>
          <p:nvPr/>
        </p:nvSpPr>
        <p:spPr>
          <a:xfrm>
            <a:off x="4297680" y="2249424"/>
            <a:ext cx="0" cy="512064"/>
          </a:xfrm>
          <a:prstGeom prst="line">
            <a:avLst/>
          </a:prstGeom>
          <a:noFill/>
          <a:ln w="6350">
            <a:solidFill>
              <a:srgbClr val="D9DEE2"/>
            </a:solidFill>
            <a:prstDash val="solid"/>
          </a:ln>
        </p:spPr>
      </p:sp>
      <p:sp>
        <p:nvSpPr>
          <p:cNvPr id="28" name="Shape 26"/>
          <p:cNvSpPr/>
          <p:nvPr/>
        </p:nvSpPr>
        <p:spPr>
          <a:xfrm>
            <a:off x="5029200" y="2249424"/>
            <a:ext cx="0" cy="512064"/>
          </a:xfrm>
          <a:prstGeom prst="line">
            <a:avLst/>
          </a:prstGeom>
          <a:noFill/>
          <a:ln w="6350">
            <a:solidFill>
              <a:srgbClr val="D9DEE2"/>
            </a:solidFill>
            <a:prstDash val="solid"/>
          </a:ln>
        </p:spPr>
      </p:sp>
      <p:sp>
        <p:nvSpPr>
          <p:cNvPr id="29" name="Shape 27"/>
          <p:cNvSpPr/>
          <p:nvPr/>
        </p:nvSpPr>
        <p:spPr>
          <a:xfrm>
            <a:off x="5760720" y="2249424"/>
            <a:ext cx="0" cy="512064"/>
          </a:xfrm>
          <a:prstGeom prst="line">
            <a:avLst/>
          </a:prstGeom>
          <a:noFill/>
          <a:ln w="6350">
            <a:solidFill>
              <a:srgbClr val="D9DEE2"/>
            </a:solidFill>
            <a:prstDash val="solid"/>
          </a:ln>
        </p:spPr>
      </p:sp>
      <p:sp>
        <p:nvSpPr>
          <p:cNvPr id="30" name="Shape 28"/>
          <p:cNvSpPr/>
          <p:nvPr/>
        </p:nvSpPr>
        <p:spPr>
          <a:xfrm>
            <a:off x="6492240" y="2249424"/>
            <a:ext cx="0" cy="512064"/>
          </a:xfrm>
          <a:prstGeom prst="line">
            <a:avLst/>
          </a:prstGeom>
          <a:noFill/>
          <a:ln w="6350">
            <a:solidFill>
              <a:srgbClr val="D9DEE2"/>
            </a:solidFill>
            <a:prstDash val="solid"/>
          </a:ln>
        </p:spPr>
      </p:sp>
      <p:sp>
        <p:nvSpPr>
          <p:cNvPr id="31" name="Shape 29"/>
          <p:cNvSpPr/>
          <p:nvPr/>
        </p:nvSpPr>
        <p:spPr>
          <a:xfrm>
            <a:off x="7223760" y="2249424"/>
            <a:ext cx="0" cy="512064"/>
          </a:xfrm>
          <a:prstGeom prst="line">
            <a:avLst/>
          </a:prstGeom>
          <a:noFill/>
          <a:ln w="6350">
            <a:solidFill>
              <a:srgbClr val="D9DEE2"/>
            </a:solidFill>
            <a:prstDash val="solid"/>
          </a:ln>
        </p:spPr>
      </p:sp>
      <p:sp>
        <p:nvSpPr>
          <p:cNvPr id="32" name="Shape 30"/>
          <p:cNvSpPr/>
          <p:nvPr/>
        </p:nvSpPr>
        <p:spPr>
          <a:xfrm>
            <a:off x="3621024" y="2359152"/>
            <a:ext cx="1353312" cy="292608"/>
          </a:xfrm>
          <a:prstGeom prst="roundRect">
            <a:avLst>
              <a:gd name="adj" fmla="val 18750"/>
            </a:avLst>
          </a:prstGeom>
          <a:solidFill>
            <a:srgbClr val="1F7A8C"/>
          </a:solidFill>
          <a:ln w="12700">
            <a:solidFill>
              <a:srgbClr val="FFFFFF"/>
            </a:solidFill>
            <a:prstDash val="solid"/>
          </a:ln>
        </p:spPr>
      </p:sp>
      <p:sp>
        <p:nvSpPr>
          <p:cNvPr id="33" name="Shape 31"/>
          <p:cNvSpPr/>
          <p:nvPr/>
        </p:nvSpPr>
        <p:spPr>
          <a:xfrm>
            <a:off x="457200" y="2761488"/>
            <a:ext cx="7498080" cy="512064"/>
          </a:xfrm>
          <a:prstGeom prst="rect">
            <a:avLst/>
          </a:prstGeom>
          <a:solidFill>
            <a:srgbClr val="FFFFFF"/>
          </a:solidFill>
          <a:ln w="6350">
            <a:solidFill>
              <a:srgbClr val="D9DEE2"/>
            </a:solidFill>
            <a:prstDash val="solid"/>
          </a:ln>
        </p:spPr>
      </p:sp>
      <p:sp>
        <p:nvSpPr>
          <p:cNvPr id="34" name="Text 32"/>
          <p:cNvSpPr txBox="1"/>
          <p:nvPr/>
        </p:nvSpPr>
        <p:spPr>
          <a:xfrm>
            <a:off x="548640" y="2761488"/>
            <a:ext cx="2971800" cy="512064"/>
          </a:xfrm>
          <a:prstGeom prst="rect">
            <a:avLst/>
          </a:prstGeom>
          <a:noFill/>
          <a:ln/>
        </p:spPr>
        <p:txBody>
          <a:bodyPr wrap="square" lIns="0" tIns="0" rIns="0" bIns="0" rtlCol="0" anchor="ctr"/>
          <a:lstStyle/>
          <a:p>
            <a:pPr indent="0" marL="0">
              <a:buNone/>
            </a:pPr>
            <a:r>
              <a:rPr lang="en-US" sz="1150" dirty="0">
                <a:solidFill>
                  <a:srgbClr val="1B1F23"/>
                </a:solidFill>
              </a:rPr>
              <a:t>Data extraction and quality check</a:t>
            </a:r>
            <a:endParaRPr lang="en-US" sz="1150" dirty="0"/>
          </a:p>
        </p:txBody>
      </p:sp>
      <p:sp>
        <p:nvSpPr>
          <p:cNvPr id="35" name="Shape 33"/>
          <p:cNvSpPr/>
          <p:nvPr/>
        </p:nvSpPr>
        <p:spPr>
          <a:xfrm>
            <a:off x="4297680" y="2761488"/>
            <a:ext cx="0" cy="512064"/>
          </a:xfrm>
          <a:prstGeom prst="line">
            <a:avLst/>
          </a:prstGeom>
          <a:noFill/>
          <a:ln w="6350">
            <a:solidFill>
              <a:srgbClr val="D9DEE2"/>
            </a:solidFill>
            <a:prstDash val="solid"/>
          </a:ln>
        </p:spPr>
      </p:sp>
      <p:sp>
        <p:nvSpPr>
          <p:cNvPr id="36" name="Shape 34"/>
          <p:cNvSpPr/>
          <p:nvPr/>
        </p:nvSpPr>
        <p:spPr>
          <a:xfrm>
            <a:off x="5029200" y="2761488"/>
            <a:ext cx="0" cy="512064"/>
          </a:xfrm>
          <a:prstGeom prst="line">
            <a:avLst/>
          </a:prstGeom>
          <a:noFill/>
          <a:ln w="6350">
            <a:solidFill>
              <a:srgbClr val="D9DEE2"/>
            </a:solidFill>
            <a:prstDash val="solid"/>
          </a:ln>
        </p:spPr>
      </p:sp>
      <p:sp>
        <p:nvSpPr>
          <p:cNvPr id="37" name="Shape 35"/>
          <p:cNvSpPr/>
          <p:nvPr/>
        </p:nvSpPr>
        <p:spPr>
          <a:xfrm>
            <a:off x="5760720" y="2761488"/>
            <a:ext cx="0" cy="512064"/>
          </a:xfrm>
          <a:prstGeom prst="line">
            <a:avLst/>
          </a:prstGeom>
          <a:noFill/>
          <a:ln w="6350">
            <a:solidFill>
              <a:srgbClr val="D9DEE2"/>
            </a:solidFill>
            <a:prstDash val="solid"/>
          </a:ln>
        </p:spPr>
      </p:sp>
      <p:sp>
        <p:nvSpPr>
          <p:cNvPr id="38" name="Shape 36"/>
          <p:cNvSpPr/>
          <p:nvPr/>
        </p:nvSpPr>
        <p:spPr>
          <a:xfrm>
            <a:off x="6492240" y="2761488"/>
            <a:ext cx="0" cy="512064"/>
          </a:xfrm>
          <a:prstGeom prst="line">
            <a:avLst/>
          </a:prstGeom>
          <a:noFill/>
          <a:ln w="6350">
            <a:solidFill>
              <a:srgbClr val="D9DEE2"/>
            </a:solidFill>
            <a:prstDash val="solid"/>
          </a:ln>
        </p:spPr>
      </p:sp>
      <p:sp>
        <p:nvSpPr>
          <p:cNvPr id="39" name="Shape 37"/>
          <p:cNvSpPr/>
          <p:nvPr/>
        </p:nvSpPr>
        <p:spPr>
          <a:xfrm>
            <a:off x="7223760" y="2761488"/>
            <a:ext cx="0" cy="512064"/>
          </a:xfrm>
          <a:prstGeom prst="line">
            <a:avLst/>
          </a:prstGeom>
          <a:noFill/>
          <a:ln w="6350">
            <a:solidFill>
              <a:srgbClr val="D9DEE2"/>
            </a:solidFill>
            <a:prstDash val="solid"/>
          </a:ln>
        </p:spPr>
      </p:sp>
      <p:sp>
        <p:nvSpPr>
          <p:cNvPr id="40" name="Shape 38"/>
          <p:cNvSpPr/>
          <p:nvPr/>
        </p:nvSpPr>
        <p:spPr>
          <a:xfrm>
            <a:off x="4352544" y="2871216"/>
            <a:ext cx="1353312" cy="292608"/>
          </a:xfrm>
          <a:prstGeom prst="roundRect">
            <a:avLst>
              <a:gd name="adj" fmla="val 18750"/>
            </a:avLst>
          </a:prstGeom>
          <a:solidFill>
            <a:srgbClr val="1F7A8C"/>
          </a:solidFill>
          <a:ln w="12700">
            <a:solidFill>
              <a:srgbClr val="FFFFFF"/>
            </a:solidFill>
            <a:prstDash val="solid"/>
          </a:ln>
        </p:spPr>
      </p:sp>
      <p:sp>
        <p:nvSpPr>
          <p:cNvPr id="41" name="Shape 39"/>
          <p:cNvSpPr/>
          <p:nvPr/>
        </p:nvSpPr>
        <p:spPr>
          <a:xfrm>
            <a:off x="457200" y="3273552"/>
            <a:ext cx="7498080" cy="512064"/>
          </a:xfrm>
          <a:prstGeom prst="rect">
            <a:avLst/>
          </a:prstGeom>
          <a:solidFill>
            <a:srgbClr val="F4F8F8"/>
          </a:solidFill>
          <a:ln w="6350">
            <a:solidFill>
              <a:srgbClr val="D9DEE2"/>
            </a:solidFill>
            <a:prstDash val="solid"/>
          </a:ln>
        </p:spPr>
      </p:sp>
      <p:sp>
        <p:nvSpPr>
          <p:cNvPr id="42" name="Text 40"/>
          <p:cNvSpPr txBox="1"/>
          <p:nvPr/>
        </p:nvSpPr>
        <p:spPr>
          <a:xfrm>
            <a:off x="548640" y="3273552"/>
            <a:ext cx="2971800" cy="512064"/>
          </a:xfrm>
          <a:prstGeom prst="rect">
            <a:avLst/>
          </a:prstGeom>
          <a:noFill/>
          <a:ln/>
        </p:spPr>
        <p:txBody>
          <a:bodyPr wrap="square" lIns="0" tIns="0" rIns="0" bIns="0" rtlCol="0" anchor="ctr"/>
          <a:lstStyle/>
          <a:p>
            <a:pPr indent="0" marL="0">
              <a:buNone/>
            </a:pPr>
            <a:r>
              <a:rPr lang="en-US" sz="1150" dirty="0">
                <a:solidFill>
                  <a:srgbClr val="1B1F23"/>
                </a:solidFill>
              </a:rPr>
              <a:t>Normalisation and comparison tables</a:t>
            </a:r>
            <a:endParaRPr lang="en-US" sz="1150" dirty="0"/>
          </a:p>
        </p:txBody>
      </p:sp>
      <p:sp>
        <p:nvSpPr>
          <p:cNvPr id="43" name="Shape 41"/>
          <p:cNvSpPr/>
          <p:nvPr/>
        </p:nvSpPr>
        <p:spPr>
          <a:xfrm>
            <a:off x="4297680" y="3273552"/>
            <a:ext cx="0" cy="512064"/>
          </a:xfrm>
          <a:prstGeom prst="line">
            <a:avLst/>
          </a:prstGeom>
          <a:noFill/>
          <a:ln w="6350">
            <a:solidFill>
              <a:srgbClr val="D9DEE2"/>
            </a:solidFill>
            <a:prstDash val="solid"/>
          </a:ln>
        </p:spPr>
      </p:sp>
      <p:sp>
        <p:nvSpPr>
          <p:cNvPr id="44" name="Shape 42"/>
          <p:cNvSpPr/>
          <p:nvPr/>
        </p:nvSpPr>
        <p:spPr>
          <a:xfrm>
            <a:off x="5029200" y="3273552"/>
            <a:ext cx="0" cy="512064"/>
          </a:xfrm>
          <a:prstGeom prst="line">
            <a:avLst/>
          </a:prstGeom>
          <a:noFill/>
          <a:ln w="6350">
            <a:solidFill>
              <a:srgbClr val="D9DEE2"/>
            </a:solidFill>
            <a:prstDash val="solid"/>
          </a:ln>
        </p:spPr>
      </p:sp>
      <p:sp>
        <p:nvSpPr>
          <p:cNvPr id="45" name="Shape 43"/>
          <p:cNvSpPr/>
          <p:nvPr/>
        </p:nvSpPr>
        <p:spPr>
          <a:xfrm>
            <a:off x="5760720" y="3273552"/>
            <a:ext cx="0" cy="512064"/>
          </a:xfrm>
          <a:prstGeom prst="line">
            <a:avLst/>
          </a:prstGeom>
          <a:noFill/>
          <a:ln w="6350">
            <a:solidFill>
              <a:srgbClr val="D9DEE2"/>
            </a:solidFill>
            <a:prstDash val="solid"/>
          </a:ln>
        </p:spPr>
      </p:sp>
      <p:sp>
        <p:nvSpPr>
          <p:cNvPr id="46" name="Shape 44"/>
          <p:cNvSpPr/>
          <p:nvPr/>
        </p:nvSpPr>
        <p:spPr>
          <a:xfrm>
            <a:off x="6492240" y="3273552"/>
            <a:ext cx="0" cy="512064"/>
          </a:xfrm>
          <a:prstGeom prst="line">
            <a:avLst/>
          </a:prstGeom>
          <a:noFill/>
          <a:ln w="6350">
            <a:solidFill>
              <a:srgbClr val="D9DEE2"/>
            </a:solidFill>
            <a:prstDash val="solid"/>
          </a:ln>
        </p:spPr>
      </p:sp>
      <p:sp>
        <p:nvSpPr>
          <p:cNvPr id="47" name="Shape 45"/>
          <p:cNvSpPr/>
          <p:nvPr/>
        </p:nvSpPr>
        <p:spPr>
          <a:xfrm>
            <a:off x="7223760" y="3273552"/>
            <a:ext cx="0" cy="512064"/>
          </a:xfrm>
          <a:prstGeom prst="line">
            <a:avLst/>
          </a:prstGeom>
          <a:noFill/>
          <a:ln w="6350">
            <a:solidFill>
              <a:srgbClr val="D9DEE2"/>
            </a:solidFill>
            <a:prstDash val="solid"/>
          </a:ln>
        </p:spPr>
      </p:sp>
      <p:sp>
        <p:nvSpPr>
          <p:cNvPr id="48" name="Shape 46"/>
          <p:cNvSpPr/>
          <p:nvPr/>
        </p:nvSpPr>
        <p:spPr>
          <a:xfrm>
            <a:off x="5084064" y="3383280"/>
            <a:ext cx="1353312" cy="292608"/>
          </a:xfrm>
          <a:prstGeom prst="roundRect">
            <a:avLst>
              <a:gd name="adj" fmla="val 18750"/>
            </a:avLst>
          </a:prstGeom>
          <a:solidFill>
            <a:srgbClr val="2A9D8F"/>
          </a:solidFill>
          <a:ln w="12700">
            <a:solidFill>
              <a:srgbClr val="FFFFFF"/>
            </a:solidFill>
            <a:prstDash val="solid"/>
          </a:ln>
        </p:spPr>
      </p:sp>
      <p:sp>
        <p:nvSpPr>
          <p:cNvPr id="49" name="Shape 47"/>
          <p:cNvSpPr/>
          <p:nvPr/>
        </p:nvSpPr>
        <p:spPr>
          <a:xfrm>
            <a:off x="457200" y="3785616"/>
            <a:ext cx="7498080" cy="512064"/>
          </a:xfrm>
          <a:prstGeom prst="rect">
            <a:avLst/>
          </a:prstGeom>
          <a:solidFill>
            <a:srgbClr val="FFFFFF"/>
          </a:solidFill>
          <a:ln w="6350">
            <a:solidFill>
              <a:srgbClr val="D9DEE2"/>
            </a:solidFill>
            <a:prstDash val="solid"/>
          </a:ln>
        </p:spPr>
      </p:sp>
      <p:sp>
        <p:nvSpPr>
          <p:cNvPr id="50" name="Text 48"/>
          <p:cNvSpPr txBox="1"/>
          <p:nvPr/>
        </p:nvSpPr>
        <p:spPr>
          <a:xfrm>
            <a:off x="548640" y="3785616"/>
            <a:ext cx="2971800" cy="512064"/>
          </a:xfrm>
          <a:prstGeom prst="rect">
            <a:avLst/>
          </a:prstGeom>
          <a:noFill/>
          <a:ln/>
        </p:spPr>
        <p:txBody>
          <a:bodyPr wrap="square" lIns="0" tIns="0" rIns="0" bIns="0" rtlCol="0" anchor="ctr"/>
          <a:lstStyle/>
          <a:p>
            <a:pPr indent="0" marL="0">
              <a:buNone/>
            </a:pPr>
            <a:r>
              <a:rPr lang="en-US" sz="1150" dirty="0">
                <a:solidFill>
                  <a:srgbClr val="1B1F23"/>
                </a:solidFill>
              </a:rPr>
              <a:t>Scoring matrix and sensitivity test</a:t>
            </a:r>
            <a:endParaRPr lang="en-US" sz="1150" dirty="0"/>
          </a:p>
        </p:txBody>
      </p:sp>
      <p:sp>
        <p:nvSpPr>
          <p:cNvPr id="51" name="Shape 49"/>
          <p:cNvSpPr/>
          <p:nvPr/>
        </p:nvSpPr>
        <p:spPr>
          <a:xfrm>
            <a:off x="4297680" y="3785616"/>
            <a:ext cx="0" cy="512064"/>
          </a:xfrm>
          <a:prstGeom prst="line">
            <a:avLst/>
          </a:prstGeom>
          <a:noFill/>
          <a:ln w="6350">
            <a:solidFill>
              <a:srgbClr val="D9DEE2"/>
            </a:solidFill>
            <a:prstDash val="solid"/>
          </a:ln>
        </p:spPr>
      </p:sp>
      <p:sp>
        <p:nvSpPr>
          <p:cNvPr id="52" name="Shape 50"/>
          <p:cNvSpPr/>
          <p:nvPr/>
        </p:nvSpPr>
        <p:spPr>
          <a:xfrm>
            <a:off x="5029200" y="3785616"/>
            <a:ext cx="0" cy="512064"/>
          </a:xfrm>
          <a:prstGeom prst="line">
            <a:avLst/>
          </a:prstGeom>
          <a:noFill/>
          <a:ln w="6350">
            <a:solidFill>
              <a:srgbClr val="D9DEE2"/>
            </a:solidFill>
            <a:prstDash val="solid"/>
          </a:ln>
        </p:spPr>
      </p:sp>
      <p:sp>
        <p:nvSpPr>
          <p:cNvPr id="53" name="Shape 51"/>
          <p:cNvSpPr/>
          <p:nvPr/>
        </p:nvSpPr>
        <p:spPr>
          <a:xfrm>
            <a:off x="5760720" y="3785616"/>
            <a:ext cx="0" cy="512064"/>
          </a:xfrm>
          <a:prstGeom prst="line">
            <a:avLst/>
          </a:prstGeom>
          <a:noFill/>
          <a:ln w="6350">
            <a:solidFill>
              <a:srgbClr val="D9DEE2"/>
            </a:solidFill>
            <a:prstDash val="solid"/>
          </a:ln>
        </p:spPr>
      </p:sp>
      <p:sp>
        <p:nvSpPr>
          <p:cNvPr id="54" name="Shape 52"/>
          <p:cNvSpPr/>
          <p:nvPr/>
        </p:nvSpPr>
        <p:spPr>
          <a:xfrm>
            <a:off x="6492240" y="3785616"/>
            <a:ext cx="0" cy="512064"/>
          </a:xfrm>
          <a:prstGeom prst="line">
            <a:avLst/>
          </a:prstGeom>
          <a:noFill/>
          <a:ln w="6350">
            <a:solidFill>
              <a:srgbClr val="D9DEE2"/>
            </a:solidFill>
            <a:prstDash val="solid"/>
          </a:ln>
        </p:spPr>
      </p:sp>
      <p:sp>
        <p:nvSpPr>
          <p:cNvPr id="55" name="Shape 53"/>
          <p:cNvSpPr/>
          <p:nvPr/>
        </p:nvSpPr>
        <p:spPr>
          <a:xfrm>
            <a:off x="7223760" y="3785616"/>
            <a:ext cx="0" cy="512064"/>
          </a:xfrm>
          <a:prstGeom prst="line">
            <a:avLst/>
          </a:prstGeom>
          <a:noFill/>
          <a:ln w="6350">
            <a:solidFill>
              <a:srgbClr val="D9DEE2"/>
            </a:solidFill>
            <a:prstDash val="solid"/>
          </a:ln>
        </p:spPr>
      </p:sp>
      <p:sp>
        <p:nvSpPr>
          <p:cNvPr id="56" name="Shape 54"/>
          <p:cNvSpPr/>
          <p:nvPr/>
        </p:nvSpPr>
        <p:spPr>
          <a:xfrm>
            <a:off x="5815584" y="3895344"/>
            <a:ext cx="1353312" cy="292608"/>
          </a:xfrm>
          <a:prstGeom prst="roundRect">
            <a:avLst>
              <a:gd name="adj" fmla="val 18750"/>
            </a:avLst>
          </a:prstGeom>
          <a:solidFill>
            <a:srgbClr val="2A9D8F"/>
          </a:solidFill>
          <a:ln w="12700">
            <a:solidFill>
              <a:srgbClr val="FFFFFF"/>
            </a:solidFill>
            <a:prstDash val="solid"/>
          </a:ln>
        </p:spPr>
      </p:sp>
      <p:sp>
        <p:nvSpPr>
          <p:cNvPr id="57" name="Shape 55"/>
          <p:cNvSpPr/>
          <p:nvPr/>
        </p:nvSpPr>
        <p:spPr>
          <a:xfrm>
            <a:off x="457200" y="4297680"/>
            <a:ext cx="7498080" cy="512064"/>
          </a:xfrm>
          <a:prstGeom prst="rect">
            <a:avLst/>
          </a:prstGeom>
          <a:solidFill>
            <a:srgbClr val="F4F8F8"/>
          </a:solidFill>
          <a:ln w="6350">
            <a:solidFill>
              <a:srgbClr val="D9DEE2"/>
            </a:solidFill>
            <a:prstDash val="solid"/>
          </a:ln>
        </p:spPr>
      </p:sp>
      <p:sp>
        <p:nvSpPr>
          <p:cNvPr id="58" name="Text 56"/>
          <p:cNvSpPr txBox="1"/>
          <p:nvPr/>
        </p:nvSpPr>
        <p:spPr>
          <a:xfrm>
            <a:off x="548640" y="4297680"/>
            <a:ext cx="2971800" cy="512064"/>
          </a:xfrm>
          <a:prstGeom prst="rect">
            <a:avLst/>
          </a:prstGeom>
          <a:noFill/>
          <a:ln/>
        </p:spPr>
        <p:txBody>
          <a:bodyPr wrap="square" lIns="0" tIns="0" rIns="0" bIns="0" rtlCol="0" anchor="ctr"/>
          <a:lstStyle/>
          <a:p>
            <a:pPr indent="0" marL="0">
              <a:buNone/>
            </a:pPr>
            <a:r>
              <a:rPr lang="en-US" sz="1150" dirty="0">
                <a:solidFill>
                  <a:srgbClr val="1B1F23"/>
                </a:solidFill>
              </a:rPr>
              <a:t>Decision framework and gap map</a:t>
            </a:r>
            <a:endParaRPr lang="en-US" sz="1150" dirty="0"/>
          </a:p>
        </p:txBody>
      </p:sp>
      <p:sp>
        <p:nvSpPr>
          <p:cNvPr id="59" name="Shape 57"/>
          <p:cNvSpPr/>
          <p:nvPr/>
        </p:nvSpPr>
        <p:spPr>
          <a:xfrm>
            <a:off x="4297680" y="4297680"/>
            <a:ext cx="0" cy="512064"/>
          </a:xfrm>
          <a:prstGeom prst="line">
            <a:avLst/>
          </a:prstGeom>
          <a:noFill/>
          <a:ln w="6350">
            <a:solidFill>
              <a:srgbClr val="D9DEE2"/>
            </a:solidFill>
            <a:prstDash val="solid"/>
          </a:ln>
        </p:spPr>
      </p:sp>
      <p:sp>
        <p:nvSpPr>
          <p:cNvPr id="60" name="Shape 58"/>
          <p:cNvSpPr/>
          <p:nvPr/>
        </p:nvSpPr>
        <p:spPr>
          <a:xfrm>
            <a:off x="5029200" y="4297680"/>
            <a:ext cx="0" cy="512064"/>
          </a:xfrm>
          <a:prstGeom prst="line">
            <a:avLst/>
          </a:prstGeom>
          <a:noFill/>
          <a:ln w="6350">
            <a:solidFill>
              <a:srgbClr val="D9DEE2"/>
            </a:solidFill>
            <a:prstDash val="solid"/>
          </a:ln>
        </p:spPr>
      </p:sp>
      <p:sp>
        <p:nvSpPr>
          <p:cNvPr id="61" name="Shape 59"/>
          <p:cNvSpPr/>
          <p:nvPr/>
        </p:nvSpPr>
        <p:spPr>
          <a:xfrm>
            <a:off x="5760720" y="4297680"/>
            <a:ext cx="0" cy="512064"/>
          </a:xfrm>
          <a:prstGeom prst="line">
            <a:avLst/>
          </a:prstGeom>
          <a:noFill/>
          <a:ln w="6350">
            <a:solidFill>
              <a:srgbClr val="D9DEE2"/>
            </a:solidFill>
            <a:prstDash val="solid"/>
          </a:ln>
        </p:spPr>
      </p:sp>
      <p:sp>
        <p:nvSpPr>
          <p:cNvPr id="62" name="Shape 60"/>
          <p:cNvSpPr/>
          <p:nvPr/>
        </p:nvSpPr>
        <p:spPr>
          <a:xfrm>
            <a:off x="6492240" y="4297680"/>
            <a:ext cx="0" cy="512064"/>
          </a:xfrm>
          <a:prstGeom prst="line">
            <a:avLst/>
          </a:prstGeom>
          <a:noFill/>
          <a:ln w="6350">
            <a:solidFill>
              <a:srgbClr val="D9DEE2"/>
            </a:solidFill>
            <a:prstDash val="solid"/>
          </a:ln>
        </p:spPr>
      </p:sp>
      <p:sp>
        <p:nvSpPr>
          <p:cNvPr id="63" name="Shape 61"/>
          <p:cNvSpPr/>
          <p:nvPr/>
        </p:nvSpPr>
        <p:spPr>
          <a:xfrm>
            <a:off x="7223760" y="4297680"/>
            <a:ext cx="0" cy="512064"/>
          </a:xfrm>
          <a:prstGeom prst="line">
            <a:avLst/>
          </a:prstGeom>
          <a:noFill/>
          <a:ln w="6350">
            <a:solidFill>
              <a:srgbClr val="D9DEE2"/>
            </a:solidFill>
            <a:prstDash val="solid"/>
          </a:ln>
        </p:spPr>
      </p:sp>
      <p:sp>
        <p:nvSpPr>
          <p:cNvPr id="64" name="Shape 62"/>
          <p:cNvSpPr/>
          <p:nvPr/>
        </p:nvSpPr>
        <p:spPr>
          <a:xfrm>
            <a:off x="6547104" y="4407408"/>
            <a:ext cx="621792" cy="292608"/>
          </a:xfrm>
          <a:prstGeom prst="roundRect">
            <a:avLst>
              <a:gd name="adj" fmla="val 18750"/>
            </a:avLst>
          </a:prstGeom>
          <a:solidFill>
            <a:srgbClr val="2A9D8F"/>
          </a:solidFill>
          <a:ln w="12700">
            <a:solidFill>
              <a:srgbClr val="FFFFFF"/>
            </a:solidFill>
            <a:prstDash val="solid"/>
          </a:ln>
        </p:spPr>
      </p:sp>
      <p:sp>
        <p:nvSpPr>
          <p:cNvPr id="65" name="Shape 63"/>
          <p:cNvSpPr/>
          <p:nvPr/>
        </p:nvSpPr>
        <p:spPr>
          <a:xfrm>
            <a:off x="457200" y="4809744"/>
            <a:ext cx="7498080" cy="512064"/>
          </a:xfrm>
          <a:prstGeom prst="rect">
            <a:avLst/>
          </a:prstGeom>
          <a:solidFill>
            <a:srgbClr val="FFFFFF"/>
          </a:solidFill>
          <a:ln w="6350">
            <a:solidFill>
              <a:srgbClr val="D9DEE2"/>
            </a:solidFill>
            <a:prstDash val="solid"/>
          </a:ln>
        </p:spPr>
      </p:sp>
      <p:sp>
        <p:nvSpPr>
          <p:cNvPr id="66" name="Text 64"/>
          <p:cNvSpPr txBox="1"/>
          <p:nvPr/>
        </p:nvSpPr>
        <p:spPr>
          <a:xfrm>
            <a:off x="548640" y="4809744"/>
            <a:ext cx="2971800" cy="512064"/>
          </a:xfrm>
          <a:prstGeom prst="rect">
            <a:avLst/>
          </a:prstGeom>
          <a:noFill/>
          <a:ln/>
        </p:spPr>
        <p:txBody>
          <a:bodyPr wrap="square" lIns="0" tIns="0" rIns="0" bIns="0" rtlCol="0" anchor="ctr"/>
          <a:lstStyle/>
          <a:p>
            <a:pPr indent="0" marL="0">
              <a:buNone/>
            </a:pPr>
            <a:r>
              <a:rPr lang="en-US" sz="1150" dirty="0">
                <a:solidFill>
                  <a:srgbClr val="1B1F23"/>
                </a:solidFill>
              </a:rPr>
              <a:t>Report writing, referencing, submission</a:t>
            </a:r>
            <a:endParaRPr lang="en-US" sz="1150" dirty="0"/>
          </a:p>
        </p:txBody>
      </p:sp>
      <p:sp>
        <p:nvSpPr>
          <p:cNvPr id="67" name="Shape 65"/>
          <p:cNvSpPr/>
          <p:nvPr/>
        </p:nvSpPr>
        <p:spPr>
          <a:xfrm>
            <a:off x="4297680" y="4809744"/>
            <a:ext cx="0" cy="512064"/>
          </a:xfrm>
          <a:prstGeom prst="line">
            <a:avLst/>
          </a:prstGeom>
          <a:noFill/>
          <a:ln w="6350">
            <a:solidFill>
              <a:srgbClr val="D9DEE2"/>
            </a:solidFill>
            <a:prstDash val="solid"/>
          </a:ln>
        </p:spPr>
      </p:sp>
      <p:sp>
        <p:nvSpPr>
          <p:cNvPr id="68" name="Shape 66"/>
          <p:cNvSpPr/>
          <p:nvPr/>
        </p:nvSpPr>
        <p:spPr>
          <a:xfrm>
            <a:off x="5029200" y="4809744"/>
            <a:ext cx="0" cy="512064"/>
          </a:xfrm>
          <a:prstGeom prst="line">
            <a:avLst/>
          </a:prstGeom>
          <a:noFill/>
          <a:ln w="6350">
            <a:solidFill>
              <a:srgbClr val="D9DEE2"/>
            </a:solidFill>
            <a:prstDash val="solid"/>
          </a:ln>
        </p:spPr>
      </p:sp>
      <p:sp>
        <p:nvSpPr>
          <p:cNvPr id="69" name="Shape 67"/>
          <p:cNvSpPr/>
          <p:nvPr/>
        </p:nvSpPr>
        <p:spPr>
          <a:xfrm>
            <a:off x="5760720" y="4809744"/>
            <a:ext cx="0" cy="512064"/>
          </a:xfrm>
          <a:prstGeom prst="line">
            <a:avLst/>
          </a:prstGeom>
          <a:noFill/>
          <a:ln w="6350">
            <a:solidFill>
              <a:srgbClr val="D9DEE2"/>
            </a:solidFill>
            <a:prstDash val="solid"/>
          </a:ln>
        </p:spPr>
      </p:sp>
      <p:sp>
        <p:nvSpPr>
          <p:cNvPr id="70" name="Shape 68"/>
          <p:cNvSpPr/>
          <p:nvPr/>
        </p:nvSpPr>
        <p:spPr>
          <a:xfrm>
            <a:off x="6492240" y="4809744"/>
            <a:ext cx="0" cy="512064"/>
          </a:xfrm>
          <a:prstGeom prst="line">
            <a:avLst/>
          </a:prstGeom>
          <a:noFill/>
          <a:ln w="6350">
            <a:solidFill>
              <a:srgbClr val="D9DEE2"/>
            </a:solidFill>
            <a:prstDash val="solid"/>
          </a:ln>
        </p:spPr>
      </p:sp>
      <p:sp>
        <p:nvSpPr>
          <p:cNvPr id="71" name="Shape 69"/>
          <p:cNvSpPr/>
          <p:nvPr/>
        </p:nvSpPr>
        <p:spPr>
          <a:xfrm>
            <a:off x="7223760" y="4809744"/>
            <a:ext cx="0" cy="512064"/>
          </a:xfrm>
          <a:prstGeom prst="line">
            <a:avLst/>
          </a:prstGeom>
          <a:noFill/>
          <a:ln w="6350">
            <a:solidFill>
              <a:srgbClr val="D9DEE2"/>
            </a:solidFill>
            <a:prstDash val="solid"/>
          </a:ln>
        </p:spPr>
      </p:sp>
      <p:sp>
        <p:nvSpPr>
          <p:cNvPr id="72" name="Shape 70"/>
          <p:cNvSpPr/>
          <p:nvPr/>
        </p:nvSpPr>
        <p:spPr>
          <a:xfrm>
            <a:off x="6547104" y="4919472"/>
            <a:ext cx="1353312" cy="292608"/>
          </a:xfrm>
          <a:prstGeom prst="roundRect">
            <a:avLst>
              <a:gd name="adj" fmla="val 18750"/>
            </a:avLst>
          </a:prstGeom>
          <a:solidFill>
            <a:srgbClr val="E8A33D"/>
          </a:solidFill>
          <a:ln w="12700">
            <a:solidFill>
              <a:srgbClr val="FFFFFF"/>
            </a:solidFill>
            <a:prstDash val="solid"/>
          </a:ln>
        </p:spPr>
      </p:sp>
      <p:sp>
        <p:nvSpPr>
          <p:cNvPr id="73" name="Shape 71"/>
          <p:cNvSpPr/>
          <p:nvPr/>
        </p:nvSpPr>
        <p:spPr>
          <a:xfrm>
            <a:off x="8321040" y="1325880"/>
            <a:ext cx="3410712" cy="4617720"/>
          </a:xfrm>
          <a:prstGeom prst="rect">
            <a:avLst/>
          </a:prstGeom>
          <a:solidFill>
            <a:srgbClr val="E6F2F1"/>
          </a:solidFill>
          <a:ln w="12700">
            <a:solidFill>
              <a:srgbClr val="E6F2F1"/>
            </a:solidFill>
            <a:prstDash val="solid"/>
          </a:ln>
        </p:spPr>
      </p:sp>
      <p:sp>
        <p:nvSpPr>
          <p:cNvPr id="74" name="Text 72"/>
          <p:cNvSpPr txBox="1"/>
          <p:nvPr/>
        </p:nvSpPr>
        <p:spPr>
          <a:xfrm>
            <a:off x="8503920" y="1417320"/>
            <a:ext cx="3063240" cy="4480560"/>
          </a:xfrm>
          <a:prstGeom prst="rect">
            <a:avLst/>
          </a:prstGeom>
          <a:noFill/>
          <a:ln/>
        </p:spPr>
        <p:txBody>
          <a:bodyPr wrap="square" lIns="0" tIns="0" rIns="0" bIns="0" rtlCol="0" anchor="t"/>
          <a:lstStyle/>
          <a:p>
            <a:pPr indent="0" marL="0">
              <a:spcAft>
                <a:spcPts val="600"/>
              </a:spcAft>
              <a:buNone/>
            </a:pPr>
            <a:r>
              <a:rPr lang="en-US" sz="1500" b="1" dirty="0">
                <a:solidFill>
                  <a:srgbClr val="0F2E3D"/>
                </a:solidFill>
                <a:latin typeface="Cambria" pitchFamily="34" charset="0"/>
                <a:ea typeface="Cambria" pitchFamily="34" charset="-122"/>
                <a:cs typeface="Cambria" pitchFamily="34" charset="-120"/>
              </a:rPr>
              <a:t>Milestones</a:t>
            </a:r>
            <a:endParaRPr lang="en-US" sz="1200" dirty="0"/>
          </a:p>
          <a:p>
            <a:pPr marL="342900" indent="-342900">
              <a:spcAft>
                <a:spcPts val="600"/>
              </a:spcAft>
              <a:buSzPct val="100000"/>
              <a:buChar char="•"/>
            </a:pPr>
            <a:r>
              <a:rPr lang="en-US" sz="1200" dirty="0">
                <a:solidFill>
                  <a:srgbClr val="1B1F23"/>
                </a:solidFill>
              </a:rPr>
              <a:t>Wk 1: ethics status confirmed</a:t>
            </a:r>
            <a:endParaRPr lang="en-US" sz="1200" dirty="0"/>
          </a:p>
          <a:p>
            <a:pPr marL="342900" indent="-342900">
              <a:spcAft>
                <a:spcPts val="600"/>
              </a:spcAft>
              <a:buSzPct val="100000"/>
              <a:buChar char="•"/>
            </a:pPr>
            <a:r>
              <a:rPr lang="en-US" sz="1200" dirty="0">
                <a:solidFill>
                  <a:srgbClr val="1B1F23"/>
                </a:solidFill>
              </a:rPr>
              <a:t>Wk 2: final record set agreed</a:t>
            </a:r>
            <a:endParaRPr lang="en-US" sz="1200" dirty="0"/>
          </a:p>
          <a:p>
            <a:pPr marL="342900" indent="-342900">
              <a:spcAft>
                <a:spcPts val="600"/>
              </a:spcAft>
              <a:buSzPct val="100000"/>
              <a:buChar char="•"/>
            </a:pPr>
            <a:r>
              <a:rPr lang="en-US" sz="1200" dirty="0">
                <a:solidFill>
                  <a:srgbClr val="1B1F23"/>
                </a:solidFill>
              </a:rPr>
              <a:t>Wk 4: scoring matrix complete</a:t>
            </a:r>
            <a:endParaRPr lang="en-US" sz="1200" dirty="0"/>
          </a:p>
          <a:p>
            <a:pPr marL="342900" indent="-342900">
              <a:spcAft>
                <a:spcPts val="600"/>
              </a:spcAft>
              <a:buSzPct val="100000"/>
              <a:buChar char="•"/>
            </a:pPr>
            <a:r>
              <a:rPr lang="en-US" sz="1200" dirty="0">
                <a:solidFill>
                  <a:srgbClr val="1B1F23"/>
                </a:solidFill>
              </a:rPr>
              <a:t>Wk 6: report submitted</a:t>
            </a:r>
            <a:endParaRPr lang="en-US" sz="1200" dirty="0"/>
          </a:p>
          <a:p>
            <a:pPr indent="0" marL="0">
              <a:spcAft>
                <a:spcPts val="600"/>
              </a:spcAft>
              <a:buNone/>
            </a:pPr>
            <a:r>
              <a:rPr lang="en-US" sz="1500" b="1" dirty="0">
                <a:solidFill>
                  <a:srgbClr val="0F2E3D"/>
                </a:solidFill>
                <a:latin typeface="Cambria" pitchFamily="34" charset="0"/>
                <a:ea typeface="Cambria" pitchFamily="34" charset="-122"/>
                <a:cs typeface="Cambria" pitchFamily="34" charset="-120"/>
              </a:rPr>
              <a:t>Why it is realistic</a:t>
            </a:r>
            <a:endParaRPr lang="en-US" sz="1200" dirty="0"/>
          </a:p>
          <a:p>
            <a:pPr indent="0" marL="0">
              <a:spcAft>
                <a:spcPts val="600"/>
              </a:spcAft>
              <a:buNone/>
            </a:pPr>
            <a:r>
              <a:rPr lang="en-US" sz="1200" dirty="0">
                <a:solidFill>
                  <a:srgbClr val="1B1F23"/>
                </a:solidFill>
              </a:rPr>
              <a:t>Scope is limited to published studies from 2020 onwards, which one researcher can screen and extract in this period, and each stage has a checkable output.</a:t>
            </a:r>
            <a:endParaRPr lang="en-US" sz="1200" dirty="0"/>
          </a:p>
        </p:txBody>
      </p:sp>
      <p:sp>
        <p:nvSpPr>
          <p:cNvPr id="75" name="Text 73"/>
          <p:cNvSpPr txBox="1"/>
          <p:nvPr/>
        </p:nvSpPr>
        <p:spPr>
          <a:xfrm>
            <a:off x="457200" y="6108192"/>
            <a:ext cx="11274552" cy="320040"/>
          </a:xfrm>
          <a:prstGeom prst="rect">
            <a:avLst/>
          </a:prstGeom>
          <a:noFill/>
          <a:ln/>
        </p:spPr>
        <p:txBody>
          <a:bodyPr wrap="square" lIns="0" tIns="0" rIns="0" bIns="0" rtlCol="0" anchor="t"/>
          <a:lstStyle/>
          <a:p>
            <a:pPr indent="0" marL="0">
              <a:buNone/>
            </a:pPr>
            <a:r>
              <a:rPr lang="en-US" sz="1000" i="1" dirty="0">
                <a:solidFill>
                  <a:srgbClr val="5B6770"/>
                </a:solidFill>
                <a:latin typeface="Calibri" pitchFamily="34" charset="0"/>
                <a:ea typeface="Calibri" pitchFamily="34" charset="-122"/>
                <a:cs typeface="Calibri" pitchFamily="34" charset="-120"/>
              </a:rPr>
              <a:t>Source: Timeline designed by the author around the screening and synthesis steps of Page et al. (2021). Amber bar = final reporting stage.</a:t>
            </a:r>
            <a:endParaRPr lang="en-US" sz="100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109728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and key takeaway</a:t>
            </a:r>
            <a:endParaRPr lang="en-US" sz="3000" dirty="0"/>
          </a:p>
        </p:txBody>
      </p:sp>
      <p:sp>
        <p:nvSpPr>
          <p:cNvPr id="3" name="Shape 1"/>
          <p:cNvSpPr/>
          <p:nvPr/>
        </p:nvSpPr>
        <p:spPr>
          <a:xfrm>
            <a:off x="548640" y="1371600"/>
            <a:ext cx="5394960" cy="1920240"/>
          </a:xfrm>
          <a:prstGeom prst="rect">
            <a:avLst/>
          </a:prstGeom>
          <a:solidFill>
            <a:srgbClr val="173F52"/>
          </a:solidFill>
          <a:ln w="12700">
            <a:solidFill>
              <a:srgbClr val="173F52"/>
            </a:solidFill>
            <a:prstDash val="solid"/>
          </a:ln>
        </p:spPr>
      </p:sp>
      <p:sp>
        <p:nvSpPr>
          <p:cNvPr id="4" name="Text 2"/>
          <p:cNvSpPr txBox="1"/>
          <p:nvPr/>
        </p:nvSpPr>
        <p:spPr>
          <a:xfrm>
            <a:off x="777240" y="146304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What I will investigate</a:t>
            </a:r>
            <a:endParaRPr lang="en-US" sz="1600" dirty="0"/>
          </a:p>
          <a:p>
            <a:pPr indent="0" marL="0">
              <a:buNone/>
            </a:pPr>
            <a:r>
              <a:rPr lang="en-US" sz="1400" dirty="0">
                <a:solidFill>
                  <a:srgbClr val="FFFFFF"/>
                </a:solidFill>
              </a:rPr>
              <a:t>How ceramic membrane materials, fouling control and hybrid designs combine into a treatment train for potable water.</a:t>
            </a:r>
            <a:endParaRPr lang="en-US" sz="1600" dirty="0"/>
          </a:p>
        </p:txBody>
      </p:sp>
      <p:sp>
        <p:nvSpPr>
          <p:cNvPr id="5" name="Shape 3"/>
          <p:cNvSpPr/>
          <p:nvPr/>
        </p:nvSpPr>
        <p:spPr>
          <a:xfrm>
            <a:off x="6126480" y="1371600"/>
            <a:ext cx="5394960" cy="1920240"/>
          </a:xfrm>
          <a:prstGeom prst="rect">
            <a:avLst/>
          </a:prstGeom>
          <a:solidFill>
            <a:srgbClr val="173F52"/>
          </a:solidFill>
          <a:ln w="12700">
            <a:solidFill>
              <a:srgbClr val="173F52"/>
            </a:solidFill>
            <a:prstDash val="solid"/>
          </a:ln>
        </p:spPr>
      </p:sp>
      <p:sp>
        <p:nvSpPr>
          <p:cNvPr id="6" name="Text 4"/>
          <p:cNvSpPr txBox="1"/>
          <p:nvPr/>
        </p:nvSpPr>
        <p:spPr>
          <a:xfrm>
            <a:off x="6355080" y="146304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Why it matters</a:t>
            </a:r>
            <a:endParaRPr lang="en-US" sz="1600" dirty="0"/>
          </a:p>
          <a:p>
            <a:pPr indent="0" marL="0">
              <a:buNone/>
            </a:pPr>
            <a:r>
              <a:rPr lang="en-US" sz="1400" dirty="0">
                <a:solidFill>
                  <a:srgbClr val="FFFFFF"/>
                </a:solidFill>
              </a:rPr>
              <a:t>2.2 billion people lack safely managed drinking water (WHO/UNICEF, 2023), and ceramic membrane evidence is scattered (Fu et al., 2024).</a:t>
            </a:r>
            <a:endParaRPr lang="en-US" sz="1600" dirty="0"/>
          </a:p>
        </p:txBody>
      </p:sp>
      <p:sp>
        <p:nvSpPr>
          <p:cNvPr id="7" name="Shape 5"/>
          <p:cNvSpPr/>
          <p:nvPr/>
        </p:nvSpPr>
        <p:spPr>
          <a:xfrm>
            <a:off x="548640" y="3474720"/>
            <a:ext cx="5394960" cy="1920240"/>
          </a:xfrm>
          <a:prstGeom prst="rect">
            <a:avLst/>
          </a:prstGeom>
          <a:solidFill>
            <a:srgbClr val="173F52"/>
          </a:solidFill>
          <a:ln w="12700">
            <a:solidFill>
              <a:srgbClr val="173F52"/>
            </a:solidFill>
            <a:prstDash val="solid"/>
          </a:ln>
        </p:spPr>
      </p:sp>
      <p:sp>
        <p:nvSpPr>
          <p:cNvPr id="8" name="Text 6"/>
          <p:cNvSpPr txBox="1"/>
          <p:nvPr/>
        </p:nvSpPr>
        <p:spPr>
          <a:xfrm>
            <a:off x="777240" y="356616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How I will do it</a:t>
            </a:r>
            <a:endParaRPr lang="en-US" sz="1600" dirty="0"/>
          </a:p>
          <a:p>
            <a:pPr indent="0" marL="0">
              <a:buNone/>
            </a:pPr>
            <a:r>
              <a:rPr lang="en-US" sz="1400" dirty="0">
                <a:solidFill>
                  <a:srgbClr val="FFFFFF"/>
                </a:solidFill>
              </a:rPr>
              <a:t>A transparent desk-based synthesis of published data, screened and reported following PRISMA 2020 (Page et al., 2021).</a:t>
            </a:r>
            <a:endParaRPr lang="en-US" sz="1600" dirty="0"/>
          </a:p>
        </p:txBody>
      </p:sp>
      <p:sp>
        <p:nvSpPr>
          <p:cNvPr id="9" name="Shape 7"/>
          <p:cNvSpPr/>
          <p:nvPr/>
        </p:nvSpPr>
        <p:spPr>
          <a:xfrm>
            <a:off x="6126480" y="3474720"/>
            <a:ext cx="5394960" cy="1920240"/>
          </a:xfrm>
          <a:prstGeom prst="rect">
            <a:avLst/>
          </a:prstGeom>
          <a:solidFill>
            <a:srgbClr val="173F52"/>
          </a:solidFill>
          <a:ln w="12700">
            <a:solidFill>
              <a:srgbClr val="173F52"/>
            </a:solidFill>
            <a:prstDash val="solid"/>
          </a:ln>
        </p:spPr>
      </p:sp>
      <p:sp>
        <p:nvSpPr>
          <p:cNvPr id="10" name="Text 8"/>
          <p:cNvSpPr txBox="1"/>
          <p:nvPr/>
        </p:nvSpPr>
        <p:spPr>
          <a:xfrm>
            <a:off x="6355080" y="3566160"/>
            <a:ext cx="4937760" cy="1737360"/>
          </a:xfrm>
          <a:prstGeom prst="rect">
            <a:avLst/>
          </a:prstGeom>
          <a:noFill/>
          <a:ln/>
        </p:spPr>
        <p:txBody>
          <a:bodyPr wrap="square" lIns="0" tIns="0" rIns="0" bIns="0" rtlCol="0" anchor="ctr"/>
          <a:lstStyle/>
          <a:p>
            <a:pPr indent="0" marL="0">
              <a:buNone/>
            </a:pPr>
            <a:r>
              <a:rPr lang="en-US" sz="1600" b="1" dirty="0">
                <a:solidFill>
                  <a:srgbClr val="E8A33D"/>
                </a:solidFill>
                <a:latin typeface="Cambria" pitchFamily="34" charset="0"/>
                <a:ea typeface="Cambria" pitchFamily="34" charset="-122"/>
                <a:cs typeface="Cambria" pitchFamily="34" charset="-120"/>
              </a:rPr>
              <a:t>Expected contribution</a:t>
            </a:r>
            <a:endParaRPr lang="en-US" sz="1600" dirty="0"/>
          </a:p>
          <a:p>
            <a:pPr indent="0" marL="0">
              <a:buNone/>
            </a:pPr>
            <a:r>
              <a:rPr lang="en-US" sz="1400" dirty="0">
                <a:solidFill>
                  <a:srgbClr val="FFFFFF"/>
                </a:solidFill>
              </a:rPr>
              <a:t>A practical, evidence-based decision framework and gap map for utilities, researchers and regulators, supporting SDG 6 (United Nations, 2015).</a:t>
            </a:r>
            <a:endParaRPr lang="en-US" sz="1600" dirty="0"/>
          </a:p>
        </p:txBody>
      </p:sp>
      <p:sp>
        <p:nvSpPr>
          <p:cNvPr id="11" name="Text 9"/>
          <p:cNvSpPr txBox="1"/>
          <p:nvPr/>
        </p:nvSpPr>
        <p:spPr>
          <a:xfrm>
            <a:off x="548640" y="5669280"/>
            <a:ext cx="11064240" cy="731520"/>
          </a:xfrm>
          <a:prstGeom prst="rect">
            <a:avLst/>
          </a:prstGeom>
          <a:noFill/>
          <a:ln/>
        </p:spPr>
        <p:txBody>
          <a:bodyPr wrap="square" lIns="0" tIns="0" rIns="0" bIns="0" rtlCol="0" anchor="ctr"/>
          <a:lstStyle/>
          <a:p>
            <a:pPr indent="0" marL="0">
              <a:buNone/>
            </a:pPr>
            <a:r>
              <a:rPr lang="en-US" sz="1600" i="1" dirty="0">
                <a:solidFill>
                  <a:srgbClr val="7FB7C2"/>
                </a:solidFill>
              </a:rPr>
              <a:t>Key takeaway: a consistent, transparent comparison turns scattered ceramic membrane evidence into practical choices for safe drinking water.</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74552" cy="868680"/>
          </a:xfrm>
          <a:prstGeom prst="rect">
            <a:avLst/>
          </a:prstGeom>
          <a:noFill/>
          <a:ln/>
        </p:spPr>
        <p:txBody>
          <a:bodyPr wrap="square" lIns="0" tIns="0" rIns="0" bIns="0" rtlCol="0" anchor="ctr"/>
          <a:lstStyle/>
          <a:p>
            <a:pPr indent="0" marL="0">
              <a:buNone/>
            </a:pPr>
            <a:r>
              <a:rPr lang="en-US" sz="2600" b="1" dirty="0">
                <a:solidFill>
                  <a:srgbClr val="0F2E3D"/>
                </a:solidFill>
                <a:latin typeface="Cambria" pitchFamily="34" charset="0"/>
                <a:ea typeface="Cambria" pitchFamily="34" charset="-122"/>
                <a:cs typeface="Cambria" pitchFamily="34" charset="-120"/>
              </a:rPr>
              <a:t>Reference list (APA 7th edition)</a:t>
            </a:r>
            <a:endParaRPr lang="en-US" sz="2600" dirty="0"/>
          </a:p>
        </p:txBody>
      </p:sp>
      <p:sp>
        <p:nvSpPr>
          <p:cNvPr id="3" name="Text 1"/>
          <p:cNvSpPr txBox="1"/>
          <p:nvPr/>
        </p:nvSpPr>
        <p:spPr>
          <a:xfrm>
            <a:off x="457200" y="1188720"/>
            <a:ext cx="5486400" cy="5120640"/>
          </a:xfrm>
          <a:prstGeom prst="rect">
            <a:avLst/>
          </a:prstGeom>
          <a:noFill/>
          <a:ln/>
        </p:spPr>
        <p:txBody>
          <a:bodyPr wrap="square" lIns="0" tIns="0" rIns="0" bIns="0" rtlCol="0" anchor="t"/>
          <a:lstStyle/>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Akash, F. A., Shovon, S. M., Rahman, W., Rahman, M. A., Chakraborty, P., Prasetya, T. A. E., &amp; Monir, M. U. (2024). Advancements in ceramic membrane technology for water and wastewater treatment: A comprehensive exploration of current utilizations and prospective horizons.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Desalination and Water Treatment, 319</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100569. https://doi.org/10.1016/j.dwt.2024.100569</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Azzam, N. M., Ali, S. S., Mohamed, G. G., Omar, M. M., &amp; Amin, S. K. (2025). Fabrication of composite ceramic polymeric membranes for agricultural wastewater treatment.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Scientific Reports, 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2330. https://doi.org/10.1038/s41598-025-85542-w</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Bahrouni, J., Attia, A., Elberrichi, F. Z., Dammak, L., Baklouti, L., Ben Aissa, M.-A., Ben Amar, R., &amp; Deratani, A. (2025). Green and sustainable clay ceramic membrane preparation and application to textile wastewater treatment for color removal.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Membranes, 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(10), Article 292. https://doi.org/10.3390/membranes15100292</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Burke, M., Wells, E., Larison, C., Rao, G., Bentley, M. J., Linden, Y. S., Smeets, P., DeFrance, J., Brown, J., &amp; Linden, K. G. (2025). Systematic review of microorganism removal performance by physiochemical water treatment technologies.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Environmental Science &amp; Technology, 59</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(41), 21763–21775. https://doi.org/10.1021/acs.est.4c03459</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Cai, C., Sun, W., He, S., Lu, P., Zhang, J., &amp; Liang, H. (2023). Ceramic membrane fouling mechanisms and control for water treatment.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Frontiers of Environmental Science &amp; Engineering, 17</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(10), Article 126. https://doi.org/10.1007/s11783-023-1726-9</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Chen, S., Qiu, L., Yu, X., Shen, X., Wang, X., Wang, J., Zhang, Y., Chu, L., Zhang, M., Zhou, Z., Wang, Y., Ma, H., Gu, C., &amp; Chen, Z. (2025). Renewable Fe-based ceramic membrane for efficient per- and polyfluoroalkyl substances (PFAS) removal with light-driven regenerative ability.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Separation and Purification Technology, 379</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134948. https://doi.org/10.1016/j.seppur.2025.134948</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El Azizi, A., El Harouachi, H., Ahoudi, D., Maliki, S., Mansori, M., &amp; Loutou, M. (2025). Phosphate tailings and clay-based ceramic membranes: Tailoring microstructure and filtration properties via alkali activation.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Membranes, 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(2), Article 52. https://doi.org/10.3390/membranes15020052</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Fu, Z., Zhou, Z., Liu, Z., Yang, H., &amp; Chen, Z. (2024). Feasibility and challenges of low-cost ceramic membranes in water treatment applications.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Desalination and Water Treatment, 320</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100739. https://doi.org/10.1016/j.dwt.2024.100739</a:t>
            </a:r>
            <a:endParaRPr lang="en-US" sz="950" dirty="0"/>
          </a:p>
        </p:txBody>
      </p:sp>
      <p:sp>
        <p:nvSpPr>
          <p:cNvPr id="4" name="Text 2"/>
          <p:cNvSpPr txBox="1"/>
          <p:nvPr/>
        </p:nvSpPr>
        <p:spPr>
          <a:xfrm>
            <a:off x="6263640" y="1188720"/>
            <a:ext cx="5468112" cy="5120640"/>
          </a:xfrm>
          <a:prstGeom prst="rect">
            <a:avLst/>
          </a:prstGeom>
          <a:noFill/>
          <a:ln/>
        </p:spPr>
        <p:txBody>
          <a:bodyPr wrap="square" lIns="0" tIns="0" rIns="0" bIns="0" rtlCol="0" anchor="t"/>
          <a:lstStyle/>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Hosseinzadeh, F., Hashemi, H., &amp; Sarpoolaky, H. (2025). Sustainable ceramic membrane for water and wastewater treatment: A comprehensive review of environmental, social, and economic aspects.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Desalination, 615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119231. https://doi.org/10.1016/j.desal.2025.119231</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Jarrar, R., Abbas, M. K. G., &amp; Al-Ejji, M. (2024). Environmental remediation and the efficacy of ceramic membranes in wastewater treatment—A review.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Emergent Materials, 7</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1295–1327. https://doi.org/10.1007/s42247-024-00687-0</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Kim, S. Y., Kim, S., &amp; Park, C. (2025). Evaluation of ceramic membrane filtration for alternatives to microplastics in cosmetic formulations using FlowCam analysis.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Membranes, 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(1), Article 35. https://doi.org/10.3390/membranes15010035</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Lin, Z., Liu, L., Zhang, C., Su, P., Zhang, X., Li, X., &amp; Jiao, Y. (2024). Emerging conductive ceramic membranes for water purification and membrane fouling mitigation.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Chemical Engineering Journal, 493</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152568. https://doi.org/10.1016/j.cej.2024.152568</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Page, M. J., McKenzie, J. E., Bossuyt, P. M., Boutron, I., Hoffmann, T. C., Mulrow, C. D., Shamseer, L., Tetzlaff, J. M., Akl, E. A., Brennan, S. E., Chou, R., Glanville, J., Grimshaw, J. M., Hróbjartsson, A., Lalu, M. M., Li, T., Loder, E. W., Mayo-Wilson, E., McDonald, S., … Moher, D. (2021). The PRISMA 2020 statement: An updated guideline for reporting systematic reviews.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BMJ, 372</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n71. https://doi.org/10.1136/bmj.n71</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United Nations. (2015).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Transforming our world: The 2030 Agenda for Sustainable Development</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(A/RES/70/1). https://sdgs.un.org/2030agenda</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WHO/UNICEF. (2023).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Progress on household drinking water, sanitation and hygiene 2000–2022: Special focus on gender</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World Health Organization and United Nations Children's Fund.</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Xie, X., Wang, L., Wei, J., He, H., Guo, Z., Wang, C., Wen, X., &amp; Song, Y. (2024). Progress in ceramic membrane coupling ozonation process for water and wastewater treatment: A critical review.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Chemical Engineering Journal, 493</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 Article 152475. https://doi.org/10.1016/j.cej.2024.152475</a:t>
            </a:r>
            <a:endParaRPr lang="en-US" sz="950" dirty="0"/>
          </a:p>
          <a:p>
            <a:pPr indent="0" marL="0">
              <a:spcAft>
                <a:spcPts val="400"/>
              </a:spcAft>
              <a:buNone/>
            </a:pPr>
            <a:r>
              <a:rPr lang="en-US" sz="950" dirty="0">
                <a:solidFill>
                  <a:srgbClr val="1B1F23"/>
                </a:solidFill>
                <a:latin typeface="Calibri" pitchFamily="34" charset="0"/>
                <a:ea typeface="Calibri" pitchFamily="34" charset="-122"/>
                <a:cs typeface="Calibri" pitchFamily="34" charset="-120"/>
              </a:rPr>
              <a:t>Xie, Y., Liu, Z., Yu, J., Shan, Z., Liu, H., &amp; Zhang, Y. (2025). Water purification efficiency and membrane fouling behavior of ceramic membrane–nanofiltration in treating water treatment plant production wastewater. </a:t>
            </a:r>
            <a:pPr indent="0" marL="0">
              <a:spcAft>
                <a:spcPts val="400"/>
              </a:spcAft>
              <a:buNone/>
            </a:pPr>
            <a:r>
              <a:rPr lang="en-US" sz="950" i="1" dirty="0">
                <a:solidFill>
                  <a:srgbClr val="1B1F23"/>
                </a:solidFill>
                <a:latin typeface="Calibri" pitchFamily="34" charset="0"/>
                <a:ea typeface="Calibri" pitchFamily="34" charset="-122"/>
                <a:cs typeface="Calibri" pitchFamily="34" charset="-120"/>
              </a:rPr>
              <a:t>Membranes, 15</a:t>
            </a:r>
            <a:pPr indent="0" marL="0">
              <a:spcAft>
                <a:spcPts val="400"/>
              </a:spcAft>
              <a:buNone/>
            </a:pPr>
            <a:r>
              <a:rPr lang="en-US" sz="950" dirty="0">
                <a:solidFill>
                  <a:srgbClr val="1B1F23"/>
                </a:solidFill>
                <a:latin typeface="Calibri" pitchFamily="34" charset="0"/>
                <a:ea typeface="Calibri" pitchFamily="34" charset="-122"/>
                <a:cs typeface="Calibri" pitchFamily="34" charset="-120"/>
              </a:rPr>
              <a:t>(12), Article 387. https://doi.org/10.3390/membranes15120387</a:t>
            </a:r>
            <a:endParaRPr lang="en-US" sz="950" dirty="0"/>
          </a:p>
        </p:txBody>
      </p:sp>
      <p:sp>
        <p:nvSpPr>
          <p:cNvPr id="25" name="Slide Number Placeholder 0"/>
          <p:cNvSpPr>
            <a:spLocks noGrp="1"/>
          </p:cNvSpPr>
          <p:nvPr>
            <p:ph type="sldNum" sz="quarter" idx="4294967295"/>
          </p:nvPr>
        </p:nvSpPr>
        <p:spPr>
          <a:xfrm>
            <a:off x="11247120" y="649224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Ceramic Membranes">
  <a:themeElements>
    <a:clrScheme name="Ceramic Membranes">
      <a:dk1>
        <a:srgbClr val="1B1F23"/>
      </a:dk1>
      <a:lt1>
        <a:srgbClr val="FFFFFF"/>
      </a:lt1>
      <a:dk2>
        <a:srgbClr val="0F2E3D"/>
      </a:dk2>
      <a:lt2>
        <a:srgbClr val="E6F2F1"/>
      </a:lt2>
      <a:accent1>
        <a:srgbClr val="1F7A8C"/>
      </a:accent1>
      <a:accent2>
        <a:srgbClr val="E8A33D"/>
      </a:accent2>
      <a:accent3>
        <a:srgbClr val="C8553D"/>
      </a:accent3>
      <a:accent4>
        <a:srgbClr val="7FB7C2"/>
      </a:accent4>
      <a:accent5>
        <a:srgbClr val="5B6770"/>
      </a:accent5>
      <a:accent6>
        <a:srgbClr val="2A9D8F"/>
      </a:accent6>
      <a:hlink>
        <a:srgbClr val="1F7A8C"/>
      </a:hlink>
      <a:folHlink>
        <a:srgbClr val="5B6770"/>
      </a:folHlink>
    </a:clrScheme>
    <a:fontScheme name="Ceramic Membran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of a Treatment Process for Potable Water Production Using Ceramic Membrane Filtration</dc:title>
  <dc:subject>PptxGenJS Presentation</dc:subject>
  <dc:creator>PptxGenJS</dc:creator>
  <cp:lastModifiedBy>PptxGenJS</cp:lastModifiedBy>
  <cp:revision>1</cp:revision>
  <dcterms:created xsi:type="dcterms:W3CDTF">2026-10-06T17:52:46Z</dcterms:created>
  <dcterms:modified xsi:type="dcterms:W3CDTF">2026-10-06T17:52:46Z</dcterms:modified>
</cp:coreProperties>
</file>